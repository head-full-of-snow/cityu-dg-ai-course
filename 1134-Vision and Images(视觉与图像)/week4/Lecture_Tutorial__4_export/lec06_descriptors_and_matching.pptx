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256" r:id="rId2"/>
    <p:sldId id="491" r:id="rId3"/>
    <p:sldId id="423" r:id="rId4"/>
    <p:sldId id="427" r:id="rId5"/>
    <p:sldId id="480" r:id="rId6"/>
    <p:sldId id="455" r:id="rId7"/>
    <p:sldId id="482" r:id="rId8"/>
    <p:sldId id="481" r:id="rId9"/>
    <p:sldId id="457" r:id="rId10"/>
    <p:sldId id="458" r:id="rId11"/>
    <p:sldId id="459" r:id="rId12"/>
    <p:sldId id="460" r:id="rId13"/>
    <p:sldId id="461" r:id="rId14"/>
    <p:sldId id="462" r:id="rId15"/>
    <p:sldId id="463" r:id="rId16"/>
    <p:sldId id="464" r:id="rId17"/>
    <p:sldId id="465" r:id="rId18"/>
    <p:sldId id="508" r:id="rId19"/>
    <p:sldId id="502" r:id="rId20"/>
    <p:sldId id="567" r:id="rId21"/>
    <p:sldId id="568" r:id="rId22"/>
    <p:sldId id="503" r:id="rId23"/>
    <p:sldId id="505" r:id="rId24"/>
    <p:sldId id="506" r:id="rId25"/>
    <p:sldId id="467" r:id="rId26"/>
    <p:sldId id="468" r:id="rId27"/>
    <p:sldId id="469" r:id="rId28"/>
    <p:sldId id="509" r:id="rId29"/>
    <p:sldId id="511" r:id="rId30"/>
    <p:sldId id="510" r:id="rId31"/>
    <p:sldId id="470" r:id="rId32"/>
    <p:sldId id="471" r:id="rId33"/>
    <p:sldId id="561" r:id="rId34"/>
    <p:sldId id="562" r:id="rId35"/>
    <p:sldId id="560" r:id="rId36"/>
    <p:sldId id="472" r:id="rId37"/>
    <p:sldId id="473" r:id="rId38"/>
    <p:sldId id="563" r:id="rId39"/>
    <p:sldId id="475" r:id="rId40"/>
    <p:sldId id="476" r:id="rId41"/>
    <p:sldId id="486" r:id="rId42"/>
    <p:sldId id="564" r:id="rId43"/>
    <p:sldId id="507" r:id="rId44"/>
    <p:sldId id="565" r:id="rId45"/>
    <p:sldId id="566" r:id="rId46"/>
    <p:sldId id="436" r:id="rId47"/>
  </p:sldIdLst>
  <p:sldSz cx="12192000" cy="6858000"/>
  <p:notesSz cx="7010400" cy="9296400"/>
  <p:embeddedFontLst>
    <p:embeddedFont>
      <p:font typeface="Myriad Pro" panose="020B0503030403020204" charset="0"/>
      <p:regular r:id="rId50"/>
      <p:bold r:id="rId51"/>
      <p:italic r:id="rId52"/>
      <p:boldItalic r:id="rId53"/>
    </p:embeddedFont>
    <p:embeddedFont>
      <p:font typeface="Palatino Linotype" panose="02040502050505030304" pitchFamily="18" charset="0"/>
      <p:regular r:id="rId54"/>
      <p:bold r:id="rId55"/>
      <p:italic r:id="rId56"/>
      <p:boldItalic r:id="rId57"/>
    </p:embeddedFont>
    <p:embeddedFont>
      <p:font typeface="Verdana" panose="020B0604030504040204" pitchFamily="34" charset="0"/>
      <p:regular r:id="rId58"/>
      <p:bold r:id="rId59"/>
      <p:italic r:id="rId60"/>
      <p:boldItalic r:id="rId61"/>
    </p:embeddedFont>
  </p:embeddedFontLst>
  <p:custDataLst>
    <p:tags r:id="rId6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46" autoAdjust="0"/>
    <p:restoredTop sz="94444" autoAdjust="0"/>
  </p:normalViewPr>
  <p:slideViewPr>
    <p:cSldViewPr>
      <p:cViewPr>
        <p:scale>
          <a:sx n="125" d="100"/>
          <a:sy n="125" d="100"/>
        </p:scale>
        <p:origin x="1146" y="65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1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7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6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57" Type="http://schemas.openxmlformats.org/officeDocument/2006/relationships/font" Target="fonts/font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09C86-0DB4-461E-B411-3132234C96B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552C4-BC4B-4C71-991C-7B2020479D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1184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492CD9C-0936-4CB5-8F47-4F37A3C1BD80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A8A4206-02EB-4F55-B83C-8E908C558B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046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163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63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87">
              <a:defRPr sz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16130" indent="-275434" defTabSz="931887"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01738" indent="-220348" defTabSz="931887"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542433" indent="-220348" defTabSz="931887"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983128" indent="-220348" defTabSz="931887"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423823" indent="-220348" defTabSz="9318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864518" indent="-220348" defTabSz="9318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305213" indent="-220348" defTabSz="9318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745908" indent="-220348" defTabSz="9318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CA7259D7-E5BB-D846-879C-4547B909DCAB}" type="slidenum">
              <a:rPr lang="en-US">
                <a:solidFill>
                  <a:srgbClr val="000000"/>
                </a:solidFill>
              </a:rPr>
              <a:pPr/>
              <a:t>2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6652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0F3CD5-5F33-4E00-8631-D02E0087863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112" y="4416099"/>
            <a:ext cx="5142177" cy="4182457"/>
          </a:xfrm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B4F949-82A5-4D3D-BD83-D7F98958187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112" y="4416099"/>
            <a:ext cx="5142177" cy="418245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F5F1ACC-F19B-481E-AB4A-AFA49FF680D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112" y="4416099"/>
            <a:ext cx="5142177" cy="418245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infoscience.epfl.ch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/record/175537/files/2069.pdf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FREAK: Fast Retina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Keypoint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Binary Robust Independent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mentary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Feature (BRIEF) [5], the Oriented Fast and Ro-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tated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BRIEF (ORB)[26], and the Binary Robust Invariant Scalable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Keypoints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[16] (BRISK) are good examples.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222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4E47D-4C7E-3693-565A-F43735766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BDEF1-C925-965A-C3FB-F2C6AA5379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69AE24-C26F-AFD4-72F1-08D5A7C98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infoscience.epfl.ch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/record/175537/files/2069.pdf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FREAK: Fast Retina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Keypoint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Binary Robust Independent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mentary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Feature (BRIEF) [5], the Oriented Fast and Ro-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tated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BRIEF (ORB)[26], and the Binary Robust Invariant Scalable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Keypoints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[16] (BRISK) are good examples.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8DDF7-6343-477C-0F88-21A3E0B532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27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6A860-9570-0B82-C13A-B52E53A2C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2870FB-36EF-D972-3D59-A77A36572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2DB9E-636D-27D3-116C-6F13D5E93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infoscience.epfl.ch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/record/175537/files/2069.pdf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FREAK: Fast Retina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Keypoint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Binary Robust Independent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mentary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Feature (BRIEF) [5], the Oriented Fast and Ro-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tated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BRIEF (ORB)[26], and the Binary Robust Invariant Scalable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Keypoints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[16] (BRISK) are good examples.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1BDB4-AF6F-9DCD-1922-B6520F789D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60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jpeg"/><Relationship Id="rId7" Type="http://schemas.openxmlformats.org/officeDocument/2006/relationships/image" Target="../media/image5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10" Type="http://schemas.openxmlformats.org/officeDocument/2006/relationships/image" Target="../media/image8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hyperlink" Target="http://www.cs.ubc.ca/~lowe/keypoint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603.09114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47.png"/></Relationships>
</file>

<file path=ppt/slides/_rels/slide45.xml.rels><?xml version="1.0" encoding="UTF-8" standalone="yes"?>
<Relationships xmlns="http://schemas.openxmlformats.org/package/2006/relationships"><Relationship Id="rId3" Type="http://schemas.microsoft.com/office/2007/relationships/media" Target="../media/media4.mp4"/><Relationship Id="rId7" Type="http://schemas.openxmlformats.org/officeDocument/2006/relationships/image" Target="../media/image49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48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4.mp4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3272" y="808604"/>
            <a:ext cx="8534400" cy="708634"/>
          </a:xfrm>
        </p:spPr>
        <p:txBody>
          <a:bodyPr>
            <a:normAutofit/>
          </a:bodyPr>
          <a:lstStyle/>
          <a:p>
            <a:pPr algn="l"/>
            <a:r>
              <a:rPr lang="en-US" sz="3600" b="0" dirty="0"/>
              <a:t>Feature descriptors and feature matching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152400" y="-190087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400" b="1" dirty="0">
                <a:latin typeface="+mj-lt"/>
                <a:ea typeface="+mj-ea"/>
                <a:cs typeface="+mj-cs"/>
              </a:rPr>
              <a:t>CS5670: Computer Vision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192000" cy="4572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101600" dist="762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7742D6C-0F93-4396-B860-8747F15565E5}"/>
              </a:ext>
            </a:extLst>
          </p:cNvPr>
          <p:cNvGrpSpPr/>
          <p:nvPr/>
        </p:nvGrpSpPr>
        <p:grpSpPr>
          <a:xfrm>
            <a:off x="1946034" y="2667000"/>
            <a:ext cx="7844618" cy="3376240"/>
            <a:chOff x="1946034" y="2667000"/>
            <a:chExt cx="7844618" cy="3376240"/>
          </a:xfrm>
        </p:grpSpPr>
        <p:pic>
          <p:nvPicPr>
            <p:cNvPr id="9" name="Picture 1">
              <a:extLst>
                <a:ext uri="{FF2B5EF4-FFF2-40B4-BE49-F238E27FC236}">
                  <a16:creationId xmlns:a16="http://schemas.microsoft.com/office/drawing/2014/main" id="{A7178FFE-4059-4B06-975F-216F86BE0D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946034" y="2971800"/>
              <a:ext cx="4263218" cy="2724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101600" dist="762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A1DAF1CC-49A6-4FAA-9BCF-5F3B5B5836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934200" y="2667000"/>
              <a:ext cx="2856452" cy="3376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101600" dist="76200" dir="2700000" algn="tl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49D13F3-0073-4AAB-9DF6-2AD53D089D6D}"/>
                </a:ext>
              </a:extLst>
            </p:cNvPr>
            <p:cNvCxnSpPr/>
            <p:nvPr/>
          </p:nvCxnSpPr>
          <p:spPr>
            <a:xfrm>
              <a:off x="4075652" y="3886200"/>
              <a:ext cx="4724400" cy="1524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0614E9D-E6A9-4432-B8B0-69C7E4BCA91C}"/>
                </a:ext>
              </a:extLst>
            </p:cNvPr>
            <p:cNvCxnSpPr/>
            <p:nvPr/>
          </p:nvCxnSpPr>
          <p:spPr>
            <a:xfrm flipV="1">
              <a:off x="3716424" y="3276600"/>
              <a:ext cx="4495800" cy="6096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C29A14D-E4A0-4B36-8AA9-C585B3717FE0}"/>
                </a:ext>
              </a:extLst>
            </p:cNvPr>
            <p:cNvCxnSpPr/>
            <p:nvPr/>
          </p:nvCxnSpPr>
          <p:spPr>
            <a:xfrm>
              <a:off x="3999452" y="4572000"/>
              <a:ext cx="4724400" cy="7620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ubtitle 2">
            <a:extLst>
              <a:ext uri="{FF2B5EF4-FFF2-40B4-BE49-F238E27FC236}">
                <a16:creationId xmlns:a16="http://schemas.microsoft.com/office/drawing/2014/main" id="{9576B25C-B1BF-880A-01B4-2CBC7558DF09}"/>
              </a:ext>
            </a:extLst>
          </p:cNvPr>
          <p:cNvSpPr txBox="1">
            <a:spLocks/>
          </p:cNvSpPr>
          <p:nvPr/>
        </p:nvSpPr>
        <p:spPr>
          <a:xfrm>
            <a:off x="8129650" y="984663"/>
            <a:ext cx="4876800" cy="92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altLang="zh-CN" sz="3200" dirty="0"/>
              <a:t>Prof. Zhu Zhiyu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10287000" cy="1143000"/>
          </a:xfrm>
        </p:spPr>
        <p:txBody>
          <a:bodyPr/>
          <a:lstStyle/>
          <a:p>
            <a:pPr eaLnBrk="1" hangingPunct="1"/>
            <a:r>
              <a:rPr lang="en-US" dirty="0"/>
              <a:t>Local features: main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1"/>
            <a:ext cx="4724400" cy="5326055"/>
          </a:xfrm>
        </p:spPr>
        <p:txBody>
          <a:bodyPr>
            <a:normAutofit/>
          </a:bodyPr>
          <a:lstStyle/>
          <a:p>
            <a:pPr marL="514350" indent="-514350">
              <a:buFontTx/>
              <a:buAutoNum type="arabicParenR"/>
            </a:pPr>
            <a:r>
              <a:rPr lang="en-US" sz="2800" dirty="0">
                <a:latin typeface="+mj-lt"/>
              </a:rPr>
              <a:t>Detection: </a:t>
            </a:r>
            <a:r>
              <a:rPr lang="en-US" sz="2400" dirty="0">
                <a:latin typeface="+mj-lt"/>
              </a:rPr>
              <a:t>Identify the interest points</a:t>
            </a: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r>
              <a:rPr lang="en-US" sz="2800" b="1" dirty="0">
                <a:latin typeface="+mj-lt"/>
              </a:rPr>
              <a:t>Description</a:t>
            </a:r>
            <a:r>
              <a:rPr lang="en-US" sz="2400" b="1" dirty="0">
                <a:latin typeface="+mj-lt"/>
              </a:rPr>
              <a:t>: Extract vector feature descriptor surrounding each interest point.</a:t>
            </a: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r>
              <a:rPr lang="en-US" sz="2800" dirty="0">
                <a:latin typeface="+mj-lt"/>
              </a:rPr>
              <a:t>Matching: </a:t>
            </a:r>
            <a:r>
              <a:rPr lang="en-US" sz="2400" dirty="0">
                <a:latin typeface="+mj-lt"/>
              </a:rPr>
              <a:t>Determine correspondence between descriptors in two views</a:t>
            </a:r>
          </a:p>
        </p:txBody>
      </p:sp>
      <p:pic>
        <p:nvPicPr>
          <p:cNvPr id="114692" name="Picture 4" descr="SIFT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066800"/>
            <a:ext cx="2438400" cy="176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 descr="SIFT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971800"/>
            <a:ext cx="2438400" cy="176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20"/>
          <p:cNvGrpSpPr>
            <a:grpSpLocks noChangeAspect="1"/>
          </p:cNvGrpSpPr>
          <p:nvPr/>
        </p:nvGrpSpPr>
        <p:grpSpPr bwMode="auto">
          <a:xfrm>
            <a:off x="6351437" y="2993644"/>
            <a:ext cx="2306638" cy="1131887"/>
            <a:chOff x="4191000" y="4216493"/>
            <a:chExt cx="2667000" cy="1308192"/>
          </a:xfrm>
        </p:grpSpPr>
        <p:sp>
          <p:nvSpPr>
            <p:cNvPr id="8" name="Rectangle 7"/>
            <p:cNvSpPr/>
            <p:nvPr/>
          </p:nvSpPr>
          <p:spPr bwMode="auto">
            <a:xfrm rot="20018806">
              <a:off x="6065059" y="5082505"/>
              <a:ext cx="411155" cy="442180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solidFill>
                  <a:srgbClr val="000000"/>
                </a:solidFill>
                <a:latin typeface="Arial"/>
              </a:endParaRPr>
            </a:p>
          </p:txBody>
        </p:sp>
        <p:graphicFrame>
          <p:nvGraphicFramePr>
            <p:cNvPr id="114709" name="Object 2"/>
            <p:cNvGraphicFramePr>
              <a:graphicFrameLocks noChangeAspect="1"/>
            </p:cNvGraphicFramePr>
            <p:nvPr/>
          </p:nvGraphicFramePr>
          <p:xfrm>
            <a:off x="4191000" y="4216493"/>
            <a:ext cx="2667000" cy="603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066800" imgH="241300" progId="Equation.3">
                    <p:embed/>
                  </p:oleObj>
                </mc:Choice>
                <mc:Fallback>
                  <p:oleObj name="Equation" r:id="rId4" imgW="1066800" imgH="241300" progId="Equation.3">
                    <p:embed/>
                    <p:pic>
                      <p:nvPicPr>
                        <p:cNvPr id="114709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1000" y="4216493"/>
                          <a:ext cx="2667000" cy="603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14710" name="Shape 17"/>
            <p:cNvCxnSpPr>
              <a:cxnSpLocks noChangeShapeType="1"/>
              <a:stCxn id="8" idx="1"/>
            </p:cNvCxnSpPr>
            <p:nvPr/>
          </p:nvCxnSpPr>
          <p:spPr bwMode="auto">
            <a:xfrm rot="10800000">
              <a:off x="5410201" y="4648201"/>
              <a:ext cx="675407" cy="746517"/>
            </a:xfrm>
            <a:prstGeom prst="curvedConnector2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8242300" y="3352801"/>
            <a:ext cx="2425700" cy="1984375"/>
            <a:chOff x="7042516" y="4800600"/>
            <a:chExt cx="2794000" cy="2232025"/>
          </a:xfrm>
        </p:grpSpPr>
        <p:grpSp>
          <p:nvGrpSpPr>
            <p:cNvPr id="114704" name="Group 11"/>
            <p:cNvGrpSpPr>
              <a:grpSpLocks/>
            </p:cNvGrpSpPr>
            <p:nvPr/>
          </p:nvGrpSpPr>
          <p:grpSpPr bwMode="auto">
            <a:xfrm>
              <a:off x="7042516" y="4800600"/>
              <a:ext cx="2794000" cy="2232025"/>
              <a:chOff x="7042516" y="4800600"/>
              <a:chExt cx="2794000" cy="2232025"/>
            </a:xfrm>
          </p:grpSpPr>
          <p:sp>
            <p:nvSpPr>
              <p:cNvPr id="10" name="Rectangle 9"/>
              <p:cNvSpPr/>
              <p:nvPr/>
            </p:nvSpPr>
            <p:spPr bwMode="auto">
              <a:xfrm>
                <a:off x="7470393" y="4800600"/>
                <a:ext cx="530275" cy="533901"/>
              </a:xfrm>
              <a:prstGeom prst="rect">
                <a:avLst/>
              </a:prstGeom>
              <a:noFill/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eaLnBrk="0" hangingPunct="0">
                  <a:defRPr/>
                </a:pPr>
                <a:endParaRPr lang="en-US">
                  <a:solidFill>
                    <a:srgbClr val="000000"/>
                  </a:solidFill>
                  <a:latin typeface="Arial"/>
                </a:endParaRPr>
              </a:p>
            </p:txBody>
          </p:sp>
          <p:graphicFrame>
            <p:nvGraphicFramePr>
              <p:cNvPr id="114707" name="Object 3"/>
              <p:cNvGraphicFramePr>
                <a:graphicFrameLocks noChangeAspect="1"/>
              </p:cNvGraphicFramePr>
              <p:nvPr/>
            </p:nvGraphicFramePr>
            <p:xfrm>
              <a:off x="7042516" y="6429375"/>
              <a:ext cx="2794000" cy="603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117600" imgH="241300" progId="Equation.3">
                      <p:embed/>
                    </p:oleObj>
                  </mc:Choice>
                  <mc:Fallback>
                    <p:oleObj name="Equation" r:id="rId6" imgW="1117600" imgH="241300" progId="Equation.3">
                      <p:embed/>
                      <p:pic>
                        <p:nvPicPr>
                          <p:cNvPr id="114707" name="Object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2516" y="6429375"/>
                            <a:ext cx="2794000" cy="603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 xmlns="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xmlns="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114705" name="Curved Connector 19"/>
            <p:cNvCxnSpPr>
              <a:cxnSpLocks noChangeShapeType="1"/>
            </p:cNvCxnSpPr>
            <p:nvPr/>
          </p:nvCxnSpPr>
          <p:spPr bwMode="auto">
            <a:xfrm rot="5400000">
              <a:off x="6866069" y="5846896"/>
              <a:ext cx="1266829" cy="241036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6" name="Group 34"/>
          <p:cNvGrpSpPr>
            <a:grpSpLocks/>
          </p:cNvGrpSpPr>
          <p:nvPr/>
        </p:nvGrpSpPr>
        <p:grpSpPr bwMode="auto">
          <a:xfrm>
            <a:off x="6324600" y="5391150"/>
            <a:ext cx="4343400" cy="1162050"/>
            <a:chOff x="4800600" y="5391912"/>
            <a:chExt cx="4343400" cy="1161288"/>
          </a:xfrm>
        </p:grpSpPr>
        <p:pic>
          <p:nvPicPr>
            <p:cNvPr id="114698" name="Picture 5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600" y="5391912"/>
              <a:ext cx="2121408" cy="1161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4699" name="Picture 6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11052" y="5395686"/>
              <a:ext cx="2132948" cy="1157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14700" name="Straight Arrow Connector 27"/>
            <p:cNvCxnSpPr>
              <a:cxnSpLocks noChangeShapeType="1"/>
            </p:cNvCxnSpPr>
            <p:nvPr/>
          </p:nvCxnSpPr>
          <p:spPr bwMode="auto">
            <a:xfrm flipV="1">
              <a:off x="5562600" y="5562600"/>
              <a:ext cx="1981200" cy="228600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14701" name="Straight Arrow Connector 28"/>
            <p:cNvCxnSpPr>
              <a:cxnSpLocks noChangeShapeType="1"/>
            </p:cNvCxnSpPr>
            <p:nvPr/>
          </p:nvCxnSpPr>
          <p:spPr bwMode="auto">
            <a:xfrm>
              <a:off x="6629400" y="5943600"/>
              <a:ext cx="2133600" cy="1588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14702" name="Straight Arrow Connector 31"/>
            <p:cNvCxnSpPr>
              <a:cxnSpLocks noChangeShapeType="1"/>
            </p:cNvCxnSpPr>
            <p:nvPr/>
          </p:nvCxnSpPr>
          <p:spPr bwMode="auto">
            <a:xfrm>
              <a:off x="5410200" y="6248400"/>
              <a:ext cx="2133600" cy="1588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14703" name="Straight Arrow Connector 32"/>
            <p:cNvCxnSpPr>
              <a:cxnSpLocks noChangeShapeType="1"/>
            </p:cNvCxnSpPr>
            <p:nvPr/>
          </p:nvCxnSpPr>
          <p:spPr bwMode="auto">
            <a:xfrm flipV="1">
              <a:off x="5334000" y="5791200"/>
              <a:ext cx="2133600" cy="228600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23" name="TextBox 22"/>
          <p:cNvSpPr txBox="1"/>
          <p:nvPr/>
        </p:nvSpPr>
        <p:spPr>
          <a:xfrm>
            <a:off x="10694068" y="6553200"/>
            <a:ext cx="22098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srgbClr val="000000"/>
                </a:solidFill>
                <a:latin typeface="Arial"/>
              </a:rPr>
              <a:t>Kristen </a:t>
            </a:r>
            <a:r>
              <a:rPr lang="en-US" sz="1400" dirty="0" err="1">
                <a:solidFill>
                  <a:srgbClr val="000000"/>
                </a:solidFill>
                <a:latin typeface="Arial"/>
              </a:rPr>
              <a:t>Grauman</a:t>
            </a:r>
            <a:endParaRPr lang="en-US" sz="140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" name="图片 8" descr="图表, 饼图&#10;&#10;AI 生成的内容可能不正确。">
            <a:extLst>
              <a:ext uri="{FF2B5EF4-FFF2-40B4-BE49-F238E27FC236}">
                <a16:creationId xmlns:a16="http://schemas.microsoft.com/office/drawing/2014/main" id="{5885E7D3-C535-EFBA-2522-0D33E237A8F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673" t="15113" r="8499" b="8867"/>
          <a:stretch>
            <a:fillRect/>
          </a:stretch>
        </p:blipFill>
        <p:spPr>
          <a:xfrm>
            <a:off x="9681260" y="1444554"/>
            <a:ext cx="2132948" cy="116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601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Text Box 3"/>
          <p:cNvSpPr txBox="1">
            <a:spLocks noChangeArrowheads="1"/>
          </p:cNvSpPr>
          <p:nvPr/>
        </p:nvSpPr>
        <p:spPr bwMode="auto">
          <a:xfrm>
            <a:off x="1447800" y="1173163"/>
            <a:ext cx="8610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 dirty="0"/>
              <a:t>The surface </a:t>
            </a:r>
            <a:r>
              <a:rPr lang="en-US" sz="2400" i="1" dirty="0"/>
              <a:t>E</a:t>
            </a:r>
            <a:r>
              <a:rPr lang="en-US" sz="2400" dirty="0"/>
              <a:t>(</a:t>
            </a:r>
            <a:r>
              <a:rPr lang="en-US" sz="2400" i="1" dirty="0" err="1"/>
              <a:t>u</a:t>
            </a:r>
            <a:r>
              <a:rPr lang="en-US" sz="2400" dirty="0" err="1"/>
              <a:t>,</a:t>
            </a:r>
            <a:r>
              <a:rPr lang="en-US" sz="2400" i="1" dirty="0" err="1"/>
              <a:t>v</a:t>
            </a:r>
            <a:r>
              <a:rPr lang="en-US" sz="2400" dirty="0"/>
              <a:t>) is locally approximated by a quadratic form. </a:t>
            </a:r>
          </a:p>
        </p:txBody>
      </p:sp>
      <p:sp>
        <p:nvSpPr>
          <p:cNvPr id="5125" name="Rectangle 7"/>
          <p:cNvSpPr>
            <a:spLocks noGrp="1" noChangeArrowheads="1"/>
          </p:cNvSpPr>
          <p:nvPr>
            <p:ph type="title"/>
          </p:nvPr>
        </p:nvSpPr>
        <p:spPr>
          <a:xfrm>
            <a:off x="569925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CN" dirty="0"/>
              <a:t>Review of the last lecture</a:t>
            </a:r>
            <a:endParaRPr lang="en-US" dirty="0"/>
          </a:p>
        </p:txBody>
      </p:sp>
      <p:pic>
        <p:nvPicPr>
          <p:cNvPr id="5126" name="Picture 1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91400" y="3886201"/>
            <a:ext cx="2895600" cy="2766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4023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905001" y="1676400"/>
            <a:ext cx="5559449" cy="585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2" name="Group 11"/>
          <p:cNvGrpSpPr/>
          <p:nvPr/>
        </p:nvGrpSpPr>
        <p:grpSpPr>
          <a:xfrm>
            <a:off x="1981200" y="2362200"/>
            <a:ext cx="6324600" cy="976021"/>
            <a:chOff x="838200" y="2667000"/>
            <a:chExt cx="7108372" cy="1096974"/>
          </a:xfrm>
        </p:grpSpPr>
        <p:pic>
          <p:nvPicPr>
            <p:cNvPr id="214020" name="Picture 4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143000" y="2667000"/>
              <a:ext cx="6803572" cy="1096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Rectangle 10"/>
            <p:cNvSpPr/>
            <p:nvPr/>
          </p:nvSpPr>
          <p:spPr>
            <a:xfrm>
              <a:off x="838200" y="2667002"/>
              <a:ext cx="1676400" cy="10667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62449" y="3588602"/>
            <a:ext cx="1811772" cy="714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029716" y="4572000"/>
            <a:ext cx="2085084" cy="74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161497" y="5559111"/>
            <a:ext cx="1798548" cy="696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Left Brace 17"/>
          <p:cNvSpPr>
            <a:spLocks/>
          </p:cNvSpPr>
          <p:nvPr/>
        </p:nvSpPr>
        <p:spPr bwMode="auto">
          <a:xfrm rot="-5400000">
            <a:off x="6242050" y="2820252"/>
            <a:ext cx="304800" cy="1536700"/>
          </a:xfrm>
          <a:prstGeom prst="leftBrace">
            <a:avLst>
              <a:gd name="adj1" fmla="val 832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icture 20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172200" y="3893403"/>
            <a:ext cx="457200" cy="40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Rectangle 17"/>
          <p:cNvSpPr/>
          <p:nvPr/>
        </p:nvSpPr>
        <p:spPr>
          <a:xfrm>
            <a:off x="4905524" y="6172200"/>
            <a:ext cx="32478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Let’s try to understand its shape.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 of the last lecture</a:t>
            </a:r>
            <a:endParaRPr lang="en-US" dirty="0"/>
          </a:p>
        </p:txBody>
      </p:sp>
      <p:sp>
        <p:nvSpPr>
          <p:cNvPr id="7174" name="Text Box 5"/>
          <p:cNvSpPr txBox="1">
            <a:spLocks noChangeArrowheads="1"/>
          </p:cNvSpPr>
          <p:nvPr/>
        </p:nvSpPr>
        <p:spPr bwMode="auto">
          <a:xfrm>
            <a:off x="2209800" y="1446074"/>
            <a:ext cx="7315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 dirty="0"/>
              <a:t>We can visualize </a:t>
            </a:r>
            <a:r>
              <a:rPr lang="en-US" sz="2400" i="1" dirty="0"/>
              <a:t>H</a:t>
            </a:r>
            <a:r>
              <a:rPr lang="en-US" sz="2400" dirty="0"/>
              <a:t> as an ellipse with axis lengths determined by the </a:t>
            </a:r>
            <a:r>
              <a:rPr lang="en-US" sz="2400" i="1" dirty="0"/>
              <a:t>eigenvalues</a:t>
            </a:r>
            <a:r>
              <a:rPr lang="en-US" sz="2400" dirty="0"/>
              <a:t> of </a:t>
            </a:r>
            <a:r>
              <a:rPr lang="en-US" sz="2400" i="1" dirty="0"/>
              <a:t>H</a:t>
            </a:r>
            <a:r>
              <a:rPr lang="en-US" sz="2400" dirty="0"/>
              <a:t> and orientation determined by the </a:t>
            </a:r>
            <a:r>
              <a:rPr lang="en-US" sz="2400" i="1" dirty="0"/>
              <a:t>eigenvectors </a:t>
            </a:r>
            <a:r>
              <a:rPr lang="en-US" sz="2400" dirty="0"/>
              <a:t>of </a:t>
            </a:r>
            <a:r>
              <a:rPr lang="en-US" sz="2400" i="1" dirty="0"/>
              <a:t>H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4873626" y="3657600"/>
            <a:ext cx="5489575" cy="2878138"/>
            <a:chOff x="2254" y="2352"/>
            <a:chExt cx="3458" cy="1813"/>
          </a:xfrm>
        </p:grpSpPr>
        <p:sp>
          <p:nvSpPr>
            <p:cNvPr id="7177" name="Text Box 8"/>
            <p:cNvSpPr txBox="1">
              <a:spLocks noChangeArrowheads="1"/>
            </p:cNvSpPr>
            <p:nvPr/>
          </p:nvSpPr>
          <p:spPr bwMode="auto">
            <a:xfrm>
              <a:off x="4704" y="2736"/>
              <a:ext cx="1008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sz="1600">
                  <a:solidFill>
                    <a:srgbClr val="FF3300"/>
                  </a:solidFill>
                  <a:cs typeface="Times New Roman" pitchFamily="18" charset="0"/>
                </a:rPr>
                <a:t>direction of the slowest change</a:t>
              </a:r>
              <a:endParaRPr lang="ru-RU" sz="1600">
                <a:solidFill>
                  <a:srgbClr val="FF3300"/>
                </a:solidFill>
                <a:cs typeface="Times New Roman" pitchFamily="18" charset="0"/>
              </a:endParaRPr>
            </a:p>
          </p:txBody>
        </p:sp>
        <p:sp>
          <p:nvSpPr>
            <p:cNvPr id="7178" name="Text Box 9"/>
            <p:cNvSpPr txBox="1">
              <a:spLocks noChangeArrowheads="1"/>
            </p:cNvSpPr>
            <p:nvPr/>
          </p:nvSpPr>
          <p:spPr bwMode="auto">
            <a:xfrm>
              <a:off x="2688" y="2352"/>
              <a:ext cx="1056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sz="1600">
                  <a:solidFill>
                    <a:srgbClr val="0033CC"/>
                  </a:solidFill>
                  <a:cs typeface="Times New Roman" pitchFamily="18" charset="0"/>
                </a:rPr>
                <a:t>direction of the fastest change</a:t>
              </a:r>
              <a:endParaRPr lang="ru-RU" sz="1600">
                <a:solidFill>
                  <a:srgbClr val="0033CC"/>
                </a:solidFill>
                <a:cs typeface="Times New Roman" pitchFamily="18" charset="0"/>
              </a:endParaRPr>
            </a:p>
          </p:txBody>
        </p:sp>
        <p:sp>
          <p:nvSpPr>
            <p:cNvPr id="7179" name="Oval 11"/>
            <p:cNvSpPr>
              <a:spLocks noChangeArrowheads="1"/>
            </p:cNvSpPr>
            <p:nvPr/>
          </p:nvSpPr>
          <p:spPr bwMode="auto">
            <a:xfrm rot="-1106879">
              <a:off x="2254" y="2771"/>
              <a:ext cx="2448" cy="1217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180" name="Line 12"/>
            <p:cNvSpPr>
              <a:spLocks noChangeShapeType="1"/>
            </p:cNvSpPr>
            <p:nvPr/>
          </p:nvSpPr>
          <p:spPr bwMode="auto">
            <a:xfrm rot="1280297" flipV="1">
              <a:off x="2555" y="2597"/>
              <a:ext cx="1875" cy="156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1" name="Line 13"/>
            <p:cNvSpPr>
              <a:spLocks noChangeShapeType="1"/>
            </p:cNvSpPr>
            <p:nvPr/>
          </p:nvSpPr>
          <p:spPr bwMode="auto">
            <a:xfrm rot="1280297" flipH="1" flipV="1">
              <a:off x="3094" y="2904"/>
              <a:ext cx="798" cy="94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2" name="AutoShape 14"/>
            <p:cNvSpPr>
              <a:spLocks/>
            </p:cNvSpPr>
            <p:nvPr/>
          </p:nvSpPr>
          <p:spPr bwMode="auto">
            <a:xfrm rot="-6496486">
              <a:off x="4037" y="2756"/>
              <a:ext cx="116" cy="1095"/>
            </a:xfrm>
            <a:prstGeom prst="leftBrace">
              <a:avLst>
                <a:gd name="adj1" fmla="val 78664"/>
                <a:gd name="adj2" fmla="val 49065"/>
              </a:avLst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3" name="AutoShape 15"/>
            <p:cNvSpPr>
              <a:spLocks/>
            </p:cNvSpPr>
            <p:nvPr/>
          </p:nvSpPr>
          <p:spPr bwMode="auto">
            <a:xfrm rot="-1178674">
              <a:off x="3212" y="2864"/>
              <a:ext cx="140" cy="513"/>
            </a:xfrm>
            <a:prstGeom prst="leftBrace">
              <a:avLst>
                <a:gd name="adj1" fmla="val 30536"/>
                <a:gd name="adj2" fmla="val 49065"/>
              </a:avLst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4" name="Rectangle 16"/>
            <p:cNvSpPr>
              <a:spLocks noChangeArrowheads="1"/>
            </p:cNvSpPr>
            <p:nvPr/>
          </p:nvSpPr>
          <p:spPr bwMode="auto">
            <a:xfrm>
              <a:off x="2400" y="3168"/>
              <a:ext cx="110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sz="2400" dirty="0">
                  <a:solidFill>
                    <a:srgbClr val="0033CC"/>
                  </a:solidFill>
                  <a:latin typeface="+mj-lt"/>
                  <a:cs typeface="Times New Roman" pitchFamily="18" charset="0"/>
                  <a:sym typeface="Symbol" pitchFamily="18" charset="2"/>
                </a:rPr>
                <a:t>(</a:t>
              </a:r>
              <a:r>
                <a:rPr lang="ru-RU" sz="2400" dirty="0">
                  <a:solidFill>
                    <a:srgbClr val="0033CC"/>
                  </a:solidFill>
                  <a:latin typeface="+mj-lt"/>
                  <a:cs typeface="Times New Roman" pitchFamily="18" charset="0"/>
                  <a:sym typeface="Symbol" pitchFamily="18" charset="2"/>
                </a:rPr>
                <a:t></a:t>
              </a:r>
              <a:r>
                <a:rPr lang="en-US" sz="2400" baseline="-25000" dirty="0">
                  <a:solidFill>
                    <a:srgbClr val="0033CC"/>
                  </a:solidFill>
                  <a:latin typeface="+mj-lt"/>
                  <a:cs typeface="Times New Roman" pitchFamily="18" charset="0"/>
                  <a:sym typeface="Symbol" pitchFamily="18" charset="2"/>
                </a:rPr>
                <a:t>max</a:t>
              </a:r>
              <a:r>
                <a:rPr lang="en-US" sz="2400" dirty="0">
                  <a:solidFill>
                    <a:srgbClr val="0033CC"/>
                  </a:solidFill>
                  <a:latin typeface="+mj-lt"/>
                  <a:cs typeface="Times New Roman" pitchFamily="18" charset="0"/>
                  <a:sym typeface="Symbol" pitchFamily="18" charset="2"/>
                </a:rPr>
                <a:t>)</a:t>
              </a:r>
              <a:r>
                <a:rPr lang="en-US" sz="2400" baseline="30000" dirty="0">
                  <a:solidFill>
                    <a:srgbClr val="0033CC"/>
                  </a:solidFill>
                  <a:latin typeface="+mj-lt"/>
                  <a:cs typeface="Times New Roman" pitchFamily="18" charset="0"/>
                  <a:sym typeface="Symbol" pitchFamily="18" charset="2"/>
                </a:rPr>
                <a:t>-1/2</a:t>
              </a:r>
              <a:endParaRPr lang="ru-RU" sz="2400" baseline="30000" dirty="0">
                <a:solidFill>
                  <a:srgbClr val="0033CC"/>
                </a:solidFill>
                <a:latin typeface="+mj-lt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185" name="Rectangle 17"/>
            <p:cNvSpPr>
              <a:spLocks noChangeArrowheads="1"/>
            </p:cNvSpPr>
            <p:nvPr/>
          </p:nvSpPr>
          <p:spPr bwMode="auto">
            <a:xfrm>
              <a:off x="3552" y="3360"/>
              <a:ext cx="110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sz="2400" dirty="0">
                  <a:solidFill>
                    <a:srgbClr val="FF3300"/>
                  </a:solidFill>
                  <a:latin typeface="+mj-lt"/>
                  <a:cs typeface="Times New Roman" pitchFamily="18" charset="0"/>
                  <a:sym typeface="Symbol" pitchFamily="18" charset="2"/>
                </a:rPr>
                <a:t>(</a:t>
              </a:r>
              <a:r>
                <a:rPr lang="ru-RU" sz="2400" dirty="0">
                  <a:solidFill>
                    <a:srgbClr val="FF3300"/>
                  </a:solidFill>
                  <a:latin typeface="+mj-lt"/>
                  <a:cs typeface="Times New Roman" pitchFamily="18" charset="0"/>
                  <a:sym typeface="Symbol" pitchFamily="18" charset="2"/>
                </a:rPr>
                <a:t></a:t>
              </a:r>
              <a:r>
                <a:rPr lang="en-US" sz="2400" baseline="-25000" dirty="0">
                  <a:solidFill>
                    <a:srgbClr val="FF3300"/>
                  </a:solidFill>
                  <a:latin typeface="+mj-lt"/>
                  <a:cs typeface="Times New Roman" pitchFamily="18" charset="0"/>
                  <a:sym typeface="Symbol" pitchFamily="18" charset="2"/>
                </a:rPr>
                <a:t>min</a:t>
              </a:r>
              <a:r>
                <a:rPr lang="en-US" sz="2400" dirty="0">
                  <a:solidFill>
                    <a:srgbClr val="FF3300"/>
                  </a:solidFill>
                  <a:latin typeface="+mj-lt"/>
                  <a:cs typeface="Times New Roman" pitchFamily="18" charset="0"/>
                  <a:sym typeface="Symbol" pitchFamily="18" charset="2"/>
                </a:rPr>
                <a:t>)</a:t>
              </a:r>
              <a:r>
                <a:rPr lang="en-US" sz="2400" baseline="30000" dirty="0">
                  <a:solidFill>
                    <a:srgbClr val="FF3300"/>
                  </a:solidFill>
                  <a:latin typeface="+mj-lt"/>
                  <a:cs typeface="Times New Roman" pitchFamily="18" charset="0"/>
                  <a:sym typeface="Symbol" pitchFamily="18" charset="2"/>
                </a:rPr>
                <a:t>-1/2</a:t>
              </a:r>
              <a:endParaRPr lang="ru-RU" sz="2400" baseline="30000" dirty="0">
                <a:solidFill>
                  <a:srgbClr val="FF3300"/>
                </a:solidFill>
                <a:latin typeface="+mj-lt"/>
                <a:cs typeface="Times New Roman" pitchFamily="18" charset="0"/>
                <a:sym typeface="Symbol" pitchFamily="18" charset="2"/>
              </a:endParaRPr>
            </a:p>
          </p:txBody>
        </p:sp>
      </p:grpSp>
      <p:graphicFrame>
        <p:nvGraphicFramePr>
          <p:cNvPr id="7171" name="Object 18"/>
          <p:cNvGraphicFramePr>
            <a:graphicFrameLocks noGrp="1" noChangeAspect="1"/>
          </p:cNvGraphicFramePr>
          <p:nvPr>
            <p:ph idx="1"/>
          </p:nvPr>
        </p:nvGraphicFramePr>
        <p:xfrm>
          <a:off x="1930401" y="4111329"/>
          <a:ext cx="2690813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33440" imgH="457200" progId="Equation.3">
                  <p:embed/>
                </p:oleObj>
              </mc:Choice>
              <mc:Fallback>
                <p:oleObj name="Equation" r:id="rId3" imgW="1333440" imgH="457200" progId="Equation.3">
                  <p:embed/>
                  <p:pic>
                    <p:nvPicPr>
                      <p:cNvPr id="7171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1" y="4111329"/>
                        <a:ext cx="2690813" cy="922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6" name="Text Box 20"/>
          <p:cNvSpPr txBox="1">
            <a:spLocks noChangeArrowheads="1"/>
          </p:cNvSpPr>
          <p:nvPr/>
        </p:nvSpPr>
        <p:spPr bwMode="auto">
          <a:xfrm>
            <a:off x="1828800" y="3581401"/>
            <a:ext cx="225138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Ellipse equation: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1" y="3352801"/>
            <a:ext cx="30849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rgbClr val="0033CC"/>
                </a:solidFill>
                <a:latin typeface="+mj-lt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 dirty="0">
                <a:solidFill>
                  <a:srgbClr val="0033CC"/>
                </a:solidFill>
                <a:latin typeface="+mj-lt"/>
                <a:cs typeface="Times New Roman" pitchFamily="18" charset="0"/>
                <a:sym typeface="Symbol" pitchFamily="18" charset="2"/>
              </a:rPr>
              <a:t>max</a:t>
            </a:r>
            <a:r>
              <a:rPr lang="en-US" sz="2400" dirty="0">
                <a:latin typeface="+mj-lt"/>
                <a:cs typeface="Times New Roman" pitchFamily="18" charset="0"/>
                <a:sym typeface="Symbol" pitchFamily="18" charset="2"/>
              </a:rPr>
              <a:t>,</a:t>
            </a:r>
            <a:r>
              <a:rPr lang="en-US" sz="2400" dirty="0">
                <a:solidFill>
                  <a:srgbClr val="FF3300"/>
                </a:solidFill>
                <a:latin typeface="+mj-lt"/>
                <a:cs typeface="Times New Roman" pitchFamily="18" charset="0"/>
                <a:sym typeface="Symbol" pitchFamily="18" charset="2"/>
              </a:rPr>
              <a:t> </a:t>
            </a:r>
            <a:r>
              <a:rPr lang="ru-RU" sz="2400" dirty="0">
                <a:solidFill>
                  <a:srgbClr val="FF3300"/>
                </a:solidFill>
                <a:latin typeface="+mj-lt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 dirty="0">
                <a:solidFill>
                  <a:srgbClr val="FF3300"/>
                </a:solidFill>
                <a:latin typeface="+mj-lt"/>
                <a:cs typeface="Times New Roman" pitchFamily="18" charset="0"/>
                <a:sym typeface="Symbol" pitchFamily="18" charset="2"/>
              </a:rPr>
              <a:t>min</a:t>
            </a:r>
            <a:r>
              <a:rPr lang="ru-RU" sz="2400" dirty="0">
                <a:solidFill>
                  <a:srgbClr val="FF3300"/>
                </a:solidFill>
                <a:latin typeface="+mj-lt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>
                <a:solidFill>
                  <a:srgbClr val="FF3300"/>
                </a:solidFill>
                <a:cs typeface="Times New Roman" pitchFamily="18" charset="0"/>
                <a:sym typeface="Symbol" pitchFamily="18" charset="2"/>
              </a:rPr>
              <a:t>: </a:t>
            </a:r>
            <a:r>
              <a:rPr lang="en-US" dirty="0" err="1">
                <a:solidFill>
                  <a:srgbClr val="FF3300"/>
                </a:solidFill>
                <a:cs typeface="Times New Roman" pitchFamily="18" charset="0"/>
                <a:sym typeface="Symbol" pitchFamily="18" charset="2"/>
              </a:rPr>
              <a:t>eigenvalues</a:t>
            </a:r>
            <a:r>
              <a:rPr lang="en-US" dirty="0">
                <a:solidFill>
                  <a:srgbClr val="FF3300"/>
                </a:solidFill>
                <a:cs typeface="Times New Roman" pitchFamily="18" charset="0"/>
                <a:sym typeface="Symbol" pitchFamily="18" charset="2"/>
              </a:rPr>
              <a:t> of </a:t>
            </a:r>
            <a:r>
              <a:rPr lang="en-US" i="1" dirty="0">
                <a:solidFill>
                  <a:srgbClr val="FF3300"/>
                </a:solidFill>
                <a:cs typeface="Times New Roman" pitchFamily="18" charset="0"/>
                <a:sym typeface="Symbol" pitchFamily="18" charset="2"/>
              </a:rPr>
              <a:t>H</a:t>
            </a:r>
            <a:endParaRPr lang="en-US" i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9829800" cy="1143000"/>
          </a:xfrm>
        </p:spPr>
        <p:txBody>
          <a:bodyPr/>
          <a:lstStyle/>
          <a:p>
            <a:r>
              <a:rPr lang="en-US" dirty="0"/>
              <a:t>Feature descriptors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066800"/>
            <a:ext cx="8686800" cy="5638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2800" dirty="0"/>
              <a:t>We know how to detect good points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2800" dirty="0"/>
              <a:t>Next question: </a:t>
            </a:r>
            <a:r>
              <a:rPr lang="en-US" sz="2800" b="1" dirty="0">
                <a:solidFill>
                  <a:srgbClr val="FF0000"/>
                </a:solidFill>
              </a:rPr>
              <a:t>How to match them?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28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28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28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28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28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28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28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28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2800" b="1" dirty="0"/>
              <a:t>Answer: </a:t>
            </a:r>
            <a:r>
              <a:rPr lang="en-US" sz="2800" dirty="0"/>
              <a:t>Come up with a </a:t>
            </a:r>
            <a:r>
              <a:rPr lang="en-US" sz="2800" i="1" dirty="0"/>
              <a:t>descriptor</a:t>
            </a:r>
            <a:r>
              <a:rPr lang="en-US" sz="2800" dirty="0"/>
              <a:t> for each point, find similar descriptors between the two images</a:t>
            </a:r>
            <a:endParaRPr lang="en-US" b="1" dirty="0"/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sz="2400" dirty="0"/>
          </a:p>
          <a:p>
            <a:pPr>
              <a:buFontTx/>
              <a:buNone/>
            </a:pPr>
            <a:endParaRPr lang="en-US" sz="2400" dirty="0"/>
          </a:p>
          <a:p>
            <a:pPr>
              <a:buFontTx/>
              <a:buNone/>
            </a:pPr>
            <a:endParaRPr lang="en-US" sz="2400" dirty="0"/>
          </a:p>
          <a:p>
            <a:pPr>
              <a:spcBef>
                <a:spcPct val="0"/>
              </a:spcBef>
              <a:buFontTx/>
              <a:buNone/>
            </a:pPr>
            <a:endParaRPr lang="ru-RU" sz="2800" b="1" dirty="0">
              <a:solidFill>
                <a:srgbClr val="FF0000"/>
              </a:solidFill>
            </a:endParaRPr>
          </a:p>
        </p:txBody>
      </p:sp>
      <p:pic>
        <p:nvPicPr>
          <p:cNvPr id="59396" name="Picture 4" descr="SIFT2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84901" y="2133600"/>
            <a:ext cx="3675063" cy="266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397" name="Picture 5" descr="SIFT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74901" y="2133601"/>
            <a:ext cx="3675063" cy="266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398" name="Line 6"/>
          <p:cNvSpPr>
            <a:spLocks noChangeShapeType="1"/>
          </p:cNvSpPr>
          <p:nvPr/>
        </p:nvSpPr>
        <p:spPr bwMode="auto">
          <a:xfrm flipV="1">
            <a:off x="4813300" y="2933700"/>
            <a:ext cx="1905000" cy="152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399" name="Line 7"/>
          <p:cNvSpPr>
            <a:spLocks noChangeShapeType="1"/>
          </p:cNvSpPr>
          <p:nvPr/>
        </p:nvSpPr>
        <p:spPr bwMode="auto">
          <a:xfrm>
            <a:off x="5756275" y="3203575"/>
            <a:ext cx="1816100" cy="142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400" name="Line 8"/>
          <p:cNvSpPr>
            <a:spLocks noChangeShapeType="1"/>
          </p:cNvSpPr>
          <p:nvPr/>
        </p:nvSpPr>
        <p:spPr bwMode="auto">
          <a:xfrm flipV="1">
            <a:off x="5248276" y="4305301"/>
            <a:ext cx="1698625" cy="1428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401" name="Line 9"/>
          <p:cNvSpPr>
            <a:spLocks noChangeShapeType="1"/>
          </p:cNvSpPr>
          <p:nvPr/>
        </p:nvSpPr>
        <p:spPr bwMode="auto">
          <a:xfrm flipV="1">
            <a:off x="5705476" y="3848101"/>
            <a:ext cx="1736725" cy="412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402" name="Line 10"/>
          <p:cNvSpPr>
            <a:spLocks noChangeShapeType="1"/>
          </p:cNvSpPr>
          <p:nvPr/>
        </p:nvSpPr>
        <p:spPr bwMode="auto">
          <a:xfrm flipV="1">
            <a:off x="4968876" y="3429001"/>
            <a:ext cx="1825625" cy="1301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403" name="Text Box 11"/>
          <p:cNvSpPr txBox="1">
            <a:spLocks noChangeArrowheads="1"/>
          </p:cNvSpPr>
          <p:nvPr/>
        </p:nvSpPr>
        <p:spPr bwMode="auto">
          <a:xfrm>
            <a:off x="5748496" y="2232025"/>
            <a:ext cx="75533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39700" algn="ctr" rotWithShape="0">
              <a:prstClr val="black">
                <a:alpha val="88000"/>
              </a:prstClr>
            </a:outerShdw>
          </a:effectLst>
        </p:spPr>
        <p:txBody>
          <a:bodyPr wrap="none">
            <a:spAutoFit/>
          </a:bodyPr>
          <a:lstStyle/>
          <a:p>
            <a:pPr algn="ctr" eaLnBrk="1" hangingPunct="1"/>
            <a:r>
              <a:rPr lang="en-US" sz="9600" dirty="0">
                <a:solidFill>
                  <a:srgbClr val="FF0000"/>
                </a:solidFill>
                <a:cs typeface="Times New Roman" pitchFamily="18" charset="0"/>
              </a:rPr>
              <a:t>?</a:t>
            </a:r>
            <a:endParaRPr lang="ru-RU" sz="9600" dirty="0">
              <a:solidFill>
                <a:srgbClr val="FF0000"/>
              </a:solidFill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066800"/>
            <a:ext cx="8686800" cy="5638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2800" dirty="0"/>
              <a:t>We know how to detect good points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2800" dirty="0"/>
              <a:t>Next question: </a:t>
            </a:r>
            <a:r>
              <a:rPr lang="en-US" sz="2800" b="1" dirty="0">
                <a:solidFill>
                  <a:srgbClr val="FF0000"/>
                </a:solidFill>
              </a:rPr>
              <a:t>How to match them?</a:t>
            </a:r>
            <a:endParaRPr lang="en-US" b="1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sz="2400" dirty="0"/>
          </a:p>
          <a:p>
            <a:pPr>
              <a:buFontTx/>
              <a:buNone/>
            </a:pPr>
            <a:endParaRPr lang="en-US" sz="2400" dirty="0"/>
          </a:p>
          <a:p>
            <a:pPr>
              <a:buFontTx/>
              <a:buNone/>
            </a:pPr>
            <a:endParaRPr lang="en-US" sz="2400" dirty="0"/>
          </a:p>
          <a:p>
            <a:pPr>
              <a:buFontTx/>
              <a:buNone/>
            </a:pPr>
            <a:r>
              <a:rPr lang="en-US" sz="2400" dirty="0"/>
              <a:t>Lots of possibilities</a:t>
            </a:r>
          </a:p>
          <a:p>
            <a:pPr lvl="1"/>
            <a:r>
              <a:rPr lang="en-US" sz="2000" dirty="0"/>
              <a:t>Simple option:  match square windows around the point</a:t>
            </a:r>
          </a:p>
          <a:p>
            <a:pPr lvl="1"/>
            <a:r>
              <a:rPr lang="en-US" sz="2000" dirty="0"/>
              <a:t>State of the art approach:  SIFT</a:t>
            </a:r>
          </a:p>
          <a:p>
            <a:pPr lvl="2"/>
            <a:r>
              <a:rPr lang="en-US" sz="1400" dirty="0"/>
              <a:t>David Lowe, UBC  </a:t>
            </a:r>
            <a:r>
              <a:rPr lang="en-US" sz="1400" dirty="0">
                <a:hlinkClick r:id="rId2"/>
              </a:rPr>
              <a:t>http://www.cs.ubc.ca/~lowe/keypoints/</a:t>
            </a:r>
            <a:r>
              <a:rPr lang="en-US" sz="1400" dirty="0"/>
              <a:t> </a:t>
            </a:r>
          </a:p>
          <a:p>
            <a:pPr lvl="1"/>
            <a:endParaRPr lang="en-US" sz="1800" dirty="0"/>
          </a:p>
          <a:p>
            <a:pPr>
              <a:spcBef>
                <a:spcPct val="0"/>
              </a:spcBef>
              <a:buFontTx/>
              <a:buNone/>
            </a:pPr>
            <a:endParaRPr lang="en-US" sz="28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28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28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28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28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28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28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28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28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ru-RU" sz="2800" b="1" dirty="0">
              <a:solidFill>
                <a:srgbClr val="FF0000"/>
              </a:solidFill>
            </a:endParaRPr>
          </a:p>
        </p:txBody>
      </p:sp>
      <p:pic>
        <p:nvPicPr>
          <p:cNvPr id="59396" name="Picture 4" descr="SIFT2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84901" y="2133600"/>
            <a:ext cx="3675063" cy="266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397" name="Picture 5" descr="SIFT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74901" y="2133601"/>
            <a:ext cx="3675063" cy="266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398" name="Line 6"/>
          <p:cNvSpPr>
            <a:spLocks noChangeShapeType="1"/>
          </p:cNvSpPr>
          <p:nvPr/>
        </p:nvSpPr>
        <p:spPr bwMode="auto">
          <a:xfrm flipV="1">
            <a:off x="4813300" y="2933700"/>
            <a:ext cx="1905000" cy="152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399" name="Line 7"/>
          <p:cNvSpPr>
            <a:spLocks noChangeShapeType="1"/>
          </p:cNvSpPr>
          <p:nvPr/>
        </p:nvSpPr>
        <p:spPr bwMode="auto">
          <a:xfrm>
            <a:off x="5756275" y="3203575"/>
            <a:ext cx="1816100" cy="142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400" name="Line 8"/>
          <p:cNvSpPr>
            <a:spLocks noChangeShapeType="1"/>
          </p:cNvSpPr>
          <p:nvPr/>
        </p:nvSpPr>
        <p:spPr bwMode="auto">
          <a:xfrm flipV="1">
            <a:off x="5248276" y="4305301"/>
            <a:ext cx="1698625" cy="1428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401" name="Line 9"/>
          <p:cNvSpPr>
            <a:spLocks noChangeShapeType="1"/>
          </p:cNvSpPr>
          <p:nvPr/>
        </p:nvSpPr>
        <p:spPr bwMode="auto">
          <a:xfrm flipV="1">
            <a:off x="5705476" y="3848101"/>
            <a:ext cx="1736725" cy="412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402" name="Line 10"/>
          <p:cNvSpPr>
            <a:spLocks noChangeShapeType="1"/>
          </p:cNvSpPr>
          <p:nvPr/>
        </p:nvSpPr>
        <p:spPr bwMode="auto">
          <a:xfrm flipV="1">
            <a:off x="4968876" y="3429001"/>
            <a:ext cx="1825625" cy="1301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5748496" y="2232025"/>
            <a:ext cx="75533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39700" algn="ctr" rotWithShape="0">
              <a:prstClr val="black">
                <a:alpha val="88000"/>
              </a:prstClr>
            </a:outerShdw>
          </a:effectLst>
        </p:spPr>
        <p:txBody>
          <a:bodyPr wrap="none">
            <a:spAutoFit/>
          </a:bodyPr>
          <a:lstStyle/>
          <a:p>
            <a:pPr algn="ctr" eaLnBrk="1" hangingPunct="1"/>
            <a:r>
              <a:rPr lang="en-US" sz="9600" dirty="0">
                <a:solidFill>
                  <a:srgbClr val="FF0000"/>
                </a:solidFill>
                <a:cs typeface="Times New Roman" pitchFamily="18" charset="0"/>
              </a:rPr>
              <a:t>?</a:t>
            </a:r>
            <a:endParaRPr lang="ru-RU" sz="9600" dirty="0">
              <a:solidFill>
                <a:srgbClr val="FF0000"/>
              </a:solidFill>
              <a:cs typeface="Times New Roman" pitchFamily="18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47FB693A-73D8-4334-8948-7D845FE23FBF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0"/>
            <a:ext cx="9829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Feature descriptors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Invariance vs. </a:t>
            </a:r>
            <a:r>
              <a:rPr lang="en-US" dirty="0" err="1"/>
              <a:t>discriminability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Invariance:</a:t>
            </a:r>
          </a:p>
          <a:p>
            <a:pPr lvl="1"/>
            <a:r>
              <a:rPr lang="en-US" dirty="0"/>
              <a:t>Descriptor shouldn’t change even if image is transformed</a:t>
            </a:r>
          </a:p>
          <a:p>
            <a:pPr lvl="1"/>
            <a:endParaRPr lang="en-US" dirty="0"/>
          </a:p>
          <a:p>
            <a:r>
              <a:rPr lang="en-US" dirty="0" err="1"/>
              <a:t>Discriminability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Descriptor should be highly unique for each point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transformations revisited</a:t>
            </a:r>
            <a:endParaRPr lang="ru-RU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447800"/>
            <a:ext cx="8839200" cy="5105400"/>
          </a:xfrm>
        </p:spPr>
        <p:txBody>
          <a:bodyPr>
            <a:normAutofit/>
          </a:bodyPr>
          <a:lstStyle/>
          <a:p>
            <a:r>
              <a:rPr lang="en-US" dirty="0"/>
              <a:t>Geometric</a:t>
            </a:r>
          </a:p>
          <a:p>
            <a:endParaRPr lang="en-US" dirty="0"/>
          </a:p>
          <a:p>
            <a:pPr lvl="1">
              <a:buNone/>
            </a:pPr>
            <a:r>
              <a:rPr lang="en-US" b="1" dirty="0"/>
              <a:t>		     Rotation</a:t>
            </a:r>
            <a:br>
              <a:rPr lang="en-US" b="1" dirty="0"/>
            </a:br>
            <a:endParaRPr lang="en-US" b="1" dirty="0"/>
          </a:p>
          <a:p>
            <a:pPr lvl="1"/>
            <a:endParaRPr lang="en-US" dirty="0"/>
          </a:p>
          <a:p>
            <a:pPr lvl="1">
              <a:buNone/>
            </a:pPr>
            <a:r>
              <a:rPr lang="en-US" b="1" dirty="0"/>
              <a:t>             Scale</a:t>
            </a:r>
            <a:br>
              <a:rPr lang="en-US" dirty="0"/>
            </a:br>
            <a:br>
              <a:rPr lang="en-US" dirty="0"/>
            </a:br>
            <a:endParaRPr lang="en-US" sz="1400" dirty="0"/>
          </a:p>
          <a:p>
            <a:r>
              <a:rPr lang="en-US" dirty="0"/>
              <a:t>Photometric</a:t>
            </a:r>
          </a:p>
          <a:p>
            <a:pPr lvl="1">
              <a:buNone/>
            </a:pPr>
            <a:r>
              <a:rPr lang="en-US" b="1" dirty="0"/>
              <a:t>   Intensity change</a:t>
            </a:r>
            <a:endParaRPr lang="ru-RU" dirty="0"/>
          </a:p>
        </p:txBody>
      </p:sp>
      <p:grpSp>
        <p:nvGrpSpPr>
          <p:cNvPr id="2" name="Group 24"/>
          <p:cNvGrpSpPr/>
          <p:nvPr/>
        </p:nvGrpSpPr>
        <p:grpSpPr>
          <a:xfrm>
            <a:off x="4789822" y="2503822"/>
            <a:ext cx="2144379" cy="696579"/>
            <a:chOff x="4267200" y="2580021"/>
            <a:chExt cx="2144379" cy="696579"/>
          </a:xfrm>
        </p:grpSpPr>
        <p:pic>
          <p:nvPicPr>
            <p:cNvPr id="222211" name="Picture 3" descr="C:\snavely\work\teaching\09Fa-CS6610\lectures\lec03\bee_bw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267200" y="2590800"/>
              <a:ext cx="685800" cy="685800"/>
            </a:xfrm>
            <a:prstGeom prst="rect">
              <a:avLst/>
            </a:prstGeom>
            <a:noFill/>
          </p:spPr>
        </p:pic>
        <p:pic>
          <p:nvPicPr>
            <p:cNvPr id="28" name="Picture 3" descr="C:\snavely\work\teaching\09Fa-CS6610\lectures\lec03\bee_bw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rot="2558027">
              <a:off x="5725779" y="2580021"/>
              <a:ext cx="685800" cy="685800"/>
            </a:xfrm>
            <a:prstGeom prst="rect">
              <a:avLst/>
            </a:prstGeom>
            <a:noFill/>
          </p:spPr>
        </p:pic>
        <p:sp>
          <p:nvSpPr>
            <p:cNvPr id="33" name="Right Arrow 32"/>
            <p:cNvSpPr/>
            <p:nvPr/>
          </p:nvSpPr>
          <p:spPr>
            <a:xfrm>
              <a:off x="5105400" y="2743200"/>
              <a:ext cx="304800" cy="3810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5"/>
          <p:cNvGrpSpPr/>
          <p:nvPr/>
        </p:nvGrpSpPr>
        <p:grpSpPr>
          <a:xfrm>
            <a:off x="4724400" y="3962400"/>
            <a:ext cx="2438400" cy="1143000"/>
            <a:chOff x="4267200" y="3886200"/>
            <a:chExt cx="2438400" cy="1143000"/>
          </a:xfrm>
        </p:grpSpPr>
        <p:pic>
          <p:nvPicPr>
            <p:cNvPr id="29" name="Picture 3" descr="C:\snavely\work\teaching\09Fa-CS6610\lectures\lec03\bee_bw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267200" y="3886200"/>
              <a:ext cx="685800" cy="685800"/>
            </a:xfrm>
            <a:prstGeom prst="rect">
              <a:avLst/>
            </a:prstGeom>
            <a:noFill/>
          </p:spPr>
        </p:pic>
        <p:pic>
          <p:nvPicPr>
            <p:cNvPr id="30" name="Picture 3" descr="C:\snavely\work\teaching\09Fa-CS6610\lectures\lec03\bee_bw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562600" y="3886200"/>
              <a:ext cx="1143000" cy="1143000"/>
            </a:xfrm>
            <a:prstGeom prst="rect">
              <a:avLst/>
            </a:prstGeom>
            <a:noFill/>
          </p:spPr>
        </p:pic>
        <p:sp>
          <p:nvSpPr>
            <p:cNvPr id="34" name="Right Arrow 33"/>
            <p:cNvSpPr/>
            <p:nvPr/>
          </p:nvSpPr>
          <p:spPr>
            <a:xfrm>
              <a:off x="5105400" y="4038600"/>
              <a:ext cx="304800" cy="3810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26"/>
          <p:cNvGrpSpPr/>
          <p:nvPr/>
        </p:nvGrpSpPr>
        <p:grpSpPr>
          <a:xfrm>
            <a:off x="4953000" y="5638800"/>
            <a:ext cx="2057400" cy="685800"/>
            <a:chOff x="4267200" y="5562600"/>
            <a:chExt cx="2057400" cy="685800"/>
          </a:xfrm>
        </p:grpSpPr>
        <p:pic>
          <p:nvPicPr>
            <p:cNvPr id="31" name="Picture 3" descr="C:\snavely\work\teaching\09Fa-CS6610\lectures\lec03\bee_bw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267200" y="5562600"/>
              <a:ext cx="685800" cy="685800"/>
            </a:xfrm>
            <a:prstGeom prst="rect">
              <a:avLst/>
            </a:prstGeom>
            <a:noFill/>
          </p:spPr>
        </p:pic>
        <p:pic>
          <p:nvPicPr>
            <p:cNvPr id="32" name="Picture 3" descr="C:\snavely\work\teaching\09Fa-CS6610\lectures\lec03\bee_bw.jpg"/>
            <p:cNvPicPr>
              <a:picLocks noChangeAspect="1" noChangeArrowheads="1"/>
            </p:cNvPicPr>
            <p:nvPr/>
          </p:nvPicPr>
          <p:blipFill>
            <a:blip r:embed="rId3" cstate="print">
              <a:lum bright="30000"/>
            </a:blip>
            <a:srcRect/>
            <a:stretch>
              <a:fillRect/>
            </a:stretch>
          </p:blipFill>
          <p:spPr bwMode="auto">
            <a:xfrm>
              <a:off x="5638800" y="5562600"/>
              <a:ext cx="685800" cy="685800"/>
            </a:xfrm>
            <a:prstGeom prst="rect">
              <a:avLst/>
            </a:prstGeom>
            <a:noFill/>
          </p:spPr>
        </p:pic>
        <p:sp>
          <p:nvSpPr>
            <p:cNvPr id="35" name="Right Arrow 34"/>
            <p:cNvSpPr/>
            <p:nvPr/>
          </p:nvSpPr>
          <p:spPr>
            <a:xfrm>
              <a:off x="5105400" y="5715000"/>
              <a:ext cx="304800" cy="3810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Invariance</a:t>
            </a:r>
          </a:p>
        </p:txBody>
      </p:sp>
      <p:sp>
        <p:nvSpPr>
          <p:cNvPr id="614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dirty="0"/>
              <a:t>Suppose we are comparing two images I</a:t>
            </a:r>
            <a:r>
              <a:rPr lang="en-US" baseline="-25000" dirty="0"/>
              <a:t>1</a:t>
            </a:r>
            <a:r>
              <a:rPr lang="en-US" dirty="0"/>
              <a:t> and I</a:t>
            </a:r>
            <a:r>
              <a:rPr lang="en-US" baseline="-25000" dirty="0"/>
              <a:t>2</a:t>
            </a:r>
          </a:p>
          <a:p>
            <a:pPr lvl="1"/>
            <a:r>
              <a:rPr lang="en-US" dirty="0"/>
              <a:t>I</a:t>
            </a:r>
            <a:r>
              <a:rPr lang="en-US" baseline="-25000" dirty="0"/>
              <a:t>2</a:t>
            </a:r>
            <a:r>
              <a:rPr lang="en-US" dirty="0"/>
              <a:t> may be a transformed version of I</a:t>
            </a:r>
            <a:r>
              <a:rPr lang="en-US" baseline="-25000" dirty="0"/>
              <a:t>1</a:t>
            </a:r>
          </a:p>
          <a:p>
            <a:pPr lvl="1"/>
            <a:r>
              <a:rPr lang="en-US" dirty="0"/>
              <a:t>What kinds of transformations are we likely to encounter in practice?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Invariant descriptors</a:t>
            </a:r>
          </a:p>
        </p:txBody>
      </p:sp>
      <p:sp>
        <p:nvSpPr>
          <p:cNvPr id="62467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10820400" cy="4983162"/>
          </a:xfrm>
        </p:spPr>
        <p:txBody>
          <a:bodyPr>
            <a:normAutofit/>
          </a:bodyPr>
          <a:lstStyle/>
          <a:p>
            <a:r>
              <a:rPr lang="en-US" dirty="0"/>
              <a:t>We looked at invariant / equivariant </a:t>
            </a:r>
            <a:r>
              <a:rPr lang="en-US" b="1" dirty="0"/>
              <a:t>detectors</a:t>
            </a:r>
          </a:p>
          <a:p>
            <a:endParaRPr lang="en-US" sz="2200" dirty="0"/>
          </a:p>
          <a:p>
            <a:r>
              <a:rPr lang="en-US" dirty="0"/>
              <a:t>Most feature </a:t>
            </a:r>
            <a:r>
              <a:rPr lang="en-US" b="1" dirty="0"/>
              <a:t>descriptors</a:t>
            </a:r>
            <a:r>
              <a:rPr lang="en-US" dirty="0"/>
              <a:t> are also designed to be invariant to: </a:t>
            </a:r>
          </a:p>
          <a:p>
            <a:pPr lvl="1"/>
            <a:r>
              <a:rPr lang="en-US" sz="2600" dirty="0"/>
              <a:t>Translation, 2D rotation, scale</a:t>
            </a:r>
          </a:p>
          <a:p>
            <a:endParaRPr lang="en-US" sz="2400" dirty="0"/>
          </a:p>
          <a:p>
            <a:r>
              <a:rPr lang="en-US" dirty="0"/>
              <a:t>They can usually also handle</a:t>
            </a:r>
          </a:p>
          <a:p>
            <a:pPr lvl="1"/>
            <a:r>
              <a:rPr lang="en-US" sz="2600" dirty="0"/>
              <a:t>Limited 3D rotations (SIFT works up to about 60 degrees)</a:t>
            </a:r>
          </a:p>
          <a:p>
            <a:pPr lvl="1"/>
            <a:r>
              <a:rPr lang="en-US" sz="2600" dirty="0"/>
              <a:t>Limited affine transforms (some are fully affine invariant)</a:t>
            </a:r>
          </a:p>
          <a:p>
            <a:pPr lvl="1"/>
            <a:r>
              <a:rPr lang="en-US" sz="2600" dirty="0"/>
              <a:t>Limited illumination/contrast changes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achieve invariance</a:t>
            </a:r>
            <a:endParaRPr lang="en-US" sz="1800"/>
          </a:p>
        </p:txBody>
      </p:sp>
      <p:sp>
        <p:nvSpPr>
          <p:cNvPr id="6349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None/>
            </a:pPr>
            <a:r>
              <a:rPr lang="en-US" sz="2800" dirty="0"/>
              <a:t>Need both of the following:</a:t>
            </a:r>
          </a:p>
          <a:p>
            <a:pPr marL="457200" indent="-457200">
              <a:buFontTx/>
              <a:buAutoNum type="arabicPeriod"/>
            </a:pPr>
            <a:r>
              <a:rPr lang="en-US" sz="2800" dirty="0"/>
              <a:t>Make sure your detector is invariant</a:t>
            </a:r>
            <a:endParaRPr lang="en-US" sz="2800" baseline="-25000" dirty="0"/>
          </a:p>
          <a:p>
            <a:pPr marL="457200" indent="-457200">
              <a:buNone/>
            </a:pPr>
            <a:r>
              <a:rPr lang="en-US" sz="2800" dirty="0"/>
              <a:t>2.  Design an invariant feature descriptor</a:t>
            </a:r>
          </a:p>
          <a:p>
            <a:pPr lvl="1"/>
            <a:r>
              <a:rPr lang="en-US" sz="2400" dirty="0"/>
              <a:t>Simplest descriptor: a single 0</a:t>
            </a:r>
          </a:p>
          <a:p>
            <a:pPr lvl="2"/>
            <a:r>
              <a:rPr lang="en-US" sz="2000" dirty="0"/>
              <a:t>What’s this invariant to?</a:t>
            </a:r>
          </a:p>
          <a:p>
            <a:pPr lvl="1"/>
            <a:r>
              <a:rPr lang="en-US" sz="2400" dirty="0"/>
              <a:t>Next simplest descriptor:  a square, axis-aligned 5x5 window of pixels </a:t>
            </a:r>
          </a:p>
          <a:p>
            <a:pPr lvl="2"/>
            <a:r>
              <a:rPr lang="en-US" sz="2000" dirty="0"/>
              <a:t>What’s this invariant to?</a:t>
            </a:r>
          </a:p>
          <a:p>
            <a:pPr lvl="1"/>
            <a:r>
              <a:rPr lang="en-US" sz="2400" dirty="0"/>
              <a:t>Let’s look at some better approaches…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10363200" cy="2438399"/>
          </a:xfrm>
          <a:noFill/>
        </p:spPr>
        <p:txBody>
          <a:bodyPr>
            <a:normAutofit lnSpcReduction="10000"/>
          </a:bodyPr>
          <a:lstStyle/>
          <a:p>
            <a:r>
              <a:rPr lang="en-US" sz="2800" dirty="0"/>
              <a:t>Find dominant orientation of the image patch (this orientation should be </a:t>
            </a:r>
            <a:r>
              <a:rPr lang="en-US" sz="2800" i="1" dirty="0"/>
              <a:t>equivariant</a:t>
            </a:r>
            <a:r>
              <a:rPr lang="en-US" sz="2800" dirty="0"/>
              <a:t> to image rotation)</a:t>
            </a:r>
          </a:p>
          <a:p>
            <a:pPr lvl="1"/>
            <a:r>
              <a:rPr lang="en-US" sz="2400" dirty="0"/>
              <a:t>E.g., given by </a:t>
            </a:r>
            <a:r>
              <a:rPr lang="en-US" sz="2400" b="1" dirty="0" err="1"/>
              <a:t>x</a:t>
            </a:r>
            <a:r>
              <a:rPr lang="en-US" sz="2400" b="1" baseline="-25000" dirty="0" err="1"/>
              <a:t>max</a:t>
            </a:r>
            <a:r>
              <a:rPr lang="en-US" sz="2400" dirty="0"/>
              <a:t>, the eigenvector of the second moment matrix </a:t>
            </a:r>
            <a:r>
              <a:rPr lang="en-US" sz="2400" b="1" dirty="0"/>
              <a:t>H</a:t>
            </a:r>
            <a:r>
              <a:rPr lang="en-US" sz="2400" dirty="0"/>
              <a:t> corresponding to </a:t>
            </a:r>
            <a:r>
              <a:rPr lang="en-US" sz="2400" dirty="0">
                <a:sym typeface="Symbol" pitchFamily="18" charset="2"/>
              </a:rPr>
              <a:t></a:t>
            </a:r>
            <a:r>
              <a:rPr lang="en-US" sz="2400" baseline="-25000" dirty="0">
                <a:sym typeface="Symbol" pitchFamily="18" charset="2"/>
              </a:rPr>
              <a:t>max</a:t>
            </a:r>
            <a:r>
              <a:rPr lang="en-US" sz="2400" dirty="0">
                <a:sym typeface="Symbol" pitchFamily="18" charset="2"/>
              </a:rPr>
              <a:t> (</a:t>
            </a:r>
            <a:r>
              <a:rPr lang="en-US" sz="2400" dirty="0"/>
              <a:t>the larger eigenvalue)</a:t>
            </a:r>
          </a:p>
          <a:p>
            <a:pPr lvl="1"/>
            <a:r>
              <a:rPr lang="en-US" sz="2400" dirty="0"/>
              <a:t>Or (better) simply the orientation of the (smoothed) gradient</a:t>
            </a:r>
          </a:p>
          <a:p>
            <a:pPr lvl="1"/>
            <a:r>
              <a:rPr lang="en-US" sz="2400" dirty="0"/>
              <a:t>Rotate the patch according to this angle</a:t>
            </a:r>
          </a:p>
        </p:txBody>
      </p:sp>
      <p:sp>
        <p:nvSpPr>
          <p:cNvPr id="64516" name="Rectangle 13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Rotation invariance for feature descriptors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A17C82F-A5A1-D9BA-9E2E-FC6E86751020}"/>
              </a:ext>
            </a:extLst>
          </p:cNvPr>
          <p:cNvGrpSpPr/>
          <p:nvPr/>
        </p:nvGrpSpPr>
        <p:grpSpPr>
          <a:xfrm>
            <a:off x="7772400" y="3657600"/>
            <a:ext cx="3962400" cy="3124554"/>
            <a:chOff x="7467600" y="3429000"/>
            <a:chExt cx="4267200" cy="3364904"/>
          </a:xfrm>
        </p:grpSpPr>
        <p:pic>
          <p:nvPicPr>
            <p:cNvPr id="64514" name="Picture 11" descr="matierb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467600" y="3429000"/>
              <a:ext cx="4267200" cy="30058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4517" name="Rectangle 14"/>
            <p:cNvSpPr>
              <a:spLocks noChangeArrowheads="1"/>
            </p:cNvSpPr>
            <p:nvPr/>
          </p:nvSpPr>
          <p:spPr bwMode="auto">
            <a:xfrm>
              <a:off x="8409528" y="6455350"/>
              <a:ext cx="238334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/>
                <a:t>Figure by Matthew Brown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914400" y="1752601"/>
            <a:ext cx="4114800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sz="2000" dirty="0"/>
              <a:t>Take 40x40 square window around detected feature</a:t>
            </a:r>
          </a:p>
          <a:p>
            <a:pPr lvl="1"/>
            <a:r>
              <a:rPr lang="en-US" sz="1800" dirty="0"/>
              <a:t>Scale to 1/5 size (using </a:t>
            </a:r>
            <a:r>
              <a:rPr lang="en-US" sz="1800" dirty="0" err="1"/>
              <a:t>prefiltering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Rotate to horizontal</a:t>
            </a:r>
          </a:p>
          <a:p>
            <a:pPr lvl="1"/>
            <a:r>
              <a:rPr lang="en-US" sz="1800" dirty="0"/>
              <a:t>Sample 8x8 square window centered at feature</a:t>
            </a:r>
          </a:p>
          <a:p>
            <a:pPr lvl="1"/>
            <a:r>
              <a:rPr lang="en-US" sz="1800" dirty="0"/>
              <a:t>Intensity normalize the window by subtracting the mean, dividing by the standard deviation in the window (why?)</a:t>
            </a:r>
          </a:p>
        </p:txBody>
      </p:sp>
      <p:sp>
        <p:nvSpPr>
          <p:cNvPr id="6553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0312" y="4876800"/>
            <a:ext cx="2895600" cy="457200"/>
          </a:xfrm>
          <a:noFill/>
        </p:spPr>
        <p:txBody>
          <a:bodyPr/>
          <a:lstStyle/>
          <a:p>
            <a:r>
              <a:rPr lang="en-US"/>
              <a:t>CSE 576: Computer Vision</a:t>
            </a:r>
          </a:p>
        </p:txBody>
      </p:sp>
      <p:pic>
        <p:nvPicPr>
          <p:cNvPr id="65540" name="Picture 2" descr="matierb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43513" y="1828801"/>
            <a:ext cx="4962525" cy="349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5541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0066FF"/>
                </a:solidFill>
              </a:rPr>
              <a:t>M</a:t>
            </a:r>
            <a:r>
              <a:rPr lang="en-US"/>
              <a:t>ultiscale </a:t>
            </a:r>
            <a:r>
              <a:rPr lang="en-US">
                <a:solidFill>
                  <a:srgbClr val="0066FF"/>
                </a:solidFill>
              </a:rPr>
              <a:t>O</a:t>
            </a:r>
            <a:r>
              <a:rPr lang="en-US"/>
              <a:t>riented </a:t>
            </a:r>
            <a:r>
              <a:rPr lang="en-US">
                <a:solidFill>
                  <a:srgbClr val="0066FF"/>
                </a:solidFill>
              </a:rPr>
              <a:t>P</a:t>
            </a:r>
            <a:r>
              <a:rPr lang="en-US"/>
              <a:t>atche</a:t>
            </a:r>
            <a:r>
              <a:rPr lang="en-US">
                <a:solidFill>
                  <a:srgbClr val="0066FF"/>
                </a:solidFill>
              </a:rPr>
              <a:t>S</a:t>
            </a:r>
            <a:r>
              <a:rPr lang="en-US"/>
              <a:t> descriptor</a:t>
            </a:r>
          </a:p>
        </p:txBody>
      </p:sp>
      <p:pic>
        <p:nvPicPr>
          <p:cNvPr id="65542" name="Picture 5" descr="matierbf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85212" y="3113088"/>
            <a:ext cx="1982788" cy="198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5543" name="Line 6"/>
          <p:cNvSpPr>
            <a:spLocks noChangeShapeType="1"/>
          </p:cNvSpPr>
          <p:nvPr/>
        </p:nvSpPr>
        <p:spPr bwMode="auto">
          <a:xfrm>
            <a:off x="8672513" y="2819400"/>
            <a:ext cx="1990725" cy="1588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triangle" w="lg" len="med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65544" name="Line 7"/>
          <p:cNvSpPr>
            <a:spLocks noChangeShapeType="1"/>
          </p:cNvSpPr>
          <p:nvPr/>
        </p:nvSpPr>
        <p:spPr bwMode="auto">
          <a:xfrm>
            <a:off x="7529512" y="2573339"/>
            <a:ext cx="596900" cy="123825"/>
          </a:xfrm>
          <a:prstGeom prst="line">
            <a:avLst/>
          </a:prstGeom>
          <a:noFill/>
          <a:ln w="31750">
            <a:solidFill>
              <a:srgbClr val="0000FF"/>
            </a:solidFill>
            <a:round/>
            <a:headEnd type="triangle" w="lg" len="med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65545" name="Text Box 8"/>
          <p:cNvSpPr txBox="1">
            <a:spLocks noChangeArrowheads="1"/>
          </p:cNvSpPr>
          <p:nvPr/>
        </p:nvSpPr>
        <p:spPr bwMode="auto">
          <a:xfrm>
            <a:off x="8977313" y="2286001"/>
            <a:ext cx="1166813" cy="396875"/>
          </a:xfrm>
          <a:prstGeom prst="rect">
            <a:avLst/>
          </a:prstGeom>
          <a:noFill/>
          <a:ln w="38100">
            <a:noFill/>
            <a:miter lim="800000"/>
            <a:headEnd type="none" w="lg" len="med"/>
            <a:tailEnd type="none" w="lg" len="med"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CCECFF"/>
                </a:solidFill>
                <a:latin typeface="Verdana" pitchFamily="34" charset="0"/>
              </a:rPr>
              <a:t>8 pixels</a:t>
            </a:r>
          </a:p>
        </p:txBody>
      </p:sp>
      <p:sp>
        <p:nvSpPr>
          <p:cNvPr id="65546" name="Text Box 9"/>
          <p:cNvSpPr txBox="1">
            <a:spLocks noChangeArrowheads="1"/>
          </p:cNvSpPr>
          <p:nvPr/>
        </p:nvSpPr>
        <p:spPr bwMode="auto">
          <a:xfrm rot="720000">
            <a:off x="7377112" y="2286000"/>
            <a:ext cx="1098550" cy="336550"/>
          </a:xfrm>
          <a:prstGeom prst="rect">
            <a:avLst/>
          </a:prstGeom>
          <a:noFill/>
          <a:ln w="38100">
            <a:noFill/>
            <a:miter lim="800000"/>
            <a:headEnd type="none" w="lg" len="med"/>
            <a:tailEnd type="none" w="lg" len="med"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CCECFF"/>
                </a:solidFill>
                <a:latin typeface="Verdana" pitchFamily="34" charset="0"/>
              </a:rPr>
              <a:t>40 pixels</a:t>
            </a:r>
          </a:p>
        </p:txBody>
      </p:sp>
      <p:sp>
        <p:nvSpPr>
          <p:cNvPr id="65547" name="Rectangle 14"/>
          <p:cNvSpPr>
            <a:spLocks noChangeArrowheads="1"/>
          </p:cNvSpPr>
          <p:nvPr/>
        </p:nvSpPr>
        <p:spPr bwMode="auto">
          <a:xfrm>
            <a:off x="7651598" y="6550224"/>
            <a:ext cx="301640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Adapted from slide by Matthew Brown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Detections at multiple scales</a:t>
            </a:r>
          </a:p>
        </p:txBody>
      </p:sp>
      <p:pic>
        <p:nvPicPr>
          <p:cNvPr id="6656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66850" y="1443038"/>
            <a:ext cx="9124950" cy="4652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4"/>
          <p:cNvSpPr txBox="1">
            <a:spLocks noChangeArrowheads="1"/>
          </p:cNvSpPr>
          <p:nvPr/>
        </p:nvSpPr>
        <p:spPr bwMode="auto">
          <a:xfrm>
            <a:off x="2209800" y="1371600"/>
            <a:ext cx="80010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000" dirty="0"/>
              <a:t>Basic idea: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dirty="0"/>
              <a:t>Take 16x16 square window around detected feature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dirty="0"/>
              <a:t>Compute edge orientation (angle of the gradient - 90</a:t>
            </a:r>
            <a:r>
              <a:rPr lang="en-US" dirty="0">
                <a:sym typeface="Symbol" pitchFamily="18" charset="2"/>
              </a:rPr>
              <a:t></a:t>
            </a:r>
            <a:r>
              <a:rPr lang="en-US" dirty="0"/>
              <a:t>) for each pixel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dirty="0"/>
              <a:t>Throw out weak edges (threshold gradient magnitude)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dirty="0"/>
              <a:t>Create histogram of surviving edge orientations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dirty="0"/>
              <a:t>Shift the bins so that the biggest one is first</a:t>
            </a:r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66FF"/>
                </a:solidFill>
              </a:rPr>
              <a:t>S</a:t>
            </a:r>
            <a:r>
              <a:rPr lang="en-US"/>
              <a:t>cale </a:t>
            </a:r>
            <a:r>
              <a:rPr lang="en-US">
                <a:solidFill>
                  <a:srgbClr val="0066FF"/>
                </a:solidFill>
              </a:rPr>
              <a:t>I</a:t>
            </a:r>
            <a:r>
              <a:rPr lang="en-US"/>
              <a:t>nvariant </a:t>
            </a:r>
            <a:r>
              <a:rPr lang="en-US">
                <a:solidFill>
                  <a:srgbClr val="0066FF"/>
                </a:solidFill>
              </a:rPr>
              <a:t>F</a:t>
            </a:r>
            <a:r>
              <a:rPr lang="en-US"/>
              <a:t>eature </a:t>
            </a:r>
            <a:r>
              <a:rPr lang="en-US">
                <a:solidFill>
                  <a:srgbClr val="0066FF"/>
                </a:solidFill>
              </a:rPr>
              <a:t>T</a:t>
            </a:r>
            <a:r>
              <a:rPr lang="en-US"/>
              <a:t>ransform</a:t>
            </a:r>
          </a:p>
        </p:txBody>
      </p:sp>
      <p:sp>
        <p:nvSpPr>
          <p:cNvPr id="67588" name="Rectangle 14"/>
          <p:cNvSpPr>
            <a:spLocks noChangeArrowheads="1"/>
          </p:cNvSpPr>
          <p:nvPr/>
        </p:nvSpPr>
        <p:spPr bwMode="auto">
          <a:xfrm>
            <a:off x="7997590" y="6550224"/>
            <a:ext cx="267041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Adapted from slide by David Lowe</a:t>
            </a:r>
          </a:p>
        </p:txBody>
      </p:sp>
      <p:pic>
        <p:nvPicPr>
          <p:cNvPr id="67589" name="Picture 4" descr="descri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97214" y="3421062"/>
            <a:ext cx="6580187" cy="313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7590" name="Rectangle 11"/>
          <p:cNvSpPr>
            <a:spLocks noChangeArrowheads="1"/>
          </p:cNvSpPr>
          <p:nvPr/>
        </p:nvSpPr>
        <p:spPr bwMode="auto">
          <a:xfrm>
            <a:off x="7086600" y="3421062"/>
            <a:ext cx="2590800" cy="3132138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7239000" y="3573463"/>
            <a:ext cx="2362200" cy="1207532"/>
            <a:chOff x="5715000" y="4343400"/>
            <a:chExt cx="2362200" cy="1207255"/>
          </a:xfrm>
        </p:grpSpPr>
        <p:cxnSp>
          <p:nvCxnSpPr>
            <p:cNvPr id="67603" name="Straight Arrow Connector 13"/>
            <p:cNvCxnSpPr>
              <a:cxnSpLocks noChangeShapeType="1"/>
            </p:cNvCxnSpPr>
            <p:nvPr/>
          </p:nvCxnSpPr>
          <p:spPr bwMode="auto">
            <a:xfrm>
              <a:off x="5791200" y="5256212"/>
              <a:ext cx="2133600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sp>
          <p:nvSpPr>
            <p:cNvPr id="67604" name="Rectangle 20"/>
            <p:cNvSpPr>
              <a:spLocks noChangeArrowheads="1"/>
            </p:cNvSpPr>
            <p:nvPr/>
          </p:nvSpPr>
          <p:spPr bwMode="auto">
            <a:xfrm>
              <a:off x="5791200" y="4343400"/>
              <a:ext cx="228600" cy="91281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605" name="Rectangle 15"/>
            <p:cNvSpPr>
              <a:spLocks noChangeArrowheads="1"/>
            </p:cNvSpPr>
            <p:nvPr/>
          </p:nvSpPr>
          <p:spPr bwMode="auto">
            <a:xfrm>
              <a:off x="6019800" y="4800600"/>
              <a:ext cx="228600" cy="45561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606" name="Rectangle 16"/>
            <p:cNvSpPr>
              <a:spLocks noChangeArrowheads="1"/>
            </p:cNvSpPr>
            <p:nvPr/>
          </p:nvSpPr>
          <p:spPr bwMode="auto">
            <a:xfrm>
              <a:off x="6248400" y="4953000"/>
              <a:ext cx="228600" cy="30321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607" name="Rectangle 17"/>
            <p:cNvSpPr>
              <a:spLocks noChangeArrowheads="1"/>
            </p:cNvSpPr>
            <p:nvPr/>
          </p:nvSpPr>
          <p:spPr bwMode="auto">
            <a:xfrm>
              <a:off x="6477000" y="5177134"/>
              <a:ext cx="228600" cy="79077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608" name="Rectangle 18"/>
            <p:cNvSpPr>
              <a:spLocks noChangeArrowheads="1"/>
            </p:cNvSpPr>
            <p:nvPr/>
          </p:nvSpPr>
          <p:spPr bwMode="auto">
            <a:xfrm>
              <a:off x="6705600" y="4953000"/>
              <a:ext cx="228600" cy="30321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609" name="Rectangle 19"/>
            <p:cNvSpPr>
              <a:spLocks noChangeArrowheads="1"/>
            </p:cNvSpPr>
            <p:nvPr/>
          </p:nvSpPr>
          <p:spPr bwMode="auto">
            <a:xfrm>
              <a:off x="6934200" y="5177134"/>
              <a:ext cx="228600" cy="79078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610" name="Rectangle 20"/>
            <p:cNvSpPr>
              <a:spLocks noChangeArrowheads="1"/>
            </p:cNvSpPr>
            <p:nvPr/>
          </p:nvSpPr>
          <p:spPr bwMode="auto">
            <a:xfrm>
              <a:off x="7162800" y="4953000"/>
              <a:ext cx="228600" cy="30321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611" name="Rectangle 21"/>
            <p:cNvSpPr>
              <a:spLocks noChangeArrowheads="1"/>
            </p:cNvSpPr>
            <p:nvPr/>
          </p:nvSpPr>
          <p:spPr bwMode="auto">
            <a:xfrm>
              <a:off x="7391400" y="4953000"/>
              <a:ext cx="228600" cy="30480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612" name="TextBox 23"/>
            <p:cNvSpPr txBox="1">
              <a:spLocks noChangeArrowheads="1"/>
            </p:cNvSpPr>
            <p:nvPr/>
          </p:nvSpPr>
          <p:spPr bwMode="auto">
            <a:xfrm>
              <a:off x="5715000" y="5181408"/>
              <a:ext cx="457200" cy="3692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>
                  <a:latin typeface="Arial" charset="0"/>
                </a:rPr>
                <a:t>0</a:t>
              </a:r>
            </a:p>
          </p:txBody>
        </p:sp>
        <p:sp>
          <p:nvSpPr>
            <p:cNvPr id="67613" name="TextBox 24"/>
            <p:cNvSpPr txBox="1">
              <a:spLocks noChangeArrowheads="1"/>
            </p:cNvSpPr>
            <p:nvPr/>
          </p:nvSpPr>
          <p:spPr bwMode="auto">
            <a:xfrm>
              <a:off x="7239000" y="5176647"/>
              <a:ext cx="838200" cy="3692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>
                  <a:latin typeface="Arial" charset="0"/>
                  <a:sym typeface="Symbol" pitchFamily="18" charset="2"/>
                </a:rPr>
                <a:t>2</a:t>
              </a:r>
              <a:r>
                <a:rPr lang="el-GR">
                  <a:latin typeface="Arial" charset="0"/>
                  <a:sym typeface="Symbol" pitchFamily="18" charset="2"/>
                </a:rPr>
                <a:t></a:t>
              </a:r>
              <a:endParaRPr lang="en-US">
                <a:latin typeface="Arial" charset="0"/>
              </a:endParaRPr>
            </a:p>
          </p:txBody>
        </p:sp>
      </p:grpSp>
      <p:sp>
        <p:nvSpPr>
          <p:cNvPr id="67592" name="Rectangle 8"/>
          <p:cNvSpPr>
            <a:spLocks noChangeArrowheads="1"/>
          </p:cNvSpPr>
          <p:nvPr/>
        </p:nvSpPr>
        <p:spPr bwMode="auto">
          <a:xfrm>
            <a:off x="7445376" y="4803776"/>
            <a:ext cx="17516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angle histogram</a:t>
            </a:r>
          </a:p>
        </p:txBody>
      </p: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7848600" y="5478462"/>
            <a:ext cx="1219200" cy="762000"/>
            <a:chOff x="6324600" y="4953000"/>
            <a:chExt cx="1219200" cy="762000"/>
          </a:xfrm>
        </p:grpSpPr>
        <p:cxnSp>
          <p:nvCxnSpPr>
            <p:cNvPr id="67594" name="Straight Arrow Connector 31"/>
            <p:cNvCxnSpPr>
              <a:cxnSpLocks noChangeShapeType="1"/>
            </p:cNvCxnSpPr>
            <p:nvPr/>
          </p:nvCxnSpPr>
          <p:spPr bwMode="auto">
            <a:xfrm>
              <a:off x="6705600" y="5334000"/>
              <a:ext cx="838200" cy="1588"/>
            </a:xfrm>
            <a:prstGeom prst="straightConnector1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67595" name="Straight Arrow Connector 33"/>
            <p:cNvCxnSpPr>
              <a:cxnSpLocks noChangeShapeType="1"/>
            </p:cNvCxnSpPr>
            <p:nvPr/>
          </p:nvCxnSpPr>
          <p:spPr bwMode="auto">
            <a:xfrm rot="5400000" flipH="1" flipV="1">
              <a:off x="6705600" y="4953000"/>
              <a:ext cx="381000" cy="381000"/>
            </a:xfrm>
            <a:prstGeom prst="straightConnector1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67596" name="Straight Arrow Connector 35"/>
            <p:cNvCxnSpPr>
              <a:cxnSpLocks noChangeShapeType="1"/>
            </p:cNvCxnSpPr>
            <p:nvPr/>
          </p:nvCxnSpPr>
          <p:spPr bwMode="auto">
            <a:xfrm rot="5400000" flipH="1" flipV="1">
              <a:off x="6514306" y="5144294"/>
              <a:ext cx="382588" cy="1588"/>
            </a:xfrm>
            <a:prstGeom prst="straightConnector1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67597" name="Straight Arrow Connector 37"/>
            <p:cNvCxnSpPr>
              <a:cxnSpLocks noChangeShapeType="1"/>
            </p:cNvCxnSpPr>
            <p:nvPr/>
          </p:nvCxnSpPr>
          <p:spPr bwMode="auto">
            <a:xfrm rot="16200000" flipV="1">
              <a:off x="6550024" y="5181600"/>
              <a:ext cx="154782" cy="154782"/>
            </a:xfrm>
            <a:prstGeom prst="straightConnector1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67598" name="Straight Arrow Connector 39"/>
            <p:cNvCxnSpPr>
              <a:cxnSpLocks noChangeShapeType="1"/>
            </p:cNvCxnSpPr>
            <p:nvPr/>
          </p:nvCxnSpPr>
          <p:spPr bwMode="auto">
            <a:xfrm rot="10800000">
              <a:off x="6324600" y="5336382"/>
              <a:ext cx="380206" cy="1588"/>
            </a:xfrm>
            <a:prstGeom prst="straightConnector1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67599" name="Straight Arrow Connector 42"/>
            <p:cNvCxnSpPr>
              <a:cxnSpLocks noChangeShapeType="1"/>
            </p:cNvCxnSpPr>
            <p:nvPr/>
          </p:nvCxnSpPr>
          <p:spPr bwMode="auto">
            <a:xfrm rot="5400000">
              <a:off x="6553200" y="5331618"/>
              <a:ext cx="154782" cy="154782"/>
            </a:xfrm>
            <a:prstGeom prst="straightConnector1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67600" name="Straight Arrow Connector 43"/>
            <p:cNvCxnSpPr>
              <a:cxnSpLocks noChangeShapeType="1"/>
            </p:cNvCxnSpPr>
            <p:nvPr/>
          </p:nvCxnSpPr>
          <p:spPr bwMode="auto">
            <a:xfrm rot="16200000" flipH="1">
              <a:off x="6515100" y="5522912"/>
              <a:ext cx="382588" cy="1588"/>
            </a:xfrm>
            <a:prstGeom prst="straightConnector1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cxnSp>
          <p:nvCxnSpPr>
            <p:cNvPr id="67601" name="Straight Arrow Connector 44"/>
            <p:cNvCxnSpPr>
              <a:cxnSpLocks noChangeShapeType="1"/>
            </p:cNvCxnSpPr>
            <p:nvPr/>
          </p:nvCxnSpPr>
          <p:spPr bwMode="auto">
            <a:xfrm rot="16200000" flipH="1">
              <a:off x="6701632" y="5337969"/>
              <a:ext cx="312737" cy="304800"/>
            </a:xfrm>
            <a:prstGeom prst="straightConnector1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 type="arrow" w="med" len="med"/>
            </a:ln>
          </p:spPr>
        </p:cxnSp>
        <p:sp>
          <p:nvSpPr>
            <p:cNvPr id="67602" name="Oval 27"/>
            <p:cNvSpPr>
              <a:spLocks noChangeArrowheads="1"/>
            </p:cNvSpPr>
            <p:nvPr/>
          </p:nvSpPr>
          <p:spPr bwMode="auto">
            <a:xfrm>
              <a:off x="6657976" y="5286376"/>
              <a:ext cx="76200" cy="762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SIFT descriptor</a:t>
            </a:r>
          </a:p>
        </p:txBody>
      </p:sp>
      <p:pic>
        <p:nvPicPr>
          <p:cNvPr id="68611" name="Picture 4" descr="descri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2971800"/>
            <a:ext cx="6580188" cy="313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8612" name="Rectangle 4"/>
          <p:cNvSpPr txBox="1">
            <a:spLocks noChangeArrowheads="1"/>
          </p:cNvSpPr>
          <p:nvPr/>
        </p:nvSpPr>
        <p:spPr bwMode="auto">
          <a:xfrm>
            <a:off x="2209800" y="1371600"/>
            <a:ext cx="83058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dirty="0"/>
              <a:t>Full version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dirty="0"/>
              <a:t>Divide the 16x16 window into a 4x4 grid of cells (2x2 case shown below)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dirty="0"/>
              <a:t>Compute an orientation histogram for each cell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dirty="0"/>
              <a:t>16 cells * 8 orientations = 128 dimensional descriptor</a:t>
            </a:r>
          </a:p>
          <a:p>
            <a:pPr marL="742950" lvl="1" indent="-285750">
              <a:spcBef>
                <a:spcPct val="20000"/>
              </a:spcBef>
            </a:pPr>
            <a:endParaRPr lang="en-US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endParaRPr lang="en-US" dirty="0"/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7997590" y="6550224"/>
            <a:ext cx="267041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Adapted from slide by David Lowe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>
          <a:xfrm>
            <a:off x="381000" y="-76200"/>
            <a:ext cx="9829800" cy="1143000"/>
          </a:xfrm>
        </p:spPr>
        <p:txBody>
          <a:bodyPr/>
          <a:lstStyle/>
          <a:p>
            <a:r>
              <a:rPr lang="en-US" dirty="0"/>
              <a:t>Properties of SIFT</a:t>
            </a:r>
          </a:p>
        </p:txBody>
      </p:sp>
      <p:sp>
        <p:nvSpPr>
          <p:cNvPr id="69635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11277600" cy="24384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800" dirty="0"/>
              <a:t>Extraordinarily robust matching technique</a:t>
            </a:r>
          </a:p>
          <a:p>
            <a:pPr lvl="1"/>
            <a:r>
              <a:rPr lang="en-US" sz="2400" dirty="0"/>
              <a:t>Can handle changes in viewpoint (</a:t>
            </a:r>
            <a:r>
              <a:rPr lang="en-US" sz="2000" dirty="0"/>
              <a:t>up to about 60 degree out of plane rotation)</a:t>
            </a:r>
          </a:p>
          <a:p>
            <a:pPr lvl="1"/>
            <a:r>
              <a:rPr lang="en-US" sz="2400" dirty="0"/>
              <a:t>Can handle significant changes in illumination (</a:t>
            </a:r>
            <a:r>
              <a:rPr lang="en-US" sz="2000" dirty="0"/>
              <a:t>sometimes even day vs. night (below))</a:t>
            </a:r>
          </a:p>
          <a:p>
            <a:pPr lvl="1"/>
            <a:r>
              <a:rPr lang="en-US" sz="2400" dirty="0"/>
              <a:t>Pretty fast—hard to make real-time, but can run in &lt;1s for moderate image sizes</a:t>
            </a:r>
          </a:p>
          <a:p>
            <a:pPr lvl="1"/>
            <a:r>
              <a:rPr lang="en-US" sz="2400" dirty="0"/>
              <a:t>Lots of code available</a:t>
            </a:r>
          </a:p>
        </p:txBody>
      </p:sp>
      <p:pic>
        <p:nvPicPr>
          <p:cNvPr id="69637" name="Picture 4" descr="http://www.cs.washington.edu/homes/snavely/outgoing/test/2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83314" y="3494088"/>
            <a:ext cx="4484687" cy="336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E7B4A53C-DBBF-31DF-1A84-6037C0FDD8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4" name="图片 3" descr="水里有许多岩石&#10;&#10;AI 生成的内容可能不正确。">
            <a:extLst>
              <a:ext uri="{FF2B5EF4-FFF2-40B4-BE49-F238E27FC236}">
                <a16:creationId xmlns:a16="http://schemas.microsoft.com/office/drawing/2014/main" id="{3553146C-413A-7980-3122-FD5BBCEFE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494088"/>
            <a:ext cx="4446414" cy="33639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SIFT Example</a:t>
            </a:r>
          </a:p>
        </p:txBody>
      </p:sp>
      <p:pic>
        <p:nvPicPr>
          <p:cNvPr id="3123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19900" y="1676400"/>
            <a:ext cx="28575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2323" name="Picture 3" descr="C:\snavely\matlab\A2P3\templat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8400" y="1676400"/>
            <a:ext cx="2857500" cy="43434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Right Arrow 5"/>
          <p:cNvSpPr/>
          <p:nvPr/>
        </p:nvSpPr>
        <p:spPr>
          <a:xfrm>
            <a:off x="5715000" y="3276600"/>
            <a:ext cx="838200" cy="838200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613" y="6019800"/>
            <a:ext cx="21400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868 SIFT features</a:t>
            </a:r>
          </a:p>
        </p:txBody>
      </p:sp>
    </p:spTree>
    <p:extLst>
      <p:ext uri="{BB962C8B-B14F-4D97-AF65-F5344CB8AC3E}">
        <p14:creationId xmlns:p14="http://schemas.microsoft.com/office/powerpoint/2010/main" val="3997301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descriptors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10972800" cy="5334000"/>
          </a:xfrm>
        </p:spPr>
        <p:txBody>
          <a:bodyPr>
            <a:normAutofit/>
          </a:bodyPr>
          <a:lstStyle/>
          <a:p>
            <a:r>
              <a:rPr lang="en-US" dirty="0"/>
              <a:t>HOG: Histogram of Gradients (HOG)</a:t>
            </a:r>
          </a:p>
          <a:p>
            <a:pPr lvl="1"/>
            <a:r>
              <a:rPr lang="en-US" dirty="0" err="1"/>
              <a:t>Dalal</a:t>
            </a:r>
            <a:r>
              <a:rPr lang="en-US" dirty="0"/>
              <a:t>/</a:t>
            </a:r>
            <a:r>
              <a:rPr lang="en-US" dirty="0" err="1"/>
              <a:t>Triggs</a:t>
            </a:r>
            <a:endParaRPr lang="en-US" dirty="0"/>
          </a:p>
          <a:p>
            <a:pPr lvl="1"/>
            <a:r>
              <a:rPr lang="en-US" dirty="0"/>
              <a:t>Sliding window, pedestrian detection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FREAK (Fast Retina </a:t>
            </a:r>
            <a:r>
              <a:rPr lang="en-US" dirty="0" err="1"/>
              <a:t>Keypoint</a:t>
            </a:r>
            <a:r>
              <a:rPr lang="en-US" dirty="0"/>
              <a:t>) or ORB features</a:t>
            </a:r>
          </a:p>
          <a:p>
            <a:pPr lvl="1"/>
            <a:r>
              <a:rPr lang="en-US" dirty="0"/>
              <a:t>Can run in real-time; used in Visual SLAM on-device</a:t>
            </a:r>
          </a:p>
          <a:p>
            <a:pPr lvl="1"/>
            <a:endParaRPr lang="en-US" dirty="0"/>
          </a:p>
          <a:p>
            <a:r>
              <a:rPr lang="en-US" dirty="0"/>
              <a:t>LIFT: Learned Invariant Feature Transform</a:t>
            </a:r>
          </a:p>
          <a:p>
            <a:pPr lvl="1"/>
            <a:r>
              <a:rPr lang="en-US" dirty="0"/>
              <a:t>Learned via deep learning – along with many other recent features</a:t>
            </a:r>
          </a:p>
          <a:p>
            <a:pPr marL="914400" lvl="2" indent="0">
              <a:buNone/>
            </a:pPr>
            <a:r>
              <a:rPr lang="en-US" sz="1800" dirty="0">
                <a:hlinkClick r:id="rId3"/>
              </a:rPr>
              <a:t>https://arxiv.org/abs/1603.09114</a:t>
            </a:r>
            <a:endParaRPr lang="en-US" sz="1800" dirty="0"/>
          </a:p>
          <a:p>
            <a:pPr marL="914400" lvl="2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1524000"/>
            <a:ext cx="2438400" cy="156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3844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3AC3F-1048-A54C-F6D5-F083C0AB4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85DC5-F647-26BE-2300-B0403E031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descriptors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E0D37-E161-1A52-E1F4-2DD543FCA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600200"/>
            <a:ext cx="10972800" cy="5334000"/>
          </a:xfrm>
        </p:spPr>
        <p:txBody>
          <a:bodyPr>
            <a:normAutofit/>
          </a:bodyPr>
          <a:lstStyle/>
          <a:p>
            <a:r>
              <a:rPr lang="en-US" dirty="0"/>
              <a:t>HOG: Histogram of Gradients (HOG)</a:t>
            </a:r>
          </a:p>
          <a:p>
            <a:pPr lvl="1"/>
            <a:r>
              <a:rPr lang="en-US" dirty="0" err="1"/>
              <a:t>Dalal</a:t>
            </a:r>
            <a:r>
              <a:rPr lang="en-US" dirty="0"/>
              <a:t>/</a:t>
            </a:r>
            <a:r>
              <a:rPr lang="en-US" dirty="0" err="1"/>
              <a:t>Triggs</a:t>
            </a:r>
            <a:endParaRPr lang="en-US" dirty="0"/>
          </a:p>
          <a:p>
            <a:pPr lvl="1"/>
            <a:r>
              <a:rPr lang="en-US" dirty="0"/>
              <a:t>Sliding window, pedestrian detection</a:t>
            </a:r>
          </a:p>
        </p:txBody>
      </p:sp>
      <p:pic>
        <p:nvPicPr>
          <p:cNvPr id="6" name="图片 5" descr="图表, 直方图&#10;&#10;AI 生成的内容可能不正确。">
            <a:extLst>
              <a:ext uri="{FF2B5EF4-FFF2-40B4-BE49-F238E27FC236}">
                <a16:creationId xmlns:a16="http://schemas.microsoft.com/office/drawing/2014/main" id="{1190ED94-E14D-B028-8E17-2B0AE9E6B8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51" t="6928" r="625" b="3463"/>
          <a:stretch>
            <a:fillRect/>
          </a:stretch>
        </p:blipFill>
        <p:spPr>
          <a:xfrm>
            <a:off x="4953000" y="3162057"/>
            <a:ext cx="7239000" cy="221028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0CB84AC-DA8E-9A0F-DFF4-C44556DB80AA}"/>
              </a:ext>
            </a:extLst>
          </p:cNvPr>
          <p:cNvSpPr txBox="1"/>
          <p:nvPr/>
        </p:nvSpPr>
        <p:spPr>
          <a:xfrm>
            <a:off x="533400" y="3048000"/>
            <a:ext cx="441960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rPr lang="en-US" altLang="zh-CN" sz="1200" dirty="0"/>
              <a:t>1. Gradient Computation</a:t>
            </a:r>
          </a:p>
          <a:p>
            <a:pPr>
              <a:spcBef>
                <a:spcPts val="1200"/>
              </a:spcBef>
              <a:defRPr sz="1800"/>
            </a:pPr>
            <a:r>
              <a:rPr lang="en-US" altLang="zh-CN" sz="1200" dirty="0"/>
              <a:t>   - Compute horizontal and vertical gradients using [-1, 0, 1] filters</a:t>
            </a:r>
          </a:p>
          <a:p>
            <a:pPr>
              <a:spcBef>
                <a:spcPts val="1200"/>
              </a:spcBef>
              <a:defRPr sz="1800"/>
            </a:pPr>
            <a:r>
              <a:rPr lang="en-US" altLang="zh-CN" sz="1200" dirty="0"/>
              <a:t>   - Calculate gradient magnitude and orientation at each pixel</a:t>
            </a:r>
          </a:p>
          <a:p>
            <a:pPr>
              <a:spcBef>
                <a:spcPts val="1200"/>
              </a:spcBef>
              <a:defRPr sz="1800"/>
            </a:pPr>
            <a:r>
              <a:rPr lang="en-US" altLang="zh-CN" sz="1200" dirty="0"/>
              <a:t>2. Cell Histograms</a:t>
            </a:r>
          </a:p>
          <a:p>
            <a:pPr>
              <a:spcBef>
                <a:spcPts val="1200"/>
              </a:spcBef>
              <a:defRPr sz="1800"/>
            </a:pPr>
            <a:r>
              <a:rPr lang="en-US" altLang="zh-CN" sz="1200" dirty="0"/>
              <a:t>   - Divide image into small cells (e.g., 8×8 pixels)</a:t>
            </a:r>
          </a:p>
          <a:p>
            <a:pPr>
              <a:spcBef>
                <a:spcPts val="1200"/>
              </a:spcBef>
              <a:defRPr sz="1800"/>
            </a:pPr>
            <a:r>
              <a:rPr lang="en-US" altLang="zh-CN" sz="1200" dirty="0"/>
              <a:t>   - Create histogram of gradient orientations (typically 9 bins, 0-180°)</a:t>
            </a:r>
          </a:p>
          <a:p>
            <a:pPr>
              <a:spcBef>
                <a:spcPts val="1200"/>
              </a:spcBef>
              <a:defRPr sz="1800"/>
            </a:pPr>
            <a:r>
              <a:rPr lang="en-US" altLang="zh-CN" sz="1200" dirty="0"/>
              <a:t>   - Weight votes by gradient magnitude</a:t>
            </a:r>
          </a:p>
          <a:p>
            <a:pPr>
              <a:spcBef>
                <a:spcPts val="1200"/>
              </a:spcBef>
              <a:defRPr sz="1800"/>
            </a:pPr>
            <a:r>
              <a:rPr lang="en-US" altLang="zh-CN" sz="1200" dirty="0"/>
              <a:t>3. Block Normalization</a:t>
            </a:r>
          </a:p>
          <a:p>
            <a:pPr>
              <a:spcBef>
                <a:spcPts val="1200"/>
              </a:spcBef>
              <a:defRPr sz="1800"/>
            </a:pPr>
            <a:r>
              <a:rPr lang="en-US" altLang="zh-CN" sz="1200" dirty="0"/>
              <a:t>   - Group cells into overlapping blocks (e.g., 2×2 cells)</a:t>
            </a:r>
          </a:p>
          <a:p>
            <a:pPr>
              <a:spcBef>
                <a:spcPts val="1200"/>
              </a:spcBef>
              <a:defRPr sz="1800"/>
            </a:pPr>
            <a:r>
              <a:rPr lang="en-US" altLang="zh-CN" sz="1200" dirty="0"/>
              <a:t>   - Normalize histograms within each block (L2-norm)</a:t>
            </a:r>
          </a:p>
          <a:p>
            <a:pPr>
              <a:spcBef>
                <a:spcPts val="1200"/>
              </a:spcBef>
              <a:defRPr sz="1800"/>
            </a:pPr>
            <a:r>
              <a:rPr lang="en-US" altLang="zh-CN" sz="1200" dirty="0"/>
              <a:t>   - Provides invariance to illumination changes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93689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A07CC-7F86-3449-C378-5ADBA9593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234E1-F6F9-D302-9777-E2DBD219F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descriptors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68553-99BB-03AB-2C62-3F24488D2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600200"/>
            <a:ext cx="10972800" cy="5334000"/>
          </a:xfrm>
        </p:spPr>
        <p:txBody>
          <a:bodyPr>
            <a:normAutofit/>
          </a:bodyPr>
          <a:lstStyle/>
          <a:p>
            <a:r>
              <a:rPr lang="en-US" dirty="0"/>
              <a:t>FREAK (Fast Retina </a:t>
            </a:r>
            <a:r>
              <a:rPr lang="en-US" dirty="0" err="1"/>
              <a:t>Keypoint</a:t>
            </a:r>
            <a:r>
              <a:rPr lang="en-US" dirty="0"/>
              <a:t>) or ORB features</a:t>
            </a:r>
          </a:p>
          <a:p>
            <a:pPr lvl="1"/>
            <a:r>
              <a:rPr lang="en-US" dirty="0"/>
              <a:t>Can run in real-time; used in Visual SLAM on-device</a:t>
            </a:r>
          </a:p>
          <a:p>
            <a:pPr marL="914400" lvl="2" indent="0">
              <a:buNone/>
            </a:pPr>
            <a:endParaRPr lang="en-US" dirty="0"/>
          </a:p>
        </p:txBody>
      </p:sp>
      <p:pic>
        <p:nvPicPr>
          <p:cNvPr id="6" name="图片 5" descr="图表&#10;&#10;AI 生成的内容可能不正确。">
            <a:extLst>
              <a:ext uri="{FF2B5EF4-FFF2-40B4-BE49-F238E27FC236}">
                <a16:creationId xmlns:a16="http://schemas.microsoft.com/office/drawing/2014/main" id="{1389A334-7FE9-0F4F-B208-6A01BF3CE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1" y="3505200"/>
            <a:ext cx="6096000" cy="2054502"/>
          </a:xfrm>
          <a:prstGeom prst="rect">
            <a:avLst/>
          </a:prstGeom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68557B5F-B3E5-AFF5-E447-41C2724C5D59}"/>
              </a:ext>
            </a:extLst>
          </p:cNvPr>
          <p:cNvSpPr txBox="1"/>
          <p:nvPr/>
        </p:nvSpPr>
        <p:spPr>
          <a:xfrm>
            <a:off x="601980" y="2819400"/>
            <a:ext cx="768096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rPr dirty="0"/>
              <a:t>1. </a:t>
            </a:r>
            <a:r>
              <a:rPr dirty="0" err="1"/>
              <a:t>oFAST</a:t>
            </a:r>
            <a:r>
              <a:rPr dirty="0"/>
              <a:t>: Oriented FAST </a:t>
            </a:r>
            <a:r>
              <a:rPr dirty="0" err="1"/>
              <a:t>Keypoint</a:t>
            </a:r>
            <a:r>
              <a:rPr dirty="0"/>
              <a:t> Detection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   - Uses FAST corner detector to find </a:t>
            </a:r>
            <a:r>
              <a:rPr dirty="0" err="1"/>
              <a:t>keypoints</a:t>
            </a:r>
            <a:endParaRPr dirty="0"/>
          </a:p>
          <a:p>
            <a:pPr>
              <a:spcBef>
                <a:spcPts val="1200"/>
              </a:spcBef>
              <a:defRPr sz="1800"/>
            </a:pPr>
            <a:r>
              <a:rPr dirty="0"/>
              <a:t>   - Computes intensity centroid to determine orientation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   - Applies Harris corner measure to rank </a:t>
            </a:r>
            <a:r>
              <a:rPr dirty="0" err="1"/>
              <a:t>keypoints</a:t>
            </a:r>
            <a:endParaRPr dirty="0"/>
          </a:p>
          <a:p>
            <a:pPr>
              <a:spcBef>
                <a:spcPts val="1200"/>
              </a:spcBef>
              <a:defRPr sz="1800"/>
            </a:pPr>
            <a:r>
              <a:rPr dirty="0"/>
              <a:t>2. </a:t>
            </a:r>
            <a:r>
              <a:rPr dirty="0" err="1"/>
              <a:t>rBRIEF</a:t>
            </a:r>
            <a:r>
              <a:rPr dirty="0"/>
              <a:t>: Rotated BRIEF Descriptor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   - Binary descriptor: compares intensity of pixel pairs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   - 256 bits (256 binary tests)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   - Rotates sampling pattern according to </a:t>
            </a:r>
            <a:r>
              <a:rPr dirty="0" err="1"/>
              <a:t>keypoint</a:t>
            </a:r>
            <a:r>
              <a:rPr dirty="0"/>
              <a:t> orientation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   - Uses learned sampling patterns for better performance</a:t>
            </a:r>
          </a:p>
        </p:txBody>
      </p:sp>
    </p:spTree>
    <p:extLst>
      <p:ext uri="{BB962C8B-B14F-4D97-AF65-F5344CB8AC3E}">
        <p14:creationId xmlns:p14="http://schemas.microsoft.com/office/powerpoint/2010/main" val="1373126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88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990601"/>
            <a:ext cx="6324600" cy="5135563"/>
          </a:xfrm>
        </p:spPr>
        <p:txBody>
          <a:bodyPr/>
          <a:lstStyle/>
          <a:p>
            <a:endParaRPr lang="en-US" sz="2800" dirty="0"/>
          </a:p>
          <a:p>
            <a:r>
              <a:rPr lang="en-US" sz="2800" dirty="0" err="1"/>
              <a:t>Keypoint</a:t>
            </a:r>
            <a:r>
              <a:rPr lang="en-US" sz="2800" dirty="0"/>
              <a:t> detection: repeatable and distinctive</a:t>
            </a:r>
          </a:p>
          <a:p>
            <a:pPr lvl="1"/>
            <a:r>
              <a:rPr lang="en-US" sz="2400" dirty="0"/>
              <a:t>Corners</a:t>
            </a:r>
            <a:r>
              <a:rPr lang="en-US" sz="2400"/>
              <a:t>, blobs</a:t>
            </a:r>
            <a:endParaRPr lang="en-US" sz="2400" dirty="0"/>
          </a:p>
          <a:p>
            <a:pPr lvl="1"/>
            <a:r>
              <a:rPr lang="en-US" sz="2400" dirty="0"/>
              <a:t>Harris, </a:t>
            </a:r>
            <a:r>
              <a:rPr lang="en-US" sz="2400" dirty="0" err="1"/>
              <a:t>DoG</a:t>
            </a:r>
            <a:endParaRPr lang="en-US" dirty="0"/>
          </a:p>
          <a:p>
            <a:endParaRPr lang="en-US" sz="2800" dirty="0"/>
          </a:p>
          <a:p>
            <a:r>
              <a:rPr lang="en-US" sz="2800" dirty="0"/>
              <a:t>Descriptors: robust and selective</a:t>
            </a:r>
          </a:p>
          <a:p>
            <a:pPr lvl="1"/>
            <a:r>
              <a:rPr lang="en-US" sz="2400" dirty="0"/>
              <a:t>spatial histograms of orientation</a:t>
            </a:r>
          </a:p>
          <a:p>
            <a:pPr lvl="1"/>
            <a:r>
              <a:rPr lang="en-US" sz="2400" dirty="0"/>
              <a:t>SIFT and variants are typically good for stitching and recognition</a:t>
            </a:r>
          </a:p>
          <a:p>
            <a:pPr lvl="1"/>
            <a:r>
              <a:rPr lang="en-US" sz="2400" dirty="0"/>
              <a:t>But, need not stick to one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74756" name="Picture 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0" y="1447800"/>
            <a:ext cx="2781300" cy="2090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43800" y="4495801"/>
            <a:ext cx="3124200" cy="1363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37132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991600" cy="762000"/>
          </a:xfrm>
        </p:spPr>
        <p:txBody>
          <a:bodyPr>
            <a:normAutofit/>
          </a:bodyPr>
          <a:lstStyle/>
          <a:p>
            <a:r>
              <a:rPr lang="en-US" dirty="0"/>
              <a:t>Which features match?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2466" name="Picture 2" descr="C:\Users\James\Dropbox\cs143 fall 2013\cs 143 fall 2013 projects\Local features\www\matche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926" y="990601"/>
            <a:ext cx="8905875" cy="576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13581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matching</a:t>
            </a:r>
          </a:p>
        </p:txBody>
      </p:sp>
      <p:sp>
        <p:nvSpPr>
          <p:cNvPr id="70659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9601200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dirty="0"/>
              <a:t>Given a feature in </a:t>
            </a:r>
            <a:r>
              <a:rPr lang="en-US" i="1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I</a:t>
            </a:r>
            <a:r>
              <a:rPr lang="en-US" baseline="-25000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1</a:t>
            </a:r>
            <a:r>
              <a:rPr lang="en-US" dirty="0"/>
              <a:t>, how to find the best match in </a:t>
            </a:r>
            <a:r>
              <a:rPr lang="en-US" i="1" dirty="0">
                <a:latin typeface="Palatino Linotype" panose="02040502050505030304" pitchFamily="18" charset="0"/>
              </a:rPr>
              <a:t>I</a:t>
            </a:r>
            <a:r>
              <a:rPr lang="en-US" baseline="-25000" dirty="0">
                <a:latin typeface="Palatino Linotype" panose="02040502050505030304" pitchFamily="18" charset="0"/>
              </a:rPr>
              <a:t>2</a:t>
            </a:r>
            <a:r>
              <a:rPr lang="en-US" dirty="0"/>
              <a:t>?</a:t>
            </a:r>
          </a:p>
          <a:p>
            <a:pPr marL="914400" lvl="1" indent="-457200">
              <a:buFontTx/>
              <a:buAutoNum type="arabicPeriod"/>
            </a:pPr>
            <a:r>
              <a:rPr lang="en-US" dirty="0"/>
              <a:t>Define distance function that compares two descriptors</a:t>
            </a:r>
          </a:p>
          <a:p>
            <a:pPr marL="914400" lvl="1" indent="-457200">
              <a:buFontTx/>
              <a:buAutoNum type="arabicPeriod"/>
            </a:pPr>
            <a:r>
              <a:rPr lang="en-US" dirty="0"/>
              <a:t>Test all the features in </a:t>
            </a:r>
            <a:r>
              <a:rPr lang="en-US" i="1" dirty="0">
                <a:latin typeface="Palatino Linotype" panose="02040502050505030304" pitchFamily="18" charset="0"/>
              </a:rPr>
              <a:t>I</a:t>
            </a:r>
            <a:r>
              <a:rPr lang="en-US" baseline="-25000" dirty="0">
                <a:latin typeface="Palatino Linotype" panose="02040502050505030304" pitchFamily="18" charset="0"/>
              </a:rPr>
              <a:t>2</a:t>
            </a:r>
            <a:r>
              <a:rPr lang="en-US" dirty="0"/>
              <a:t>, find the one with min distance</a:t>
            </a:r>
          </a:p>
          <a:p>
            <a:pPr marL="457200" lvl="1" indent="0">
              <a:buNone/>
            </a:pPr>
            <a:r>
              <a:rPr lang="en-US" dirty="0"/>
              <a:t>	(can be accelerated with a nearest neighbors search data 	structure, like a </a:t>
            </a:r>
            <a:r>
              <a:rPr lang="en-US" i="1" dirty="0" err="1"/>
              <a:t>kd</a:t>
            </a:r>
            <a:r>
              <a:rPr lang="en-US" dirty="0"/>
              <a:t>-tree)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9753600" cy="1143000"/>
          </a:xfrm>
        </p:spPr>
        <p:txBody>
          <a:bodyPr/>
          <a:lstStyle/>
          <a:p>
            <a:r>
              <a:rPr lang="en-US" dirty="0"/>
              <a:t>Feature distance</a:t>
            </a:r>
          </a:p>
        </p:txBody>
      </p:sp>
      <p:sp>
        <p:nvSpPr>
          <p:cNvPr id="71683" name="Content Placeholder 2"/>
          <p:cNvSpPr>
            <a:spLocks noGrp="1"/>
          </p:cNvSpPr>
          <p:nvPr>
            <p:ph idx="1"/>
          </p:nvPr>
        </p:nvSpPr>
        <p:spPr>
          <a:xfrm>
            <a:off x="1524000" y="1295400"/>
            <a:ext cx="9448800" cy="52578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800" dirty="0"/>
              <a:t>How to define the difference between two features </a:t>
            </a:r>
            <a:r>
              <a:rPr lang="en-US" sz="2800" i="1" dirty="0"/>
              <a:t>f</a:t>
            </a:r>
            <a:r>
              <a:rPr lang="en-US" sz="2800" baseline="-25000" dirty="0"/>
              <a:t>1</a:t>
            </a:r>
            <a:r>
              <a:rPr lang="en-US" sz="2800" dirty="0"/>
              <a:t>, </a:t>
            </a:r>
            <a:r>
              <a:rPr lang="en-US" sz="2800" i="1" dirty="0"/>
              <a:t>f</a:t>
            </a:r>
            <a:r>
              <a:rPr lang="en-US" sz="2800" baseline="-25000" dirty="0"/>
              <a:t>2</a:t>
            </a:r>
            <a:r>
              <a:rPr lang="en-US" sz="2800" dirty="0"/>
              <a:t>?</a:t>
            </a:r>
          </a:p>
          <a:p>
            <a:pPr marL="914400" lvl="1" indent="-457200"/>
            <a:r>
              <a:rPr lang="en-US" sz="2400" dirty="0"/>
              <a:t>Simple approach: L</a:t>
            </a:r>
            <a:r>
              <a:rPr lang="en-US" sz="2400" baseline="-25000" dirty="0"/>
              <a:t>2</a:t>
            </a:r>
            <a:r>
              <a:rPr lang="en-US" sz="2400" dirty="0"/>
              <a:t> distance, || </a:t>
            </a:r>
            <a:r>
              <a:rPr lang="en-US" sz="2400" i="1" dirty="0"/>
              <a:t>f</a:t>
            </a:r>
            <a:r>
              <a:rPr lang="en-US" sz="2400" baseline="-25000" dirty="0"/>
              <a:t>1</a:t>
            </a:r>
            <a:r>
              <a:rPr lang="en-US" sz="2400" dirty="0"/>
              <a:t> - </a:t>
            </a:r>
            <a:r>
              <a:rPr lang="en-US" sz="2400" i="1" dirty="0"/>
              <a:t>f</a:t>
            </a:r>
            <a:r>
              <a:rPr lang="en-US" sz="2400" baseline="-25000" dirty="0"/>
              <a:t>2</a:t>
            </a:r>
            <a:r>
              <a:rPr lang="en-US" sz="2400" dirty="0"/>
              <a:t> || </a:t>
            </a:r>
            <a:endParaRPr lang="en-US" sz="1600" dirty="0"/>
          </a:p>
          <a:p>
            <a:pPr marL="914400" lvl="1" indent="-457200"/>
            <a:r>
              <a:rPr lang="en-US" sz="2400" dirty="0"/>
              <a:t>can give small distances for ambiguous (incorrect) matches </a:t>
            </a:r>
          </a:p>
        </p:txBody>
      </p:sp>
      <p:pic>
        <p:nvPicPr>
          <p:cNvPr id="71684" name="Picture 2" descr="http://www.canyonstatevinyl.com/images/Picket%20Fenc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28776" y="3162300"/>
            <a:ext cx="4314825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685" name="Rectangle 4"/>
          <p:cNvSpPr>
            <a:spLocks noChangeArrowheads="1"/>
          </p:cNvSpPr>
          <p:nvPr/>
        </p:nvSpPr>
        <p:spPr bwMode="auto">
          <a:xfrm>
            <a:off x="2743200" y="4267200"/>
            <a:ext cx="304800" cy="304800"/>
          </a:xfrm>
          <a:prstGeom prst="rect">
            <a:avLst/>
          </a:prstGeom>
          <a:solidFill>
            <a:srgbClr val="00CC99">
              <a:alpha val="18039"/>
            </a:srgbClr>
          </a:solidFill>
          <a:ln w="2857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71686" name="Picture 6" descr="http://www.canyonstatevinyl.com/images/Picket%20Fenc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601" y="3162300"/>
            <a:ext cx="4314825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687" name="Rectangle 14"/>
          <p:cNvSpPr>
            <a:spLocks noChangeArrowheads="1"/>
          </p:cNvSpPr>
          <p:nvPr/>
        </p:nvSpPr>
        <p:spPr bwMode="auto">
          <a:xfrm>
            <a:off x="3763437" y="6400800"/>
            <a:ext cx="35458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1" dirty="0">
                <a:latin typeface="Palatino Linotype" panose="02040502050505030304" pitchFamily="18" charset="0"/>
              </a:rPr>
              <a:t>I</a:t>
            </a:r>
            <a:r>
              <a:rPr lang="en-US" sz="2000" baseline="-25000" dirty="0"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71688" name="Rectangle 8"/>
          <p:cNvSpPr>
            <a:spLocks noChangeArrowheads="1"/>
          </p:cNvSpPr>
          <p:nvPr/>
        </p:nvSpPr>
        <p:spPr bwMode="auto">
          <a:xfrm>
            <a:off x="8260824" y="6400800"/>
            <a:ext cx="35458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1" dirty="0">
                <a:latin typeface="Palatino Linotype" panose="02040502050505030304" pitchFamily="18" charset="0"/>
              </a:rPr>
              <a:t>I</a:t>
            </a:r>
            <a:r>
              <a:rPr lang="en-US" sz="2000" baseline="-25000" dirty="0">
                <a:latin typeface="Palatino Linotype" panose="02040502050505030304" pitchFamily="18" charset="0"/>
              </a:rPr>
              <a:t>2</a:t>
            </a:r>
          </a:p>
        </p:txBody>
      </p:sp>
      <p:sp>
        <p:nvSpPr>
          <p:cNvPr id="71689" name="Rectangle 9"/>
          <p:cNvSpPr>
            <a:spLocks noChangeArrowheads="1"/>
          </p:cNvSpPr>
          <p:nvPr/>
        </p:nvSpPr>
        <p:spPr bwMode="auto">
          <a:xfrm>
            <a:off x="2743200" y="3543300"/>
            <a:ext cx="4508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FFFF00"/>
                </a:solidFill>
                <a:latin typeface="Arial" charset="0"/>
              </a:rPr>
              <a:t>f</a:t>
            </a:r>
            <a:r>
              <a:rPr lang="en-US" sz="3200" baseline="-25000">
                <a:solidFill>
                  <a:srgbClr val="FFFF00"/>
                </a:solidFill>
                <a:latin typeface="Arial" charset="0"/>
              </a:rPr>
              <a:t>1</a:t>
            </a:r>
          </a:p>
        </p:txBody>
      </p:sp>
      <p:sp>
        <p:nvSpPr>
          <p:cNvPr id="71690" name="Rectangle 10"/>
          <p:cNvSpPr>
            <a:spLocks noChangeArrowheads="1"/>
          </p:cNvSpPr>
          <p:nvPr/>
        </p:nvSpPr>
        <p:spPr bwMode="auto">
          <a:xfrm>
            <a:off x="9539288" y="4267200"/>
            <a:ext cx="304800" cy="304800"/>
          </a:xfrm>
          <a:prstGeom prst="rect">
            <a:avLst/>
          </a:prstGeom>
          <a:solidFill>
            <a:srgbClr val="00CC99">
              <a:alpha val="18039"/>
            </a:srgbClr>
          </a:solidFill>
          <a:ln w="2857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691" name="Rectangle 11"/>
          <p:cNvSpPr>
            <a:spLocks noChangeArrowheads="1"/>
          </p:cNvSpPr>
          <p:nvPr/>
        </p:nvSpPr>
        <p:spPr bwMode="auto">
          <a:xfrm>
            <a:off x="9539288" y="3543300"/>
            <a:ext cx="4508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FFFF00"/>
                </a:solidFill>
                <a:latin typeface="Arial" charset="0"/>
              </a:rPr>
              <a:t>f</a:t>
            </a:r>
            <a:r>
              <a:rPr lang="en-US" sz="3200" baseline="-25000">
                <a:solidFill>
                  <a:srgbClr val="FFFF00"/>
                </a:solidFill>
                <a:latin typeface="Arial" charset="0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5" grpId="0" animBg="1"/>
      <p:bldP spid="71689" grpId="0"/>
      <p:bldP spid="71690" grpId="0" animBg="1"/>
      <p:bldP spid="7169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8" name="Picture 2" descr="http://www.canyonstatevinyl.com/images/Picket%20Fenc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28776" y="3162300"/>
            <a:ext cx="4314825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709" name="Rectangle 6"/>
          <p:cNvSpPr>
            <a:spLocks noChangeArrowheads="1"/>
          </p:cNvSpPr>
          <p:nvPr/>
        </p:nvSpPr>
        <p:spPr bwMode="auto">
          <a:xfrm>
            <a:off x="2743200" y="4267200"/>
            <a:ext cx="304800" cy="304800"/>
          </a:xfrm>
          <a:prstGeom prst="rect">
            <a:avLst/>
          </a:prstGeom>
          <a:solidFill>
            <a:srgbClr val="00CC99">
              <a:alpha val="18039"/>
            </a:srgbClr>
          </a:solidFill>
          <a:ln w="2857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72710" name="Picture 6" descr="http://www.canyonstatevinyl.com/images/Picket%20Fenc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601" y="3162300"/>
            <a:ext cx="4314825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713" name="Rectangle 9"/>
          <p:cNvSpPr>
            <a:spLocks noChangeArrowheads="1"/>
          </p:cNvSpPr>
          <p:nvPr/>
        </p:nvSpPr>
        <p:spPr bwMode="auto">
          <a:xfrm>
            <a:off x="2743200" y="3543300"/>
            <a:ext cx="4508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FFFF00"/>
                </a:solidFill>
                <a:latin typeface="Arial" charset="0"/>
              </a:rPr>
              <a:t>f</a:t>
            </a:r>
            <a:r>
              <a:rPr lang="en-US" sz="3200" baseline="-25000">
                <a:solidFill>
                  <a:srgbClr val="FFFF00"/>
                </a:solidFill>
                <a:latin typeface="Arial" charset="0"/>
              </a:rPr>
              <a:t>1</a:t>
            </a:r>
          </a:p>
        </p:txBody>
      </p:sp>
      <p:sp>
        <p:nvSpPr>
          <p:cNvPr id="72714" name="Rectangle 11"/>
          <p:cNvSpPr>
            <a:spLocks noChangeArrowheads="1"/>
          </p:cNvSpPr>
          <p:nvPr/>
        </p:nvSpPr>
        <p:spPr bwMode="auto">
          <a:xfrm>
            <a:off x="9539288" y="4267200"/>
            <a:ext cx="304800" cy="304800"/>
          </a:xfrm>
          <a:prstGeom prst="rect">
            <a:avLst/>
          </a:prstGeom>
          <a:solidFill>
            <a:srgbClr val="00CC99">
              <a:alpha val="18039"/>
            </a:srgbClr>
          </a:solidFill>
          <a:ln w="2857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715" name="Rectangle 11"/>
          <p:cNvSpPr>
            <a:spLocks noChangeArrowheads="1"/>
          </p:cNvSpPr>
          <p:nvPr/>
        </p:nvSpPr>
        <p:spPr bwMode="auto">
          <a:xfrm>
            <a:off x="9539288" y="3543300"/>
            <a:ext cx="4508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FFFF00"/>
                </a:solidFill>
                <a:latin typeface="Arial" charset="0"/>
              </a:rPr>
              <a:t>f</a:t>
            </a:r>
            <a:r>
              <a:rPr lang="en-US" sz="3200" baseline="-25000">
                <a:solidFill>
                  <a:srgbClr val="FFFF00"/>
                </a:solidFill>
                <a:latin typeface="Arial" charset="0"/>
              </a:rPr>
              <a:t>2</a:t>
            </a:r>
          </a:p>
        </p:txBody>
      </p:sp>
      <p:sp>
        <p:nvSpPr>
          <p:cNvPr id="72716" name="Rectangle 13"/>
          <p:cNvSpPr>
            <a:spLocks noChangeArrowheads="1"/>
          </p:cNvSpPr>
          <p:nvPr/>
        </p:nvSpPr>
        <p:spPr bwMode="auto">
          <a:xfrm>
            <a:off x="8740775" y="4267200"/>
            <a:ext cx="304800" cy="304800"/>
          </a:xfrm>
          <a:prstGeom prst="rect">
            <a:avLst/>
          </a:prstGeom>
          <a:solidFill>
            <a:srgbClr val="00CC99">
              <a:alpha val="18039"/>
            </a:srgbClr>
          </a:solidFill>
          <a:ln w="2857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717" name="Rectangle 13"/>
          <p:cNvSpPr>
            <a:spLocks noChangeArrowheads="1"/>
          </p:cNvSpPr>
          <p:nvPr/>
        </p:nvSpPr>
        <p:spPr bwMode="auto">
          <a:xfrm>
            <a:off x="8740776" y="3543300"/>
            <a:ext cx="7985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>
                <a:solidFill>
                  <a:srgbClr val="FFFF00"/>
                </a:solidFill>
                <a:latin typeface="Arial" charset="0"/>
              </a:rPr>
              <a:t>f</a:t>
            </a:r>
            <a:r>
              <a:rPr lang="en-US" sz="3200" baseline="-25000">
                <a:solidFill>
                  <a:srgbClr val="FFFF00"/>
                </a:solidFill>
                <a:latin typeface="Arial" charset="0"/>
              </a:rPr>
              <a:t>2</a:t>
            </a:r>
            <a:r>
              <a:rPr lang="en-US" sz="3200" baseline="30000">
                <a:solidFill>
                  <a:srgbClr val="FFFF00"/>
                </a:solidFill>
                <a:latin typeface="Arial" charset="0"/>
              </a:rPr>
              <a:t>'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457200" y="152400"/>
            <a:ext cx="9753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4400" b="1" dirty="0">
                <a:latin typeface="+mj-lt"/>
                <a:ea typeface="+mj-ea"/>
                <a:cs typeface="+mj-cs"/>
              </a:rPr>
              <a:t>Feature distance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1295400" y="1295400"/>
            <a:ext cx="99060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sz="2800" dirty="0"/>
              <a:t>How to define the difference between two features </a:t>
            </a:r>
            <a:r>
              <a:rPr lang="en-US" sz="2800" i="1" dirty="0"/>
              <a:t>f</a:t>
            </a:r>
            <a:r>
              <a:rPr lang="en-US" sz="2800" baseline="-25000" dirty="0"/>
              <a:t>1</a:t>
            </a:r>
            <a:r>
              <a:rPr lang="en-US" sz="2800" dirty="0"/>
              <a:t>, </a:t>
            </a:r>
            <a:r>
              <a:rPr lang="en-US" sz="2800" i="1" dirty="0"/>
              <a:t>f</a:t>
            </a:r>
            <a:r>
              <a:rPr lang="en-US" sz="2800" baseline="-25000" dirty="0"/>
              <a:t>2</a:t>
            </a:r>
            <a:r>
              <a:rPr lang="en-US" sz="2800" dirty="0"/>
              <a:t>?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dirty="0"/>
              <a:t>Better approach:  ratio distance = || </a:t>
            </a:r>
            <a:r>
              <a:rPr lang="en-US" sz="2000" i="1" dirty="0"/>
              <a:t>f</a:t>
            </a:r>
            <a:r>
              <a:rPr lang="en-US" sz="2000" baseline="-25000" dirty="0"/>
              <a:t>1</a:t>
            </a:r>
            <a:r>
              <a:rPr lang="en-US" sz="2000" dirty="0"/>
              <a:t> - </a:t>
            </a:r>
            <a:r>
              <a:rPr lang="en-US" sz="2000" i="1" dirty="0"/>
              <a:t>f</a:t>
            </a:r>
            <a:r>
              <a:rPr lang="en-US" sz="2000" baseline="-25000" dirty="0"/>
              <a:t>2</a:t>
            </a:r>
            <a:r>
              <a:rPr lang="en-US" sz="2000" dirty="0"/>
              <a:t> || / || </a:t>
            </a:r>
            <a:r>
              <a:rPr lang="en-US" sz="2000" i="1" dirty="0"/>
              <a:t>f</a:t>
            </a:r>
            <a:r>
              <a:rPr lang="en-US" sz="2000" baseline="-25000" dirty="0"/>
              <a:t>1</a:t>
            </a:r>
            <a:r>
              <a:rPr lang="en-US" sz="2000" dirty="0"/>
              <a:t> - </a:t>
            </a:r>
            <a:r>
              <a:rPr lang="en-US" sz="2000" i="1" dirty="0"/>
              <a:t>f</a:t>
            </a:r>
            <a:r>
              <a:rPr lang="en-US" sz="2000" baseline="-25000" dirty="0"/>
              <a:t>2</a:t>
            </a:r>
            <a:r>
              <a:rPr lang="en-US" sz="2000" dirty="0"/>
              <a:t>’ || 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000" i="1" dirty="0"/>
              <a:t>f</a:t>
            </a:r>
            <a:r>
              <a:rPr lang="en-US" sz="2000" baseline="-25000" dirty="0"/>
              <a:t>2</a:t>
            </a:r>
            <a:r>
              <a:rPr lang="en-US" sz="2000" dirty="0"/>
              <a:t> is the best SSD match to </a:t>
            </a:r>
            <a:r>
              <a:rPr lang="en-US" sz="2000" i="1" dirty="0"/>
              <a:t>f</a:t>
            </a:r>
            <a:r>
              <a:rPr lang="en-US" sz="2000" baseline="-25000" dirty="0"/>
              <a:t>1</a:t>
            </a:r>
            <a:r>
              <a:rPr lang="en-US" sz="2000" dirty="0"/>
              <a:t> in </a:t>
            </a:r>
            <a:r>
              <a:rPr lang="en-US" sz="2000" i="1" dirty="0">
                <a:latin typeface="Palatino Linotype" panose="02040502050505030304" pitchFamily="18" charset="0"/>
              </a:rPr>
              <a:t>I</a:t>
            </a:r>
            <a:r>
              <a:rPr lang="en-US" sz="2000" baseline="-25000" dirty="0"/>
              <a:t>2</a:t>
            </a:r>
            <a:endParaRPr lang="en-US" sz="2000" dirty="0"/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000" i="1" dirty="0"/>
              <a:t>f</a:t>
            </a:r>
            <a:r>
              <a:rPr lang="en-US" sz="2000" baseline="-25000" dirty="0"/>
              <a:t>2</a:t>
            </a:r>
            <a:r>
              <a:rPr lang="en-US" sz="2000" dirty="0"/>
              <a:t>’ is the 2</a:t>
            </a:r>
            <a:r>
              <a:rPr lang="en-US" sz="2000" baseline="30000" dirty="0"/>
              <a:t>nd</a:t>
            </a:r>
            <a:r>
              <a:rPr lang="en-US" sz="2000" dirty="0"/>
              <a:t> best SSD match to </a:t>
            </a:r>
            <a:r>
              <a:rPr lang="en-US" sz="2000" i="1" dirty="0"/>
              <a:t>f</a:t>
            </a:r>
            <a:r>
              <a:rPr lang="en-US" sz="2000" baseline="-25000" dirty="0"/>
              <a:t>1</a:t>
            </a:r>
            <a:r>
              <a:rPr lang="en-US" sz="2000" dirty="0"/>
              <a:t> in </a:t>
            </a:r>
            <a:r>
              <a:rPr lang="en-US" sz="2000" i="1" dirty="0">
                <a:latin typeface="Palatino Linotype" panose="02040502050505030304" pitchFamily="18" charset="0"/>
              </a:rPr>
              <a:t>I</a:t>
            </a:r>
            <a:r>
              <a:rPr lang="en-US" sz="2000" baseline="-25000" dirty="0"/>
              <a:t>2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000" dirty="0"/>
              <a:t>gives large values for ambiguous matches</a:t>
            </a:r>
            <a:endParaRPr lang="en-US" sz="2000" baseline="30000" dirty="0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3763437" y="6400800"/>
            <a:ext cx="35458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1" dirty="0">
                <a:latin typeface="Palatino Linotype" panose="02040502050505030304" pitchFamily="18" charset="0"/>
              </a:rPr>
              <a:t>I</a:t>
            </a:r>
            <a:r>
              <a:rPr lang="en-US" sz="2000" baseline="-25000" dirty="0"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19" name="Rectangle 8"/>
          <p:cNvSpPr>
            <a:spLocks noChangeArrowheads="1"/>
          </p:cNvSpPr>
          <p:nvPr/>
        </p:nvSpPr>
        <p:spPr bwMode="auto">
          <a:xfrm>
            <a:off x="8260824" y="6400800"/>
            <a:ext cx="35458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1" dirty="0">
                <a:latin typeface="Palatino Linotype" panose="02040502050505030304" pitchFamily="18" charset="0"/>
              </a:rPr>
              <a:t>I</a:t>
            </a:r>
            <a:r>
              <a:rPr lang="en-US" sz="2000" baseline="-25000" dirty="0">
                <a:latin typeface="Palatino Linotype" panose="02040502050505030304" pitchFamily="18" charset="0"/>
              </a:rPr>
              <a:t>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the SSD vs “ratio distance” change the best match to a given feature in image 1?</a:t>
            </a:r>
          </a:p>
          <a:p>
            <a:r>
              <a:rPr lang="en-US" dirty="0"/>
              <a:t>No, but it changes the distance, and it can change the ordering of matches from good to bad</a:t>
            </a:r>
          </a:p>
          <a:p>
            <a:r>
              <a:rPr lang="en-US" dirty="0"/>
              <a:t>After we compute a set of matches, we </a:t>
            </a:r>
            <a:r>
              <a:rPr lang="en-US" i="1" dirty="0"/>
              <a:t>threshold </a:t>
            </a:r>
            <a:r>
              <a:rPr lang="en-US" dirty="0"/>
              <a:t>by distance (that is, throw out matches with distance &gt; threshold)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E5E5589-A7F1-4B7B-A707-CE2386297CE7}"/>
              </a:ext>
            </a:extLst>
          </p:cNvPr>
          <p:cNvSpPr txBox="1">
            <a:spLocks/>
          </p:cNvSpPr>
          <p:nvPr/>
        </p:nvSpPr>
        <p:spPr>
          <a:xfrm>
            <a:off x="457200" y="152400"/>
            <a:ext cx="9753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4400" b="1" dirty="0">
                <a:latin typeface="+mj-lt"/>
                <a:ea typeface="+mj-ea"/>
                <a:cs typeface="+mj-cs"/>
              </a:rPr>
              <a:t>Feature distance</a:t>
            </a:r>
          </a:p>
        </p:txBody>
      </p:sp>
    </p:spTree>
    <p:extLst>
      <p:ext uri="{BB962C8B-B14F-4D97-AF65-F5344CB8AC3E}">
        <p14:creationId xmlns:p14="http://schemas.microsoft.com/office/powerpoint/2010/main" val="371647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matching example</a:t>
            </a:r>
          </a:p>
        </p:txBody>
      </p:sp>
      <p:pic>
        <p:nvPicPr>
          <p:cNvPr id="4" name="Picture 2" descr="C:\snavely\matlab\A2P3\search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1828800"/>
            <a:ext cx="4267200" cy="370799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4370" name="Picture 2" descr="C:\snavely\matlab\A2P3\template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10078" y="1828801"/>
            <a:ext cx="2406865" cy="3429000"/>
          </a:xfrm>
          <a:prstGeom prst="rect">
            <a:avLst/>
          </a:prstGeom>
          <a:noFill/>
        </p:spPr>
      </p:pic>
      <p:pic>
        <p:nvPicPr>
          <p:cNvPr id="31437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76400" y="1828801"/>
            <a:ext cx="8534400" cy="3707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2825138" y="5867400"/>
            <a:ext cx="6991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58 matches (</a:t>
            </a:r>
            <a:r>
              <a:rPr lang="en-US" sz="2000" b="1" dirty="0" err="1"/>
              <a:t>thresholded</a:t>
            </a:r>
            <a:r>
              <a:rPr lang="en-US" sz="2000" b="1" dirty="0"/>
              <a:t> by ratio score)</a:t>
            </a:r>
          </a:p>
        </p:txBody>
      </p:sp>
    </p:spTree>
    <p:extLst>
      <p:ext uri="{BB962C8B-B14F-4D97-AF65-F5344CB8AC3E}">
        <p14:creationId xmlns:p14="http://schemas.microsoft.com/office/powerpoint/2010/main" val="4123837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matching example</a:t>
            </a:r>
          </a:p>
        </p:txBody>
      </p:sp>
      <p:pic>
        <p:nvPicPr>
          <p:cNvPr id="5" name="Picture 2" descr="C:\snavely\matlab\A2P3\search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1828800"/>
            <a:ext cx="4267200" cy="370799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4600" y="1828800"/>
            <a:ext cx="2590800" cy="3938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334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76400" y="1828800"/>
            <a:ext cx="8534400" cy="3923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825138" y="5867400"/>
            <a:ext cx="6991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51 matches (</a:t>
            </a:r>
            <a:r>
              <a:rPr lang="en-US" sz="2000" b="1" dirty="0" err="1"/>
              <a:t>thresholded</a:t>
            </a:r>
            <a:r>
              <a:rPr lang="en-US" sz="2000" b="1" dirty="0"/>
              <a:t> by ratio score)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3A69343-32DF-40C0-9158-5BD355A18350}"/>
              </a:ext>
            </a:extLst>
          </p:cNvPr>
          <p:cNvGrpSpPr/>
          <p:nvPr/>
        </p:nvGrpSpPr>
        <p:grpSpPr>
          <a:xfrm>
            <a:off x="8915400" y="228600"/>
            <a:ext cx="2057400" cy="2042897"/>
            <a:chOff x="7620000" y="212942"/>
            <a:chExt cx="1600200" cy="2042897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AC7BA29-36B8-494A-8E41-37F9F08E84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20100" y="979096"/>
              <a:ext cx="38100" cy="48458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1FE067-138A-4200-83C2-3E640002423A}"/>
                </a:ext>
              </a:extLst>
            </p:cNvPr>
            <p:cNvGrpSpPr/>
            <p:nvPr/>
          </p:nvGrpSpPr>
          <p:grpSpPr>
            <a:xfrm>
              <a:off x="7620000" y="212942"/>
              <a:ext cx="1600200" cy="2042897"/>
              <a:chOff x="7620000" y="228600"/>
              <a:chExt cx="1600200" cy="2027239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141BD46-37E3-4AB2-83D7-BBDFA4E06B17}"/>
                  </a:ext>
                </a:extLst>
              </p:cNvPr>
              <p:cNvSpPr/>
              <p:nvPr/>
            </p:nvSpPr>
            <p:spPr>
              <a:xfrm>
                <a:off x="8047217" y="1616255"/>
                <a:ext cx="639584" cy="639584"/>
              </a:xfrm>
              <a:prstGeom prst="ellipse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41222CD-E489-4CDE-B717-515C1BFB42FB}"/>
                  </a:ext>
                </a:extLst>
              </p:cNvPr>
              <p:cNvSpPr txBox="1"/>
              <p:nvPr/>
            </p:nvSpPr>
            <p:spPr>
              <a:xfrm>
                <a:off x="7620000" y="228600"/>
                <a:ext cx="1600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We’ll deal with </a:t>
                </a:r>
                <a:r>
                  <a:rPr lang="en-US" b="1" dirty="0"/>
                  <a:t>outliers</a:t>
                </a:r>
                <a:r>
                  <a:rPr lang="en-US" dirty="0"/>
                  <a:t> later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1259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Evaluating the results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524000"/>
            <a:ext cx="8229600" cy="6858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400" dirty="0"/>
              <a:t>How can we measure the performance of a feature matcher?</a:t>
            </a:r>
          </a:p>
        </p:txBody>
      </p:sp>
      <p:pic>
        <p:nvPicPr>
          <p:cNvPr id="73732" name="Picture 2" descr="http://farm1.static.flickr.com/47/136915456_c6f719ea3f.jpg?v=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2062163"/>
            <a:ext cx="3086100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3733" name="Picture 4" descr="http://farm1.static.flickr.com/133/328570837_37b6289916.jpg?v=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16676" y="2057401"/>
            <a:ext cx="3260725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734" name="Rectangle 7"/>
          <p:cNvSpPr>
            <a:spLocks noChangeArrowheads="1"/>
          </p:cNvSpPr>
          <p:nvPr/>
        </p:nvSpPr>
        <p:spPr bwMode="auto">
          <a:xfrm>
            <a:off x="3962400" y="2624137"/>
            <a:ext cx="152400" cy="15240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73735" name="Rectangle 8"/>
          <p:cNvSpPr>
            <a:spLocks noChangeArrowheads="1"/>
          </p:cNvSpPr>
          <p:nvPr/>
        </p:nvSpPr>
        <p:spPr bwMode="auto">
          <a:xfrm>
            <a:off x="7889875" y="2587625"/>
            <a:ext cx="152400" cy="15240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736" name="Rectangle 9"/>
          <p:cNvSpPr>
            <a:spLocks noChangeArrowheads="1"/>
          </p:cNvSpPr>
          <p:nvPr/>
        </p:nvSpPr>
        <p:spPr bwMode="auto">
          <a:xfrm>
            <a:off x="3276600" y="2471737"/>
            <a:ext cx="152400" cy="15240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73737" name="Rectangle 10"/>
          <p:cNvSpPr>
            <a:spLocks noChangeArrowheads="1"/>
          </p:cNvSpPr>
          <p:nvPr/>
        </p:nvSpPr>
        <p:spPr bwMode="auto">
          <a:xfrm>
            <a:off x="7239000" y="2243137"/>
            <a:ext cx="152400" cy="15240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738" name="Rectangle 11"/>
          <p:cNvSpPr>
            <a:spLocks noChangeArrowheads="1"/>
          </p:cNvSpPr>
          <p:nvPr/>
        </p:nvSpPr>
        <p:spPr bwMode="auto">
          <a:xfrm>
            <a:off x="3048000" y="2090737"/>
            <a:ext cx="152400" cy="15240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73739" name="Rectangle 12"/>
          <p:cNvSpPr>
            <a:spLocks noChangeArrowheads="1"/>
          </p:cNvSpPr>
          <p:nvPr/>
        </p:nvSpPr>
        <p:spPr bwMode="auto">
          <a:xfrm>
            <a:off x="6934200" y="2928937"/>
            <a:ext cx="152400" cy="15240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73740" name="Line 13"/>
          <p:cNvSpPr>
            <a:spLocks noChangeShapeType="1"/>
          </p:cNvSpPr>
          <p:nvPr/>
        </p:nvSpPr>
        <p:spPr bwMode="auto">
          <a:xfrm flipV="1">
            <a:off x="3429000" y="2306637"/>
            <a:ext cx="3810000" cy="228600"/>
          </a:xfrm>
          <a:prstGeom prst="line">
            <a:avLst/>
          </a:prstGeom>
          <a:noFill/>
          <a:ln w="28575">
            <a:solidFill>
              <a:srgbClr val="3333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solidFill>
                <a:srgbClr val="3333FF"/>
              </a:solidFill>
              <a:latin typeface="+mj-lt"/>
            </a:endParaRPr>
          </a:p>
        </p:txBody>
      </p:sp>
      <p:sp>
        <p:nvSpPr>
          <p:cNvPr id="73741" name="Rectangle 14"/>
          <p:cNvSpPr>
            <a:spLocks noChangeArrowheads="1"/>
          </p:cNvSpPr>
          <p:nvPr/>
        </p:nvSpPr>
        <p:spPr bwMode="auto">
          <a:xfrm>
            <a:off x="5705476" y="2151063"/>
            <a:ext cx="466725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3333FF"/>
                </a:solidFill>
                <a:latin typeface="+mj-lt"/>
              </a:rPr>
              <a:t>50</a:t>
            </a:r>
            <a:endParaRPr lang="en-US" sz="2000" baseline="-25000" dirty="0">
              <a:solidFill>
                <a:srgbClr val="3333FF"/>
              </a:solidFill>
              <a:latin typeface="+mj-lt"/>
            </a:endParaRPr>
          </a:p>
        </p:txBody>
      </p:sp>
      <p:sp>
        <p:nvSpPr>
          <p:cNvPr id="73742" name="Line 15"/>
          <p:cNvSpPr>
            <a:spLocks noChangeShapeType="1"/>
          </p:cNvSpPr>
          <p:nvPr/>
        </p:nvSpPr>
        <p:spPr bwMode="auto">
          <a:xfrm flipV="1">
            <a:off x="4114801" y="2624137"/>
            <a:ext cx="3775075" cy="76200"/>
          </a:xfrm>
          <a:prstGeom prst="line">
            <a:avLst/>
          </a:prstGeom>
          <a:noFill/>
          <a:ln w="28575">
            <a:solidFill>
              <a:srgbClr val="3333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solidFill>
                <a:srgbClr val="3333FF"/>
              </a:solidFill>
            </a:endParaRPr>
          </a:p>
        </p:txBody>
      </p:sp>
      <p:sp>
        <p:nvSpPr>
          <p:cNvPr id="73743" name="Rectangle 16"/>
          <p:cNvSpPr>
            <a:spLocks noChangeArrowheads="1"/>
          </p:cNvSpPr>
          <p:nvPr/>
        </p:nvSpPr>
        <p:spPr bwMode="auto">
          <a:xfrm>
            <a:off x="5791201" y="2471738"/>
            <a:ext cx="466725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3333FF"/>
                </a:solidFill>
                <a:latin typeface="+mj-lt"/>
              </a:rPr>
              <a:t>75</a:t>
            </a:r>
            <a:endParaRPr lang="en-US" sz="2000" baseline="-25000" dirty="0">
              <a:solidFill>
                <a:srgbClr val="3333FF"/>
              </a:solidFill>
              <a:latin typeface="+mj-lt"/>
            </a:endParaRPr>
          </a:p>
        </p:txBody>
      </p:sp>
      <p:sp>
        <p:nvSpPr>
          <p:cNvPr id="73744" name="Freeform 17"/>
          <p:cNvSpPr>
            <a:spLocks/>
          </p:cNvSpPr>
          <p:nvPr/>
        </p:nvSpPr>
        <p:spPr bwMode="auto">
          <a:xfrm>
            <a:off x="3086100" y="2243137"/>
            <a:ext cx="3848100" cy="1155700"/>
          </a:xfrm>
          <a:custGeom>
            <a:avLst/>
            <a:gdLst>
              <a:gd name="T0" fmla="*/ 24 w 2424"/>
              <a:gd name="T1" fmla="*/ 0 h 728"/>
              <a:gd name="T2" fmla="*/ 72 w 2424"/>
              <a:gd name="T3" fmla="*/ 528 h 728"/>
              <a:gd name="T4" fmla="*/ 456 w 2424"/>
              <a:gd name="T5" fmla="*/ 720 h 728"/>
              <a:gd name="T6" fmla="*/ 2424 w 2424"/>
              <a:gd name="T7" fmla="*/ 480 h 728"/>
              <a:gd name="T8" fmla="*/ 0 60000 65536"/>
              <a:gd name="T9" fmla="*/ 0 60000 65536"/>
              <a:gd name="T10" fmla="*/ 0 60000 65536"/>
              <a:gd name="T11" fmla="*/ 0 60000 65536"/>
              <a:gd name="T12" fmla="*/ 0 w 2424"/>
              <a:gd name="T13" fmla="*/ 0 h 728"/>
              <a:gd name="T14" fmla="*/ 2424 w 2424"/>
              <a:gd name="T15" fmla="*/ 728 h 7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24" h="728">
                <a:moveTo>
                  <a:pt x="24" y="0"/>
                </a:moveTo>
                <a:cubicBezTo>
                  <a:pt x="12" y="204"/>
                  <a:pt x="0" y="408"/>
                  <a:pt x="72" y="528"/>
                </a:cubicBezTo>
                <a:cubicBezTo>
                  <a:pt x="144" y="648"/>
                  <a:pt x="64" y="728"/>
                  <a:pt x="456" y="720"/>
                </a:cubicBezTo>
                <a:cubicBezTo>
                  <a:pt x="848" y="712"/>
                  <a:pt x="1636" y="596"/>
                  <a:pt x="2424" y="480"/>
                </a:cubicBezTo>
              </a:path>
            </a:pathLst>
          </a:cu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solidFill>
                <a:srgbClr val="3333FF"/>
              </a:solidFill>
              <a:latin typeface="+mj-lt"/>
            </a:endParaRPr>
          </a:p>
        </p:txBody>
      </p:sp>
      <p:sp>
        <p:nvSpPr>
          <p:cNvPr id="73745" name="Rectangle 18"/>
          <p:cNvSpPr>
            <a:spLocks noChangeArrowheads="1"/>
          </p:cNvSpPr>
          <p:nvPr/>
        </p:nvSpPr>
        <p:spPr bwMode="auto">
          <a:xfrm>
            <a:off x="5715001" y="2928938"/>
            <a:ext cx="608013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3333FF"/>
                </a:solidFill>
                <a:latin typeface="+mj-lt"/>
              </a:rPr>
              <a:t>200</a:t>
            </a:r>
            <a:endParaRPr lang="en-US" sz="2000" baseline="-25000">
              <a:solidFill>
                <a:srgbClr val="3333FF"/>
              </a:solidFill>
              <a:latin typeface="+mj-lt"/>
            </a:endParaRPr>
          </a:p>
        </p:txBody>
      </p:sp>
      <p:sp>
        <p:nvSpPr>
          <p:cNvPr id="73746" name="Rectangle 19"/>
          <p:cNvSpPr>
            <a:spLocks noChangeArrowheads="1"/>
          </p:cNvSpPr>
          <p:nvPr/>
        </p:nvSpPr>
        <p:spPr bwMode="auto">
          <a:xfrm>
            <a:off x="5181600" y="4616450"/>
            <a:ext cx="1870448" cy="4001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feature distance</a:t>
            </a:r>
            <a:endParaRPr lang="en-US" sz="2000" baseline="-25000" dirty="0"/>
          </a:p>
        </p:txBody>
      </p:sp>
      <p:sp>
        <p:nvSpPr>
          <p:cNvPr id="73747" name="Line 20"/>
          <p:cNvSpPr>
            <a:spLocks noChangeShapeType="1"/>
          </p:cNvSpPr>
          <p:nvPr/>
        </p:nvSpPr>
        <p:spPr bwMode="auto">
          <a:xfrm flipH="1" flipV="1">
            <a:off x="6019800" y="3429000"/>
            <a:ext cx="76200" cy="11874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 animBg="1"/>
      <p:bldP spid="73735" grpId="0" animBg="1"/>
      <p:bldP spid="73736" grpId="0" animBg="1"/>
      <p:bldP spid="73737" grpId="0" animBg="1"/>
      <p:bldP spid="73738" grpId="0" animBg="1"/>
      <p:bldP spid="73739" grpId="0" animBg="1"/>
      <p:bldP spid="73740" grpId="0" animBg="1"/>
      <p:bldP spid="73741" grpId="0" animBg="1"/>
      <p:bldP spid="73742" grpId="0" animBg="1"/>
      <p:bldP spid="73743" grpId="0" animBg="1"/>
      <p:bldP spid="73744" grpId="0" animBg="1"/>
      <p:bldP spid="73745" grpId="0" animBg="1"/>
      <p:bldP spid="73746" grpId="0" animBg="1"/>
      <p:bldP spid="7374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l"/>
            <a:r>
              <a:rPr lang="en-US" b="1" dirty="0"/>
              <a:t>True/false positives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828800"/>
            <a:ext cx="9753600" cy="51054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r>
              <a:rPr lang="en-US" sz="2000" dirty="0"/>
              <a:t>The distance threshold affects performance</a:t>
            </a:r>
          </a:p>
          <a:p>
            <a:pPr lvl="1"/>
            <a:r>
              <a:rPr lang="en-US" sz="1800" dirty="0"/>
              <a:t>True positives = # of detected matches that survive the threshold that are correct</a:t>
            </a:r>
          </a:p>
          <a:p>
            <a:pPr lvl="1"/>
            <a:r>
              <a:rPr lang="en-US" sz="1800" dirty="0"/>
              <a:t>False positives = # of detected matches that survive the threshold that are incorrect</a:t>
            </a:r>
          </a:p>
        </p:txBody>
      </p:sp>
      <p:pic>
        <p:nvPicPr>
          <p:cNvPr id="74756" name="Picture 2" descr="http://farm1.static.flickr.com/47/136915456_c6f719ea3f.jpg?v=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2073276"/>
            <a:ext cx="3086100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7" name="Picture 4" descr="http://farm1.static.flickr.com/133/328570837_37b6289916.jpg?v=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16676" y="2068513"/>
            <a:ext cx="3260725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4758" name="Rectangle 6"/>
          <p:cNvSpPr>
            <a:spLocks noChangeArrowheads="1"/>
          </p:cNvSpPr>
          <p:nvPr/>
        </p:nvSpPr>
        <p:spPr bwMode="auto">
          <a:xfrm>
            <a:off x="3962400" y="2635250"/>
            <a:ext cx="152400" cy="15240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74759" name="Rectangle 7"/>
          <p:cNvSpPr>
            <a:spLocks noChangeArrowheads="1"/>
          </p:cNvSpPr>
          <p:nvPr/>
        </p:nvSpPr>
        <p:spPr bwMode="auto">
          <a:xfrm>
            <a:off x="7889875" y="2598737"/>
            <a:ext cx="152400" cy="15240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74760" name="Rectangle 8"/>
          <p:cNvSpPr>
            <a:spLocks noChangeArrowheads="1"/>
          </p:cNvSpPr>
          <p:nvPr/>
        </p:nvSpPr>
        <p:spPr bwMode="auto">
          <a:xfrm>
            <a:off x="3276600" y="2482850"/>
            <a:ext cx="152400" cy="15240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74761" name="Rectangle 9"/>
          <p:cNvSpPr>
            <a:spLocks noChangeArrowheads="1"/>
          </p:cNvSpPr>
          <p:nvPr/>
        </p:nvSpPr>
        <p:spPr bwMode="auto">
          <a:xfrm>
            <a:off x="7239000" y="2254250"/>
            <a:ext cx="152400" cy="15240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74762" name="Rectangle 10"/>
          <p:cNvSpPr>
            <a:spLocks noChangeArrowheads="1"/>
          </p:cNvSpPr>
          <p:nvPr/>
        </p:nvSpPr>
        <p:spPr bwMode="auto">
          <a:xfrm>
            <a:off x="3048000" y="2101850"/>
            <a:ext cx="152400" cy="15240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74763" name="Rectangle 11"/>
          <p:cNvSpPr>
            <a:spLocks noChangeArrowheads="1"/>
          </p:cNvSpPr>
          <p:nvPr/>
        </p:nvSpPr>
        <p:spPr bwMode="auto">
          <a:xfrm>
            <a:off x="6934200" y="2940050"/>
            <a:ext cx="152400" cy="15240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74764" name="Line 12"/>
          <p:cNvSpPr>
            <a:spLocks noChangeShapeType="1"/>
          </p:cNvSpPr>
          <p:nvPr/>
        </p:nvSpPr>
        <p:spPr bwMode="auto">
          <a:xfrm flipV="1">
            <a:off x="3429000" y="2317750"/>
            <a:ext cx="3810000" cy="2286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4765" name="Rectangle 14"/>
          <p:cNvSpPr>
            <a:spLocks noChangeArrowheads="1"/>
          </p:cNvSpPr>
          <p:nvPr/>
        </p:nvSpPr>
        <p:spPr bwMode="auto">
          <a:xfrm>
            <a:off x="5705476" y="2162176"/>
            <a:ext cx="466725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B050"/>
                </a:solidFill>
                <a:latin typeface="+mj-lt"/>
              </a:rPr>
              <a:t>50</a:t>
            </a:r>
            <a:endParaRPr lang="en-US" sz="2000" baseline="-25000">
              <a:solidFill>
                <a:srgbClr val="00B050"/>
              </a:solidFill>
              <a:latin typeface="+mj-lt"/>
            </a:endParaRPr>
          </a:p>
        </p:txBody>
      </p:sp>
      <p:sp>
        <p:nvSpPr>
          <p:cNvPr id="74766" name="Line 14"/>
          <p:cNvSpPr>
            <a:spLocks noChangeShapeType="1"/>
          </p:cNvSpPr>
          <p:nvPr/>
        </p:nvSpPr>
        <p:spPr bwMode="auto">
          <a:xfrm flipV="1">
            <a:off x="4114801" y="2635250"/>
            <a:ext cx="3775075" cy="762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4767" name="Rectangle 15"/>
          <p:cNvSpPr>
            <a:spLocks noChangeArrowheads="1"/>
          </p:cNvSpPr>
          <p:nvPr/>
        </p:nvSpPr>
        <p:spPr bwMode="auto">
          <a:xfrm>
            <a:off x="5791201" y="2482851"/>
            <a:ext cx="466725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B050"/>
                </a:solidFill>
                <a:latin typeface="+mj-lt"/>
              </a:rPr>
              <a:t>75</a:t>
            </a:r>
            <a:endParaRPr lang="en-US" sz="2000" baseline="-25000">
              <a:solidFill>
                <a:srgbClr val="00B050"/>
              </a:solidFill>
              <a:latin typeface="+mj-lt"/>
            </a:endParaRPr>
          </a:p>
        </p:txBody>
      </p:sp>
      <p:sp>
        <p:nvSpPr>
          <p:cNvPr id="74768" name="Freeform 16"/>
          <p:cNvSpPr>
            <a:spLocks/>
          </p:cNvSpPr>
          <p:nvPr/>
        </p:nvSpPr>
        <p:spPr bwMode="auto">
          <a:xfrm>
            <a:off x="3086100" y="2254250"/>
            <a:ext cx="3848100" cy="1155700"/>
          </a:xfrm>
          <a:custGeom>
            <a:avLst/>
            <a:gdLst>
              <a:gd name="T0" fmla="*/ 24 w 2424"/>
              <a:gd name="T1" fmla="*/ 0 h 728"/>
              <a:gd name="T2" fmla="*/ 72 w 2424"/>
              <a:gd name="T3" fmla="*/ 528 h 728"/>
              <a:gd name="T4" fmla="*/ 456 w 2424"/>
              <a:gd name="T5" fmla="*/ 720 h 728"/>
              <a:gd name="T6" fmla="*/ 2424 w 2424"/>
              <a:gd name="T7" fmla="*/ 480 h 728"/>
              <a:gd name="T8" fmla="*/ 0 60000 65536"/>
              <a:gd name="T9" fmla="*/ 0 60000 65536"/>
              <a:gd name="T10" fmla="*/ 0 60000 65536"/>
              <a:gd name="T11" fmla="*/ 0 60000 65536"/>
              <a:gd name="T12" fmla="*/ 0 w 2424"/>
              <a:gd name="T13" fmla="*/ 0 h 728"/>
              <a:gd name="T14" fmla="*/ 2424 w 2424"/>
              <a:gd name="T15" fmla="*/ 728 h 7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24" h="728">
                <a:moveTo>
                  <a:pt x="24" y="0"/>
                </a:moveTo>
                <a:cubicBezTo>
                  <a:pt x="12" y="204"/>
                  <a:pt x="0" y="408"/>
                  <a:pt x="72" y="528"/>
                </a:cubicBezTo>
                <a:cubicBezTo>
                  <a:pt x="144" y="648"/>
                  <a:pt x="64" y="728"/>
                  <a:pt x="456" y="720"/>
                </a:cubicBezTo>
                <a:cubicBezTo>
                  <a:pt x="848" y="712"/>
                  <a:pt x="1636" y="596"/>
                  <a:pt x="2424" y="480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4769" name="Rectangle 17"/>
          <p:cNvSpPr>
            <a:spLocks noChangeArrowheads="1"/>
          </p:cNvSpPr>
          <p:nvPr/>
        </p:nvSpPr>
        <p:spPr bwMode="auto">
          <a:xfrm>
            <a:off x="5715001" y="2940051"/>
            <a:ext cx="608013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+mj-lt"/>
              </a:rPr>
              <a:t>200</a:t>
            </a:r>
            <a:endParaRPr lang="en-US" sz="2000" baseline="-2500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74772" name="Rectangle 20"/>
          <p:cNvSpPr>
            <a:spLocks noChangeArrowheads="1"/>
          </p:cNvSpPr>
          <p:nvPr/>
        </p:nvSpPr>
        <p:spPr bwMode="auto">
          <a:xfrm>
            <a:off x="5538789" y="3165476"/>
            <a:ext cx="9620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FF0000"/>
                </a:solidFill>
                <a:latin typeface="+mj-lt"/>
              </a:rPr>
              <a:t>false match</a:t>
            </a:r>
            <a:endParaRPr lang="en-US" sz="1200" baseline="-2500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74773" name="Rectangle 22"/>
          <p:cNvSpPr>
            <a:spLocks noChangeArrowheads="1"/>
          </p:cNvSpPr>
          <p:nvPr/>
        </p:nvSpPr>
        <p:spPr bwMode="auto">
          <a:xfrm>
            <a:off x="5573714" y="2373312"/>
            <a:ext cx="91839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  <a:latin typeface="+mj-lt"/>
              </a:rPr>
              <a:t>true match</a:t>
            </a:r>
            <a:endParaRPr lang="en-US" sz="1200" baseline="-250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5181600" y="4616450"/>
            <a:ext cx="1870448" cy="4001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feature distance</a:t>
            </a:r>
            <a:endParaRPr lang="en-US" sz="2000" baseline="-25000" dirty="0"/>
          </a:p>
        </p:txBody>
      </p:sp>
      <p:sp>
        <p:nvSpPr>
          <p:cNvPr id="25" name="Line 20"/>
          <p:cNvSpPr>
            <a:spLocks noChangeShapeType="1"/>
          </p:cNvSpPr>
          <p:nvPr/>
        </p:nvSpPr>
        <p:spPr bwMode="auto">
          <a:xfrm flipH="1" flipV="1">
            <a:off x="6019800" y="3429000"/>
            <a:ext cx="76200" cy="11874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3"/>
          <p:cNvSpPr txBox="1">
            <a:spLocks noChangeArrowheads="1"/>
          </p:cNvSpPr>
          <p:nvPr/>
        </p:nvSpPr>
        <p:spPr>
          <a:xfrm>
            <a:off x="1981200" y="1524000"/>
            <a:ext cx="8610600" cy="6858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sz="2200" dirty="0"/>
              <a:t>How can we measure the performance of a feature matcher?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l"/>
            <a:r>
              <a:rPr lang="en-US" b="1" dirty="0"/>
              <a:t>True/false positives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828800"/>
            <a:ext cx="8458200" cy="51054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r>
              <a:rPr lang="en-US" sz="2000" dirty="0"/>
              <a:t>Suppose we want to </a:t>
            </a:r>
            <a:r>
              <a:rPr lang="en-US" sz="2000" b="1" dirty="0"/>
              <a:t>maximize true positives</a:t>
            </a:r>
            <a:r>
              <a:rPr lang="en-US" sz="2000" dirty="0"/>
              <a:t>. How do we set the threshold? (Note: we keep all matches with distance below the threshold.)</a:t>
            </a:r>
            <a:endParaRPr lang="en-US" sz="1800" dirty="0"/>
          </a:p>
        </p:txBody>
      </p:sp>
      <p:pic>
        <p:nvPicPr>
          <p:cNvPr id="74756" name="Picture 2" descr="http://farm1.static.flickr.com/47/136915456_c6f719ea3f.jpg?v=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2073276"/>
            <a:ext cx="3086100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7" name="Picture 4" descr="http://farm1.static.flickr.com/133/328570837_37b6289916.jpg?v=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16676" y="2068513"/>
            <a:ext cx="3260725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4758" name="Rectangle 6"/>
          <p:cNvSpPr>
            <a:spLocks noChangeArrowheads="1"/>
          </p:cNvSpPr>
          <p:nvPr/>
        </p:nvSpPr>
        <p:spPr bwMode="auto">
          <a:xfrm>
            <a:off x="3962400" y="2635250"/>
            <a:ext cx="152400" cy="15240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74759" name="Rectangle 7"/>
          <p:cNvSpPr>
            <a:spLocks noChangeArrowheads="1"/>
          </p:cNvSpPr>
          <p:nvPr/>
        </p:nvSpPr>
        <p:spPr bwMode="auto">
          <a:xfrm>
            <a:off x="7889875" y="2598737"/>
            <a:ext cx="152400" cy="15240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74760" name="Rectangle 8"/>
          <p:cNvSpPr>
            <a:spLocks noChangeArrowheads="1"/>
          </p:cNvSpPr>
          <p:nvPr/>
        </p:nvSpPr>
        <p:spPr bwMode="auto">
          <a:xfrm>
            <a:off x="3276600" y="2482850"/>
            <a:ext cx="152400" cy="15240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74761" name="Rectangle 9"/>
          <p:cNvSpPr>
            <a:spLocks noChangeArrowheads="1"/>
          </p:cNvSpPr>
          <p:nvPr/>
        </p:nvSpPr>
        <p:spPr bwMode="auto">
          <a:xfrm>
            <a:off x="7239000" y="2254250"/>
            <a:ext cx="152400" cy="15240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74762" name="Rectangle 10"/>
          <p:cNvSpPr>
            <a:spLocks noChangeArrowheads="1"/>
          </p:cNvSpPr>
          <p:nvPr/>
        </p:nvSpPr>
        <p:spPr bwMode="auto">
          <a:xfrm>
            <a:off x="3048000" y="2101850"/>
            <a:ext cx="152400" cy="15240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74763" name="Rectangle 11"/>
          <p:cNvSpPr>
            <a:spLocks noChangeArrowheads="1"/>
          </p:cNvSpPr>
          <p:nvPr/>
        </p:nvSpPr>
        <p:spPr bwMode="auto">
          <a:xfrm>
            <a:off x="6934200" y="2940050"/>
            <a:ext cx="152400" cy="15240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74764" name="Line 12"/>
          <p:cNvSpPr>
            <a:spLocks noChangeShapeType="1"/>
          </p:cNvSpPr>
          <p:nvPr/>
        </p:nvSpPr>
        <p:spPr bwMode="auto">
          <a:xfrm flipV="1">
            <a:off x="3429000" y="2317750"/>
            <a:ext cx="3810000" cy="2286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4765" name="Rectangle 14"/>
          <p:cNvSpPr>
            <a:spLocks noChangeArrowheads="1"/>
          </p:cNvSpPr>
          <p:nvPr/>
        </p:nvSpPr>
        <p:spPr bwMode="auto">
          <a:xfrm>
            <a:off x="5705476" y="2162176"/>
            <a:ext cx="466725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B050"/>
                </a:solidFill>
                <a:latin typeface="+mj-lt"/>
              </a:rPr>
              <a:t>50</a:t>
            </a:r>
            <a:endParaRPr lang="en-US" sz="2000" baseline="-25000">
              <a:solidFill>
                <a:srgbClr val="00B050"/>
              </a:solidFill>
              <a:latin typeface="+mj-lt"/>
            </a:endParaRPr>
          </a:p>
        </p:txBody>
      </p:sp>
      <p:sp>
        <p:nvSpPr>
          <p:cNvPr id="74766" name="Line 14"/>
          <p:cNvSpPr>
            <a:spLocks noChangeShapeType="1"/>
          </p:cNvSpPr>
          <p:nvPr/>
        </p:nvSpPr>
        <p:spPr bwMode="auto">
          <a:xfrm flipV="1">
            <a:off x="4114801" y="2635250"/>
            <a:ext cx="3775075" cy="762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4767" name="Rectangle 15"/>
          <p:cNvSpPr>
            <a:spLocks noChangeArrowheads="1"/>
          </p:cNvSpPr>
          <p:nvPr/>
        </p:nvSpPr>
        <p:spPr bwMode="auto">
          <a:xfrm>
            <a:off x="5791201" y="2482851"/>
            <a:ext cx="466725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B050"/>
                </a:solidFill>
                <a:latin typeface="+mj-lt"/>
              </a:rPr>
              <a:t>75</a:t>
            </a:r>
            <a:endParaRPr lang="en-US" sz="2000" baseline="-25000">
              <a:solidFill>
                <a:srgbClr val="00B050"/>
              </a:solidFill>
              <a:latin typeface="+mj-lt"/>
            </a:endParaRPr>
          </a:p>
        </p:txBody>
      </p:sp>
      <p:sp>
        <p:nvSpPr>
          <p:cNvPr id="74768" name="Freeform 16"/>
          <p:cNvSpPr>
            <a:spLocks/>
          </p:cNvSpPr>
          <p:nvPr/>
        </p:nvSpPr>
        <p:spPr bwMode="auto">
          <a:xfrm>
            <a:off x="3086100" y="2254250"/>
            <a:ext cx="3848100" cy="1155700"/>
          </a:xfrm>
          <a:custGeom>
            <a:avLst/>
            <a:gdLst>
              <a:gd name="T0" fmla="*/ 24 w 2424"/>
              <a:gd name="T1" fmla="*/ 0 h 728"/>
              <a:gd name="T2" fmla="*/ 72 w 2424"/>
              <a:gd name="T3" fmla="*/ 528 h 728"/>
              <a:gd name="T4" fmla="*/ 456 w 2424"/>
              <a:gd name="T5" fmla="*/ 720 h 728"/>
              <a:gd name="T6" fmla="*/ 2424 w 2424"/>
              <a:gd name="T7" fmla="*/ 480 h 728"/>
              <a:gd name="T8" fmla="*/ 0 60000 65536"/>
              <a:gd name="T9" fmla="*/ 0 60000 65536"/>
              <a:gd name="T10" fmla="*/ 0 60000 65536"/>
              <a:gd name="T11" fmla="*/ 0 60000 65536"/>
              <a:gd name="T12" fmla="*/ 0 w 2424"/>
              <a:gd name="T13" fmla="*/ 0 h 728"/>
              <a:gd name="T14" fmla="*/ 2424 w 2424"/>
              <a:gd name="T15" fmla="*/ 728 h 7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24" h="728">
                <a:moveTo>
                  <a:pt x="24" y="0"/>
                </a:moveTo>
                <a:cubicBezTo>
                  <a:pt x="12" y="204"/>
                  <a:pt x="0" y="408"/>
                  <a:pt x="72" y="528"/>
                </a:cubicBezTo>
                <a:cubicBezTo>
                  <a:pt x="144" y="648"/>
                  <a:pt x="64" y="728"/>
                  <a:pt x="456" y="720"/>
                </a:cubicBezTo>
                <a:cubicBezTo>
                  <a:pt x="848" y="712"/>
                  <a:pt x="1636" y="596"/>
                  <a:pt x="2424" y="480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4769" name="Rectangle 17"/>
          <p:cNvSpPr>
            <a:spLocks noChangeArrowheads="1"/>
          </p:cNvSpPr>
          <p:nvPr/>
        </p:nvSpPr>
        <p:spPr bwMode="auto">
          <a:xfrm>
            <a:off x="5715001" y="2940051"/>
            <a:ext cx="608013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+mj-lt"/>
              </a:rPr>
              <a:t>200</a:t>
            </a:r>
            <a:endParaRPr lang="en-US" sz="2000" baseline="-2500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74772" name="Rectangle 20"/>
          <p:cNvSpPr>
            <a:spLocks noChangeArrowheads="1"/>
          </p:cNvSpPr>
          <p:nvPr/>
        </p:nvSpPr>
        <p:spPr bwMode="auto">
          <a:xfrm>
            <a:off x="5538789" y="3165476"/>
            <a:ext cx="9620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FF0000"/>
                </a:solidFill>
                <a:latin typeface="+mj-lt"/>
              </a:rPr>
              <a:t>false match</a:t>
            </a:r>
            <a:endParaRPr lang="en-US" sz="1200" baseline="-2500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74773" name="Rectangle 22"/>
          <p:cNvSpPr>
            <a:spLocks noChangeArrowheads="1"/>
          </p:cNvSpPr>
          <p:nvPr/>
        </p:nvSpPr>
        <p:spPr bwMode="auto">
          <a:xfrm>
            <a:off x="5573714" y="2373312"/>
            <a:ext cx="91839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  <a:latin typeface="+mj-lt"/>
              </a:rPr>
              <a:t>true match</a:t>
            </a:r>
            <a:endParaRPr lang="en-US" sz="1200" baseline="-250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5181600" y="4616450"/>
            <a:ext cx="1870448" cy="4001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feature distance</a:t>
            </a:r>
            <a:endParaRPr lang="en-US" sz="2000" baseline="-25000" dirty="0"/>
          </a:p>
        </p:txBody>
      </p:sp>
      <p:sp>
        <p:nvSpPr>
          <p:cNvPr id="25" name="Line 20"/>
          <p:cNvSpPr>
            <a:spLocks noChangeShapeType="1"/>
          </p:cNvSpPr>
          <p:nvPr/>
        </p:nvSpPr>
        <p:spPr bwMode="auto">
          <a:xfrm flipH="1" flipV="1">
            <a:off x="6019800" y="3429000"/>
            <a:ext cx="76200" cy="11874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3"/>
          <p:cNvSpPr txBox="1">
            <a:spLocks noChangeArrowheads="1"/>
          </p:cNvSpPr>
          <p:nvPr/>
        </p:nvSpPr>
        <p:spPr>
          <a:xfrm>
            <a:off x="1981200" y="1524000"/>
            <a:ext cx="8610600" cy="6858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sz="2200" dirty="0"/>
              <a:t>How can we measure the performance of a feature matcher?</a:t>
            </a:r>
          </a:p>
        </p:txBody>
      </p:sp>
    </p:spTree>
    <p:extLst>
      <p:ext uri="{BB962C8B-B14F-4D97-AF65-F5344CB8AC3E}">
        <p14:creationId xmlns:p14="http://schemas.microsoft.com/office/powerpoint/2010/main" val="57395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l"/>
            <a:r>
              <a:rPr lang="en-US" b="1" dirty="0"/>
              <a:t>True/false positives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828800"/>
            <a:ext cx="8610600" cy="51054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r>
              <a:rPr lang="en-US" sz="2000" dirty="0"/>
              <a:t>Suppose we want to </a:t>
            </a:r>
            <a:r>
              <a:rPr lang="en-US" sz="2000" b="1" dirty="0"/>
              <a:t>minimize false positives</a:t>
            </a:r>
            <a:r>
              <a:rPr lang="en-US" sz="2000" dirty="0"/>
              <a:t>. How do we set the threshold? (Note: we keep all matches with distance below the threshold.)</a:t>
            </a:r>
          </a:p>
        </p:txBody>
      </p:sp>
      <p:pic>
        <p:nvPicPr>
          <p:cNvPr id="74756" name="Picture 2" descr="http://farm1.static.flickr.com/47/136915456_c6f719ea3f.jpg?v=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2073276"/>
            <a:ext cx="3086100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7" name="Picture 4" descr="http://farm1.static.flickr.com/133/328570837_37b6289916.jpg?v=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16676" y="2068513"/>
            <a:ext cx="3260725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4758" name="Rectangle 6"/>
          <p:cNvSpPr>
            <a:spLocks noChangeArrowheads="1"/>
          </p:cNvSpPr>
          <p:nvPr/>
        </p:nvSpPr>
        <p:spPr bwMode="auto">
          <a:xfrm>
            <a:off x="3962400" y="2635250"/>
            <a:ext cx="152400" cy="15240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74759" name="Rectangle 7"/>
          <p:cNvSpPr>
            <a:spLocks noChangeArrowheads="1"/>
          </p:cNvSpPr>
          <p:nvPr/>
        </p:nvSpPr>
        <p:spPr bwMode="auto">
          <a:xfrm>
            <a:off x="7889875" y="2598737"/>
            <a:ext cx="152400" cy="15240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74760" name="Rectangle 8"/>
          <p:cNvSpPr>
            <a:spLocks noChangeArrowheads="1"/>
          </p:cNvSpPr>
          <p:nvPr/>
        </p:nvSpPr>
        <p:spPr bwMode="auto">
          <a:xfrm>
            <a:off x="3276600" y="2482850"/>
            <a:ext cx="152400" cy="15240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74761" name="Rectangle 9"/>
          <p:cNvSpPr>
            <a:spLocks noChangeArrowheads="1"/>
          </p:cNvSpPr>
          <p:nvPr/>
        </p:nvSpPr>
        <p:spPr bwMode="auto">
          <a:xfrm>
            <a:off x="7239000" y="2254250"/>
            <a:ext cx="152400" cy="15240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74762" name="Rectangle 10"/>
          <p:cNvSpPr>
            <a:spLocks noChangeArrowheads="1"/>
          </p:cNvSpPr>
          <p:nvPr/>
        </p:nvSpPr>
        <p:spPr bwMode="auto">
          <a:xfrm>
            <a:off x="3048000" y="2101850"/>
            <a:ext cx="152400" cy="15240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74763" name="Rectangle 11"/>
          <p:cNvSpPr>
            <a:spLocks noChangeArrowheads="1"/>
          </p:cNvSpPr>
          <p:nvPr/>
        </p:nvSpPr>
        <p:spPr bwMode="auto">
          <a:xfrm>
            <a:off x="6934200" y="2940050"/>
            <a:ext cx="152400" cy="15240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74764" name="Line 12"/>
          <p:cNvSpPr>
            <a:spLocks noChangeShapeType="1"/>
          </p:cNvSpPr>
          <p:nvPr/>
        </p:nvSpPr>
        <p:spPr bwMode="auto">
          <a:xfrm flipV="1">
            <a:off x="3429000" y="2317750"/>
            <a:ext cx="3810000" cy="2286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4765" name="Rectangle 14"/>
          <p:cNvSpPr>
            <a:spLocks noChangeArrowheads="1"/>
          </p:cNvSpPr>
          <p:nvPr/>
        </p:nvSpPr>
        <p:spPr bwMode="auto">
          <a:xfrm>
            <a:off x="5705476" y="2162176"/>
            <a:ext cx="466725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B050"/>
                </a:solidFill>
                <a:latin typeface="+mj-lt"/>
              </a:rPr>
              <a:t>50</a:t>
            </a:r>
            <a:endParaRPr lang="en-US" sz="2000" baseline="-25000">
              <a:solidFill>
                <a:srgbClr val="00B050"/>
              </a:solidFill>
              <a:latin typeface="+mj-lt"/>
            </a:endParaRPr>
          </a:p>
        </p:txBody>
      </p:sp>
      <p:sp>
        <p:nvSpPr>
          <p:cNvPr id="74766" name="Line 14"/>
          <p:cNvSpPr>
            <a:spLocks noChangeShapeType="1"/>
          </p:cNvSpPr>
          <p:nvPr/>
        </p:nvSpPr>
        <p:spPr bwMode="auto">
          <a:xfrm flipV="1">
            <a:off x="4114801" y="2635250"/>
            <a:ext cx="3775075" cy="762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4767" name="Rectangle 15"/>
          <p:cNvSpPr>
            <a:spLocks noChangeArrowheads="1"/>
          </p:cNvSpPr>
          <p:nvPr/>
        </p:nvSpPr>
        <p:spPr bwMode="auto">
          <a:xfrm>
            <a:off x="5791201" y="2482851"/>
            <a:ext cx="466725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B050"/>
                </a:solidFill>
                <a:latin typeface="+mj-lt"/>
              </a:rPr>
              <a:t>75</a:t>
            </a:r>
            <a:endParaRPr lang="en-US" sz="2000" baseline="-25000">
              <a:solidFill>
                <a:srgbClr val="00B050"/>
              </a:solidFill>
              <a:latin typeface="+mj-lt"/>
            </a:endParaRPr>
          </a:p>
        </p:txBody>
      </p:sp>
      <p:sp>
        <p:nvSpPr>
          <p:cNvPr id="74768" name="Freeform 16"/>
          <p:cNvSpPr>
            <a:spLocks/>
          </p:cNvSpPr>
          <p:nvPr/>
        </p:nvSpPr>
        <p:spPr bwMode="auto">
          <a:xfrm>
            <a:off x="3086100" y="2254250"/>
            <a:ext cx="3848100" cy="1155700"/>
          </a:xfrm>
          <a:custGeom>
            <a:avLst/>
            <a:gdLst>
              <a:gd name="T0" fmla="*/ 24 w 2424"/>
              <a:gd name="T1" fmla="*/ 0 h 728"/>
              <a:gd name="T2" fmla="*/ 72 w 2424"/>
              <a:gd name="T3" fmla="*/ 528 h 728"/>
              <a:gd name="T4" fmla="*/ 456 w 2424"/>
              <a:gd name="T5" fmla="*/ 720 h 728"/>
              <a:gd name="T6" fmla="*/ 2424 w 2424"/>
              <a:gd name="T7" fmla="*/ 480 h 728"/>
              <a:gd name="T8" fmla="*/ 0 60000 65536"/>
              <a:gd name="T9" fmla="*/ 0 60000 65536"/>
              <a:gd name="T10" fmla="*/ 0 60000 65536"/>
              <a:gd name="T11" fmla="*/ 0 60000 65536"/>
              <a:gd name="T12" fmla="*/ 0 w 2424"/>
              <a:gd name="T13" fmla="*/ 0 h 728"/>
              <a:gd name="T14" fmla="*/ 2424 w 2424"/>
              <a:gd name="T15" fmla="*/ 728 h 7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24" h="728">
                <a:moveTo>
                  <a:pt x="24" y="0"/>
                </a:moveTo>
                <a:cubicBezTo>
                  <a:pt x="12" y="204"/>
                  <a:pt x="0" y="408"/>
                  <a:pt x="72" y="528"/>
                </a:cubicBezTo>
                <a:cubicBezTo>
                  <a:pt x="144" y="648"/>
                  <a:pt x="64" y="728"/>
                  <a:pt x="456" y="720"/>
                </a:cubicBezTo>
                <a:cubicBezTo>
                  <a:pt x="848" y="712"/>
                  <a:pt x="1636" y="596"/>
                  <a:pt x="2424" y="480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4769" name="Rectangle 17"/>
          <p:cNvSpPr>
            <a:spLocks noChangeArrowheads="1"/>
          </p:cNvSpPr>
          <p:nvPr/>
        </p:nvSpPr>
        <p:spPr bwMode="auto">
          <a:xfrm>
            <a:off x="5715001" y="2940051"/>
            <a:ext cx="608013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+mj-lt"/>
              </a:rPr>
              <a:t>200</a:t>
            </a:r>
            <a:endParaRPr lang="en-US" sz="2000" baseline="-2500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74772" name="Rectangle 20"/>
          <p:cNvSpPr>
            <a:spLocks noChangeArrowheads="1"/>
          </p:cNvSpPr>
          <p:nvPr/>
        </p:nvSpPr>
        <p:spPr bwMode="auto">
          <a:xfrm>
            <a:off x="5538789" y="3165476"/>
            <a:ext cx="9620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FF0000"/>
                </a:solidFill>
                <a:latin typeface="+mj-lt"/>
              </a:rPr>
              <a:t>false match</a:t>
            </a:r>
            <a:endParaRPr lang="en-US" sz="1200" baseline="-2500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74773" name="Rectangle 22"/>
          <p:cNvSpPr>
            <a:spLocks noChangeArrowheads="1"/>
          </p:cNvSpPr>
          <p:nvPr/>
        </p:nvSpPr>
        <p:spPr bwMode="auto">
          <a:xfrm>
            <a:off x="5573714" y="2373312"/>
            <a:ext cx="91839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  <a:latin typeface="+mj-lt"/>
              </a:rPr>
              <a:t>true match</a:t>
            </a:r>
            <a:endParaRPr lang="en-US" sz="1200" baseline="-250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5181600" y="4616450"/>
            <a:ext cx="1870448" cy="4001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feature distance</a:t>
            </a:r>
            <a:endParaRPr lang="en-US" sz="2000" baseline="-25000" dirty="0"/>
          </a:p>
        </p:txBody>
      </p:sp>
      <p:sp>
        <p:nvSpPr>
          <p:cNvPr id="25" name="Line 20"/>
          <p:cNvSpPr>
            <a:spLocks noChangeShapeType="1"/>
          </p:cNvSpPr>
          <p:nvPr/>
        </p:nvSpPr>
        <p:spPr bwMode="auto">
          <a:xfrm flipH="1" flipV="1">
            <a:off x="6019800" y="3429000"/>
            <a:ext cx="76200" cy="11874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3"/>
          <p:cNvSpPr txBox="1">
            <a:spLocks noChangeArrowheads="1"/>
          </p:cNvSpPr>
          <p:nvPr/>
        </p:nvSpPr>
        <p:spPr>
          <a:xfrm>
            <a:off x="1981200" y="1524000"/>
            <a:ext cx="8610600" cy="6858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sz="2200" dirty="0"/>
              <a:t>How can we measure the performance of a feature matcher?</a:t>
            </a:r>
          </a:p>
        </p:txBody>
      </p:sp>
    </p:spTree>
    <p:extLst>
      <p:ext uri="{BB962C8B-B14F-4D97-AF65-F5344CB8AC3E}">
        <p14:creationId xmlns:p14="http://schemas.microsoft.com/office/powerpoint/2010/main" val="10847810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74488-DA81-4BC6-91F1-F942C8EBE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EC527-04A1-4A6E-BC2A-087CC42B9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our matcher computes 1,000 matches between two images</a:t>
            </a:r>
          </a:p>
          <a:p>
            <a:pPr lvl="1"/>
            <a:r>
              <a:rPr lang="en-US" dirty="0"/>
              <a:t>800 are correct matches, 200 are incorrect (according to an oracle that gives us ground truth matches)</a:t>
            </a:r>
          </a:p>
          <a:p>
            <a:pPr lvl="1"/>
            <a:r>
              <a:rPr lang="en-US" dirty="0"/>
              <a:t>A given threshold (e.g., ratio distance = 0.6) gives us 600 correct matches and 100 incorrect matches that survive the threshold</a:t>
            </a:r>
          </a:p>
          <a:p>
            <a:pPr lvl="1"/>
            <a:r>
              <a:rPr lang="en-US" dirty="0"/>
              <a:t>True positive rate = 600 / 800 = ¾</a:t>
            </a:r>
          </a:p>
          <a:p>
            <a:pPr lvl="1"/>
            <a:r>
              <a:rPr lang="en-US" dirty="0"/>
              <a:t>False positive rate = 100 / 200 = ½</a:t>
            </a:r>
          </a:p>
        </p:txBody>
      </p:sp>
    </p:spTree>
    <p:extLst>
      <p:ext uri="{BB962C8B-B14F-4D97-AF65-F5344CB8AC3E}">
        <p14:creationId xmlns:p14="http://schemas.microsoft.com/office/powerpoint/2010/main" val="3563833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Line 34"/>
          <p:cNvSpPr>
            <a:spLocks noChangeShapeType="1"/>
          </p:cNvSpPr>
          <p:nvPr/>
        </p:nvSpPr>
        <p:spPr bwMode="auto">
          <a:xfrm flipH="1">
            <a:off x="5029200" y="3282950"/>
            <a:ext cx="4191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5779" name="Line 32"/>
          <p:cNvSpPr>
            <a:spLocks noChangeShapeType="1"/>
          </p:cNvSpPr>
          <p:nvPr/>
        </p:nvSpPr>
        <p:spPr bwMode="auto">
          <a:xfrm>
            <a:off x="5446713" y="3244851"/>
            <a:ext cx="0" cy="20859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5780" name="TextBox 23"/>
          <p:cNvSpPr txBox="1">
            <a:spLocks noChangeArrowheads="1"/>
          </p:cNvSpPr>
          <p:nvPr/>
        </p:nvSpPr>
        <p:spPr bwMode="auto">
          <a:xfrm>
            <a:off x="4616450" y="3105150"/>
            <a:ext cx="762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dirty="0">
                <a:latin typeface="+mj-lt"/>
              </a:rPr>
              <a:t>0.7</a:t>
            </a:r>
          </a:p>
        </p:txBody>
      </p:sp>
      <p:sp>
        <p:nvSpPr>
          <p:cNvPr id="7578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the results</a:t>
            </a:r>
          </a:p>
        </p:txBody>
      </p:sp>
      <p:sp>
        <p:nvSpPr>
          <p:cNvPr id="75783" name="Rectangle 6"/>
          <p:cNvSpPr>
            <a:spLocks noChangeArrowheads="1"/>
          </p:cNvSpPr>
          <p:nvPr/>
        </p:nvSpPr>
        <p:spPr bwMode="auto">
          <a:xfrm>
            <a:off x="5181600" y="2635250"/>
            <a:ext cx="2590800" cy="2590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75784" name="Text Box 6"/>
          <p:cNvSpPr txBox="1">
            <a:spLocks noChangeArrowheads="1"/>
          </p:cNvSpPr>
          <p:nvPr/>
        </p:nvSpPr>
        <p:spPr bwMode="auto">
          <a:xfrm>
            <a:off x="4953000" y="5149851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latin typeface="+mj-lt"/>
              </a:rPr>
              <a:t>0</a:t>
            </a:r>
          </a:p>
        </p:txBody>
      </p:sp>
      <p:sp>
        <p:nvSpPr>
          <p:cNvPr id="75785" name="Text Box 7"/>
          <p:cNvSpPr txBox="1">
            <a:spLocks noChangeArrowheads="1"/>
          </p:cNvSpPr>
          <p:nvPr/>
        </p:nvSpPr>
        <p:spPr bwMode="auto">
          <a:xfrm>
            <a:off x="7620000" y="5194300"/>
            <a:ext cx="304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latin typeface="+mj-lt"/>
              </a:rPr>
              <a:t>1</a:t>
            </a:r>
          </a:p>
        </p:txBody>
      </p:sp>
      <p:sp>
        <p:nvSpPr>
          <p:cNvPr id="75786" name="Text Box 8"/>
          <p:cNvSpPr txBox="1">
            <a:spLocks noChangeArrowheads="1"/>
          </p:cNvSpPr>
          <p:nvPr/>
        </p:nvSpPr>
        <p:spPr bwMode="auto">
          <a:xfrm>
            <a:off x="4953000" y="2482850"/>
            <a:ext cx="304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latin typeface="+mj-lt"/>
              </a:rPr>
              <a:t>1</a:t>
            </a:r>
          </a:p>
        </p:txBody>
      </p:sp>
      <p:sp>
        <p:nvSpPr>
          <p:cNvPr id="75787" name="Text Box 9"/>
          <p:cNvSpPr txBox="1">
            <a:spLocks noChangeArrowheads="1"/>
          </p:cNvSpPr>
          <p:nvPr/>
        </p:nvSpPr>
        <p:spPr bwMode="auto">
          <a:xfrm>
            <a:off x="4800600" y="5226050"/>
            <a:ext cx="3429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 i="1">
                <a:solidFill>
                  <a:srgbClr val="FF0000"/>
                </a:solidFill>
                <a:latin typeface="+mj-lt"/>
              </a:rPr>
              <a:t>false positive rate</a:t>
            </a:r>
          </a:p>
        </p:txBody>
      </p:sp>
      <p:sp>
        <p:nvSpPr>
          <p:cNvPr id="75788" name="Text Box 10"/>
          <p:cNvSpPr txBox="1">
            <a:spLocks noChangeArrowheads="1"/>
          </p:cNvSpPr>
          <p:nvPr/>
        </p:nvSpPr>
        <p:spPr bwMode="auto">
          <a:xfrm>
            <a:off x="4191000" y="3625850"/>
            <a:ext cx="12192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 i="1" dirty="0">
                <a:solidFill>
                  <a:srgbClr val="FF0000"/>
                </a:solidFill>
                <a:latin typeface="+mj-lt"/>
              </a:rPr>
              <a:t>true</a:t>
            </a:r>
            <a:br>
              <a:rPr lang="en-US" sz="1400" i="1" dirty="0">
                <a:solidFill>
                  <a:srgbClr val="FF0000"/>
                </a:solidFill>
                <a:latin typeface="+mj-lt"/>
              </a:rPr>
            </a:br>
            <a:r>
              <a:rPr lang="en-US" sz="1400" i="1" dirty="0">
                <a:solidFill>
                  <a:srgbClr val="FF0000"/>
                </a:solidFill>
                <a:latin typeface="+mj-lt"/>
              </a:rPr>
              <a:t>positive</a:t>
            </a:r>
            <a:br>
              <a:rPr lang="en-US" sz="1400" i="1" dirty="0">
                <a:solidFill>
                  <a:srgbClr val="FF0000"/>
                </a:solidFill>
                <a:latin typeface="+mj-lt"/>
              </a:rPr>
            </a:br>
            <a:r>
              <a:rPr lang="en-US" sz="1400" i="1" dirty="0">
                <a:solidFill>
                  <a:srgbClr val="FF0000"/>
                </a:solidFill>
                <a:latin typeface="+mj-lt"/>
              </a:rPr>
              <a:t>rate</a:t>
            </a:r>
            <a:br>
              <a:rPr lang="en-US" sz="1400" i="1" dirty="0">
                <a:solidFill>
                  <a:srgbClr val="FF0000"/>
                </a:solidFill>
                <a:latin typeface="+mj-lt"/>
              </a:rPr>
            </a:br>
            <a:endParaRPr lang="en-US" sz="1400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75790" name="Oval 15"/>
          <p:cNvSpPr>
            <a:spLocks noChangeArrowheads="1"/>
          </p:cNvSpPr>
          <p:nvPr/>
        </p:nvSpPr>
        <p:spPr bwMode="auto">
          <a:xfrm>
            <a:off x="5410200" y="324485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75791" name="Line 16"/>
          <p:cNvSpPr>
            <a:spLocks noChangeShapeType="1"/>
          </p:cNvSpPr>
          <p:nvPr/>
        </p:nvSpPr>
        <p:spPr bwMode="auto">
          <a:xfrm>
            <a:off x="5448300" y="5102225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5792" name="Line 17"/>
          <p:cNvSpPr>
            <a:spLocks noChangeShapeType="1"/>
          </p:cNvSpPr>
          <p:nvPr/>
        </p:nvSpPr>
        <p:spPr bwMode="auto">
          <a:xfrm rot="-5400000">
            <a:off x="5143500" y="316865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5793" name="Text Box 15"/>
          <p:cNvSpPr txBox="1">
            <a:spLocks noChangeArrowheads="1"/>
          </p:cNvSpPr>
          <p:nvPr/>
        </p:nvSpPr>
        <p:spPr bwMode="auto">
          <a:xfrm>
            <a:off x="5207000" y="5226050"/>
            <a:ext cx="762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latin typeface="+mj-lt"/>
              </a:rPr>
              <a:t>0.1</a:t>
            </a:r>
          </a:p>
        </p:txBody>
      </p:sp>
      <p:sp>
        <p:nvSpPr>
          <p:cNvPr id="75795" name="Line 23"/>
          <p:cNvSpPr>
            <a:spLocks noChangeShapeType="1"/>
          </p:cNvSpPr>
          <p:nvPr/>
        </p:nvSpPr>
        <p:spPr bwMode="auto">
          <a:xfrm flipV="1">
            <a:off x="5181600" y="2635250"/>
            <a:ext cx="259080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5" name="Rectangle 3"/>
          <p:cNvSpPr txBox="1">
            <a:spLocks noChangeArrowheads="1"/>
          </p:cNvSpPr>
          <p:nvPr/>
        </p:nvSpPr>
        <p:spPr>
          <a:xfrm>
            <a:off x="1981200" y="1524000"/>
            <a:ext cx="82296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sz="2400" dirty="0">
                <a:latin typeface="+mj-lt"/>
              </a:rPr>
              <a:t>How can we measure the performance of a feature matcher?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12573" y="4267200"/>
            <a:ext cx="723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+mj-lt"/>
              </a:rPr>
              <a:t>recall</a:t>
            </a:r>
            <a:endParaRPr lang="en-US" dirty="0"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CC9CFC-A93F-42B8-88CA-40463A39F037}"/>
              </a:ext>
            </a:extLst>
          </p:cNvPr>
          <p:cNvSpPr txBox="1"/>
          <p:nvPr/>
        </p:nvSpPr>
        <p:spPr>
          <a:xfrm>
            <a:off x="5710209" y="6096000"/>
            <a:ext cx="1491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1 - </a:t>
            </a:r>
            <a:r>
              <a:rPr lang="en-US" i="1" dirty="0">
                <a:latin typeface="+mj-lt"/>
              </a:rPr>
              <a:t>specificity</a:t>
            </a:r>
          </a:p>
        </p:txBody>
      </p:sp>
      <p:grpSp>
        <p:nvGrpSpPr>
          <p:cNvPr id="30" name="Group 12">
            <a:extLst>
              <a:ext uri="{FF2B5EF4-FFF2-40B4-BE49-F238E27FC236}">
                <a16:creationId xmlns:a16="http://schemas.microsoft.com/office/drawing/2014/main" id="{02E8242C-800D-4604-B49F-989739C4C3B2}"/>
              </a:ext>
            </a:extLst>
          </p:cNvPr>
          <p:cNvGrpSpPr>
            <a:grpSpLocks/>
          </p:cNvGrpSpPr>
          <p:nvPr/>
        </p:nvGrpSpPr>
        <p:grpSpPr bwMode="auto">
          <a:xfrm>
            <a:off x="1372362" y="3749676"/>
            <a:ext cx="3199638" cy="523875"/>
            <a:chOff x="-174" y="1786"/>
            <a:chExt cx="1326" cy="330"/>
          </a:xfrm>
        </p:grpSpPr>
        <p:sp>
          <p:nvSpPr>
            <p:cNvPr id="31" name="Text Box 12">
              <a:extLst>
                <a:ext uri="{FF2B5EF4-FFF2-40B4-BE49-F238E27FC236}">
                  <a16:creationId xmlns:a16="http://schemas.microsoft.com/office/drawing/2014/main" id="{D9327B74-A18C-4FC3-A334-3E0DAA2E3B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74" y="1786"/>
              <a:ext cx="132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+mj-lt"/>
                </a:rPr>
                <a:t># true positives surviving threshold</a:t>
              </a:r>
            </a:p>
            <a:p>
              <a:pPr algn="ctr"/>
              <a:r>
                <a:rPr lang="en-US" sz="1400" dirty="0">
                  <a:latin typeface="+mj-lt"/>
                </a:rPr>
                <a:t># total correct matches (positives)</a:t>
              </a:r>
              <a:endParaRPr lang="en-US" baseline="-25000" dirty="0">
                <a:latin typeface="+mj-lt"/>
              </a:endParaRPr>
            </a:p>
          </p:txBody>
        </p:sp>
        <p:sp>
          <p:nvSpPr>
            <p:cNvPr id="32" name="Line 14">
              <a:extLst>
                <a:ext uri="{FF2B5EF4-FFF2-40B4-BE49-F238E27FC236}">
                  <a16:creationId xmlns:a16="http://schemas.microsoft.com/office/drawing/2014/main" id="{92BD23AC-473A-4A30-ADAE-E1133957F3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80" y="1956"/>
              <a:ext cx="11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latin typeface="+mj-lt"/>
              </a:endParaRPr>
            </a:p>
          </p:txBody>
        </p:sp>
      </p:grpSp>
      <p:grpSp>
        <p:nvGrpSpPr>
          <p:cNvPr id="33" name="Group 20">
            <a:extLst>
              <a:ext uri="{FF2B5EF4-FFF2-40B4-BE49-F238E27FC236}">
                <a16:creationId xmlns:a16="http://schemas.microsoft.com/office/drawing/2014/main" id="{E65A4833-8943-4E8E-8147-7C90D58A237D}"/>
              </a:ext>
            </a:extLst>
          </p:cNvPr>
          <p:cNvGrpSpPr>
            <a:grpSpLocks/>
          </p:cNvGrpSpPr>
          <p:nvPr/>
        </p:nvGrpSpPr>
        <p:grpSpPr bwMode="auto">
          <a:xfrm>
            <a:off x="4876165" y="5578476"/>
            <a:ext cx="3351657" cy="523875"/>
            <a:chOff x="-143" y="1786"/>
            <a:chExt cx="1389" cy="330"/>
          </a:xfrm>
        </p:grpSpPr>
        <p:sp>
          <p:nvSpPr>
            <p:cNvPr id="34" name="Text Box 19">
              <a:extLst>
                <a:ext uri="{FF2B5EF4-FFF2-40B4-BE49-F238E27FC236}">
                  <a16:creationId xmlns:a16="http://schemas.microsoft.com/office/drawing/2014/main" id="{78E2066B-8E3A-4742-9707-5841C151E6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43" y="1786"/>
              <a:ext cx="138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+mj-lt"/>
                </a:rPr>
                <a:t># false positives surviving threshold</a:t>
              </a:r>
            </a:p>
            <a:p>
              <a:pPr algn="ctr"/>
              <a:r>
                <a:rPr lang="en-US" sz="1400" dirty="0">
                  <a:latin typeface="+mj-lt"/>
                </a:rPr>
                <a:t># total incorrect matches (negatives)</a:t>
              </a:r>
              <a:endParaRPr lang="en-US" baseline="-25000" dirty="0">
                <a:latin typeface="+mj-lt"/>
              </a:endParaRPr>
            </a:p>
          </p:txBody>
        </p:sp>
        <p:sp>
          <p:nvSpPr>
            <p:cNvPr id="35" name="Line 22">
              <a:extLst>
                <a:ext uri="{FF2B5EF4-FFF2-40B4-BE49-F238E27FC236}">
                  <a16:creationId xmlns:a16="http://schemas.microsoft.com/office/drawing/2014/main" id="{B75DF2A8-754A-468A-8C73-3B3EF639BC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6" y="1956"/>
              <a:ext cx="11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Box 23"/>
          <p:cNvSpPr txBox="1">
            <a:spLocks noChangeArrowheads="1"/>
          </p:cNvSpPr>
          <p:nvPr/>
        </p:nvSpPr>
        <p:spPr bwMode="auto">
          <a:xfrm>
            <a:off x="4616450" y="3105150"/>
            <a:ext cx="762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latin typeface="+mj-lt"/>
              </a:rPr>
              <a:t>0.7</a:t>
            </a:r>
          </a:p>
        </p:txBody>
      </p:sp>
      <p:sp>
        <p:nvSpPr>
          <p:cNvPr id="76805" name="Rectangle 6"/>
          <p:cNvSpPr>
            <a:spLocks noChangeArrowheads="1"/>
          </p:cNvSpPr>
          <p:nvPr/>
        </p:nvSpPr>
        <p:spPr bwMode="auto">
          <a:xfrm>
            <a:off x="5181600" y="2635250"/>
            <a:ext cx="2590800" cy="2590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76806" name="Text Box 6"/>
          <p:cNvSpPr txBox="1">
            <a:spLocks noChangeArrowheads="1"/>
          </p:cNvSpPr>
          <p:nvPr/>
        </p:nvSpPr>
        <p:spPr bwMode="auto">
          <a:xfrm>
            <a:off x="4953000" y="5149851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latin typeface="+mj-lt"/>
              </a:rPr>
              <a:t>0</a:t>
            </a:r>
          </a:p>
        </p:txBody>
      </p:sp>
      <p:sp>
        <p:nvSpPr>
          <p:cNvPr id="76807" name="Text Box 7"/>
          <p:cNvSpPr txBox="1">
            <a:spLocks noChangeArrowheads="1"/>
          </p:cNvSpPr>
          <p:nvPr/>
        </p:nvSpPr>
        <p:spPr bwMode="auto">
          <a:xfrm>
            <a:off x="7620000" y="5194300"/>
            <a:ext cx="304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latin typeface="+mj-lt"/>
              </a:rPr>
              <a:t>1</a:t>
            </a:r>
          </a:p>
        </p:txBody>
      </p:sp>
      <p:sp>
        <p:nvSpPr>
          <p:cNvPr id="76808" name="Text Box 8"/>
          <p:cNvSpPr txBox="1">
            <a:spLocks noChangeArrowheads="1"/>
          </p:cNvSpPr>
          <p:nvPr/>
        </p:nvSpPr>
        <p:spPr bwMode="auto">
          <a:xfrm>
            <a:off x="4953000" y="2482850"/>
            <a:ext cx="304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latin typeface="+mj-lt"/>
              </a:rPr>
              <a:t>1</a:t>
            </a:r>
          </a:p>
        </p:txBody>
      </p:sp>
      <p:sp>
        <p:nvSpPr>
          <p:cNvPr id="76809" name="Text Box 9"/>
          <p:cNvSpPr txBox="1">
            <a:spLocks noChangeArrowheads="1"/>
          </p:cNvSpPr>
          <p:nvPr/>
        </p:nvSpPr>
        <p:spPr bwMode="auto">
          <a:xfrm>
            <a:off x="4800600" y="5226050"/>
            <a:ext cx="3429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 i="1">
                <a:solidFill>
                  <a:srgbClr val="FF0000"/>
                </a:solidFill>
                <a:latin typeface="+mj-lt"/>
              </a:rPr>
              <a:t>false positive rate</a:t>
            </a:r>
          </a:p>
        </p:txBody>
      </p:sp>
      <p:sp>
        <p:nvSpPr>
          <p:cNvPr id="76810" name="Text Box 10"/>
          <p:cNvSpPr txBox="1">
            <a:spLocks noChangeArrowheads="1"/>
          </p:cNvSpPr>
          <p:nvPr/>
        </p:nvSpPr>
        <p:spPr bwMode="auto">
          <a:xfrm>
            <a:off x="4191000" y="3625850"/>
            <a:ext cx="12192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 i="1">
                <a:solidFill>
                  <a:srgbClr val="FF0000"/>
                </a:solidFill>
                <a:latin typeface="+mj-lt"/>
              </a:rPr>
              <a:t>true</a:t>
            </a:r>
            <a:br>
              <a:rPr lang="en-US" sz="1400" i="1">
                <a:solidFill>
                  <a:srgbClr val="FF0000"/>
                </a:solidFill>
                <a:latin typeface="+mj-lt"/>
              </a:rPr>
            </a:br>
            <a:r>
              <a:rPr lang="en-US" sz="1400" i="1">
                <a:solidFill>
                  <a:srgbClr val="FF0000"/>
                </a:solidFill>
                <a:latin typeface="+mj-lt"/>
              </a:rPr>
              <a:t>positive</a:t>
            </a:r>
            <a:br>
              <a:rPr lang="en-US" sz="1400" i="1">
                <a:solidFill>
                  <a:srgbClr val="FF0000"/>
                </a:solidFill>
                <a:latin typeface="+mj-lt"/>
              </a:rPr>
            </a:br>
            <a:r>
              <a:rPr lang="en-US" sz="1400" i="1">
                <a:solidFill>
                  <a:srgbClr val="FF0000"/>
                </a:solidFill>
                <a:latin typeface="+mj-lt"/>
              </a:rPr>
              <a:t>rate</a:t>
            </a:r>
            <a:br>
              <a:rPr lang="en-US" sz="1400" i="1">
                <a:solidFill>
                  <a:srgbClr val="FF0000"/>
                </a:solidFill>
                <a:latin typeface="+mj-lt"/>
              </a:rPr>
            </a:br>
            <a:endParaRPr lang="en-US" sz="1400" i="1">
              <a:solidFill>
                <a:srgbClr val="FF0000"/>
              </a:solidFill>
              <a:latin typeface="+mj-lt"/>
            </a:endParaRP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372362" y="3749676"/>
            <a:ext cx="3199638" cy="523875"/>
            <a:chOff x="-174" y="1786"/>
            <a:chExt cx="1326" cy="330"/>
          </a:xfrm>
        </p:grpSpPr>
        <p:sp>
          <p:nvSpPr>
            <p:cNvPr id="76823" name="Text Box 12"/>
            <p:cNvSpPr txBox="1">
              <a:spLocks noChangeArrowheads="1"/>
            </p:cNvSpPr>
            <p:nvPr/>
          </p:nvSpPr>
          <p:spPr bwMode="auto">
            <a:xfrm>
              <a:off x="-174" y="1786"/>
              <a:ext cx="132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+mj-lt"/>
                </a:rPr>
                <a:t># true positives surviving threshold</a:t>
              </a:r>
            </a:p>
            <a:p>
              <a:pPr algn="ctr"/>
              <a:r>
                <a:rPr lang="en-US" sz="1400" dirty="0">
                  <a:latin typeface="+mj-lt"/>
                </a:rPr>
                <a:t># total correct matches (positives)</a:t>
              </a:r>
              <a:endParaRPr lang="en-US" baseline="-25000" dirty="0">
                <a:latin typeface="+mj-lt"/>
              </a:endParaRPr>
            </a:p>
          </p:txBody>
        </p:sp>
        <p:sp>
          <p:nvSpPr>
            <p:cNvPr id="76824" name="Line 14"/>
            <p:cNvSpPr>
              <a:spLocks noChangeShapeType="1"/>
            </p:cNvSpPr>
            <p:nvPr/>
          </p:nvSpPr>
          <p:spPr bwMode="auto">
            <a:xfrm>
              <a:off x="-80" y="1956"/>
              <a:ext cx="11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latin typeface="+mj-lt"/>
              </a:endParaRPr>
            </a:p>
          </p:txBody>
        </p:sp>
      </p:grpSp>
      <p:sp>
        <p:nvSpPr>
          <p:cNvPr id="76812" name="Oval 15"/>
          <p:cNvSpPr>
            <a:spLocks noChangeArrowheads="1"/>
          </p:cNvSpPr>
          <p:nvPr/>
        </p:nvSpPr>
        <p:spPr bwMode="auto">
          <a:xfrm>
            <a:off x="5410200" y="324485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76813" name="Line 16"/>
          <p:cNvSpPr>
            <a:spLocks noChangeShapeType="1"/>
          </p:cNvSpPr>
          <p:nvPr/>
        </p:nvSpPr>
        <p:spPr bwMode="auto">
          <a:xfrm>
            <a:off x="5448300" y="5102225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6814" name="Line 17"/>
          <p:cNvSpPr>
            <a:spLocks noChangeShapeType="1"/>
          </p:cNvSpPr>
          <p:nvPr/>
        </p:nvSpPr>
        <p:spPr bwMode="auto">
          <a:xfrm rot="-5400000">
            <a:off x="5143500" y="316865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6815" name="Text Box 17"/>
          <p:cNvSpPr txBox="1">
            <a:spLocks noChangeArrowheads="1"/>
          </p:cNvSpPr>
          <p:nvPr/>
        </p:nvSpPr>
        <p:spPr bwMode="auto">
          <a:xfrm>
            <a:off x="5207000" y="5226050"/>
            <a:ext cx="762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latin typeface="+mj-lt"/>
              </a:rPr>
              <a:t>0.1</a:t>
            </a:r>
          </a:p>
        </p:txBody>
      </p: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4876165" y="5578476"/>
            <a:ext cx="3351657" cy="523875"/>
            <a:chOff x="-143" y="1786"/>
            <a:chExt cx="1389" cy="330"/>
          </a:xfrm>
        </p:grpSpPr>
        <p:sp>
          <p:nvSpPr>
            <p:cNvPr id="76821" name="Text Box 19"/>
            <p:cNvSpPr txBox="1">
              <a:spLocks noChangeArrowheads="1"/>
            </p:cNvSpPr>
            <p:nvPr/>
          </p:nvSpPr>
          <p:spPr bwMode="auto">
            <a:xfrm>
              <a:off x="-143" y="1786"/>
              <a:ext cx="138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+mj-lt"/>
                </a:rPr>
                <a:t># false positives surviving threshold</a:t>
              </a:r>
            </a:p>
            <a:p>
              <a:pPr algn="ctr"/>
              <a:r>
                <a:rPr lang="en-US" sz="1400" dirty="0">
                  <a:latin typeface="+mj-lt"/>
                </a:rPr>
                <a:t># total incorrect matches (negatives)</a:t>
              </a:r>
              <a:endParaRPr lang="en-US" baseline="-25000" dirty="0">
                <a:latin typeface="+mj-lt"/>
              </a:endParaRPr>
            </a:p>
          </p:txBody>
        </p:sp>
        <p:sp>
          <p:nvSpPr>
            <p:cNvPr id="76822" name="Line 22"/>
            <p:cNvSpPr>
              <a:spLocks noChangeShapeType="1"/>
            </p:cNvSpPr>
            <p:nvPr/>
          </p:nvSpPr>
          <p:spPr bwMode="auto">
            <a:xfrm>
              <a:off x="-6" y="1956"/>
              <a:ext cx="11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latin typeface="+mj-lt"/>
              </a:endParaRPr>
            </a:p>
          </p:txBody>
        </p:sp>
      </p:grpSp>
      <p:sp>
        <p:nvSpPr>
          <p:cNvPr id="76817" name="Line 23"/>
          <p:cNvSpPr>
            <a:spLocks noChangeShapeType="1"/>
          </p:cNvSpPr>
          <p:nvPr/>
        </p:nvSpPr>
        <p:spPr bwMode="auto">
          <a:xfrm flipV="1">
            <a:off x="5181600" y="2635250"/>
            <a:ext cx="259080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6818" name="Freeform 25"/>
          <p:cNvSpPr>
            <a:spLocks/>
          </p:cNvSpPr>
          <p:nvPr/>
        </p:nvSpPr>
        <p:spPr bwMode="auto">
          <a:xfrm>
            <a:off x="5181600" y="2635250"/>
            <a:ext cx="2590800" cy="2590800"/>
          </a:xfrm>
          <a:custGeom>
            <a:avLst/>
            <a:gdLst>
              <a:gd name="T0" fmla="*/ 0 w 1632"/>
              <a:gd name="T1" fmla="*/ 2147483647 h 1632"/>
              <a:gd name="T2" fmla="*/ 120967500 w 1632"/>
              <a:gd name="T3" fmla="*/ 2147483647 h 1632"/>
              <a:gd name="T4" fmla="*/ 241935000 w 1632"/>
              <a:gd name="T5" fmla="*/ 1451610000 h 1632"/>
              <a:gd name="T6" fmla="*/ 483870000 w 1632"/>
              <a:gd name="T7" fmla="*/ 967740000 h 1632"/>
              <a:gd name="T8" fmla="*/ 1209675000 w 1632"/>
              <a:gd name="T9" fmla="*/ 483870000 h 1632"/>
              <a:gd name="T10" fmla="*/ 2147483647 w 1632"/>
              <a:gd name="T11" fmla="*/ 120967500 h 1632"/>
              <a:gd name="T12" fmla="*/ 2147483647 w 1632"/>
              <a:gd name="T13" fmla="*/ 0 h 16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32"/>
              <a:gd name="T22" fmla="*/ 0 h 1632"/>
              <a:gd name="T23" fmla="*/ 1632 w 1632"/>
              <a:gd name="T24" fmla="*/ 1632 h 16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32" h="1632">
                <a:moveTo>
                  <a:pt x="0" y="1632"/>
                </a:moveTo>
                <a:cubicBezTo>
                  <a:pt x="16" y="1456"/>
                  <a:pt x="32" y="1280"/>
                  <a:pt x="48" y="1104"/>
                </a:cubicBezTo>
                <a:cubicBezTo>
                  <a:pt x="64" y="928"/>
                  <a:pt x="72" y="696"/>
                  <a:pt x="96" y="576"/>
                </a:cubicBezTo>
                <a:cubicBezTo>
                  <a:pt x="120" y="456"/>
                  <a:pt x="128" y="448"/>
                  <a:pt x="192" y="384"/>
                </a:cubicBezTo>
                <a:cubicBezTo>
                  <a:pt x="256" y="320"/>
                  <a:pt x="304" y="248"/>
                  <a:pt x="480" y="192"/>
                </a:cubicBezTo>
                <a:cubicBezTo>
                  <a:pt x="656" y="136"/>
                  <a:pt x="1056" y="80"/>
                  <a:pt x="1248" y="48"/>
                </a:cubicBezTo>
                <a:cubicBezTo>
                  <a:pt x="1440" y="16"/>
                  <a:pt x="1536" y="8"/>
                  <a:pt x="1632" y="0"/>
                </a:cubicBezTo>
              </a:path>
            </a:pathLst>
          </a:custGeom>
          <a:noFill/>
          <a:ln w="38100">
            <a:solidFill>
              <a:srgbClr val="33CC33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6819" name="Text Box 23"/>
          <p:cNvSpPr txBox="1">
            <a:spLocks noChangeArrowheads="1"/>
          </p:cNvSpPr>
          <p:nvPr/>
        </p:nvSpPr>
        <p:spPr bwMode="auto">
          <a:xfrm>
            <a:off x="4343400" y="2286000"/>
            <a:ext cx="5791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>
                <a:solidFill>
                  <a:srgbClr val="33CC33"/>
                </a:solidFill>
                <a:latin typeface="+mj-lt"/>
              </a:rPr>
              <a:t>ROC curve  </a:t>
            </a:r>
            <a:r>
              <a:rPr lang="en-US" sz="1200" dirty="0">
                <a:solidFill>
                  <a:srgbClr val="33CC33"/>
                </a:solidFill>
                <a:latin typeface="+mj-lt"/>
              </a:rPr>
              <a:t>(“Receiver Operator Characteristic”)</a:t>
            </a:r>
          </a:p>
        </p:txBody>
      </p:sp>
      <p:sp>
        <p:nvSpPr>
          <p:cNvPr id="25" name="Rectangle 3"/>
          <p:cNvSpPr txBox="1">
            <a:spLocks noChangeArrowheads="1"/>
          </p:cNvSpPr>
          <p:nvPr/>
        </p:nvSpPr>
        <p:spPr>
          <a:xfrm>
            <a:off x="1981200" y="1524000"/>
            <a:ext cx="82296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sz="2400" dirty="0">
                <a:latin typeface="+mj-lt"/>
              </a:rPr>
              <a:t>How can we measure the performance of a feature matcher?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12572" y="4267200"/>
            <a:ext cx="723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+mj-lt"/>
              </a:rPr>
              <a:t>recall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0209" y="6096000"/>
            <a:ext cx="1491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1 - </a:t>
            </a:r>
            <a:r>
              <a:rPr lang="en-US" i="1" dirty="0">
                <a:latin typeface="+mj-lt"/>
              </a:rPr>
              <a:t>specificity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14847861-7EA4-4AC4-B9CA-81C1C7254A91}"/>
              </a:ext>
            </a:extLst>
          </p:cNvPr>
          <p:cNvSpPr txBox="1">
            <a:spLocks noChangeArrowheads="1"/>
          </p:cNvSpPr>
          <p:nvPr/>
        </p:nvSpPr>
        <p:spPr>
          <a:xfrm>
            <a:off x="7914363" y="3441701"/>
            <a:ext cx="3058437" cy="2437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b="1" dirty="0">
                <a:latin typeface="+mj-lt"/>
              </a:rPr>
              <a:t>Single number: Area Under the Curve (AUC)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b="1" dirty="0">
                <a:latin typeface="+mj-lt"/>
              </a:rPr>
              <a:t>E.g. AUC = 0.87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b="1" dirty="0">
                <a:latin typeface="+mj-lt"/>
              </a:rPr>
              <a:t>1 is the best</a:t>
            </a:r>
          </a:p>
        </p:txBody>
      </p:sp>
      <p:sp>
        <p:nvSpPr>
          <p:cNvPr id="30" name="Rectangle 4">
            <a:extLst>
              <a:ext uri="{FF2B5EF4-FFF2-40B4-BE49-F238E27FC236}">
                <a16:creationId xmlns:a16="http://schemas.microsoft.com/office/drawing/2014/main" id="{3712FFEF-A1D5-4AE6-BE69-F851489E78DF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457200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Evaluating the results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F4FCE-2A8C-4E02-996E-D0658DB5E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curves –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38099-5258-4C55-956D-0A1F8D0F5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thresholding the match distances at different thresholds, we can generate sets of matches with different true/false positive rates</a:t>
            </a:r>
          </a:p>
          <a:p>
            <a:r>
              <a:rPr lang="en-US" dirty="0"/>
              <a:t>ROC curve is generated by computing rates at a set of threshold values swept through the full range of possible thresholds</a:t>
            </a:r>
          </a:p>
          <a:p>
            <a:r>
              <a:rPr lang="en-US" dirty="0"/>
              <a:t>Area under the ROC curve (AUC) summarizes the performance of a feature pipeline (higher AUC is better)</a:t>
            </a:r>
          </a:p>
        </p:txBody>
      </p:sp>
    </p:spTree>
    <p:extLst>
      <p:ext uri="{BB962C8B-B14F-4D97-AF65-F5344CB8AC3E}">
        <p14:creationId xmlns:p14="http://schemas.microsoft.com/office/powerpoint/2010/main" val="1472584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Lots of applications</a:t>
            </a:r>
            <a:endParaRPr lang="ru-RU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800"/>
              <a:t>Features are used for:</a:t>
            </a:r>
          </a:p>
          <a:p>
            <a:pPr lvl="1"/>
            <a:r>
              <a:rPr lang="en-US" sz="2400"/>
              <a:t>Image alignment (e.g., mosaics)</a:t>
            </a:r>
          </a:p>
          <a:p>
            <a:pPr lvl="1"/>
            <a:r>
              <a:rPr lang="en-US" sz="2400"/>
              <a:t>3D reconstruction</a:t>
            </a:r>
          </a:p>
          <a:p>
            <a:pPr lvl="1"/>
            <a:r>
              <a:rPr lang="en-US" sz="2400"/>
              <a:t>Motion tracking</a:t>
            </a:r>
          </a:p>
          <a:p>
            <a:pPr lvl="1"/>
            <a:r>
              <a:rPr lang="en-US" sz="2400"/>
              <a:t>Object recognition</a:t>
            </a:r>
          </a:p>
          <a:p>
            <a:pPr lvl="1"/>
            <a:r>
              <a:rPr lang="en-US" sz="2400"/>
              <a:t>Indexing and database retrieval</a:t>
            </a:r>
          </a:p>
          <a:p>
            <a:pPr lvl="1"/>
            <a:r>
              <a:rPr lang="en-US" sz="2400"/>
              <a:t>Robot navigation</a:t>
            </a:r>
          </a:p>
          <a:p>
            <a:pPr lvl="1"/>
            <a:r>
              <a:rPr lang="en-US" sz="2400"/>
              <a:t>… other</a:t>
            </a:r>
            <a:endParaRPr lang="ru-RU" sz="24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850" name="Object 4"/>
          <p:cNvGraphicFramePr>
            <a:graphicFrameLocks noChangeAspect="1"/>
          </p:cNvGraphicFramePr>
          <p:nvPr/>
        </p:nvGraphicFramePr>
        <p:xfrm>
          <a:off x="2133601" y="1143000"/>
          <a:ext cx="4054475" cy="481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PhotoPaint.Image.8" r:id="rId2" imgW="3796825" imgH="4507937" progId="">
                  <p:embed/>
                </p:oleObj>
              </mc:Choice>
              <mc:Fallback>
                <p:oleObj name="CorelPhotoPaint.Image.8" r:id="rId2" imgW="3796825" imgH="4507937" progId="">
                  <p:embed/>
                  <p:pic>
                    <p:nvPicPr>
                      <p:cNvPr id="7885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1143000"/>
                        <a:ext cx="4054475" cy="481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 recognition (David Lowe)</a:t>
            </a:r>
          </a:p>
        </p:txBody>
      </p:sp>
      <p:pic>
        <p:nvPicPr>
          <p:cNvPr id="78852" name="Picture 7"/>
          <p:cNvPicPr>
            <a:picLocks noChangeAspect="1" noChangeArrowheads="1"/>
          </p:cNvPicPr>
          <p:nvPr/>
        </p:nvPicPr>
        <p:blipFill>
          <a:blip r:embed="rId4" cstate="print"/>
          <a:srcRect l="13637" t="24706" r="12122" b="11978"/>
          <a:stretch>
            <a:fillRect/>
          </a:stretch>
        </p:blipFill>
        <p:spPr bwMode="auto">
          <a:xfrm>
            <a:off x="6172200" y="1981200"/>
            <a:ext cx="4191000" cy="31638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Reconstruction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ED7EF7F-A8EB-4559-B8A1-9B532D5ABF1B}"/>
              </a:ext>
            </a:extLst>
          </p:cNvPr>
          <p:cNvGrpSpPr/>
          <p:nvPr/>
        </p:nvGrpSpPr>
        <p:grpSpPr>
          <a:xfrm>
            <a:off x="1297348" y="1829067"/>
            <a:ext cx="9446852" cy="3643798"/>
            <a:chOff x="3010874" y="2590800"/>
            <a:chExt cx="5991932" cy="2311182"/>
          </a:xfrm>
        </p:grpSpPr>
        <p:pic>
          <p:nvPicPr>
            <p:cNvPr id="4" name="Picture 4" descr="C:\snavely\thesis\Colosseum1.png"/>
            <p:cNvPicPr>
              <a:picLocks noChangeAspect="1" noChangeArrowheads="1"/>
            </p:cNvPicPr>
            <p:nvPr/>
          </p:nvPicPr>
          <p:blipFill>
            <a:blip r:embed="rId2" cstate="print"/>
            <a:srcRect l="2835" r="2835"/>
            <a:stretch>
              <a:fillRect/>
            </a:stretch>
          </p:blipFill>
          <p:spPr bwMode="auto">
            <a:xfrm>
              <a:off x="6324601" y="2590800"/>
              <a:ext cx="2629873" cy="19812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010874" y="2590801"/>
              <a:ext cx="2743200" cy="2008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Right Arrow 5"/>
            <p:cNvSpPr/>
            <p:nvPr/>
          </p:nvSpPr>
          <p:spPr>
            <a:xfrm>
              <a:off x="5830274" y="3352800"/>
              <a:ext cx="367373" cy="304800"/>
            </a:xfrm>
            <a:prstGeom prst="rightArrow">
              <a:avLst>
                <a:gd name="adj1" fmla="val 50000"/>
                <a:gd name="adj2" fmla="val 79508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85844" y="4648201"/>
              <a:ext cx="2145831" cy="2537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Internet Photos (“</a:t>
              </a:r>
              <a:r>
                <a:rPr lang="en-US" sz="2000" dirty="0" err="1"/>
                <a:t>Colosseum</a:t>
              </a:r>
              <a:r>
                <a:rPr lang="en-US" sz="2000" dirty="0"/>
                <a:t>”)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315340" y="4648201"/>
              <a:ext cx="2687466" cy="2537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Reconstructed 3D cameras and points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D5842-209F-3D87-893F-B51AC0A81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WildGaussians</a:t>
            </a:r>
            <a:r>
              <a:rPr lang="en-US" dirty="0"/>
              <a:t>: first reconstruct cameras using feature matching, then create dense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2E3AB6-CE66-C6A2-5AFF-0DB5542B7159}"/>
              </a:ext>
            </a:extLst>
          </p:cNvPr>
          <p:cNvSpPr txBox="1"/>
          <p:nvPr/>
        </p:nvSpPr>
        <p:spPr>
          <a:xfrm>
            <a:off x="2194106" y="6211669"/>
            <a:ext cx="7774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Myriad Pro" panose="020B0503030403020204" pitchFamily="34" charset="0"/>
              </a:rPr>
              <a:t>Kulhanek</a:t>
            </a:r>
            <a:r>
              <a:rPr lang="en-US" dirty="0">
                <a:solidFill>
                  <a:schemeClr val="tx1"/>
                </a:solidFill>
                <a:latin typeface="Myriad Pro" panose="020B0503030403020204" pitchFamily="34" charset="0"/>
              </a:rPr>
              <a:t>, </a:t>
            </a:r>
            <a:r>
              <a:rPr lang="en-US" i="1" dirty="0">
                <a:solidFill>
                  <a:schemeClr val="tx1"/>
                </a:solidFill>
                <a:latin typeface="Myriad Pro" panose="020B0503030403020204" pitchFamily="34" charset="0"/>
              </a:rPr>
              <a:t>et al</a:t>
            </a:r>
            <a:r>
              <a:rPr lang="en-US" dirty="0">
                <a:latin typeface="Myriad Pro" panose="020B0503030403020204" pitchFamily="34" charset="0"/>
              </a:rPr>
              <a:t>. </a:t>
            </a:r>
            <a:r>
              <a:rPr lang="en-US" dirty="0" err="1">
                <a:latin typeface="Myriad Pro" panose="020B0503030403020204" pitchFamily="34" charset="0"/>
              </a:rPr>
              <a:t>WildGaussians</a:t>
            </a:r>
            <a:r>
              <a:rPr lang="en-US" dirty="0">
                <a:latin typeface="Myriad Pro" panose="020B0503030403020204" pitchFamily="34" charset="0"/>
              </a:rPr>
              <a:t>. </a:t>
            </a:r>
            <a:r>
              <a:rPr lang="en-US" dirty="0" err="1">
                <a:latin typeface="Myriad Pro" panose="020B0503030403020204" pitchFamily="34" charset="0"/>
              </a:rPr>
              <a:t>NeurIPS</a:t>
            </a:r>
            <a:r>
              <a:rPr lang="en-US" dirty="0">
                <a:latin typeface="Myriad Pro" panose="020B0503030403020204" pitchFamily="34" charset="0"/>
              </a:rPr>
              <a:t> 2024</a:t>
            </a:r>
            <a:endParaRPr lang="en-US" i="1" dirty="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pic>
        <p:nvPicPr>
          <p:cNvPr id="5" name="wg-trevi-1">
            <a:hlinkClick r:id="" action="ppaction://media"/>
            <a:extLst>
              <a:ext uri="{FF2B5EF4-FFF2-40B4-BE49-F238E27FC236}">
                <a16:creationId xmlns:a16="http://schemas.microsoft.com/office/drawing/2014/main" id="{751632D4-958A-4C10-810D-72617DA8EFB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28669" y="1502147"/>
            <a:ext cx="8134662" cy="457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617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9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6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  <p:bldLst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703D9-21A6-4DCD-9F15-0A0220564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Augmented Reality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292E2-F586-4D14-BBB1-C9BC58206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32450" name="Picture 2" descr="Image result for lego store augmented reality">
            <a:extLst>
              <a:ext uri="{FF2B5EF4-FFF2-40B4-BE49-F238E27FC236}">
                <a16:creationId xmlns:a16="http://schemas.microsoft.com/office/drawing/2014/main" id="{9986514B-741F-4CE2-9844-D688AF388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1450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11823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E067-AF27-D6BC-518F-76940E893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Learned feature matchers</a:t>
            </a:r>
          </a:p>
        </p:txBody>
      </p:sp>
      <p:pic>
        <p:nvPicPr>
          <p:cNvPr id="4" name="loftr-homepage-demo">
            <a:hlinkClick r:id="" action="ppaction://media"/>
            <a:extLst>
              <a:ext uri="{FF2B5EF4-FFF2-40B4-BE49-F238E27FC236}">
                <a16:creationId xmlns:a16="http://schemas.microsoft.com/office/drawing/2014/main" id="{7823E980-3FFA-0A18-F08B-80876E30783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4885" y="1600200"/>
            <a:ext cx="9882232" cy="3657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739327-9CAB-2417-42C1-6696A0AA7741}"/>
              </a:ext>
            </a:extLst>
          </p:cNvPr>
          <p:cNvSpPr txBox="1"/>
          <p:nvPr/>
        </p:nvSpPr>
        <p:spPr>
          <a:xfrm>
            <a:off x="913074" y="5684375"/>
            <a:ext cx="102121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 err="1">
                <a:effectLst/>
                <a:latin typeface="+mj-lt"/>
              </a:rPr>
              <a:t>LoFTR</a:t>
            </a:r>
            <a:r>
              <a:rPr lang="en-US" sz="2400" b="0" i="0" dirty="0">
                <a:effectLst/>
                <a:latin typeface="+mj-lt"/>
              </a:rPr>
              <a:t>: Detector-Free Local Feature Matching with Transformers</a:t>
            </a:r>
          </a:p>
          <a:p>
            <a:pPr algn="ctr"/>
            <a:r>
              <a:rPr lang="en-US" sz="2400" b="0" i="0" dirty="0">
                <a:effectLst/>
                <a:latin typeface="+mj-lt"/>
              </a:rPr>
              <a:t>CVPR 2021 [Sun, Shen, Wang, </a:t>
            </a:r>
            <a:r>
              <a:rPr lang="en-US" sz="2400" b="0" i="1" dirty="0">
                <a:effectLst/>
                <a:latin typeface="+mj-lt"/>
              </a:rPr>
              <a:t>et al</a:t>
            </a:r>
            <a:r>
              <a:rPr lang="en-US" sz="2400" b="0" i="0" dirty="0">
                <a:effectLst/>
                <a:latin typeface="+mj-lt"/>
              </a:rPr>
              <a:t>.]</a:t>
            </a:r>
          </a:p>
        </p:txBody>
      </p:sp>
    </p:spTree>
    <p:extLst>
      <p:ext uri="{BB962C8B-B14F-4D97-AF65-F5344CB8AC3E}">
        <p14:creationId xmlns:p14="http://schemas.microsoft.com/office/powerpoint/2010/main" val="2123613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51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CCE8F-A63E-7C5B-9E8A-FDE90F597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Learned feature matchers</a:t>
            </a:r>
          </a:p>
        </p:txBody>
      </p:sp>
      <p:pic>
        <p:nvPicPr>
          <p:cNvPr id="4" name="sacre_coeur">
            <a:hlinkClick r:id="" action="ppaction://media"/>
            <a:extLst>
              <a:ext uri="{FF2B5EF4-FFF2-40B4-BE49-F238E27FC236}">
                <a16:creationId xmlns:a16="http://schemas.microsoft.com/office/drawing/2014/main" id="{78348F8B-C107-F019-3F3B-E75ECCC7F73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32816" y="1828014"/>
            <a:ext cx="4673600" cy="3505200"/>
          </a:xfrm>
          <a:prstGeom prst="rect">
            <a:avLst/>
          </a:prstGeom>
        </p:spPr>
      </p:pic>
      <p:pic>
        <p:nvPicPr>
          <p:cNvPr id="5" name="toronto">
            <a:hlinkClick r:id="" action="ppaction://media"/>
            <a:extLst>
              <a:ext uri="{FF2B5EF4-FFF2-40B4-BE49-F238E27FC236}">
                <a16:creationId xmlns:a16="http://schemas.microsoft.com/office/drawing/2014/main" id="{07029AA9-9378-3E29-788D-D58AFD9AE0CC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273800" y="1828800"/>
            <a:ext cx="4673600" cy="3505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5DB492-F92F-0A84-5221-A58E27275CB6}"/>
              </a:ext>
            </a:extLst>
          </p:cNvPr>
          <p:cNvSpPr txBox="1"/>
          <p:nvPr/>
        </p:nvSpPr>
        <p:spPr>
          <a:xfrm>
            <a:off x="2859202" y="586740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 err="1">
                <a:solidFill>
                  <a:srgbClr val="363636"/>
                </a:solidFill>
                <a:effectLst/>
                <a:latin typeface="+mj-lt"/>
              </a:rPr>
              <a:t>RoMa</a:t>
            </a:r>
            <a:r>
              <a:rPr lang="en-US" b="1" i="0" dirty="0">
                <a:solidFill>
                  <a:srgbClr val="363636"/>
                </a:solidFill>
                <a:effectLst/>
                <a:latin typeface="+mj-lt"/>
              </a:rPr>
              <a:t>: Robust Dense Feature Matching, CVPR 2024</a:t>
            </a:r>
          </a:p>
        </p:txBody>
      </p:sp>
    </p:spTree>
    <p:extLst>
      <p:ext uri="{BB962C8B-B14F-4D97-AF65-F5344CB8AC3E}">
        <p14:creationId xmlns:p14="http://schemas.microsoft.com/office/powerpoint/2010/main" val="3412684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66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0.1.2417"/>
  <p:tag name="SLIDO_PRESENTATION_ID" val="00000000-0000-0000-0000-000000000000"/>
  <p:tag name="SLIDO_EVENT_UUID" val="11402a25-a0ab-4a07-9970-0a35ed050848"/>
  <p:tag name="SLIDO_EVENT_SECTION_UUID" val="1db75d6f-a743-49c6-ac40-efaba8adac4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&#10;H&#10;\]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9"/>
  <p:tag name="PICTUREFILESIZE" val="39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yriad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16093</TotalTime>
  <Words>2081</Words>
  <Application>Microsoft Office PowerPoint</Application>
  <PresentationFormat>宽屏</PresentationFormat>
  <Paragraphs>382</Paragraphs>
  <Slides>46</Slides>
  <Notes>7</Notes>
  <HiddenSlides>1</HiddenSlides>
  <MMClips>4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46</vt:i4>
      </vt:variant>
    </vt:vector>
  </HeadingPairs>
  <TitlesOfParts>
    <vt:vector size="56" baseType="lpstr">
      <vt:lpstr>Myriad Pro</vt:lpstr>
      <vt:lpstr>Calibri</vt:lpstr>
      <vt:lpstr>Symbol</vt:lpstr>
      <vt:lpstr>Verdana</vt:lpstr>
      <vt:lpstr>Arial</vt:lpstr>
      <vt:lpstr>Palatino Linotype</vt:lpstr>
      <vt:lpstr>Times New Roman</vt:lpstr>
      <vt:lpstr>Office Theme</vt:lpstr>
      <vt:lpstr>Equation</vt:lpstr>
      <vt:lpstr>CorelPhotoPaint.Image.8</vt:lpstr>
      <vt:lpstr>Feature descriptors and feature matching</vt:lpstr>
      <vt:lpstr>Local features: main components</vt:lpstr>
      <vt:lpstr>Review of the last lecture</vt:lpstr>
      <vt:lpstr>Review of the last lecture</vt:lpstr>
      <vt:lpstr>Feature descriptors</vt:lpstr>
      <vt:lpstr>PowerPoint 演示文稿</vt:lpstr>
      <vt:lpstr>Invariance vs. discriminability</vt:lpstr>
      <vt:lpstr>Image transformations revisited</vt:lpstr>
      <vt:lpstr>Invariance</vt:lpstr>
      <vt:lpstr>Invariant descriptors</vt:lpstr>
      <vt:lpstr>How to achieve invariance</vt:lpstr>
      <vt:lpstr>Rotation invariance for feature descriptors</vt:lpstr>
      <vt:lpstr>Multiscale Oriented PatcheS descriptor</vt:lpstr>
      <vt:lpstr>Detections at multiple scales</vt:lpstr>
      <vt:lpstr>Scale Invariant Feature Transform</vt:lpstr>
      <vt:lpstr>SIFT descriptor</vt:lpstr>
      <vt:lpstr>Properties of SIFT</vt:lpstr>
      <vt:lpstr>SIFT Example</vt:lpstr>
      <vt:lpstr>Other descriptors</vt:lpstr>
      <vt:lpstr>Other descriptors</vt:lpstr>
      <vt:lpstr>Other descriptors</vt:lpstr>
      <vt:lpstr>Questions?</vt:lpstr>
      <vt:lpstr>Summary</vt:lpstr>
      <vt:lpstr>Which features match?</vt:lpstr>
      <vt:lpstr>Feature matching</vt:lpstr>
      <vt:lpstr>Feature distance</vt:lpstr>
      <vt:lpstr>PowerPoint 演示文稿</vt:lpstr>
      <vt:lpstr>PowerPoint 演示文稿</vt:lpstr>
      <vt:lpstr>Feature matching example</vt:lpstr>
      <vt:lpstr>Feature matching example</vt:lpstr>
      <vt:lpstr>Evaluating the results</vt:lpstr>
      <vt:lpstr>True/false positives</vt:lpstr>
      <vt:lpstr>True/false positives</vt:lpstr>
      <vt:lpstr>True/false positives</vt:lpstr>
      <vt:lpstr>Example</vt:lpstr>
      <vt:lpstr>Evaluating the results</vt:lpstr>
      <vt:lpstr>PowerPoint 演示文稿</vt:lpstr>
      <vt:lpstr>ROC curves – summary</vt:lpstr>
      <vt:lpstr>Lots of applications</vt:lpstr>
      <vt:lpstr>Object recognition (David Lowe)</vt:lpstr>
      <vt:lpstr>3D Reconstruction</vt:lpstr>
      <vt:lpstr>WildGaussians: first reconstruct cameras using feature matching, then create dense model</vt:lpstr>
      <vt:lpstr>Augmented Reality</vt:lpstr>
      <vt:lpstr>Learned feature matchers</vt:lpstr>
      <vt:lpstr>Learned feature matchers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6: Feature descriptors and matching</dc:title>
  <dc:creator>Noah Snavely</dc:creator>
  <cp:lastModifiedBy>Zhiyu ZHU 朱智宇</cp:lastModifiedBy>
  <cp:revision>527</cp:revision>
  <dcterms:created xsi:type="dcterms:W3CDTF">2009-08-25T02:47:59Z</dcterms:created>
  <dcterms:modified xsi:type="dcterms:W3CDTF">2026-03-03T03:46:11Z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1.0.1.2417</vt:lpwstr>
  </property>
</Properties>
</file>