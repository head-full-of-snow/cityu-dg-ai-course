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3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4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5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8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notesSlides/notesSlide9.xml" ContentType="application/vnd.openxmlformats-officedocument.presentationml.notesSlide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notesSlides/notesSlide10.xml" ContentType="application/vnd.openxmlformats-officedocument.presentationml.notesSlide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notesSlides/notesSlide11.xml" ContentType="application/vnd.openxmlformats-officedocument.presentationml.notesSlide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notesSlides/notesSlide12.xml" ContentType="application/vnd.openxmlformats-officedocument.presentationml.notesSlide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3"/>
  </p:notesMasterIdLst>
  <p:sldIdLst>
    <p:sldId id="510" r:id="rId2"/>
    <p:sldId id="566" r:id="rId3"/>
    <p:sldId id="512" r:id="rId4"/>
    <p:sldId id="513" r:id="rId5"/>
    <p:sldId id="514" r:id="rId6"/>
    <p:sldId id="515" r:id="rId7"/>
    <p:sldId id="516" r:id="rId8"/>
    <p:sldId id="517" r:id="rId9"/>
    <p:sldId id="519" r:id="rId10"/>
    <p:sldId id="520" r:id="rId11"/>
    <p:sldId id="567" r:id="rId12"/>
    <p:sldId id="522" r:id="rId13"/>
    <p:sldId id="560" r:id="rId14"/>
    <p:sldId id="523" r:id="rId15"/>
    <p:sldId id="563" r:id="rId16"/>
    <p:sldId id="564" r:id="rId17"/>
    <p:sldId id="524" r:id="rId18"/>
    <p:sldId id="525" r:id="rId19"/>
    <p:sldId id="526" r:id="rId20"/>
    <p:sldId id="527" r:id="rId21"/>
    <p:sldId id="528" r:id="rId22"/>
    <p:sldId id="529" r:id="rId23"/>
    <p:sldId id="530" r:id="rId24"/>
    <p:sldId id="531" r:id="rId25"/>
    <p:sldId id="533" r:id="rId26"/>
    <p:sldId id="534" r:id="rId27"/>
    <p:sldId id="535" r:id="rId28"/>
    <p:sldId id="568" r:id="rId29"/>
    <p:sldId id="537" r:id="rId30"/>
    <p:sldId id="538" r:id="rId31"/>
    <p:sldId id="539" r:id="rId32"/>
    <p:sldId id="540" r:id="rId33"/>
    <p:sldId id="549" r:id="rId34"/>
    <p:sldId id="541" r:id="rId35"/>
    <p:sldId id="550" r:id="rId36"/>
    <p:sldId id="551" r:id="rId37"/>
    <p:sldId id="552" r:id="rId38"/>
    <p:sldId id="553" r:id="rId39"/>
    <p:sldId id="554" r:id="rId40"/>
    <p:sldId id="555" r:id="rId41"/>
    <p:sldId id="556" r:id="rId42"/>
  </p:sldIdLst>
  <p:sldSz cx="12192000" cy="6858000"/>
  <p:notesSz cx="7010400" cy="9296400"/>
  <p:embeddedFontLst>
    <p:embeddedFont>
      <p:font typeface="Myriad Pro" panose="020B0503030403020204" charset="0"/>
      <p:regular r:id="rId44"/>
      <p:bold r:id="rId45"/>
      <p:italic r:id="rId46"/>
      <p:boldItalic r:id="rId47"/>
    </p:embeddedFont>
    <p:embeddedFont>
      <p:font typeface="Verdana" panose="020B0604030504040204" pitchFamily="34" charset="0"/>
      <p:regular r:id="rId48"/>
      <p:bold r:id="rId49"/>
      <p:italic r:id="rId50"/>
      <p:boldItalic r:id="rId51"/>
    </p:embeddedFont>
  </p:embeddedFontLst>
  <p:custDataLst>
    <p:tags r:id="rId5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93" autoAdjust="0"/>
    <p:restoredTop sz="94587" autoAdjust="0"/>
  </p:normalViewPr>
  <p:slideViewPr>
    <p:cSldViewPr snapToGrid="0">
      <p:cViewPr>
        <p:scale>
          <a:sx n="125" d="100"/>
          <a:sy n="125" d="100"/>
        </p:scale>
        <p:origin x="1242" y="6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492CD9C-0936-4CB5-8F47-4F37A3C1BD80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A8A4206-02EB-4F55-B83C-8E908C558B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986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7844D-3B0D-480D-26C6-54EEC7C68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8C1A9-D214-6495-8A32-8F27209217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E6562F-C232-628C-4DEF-716872EE58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538F1-D6A0-B0D9-8FB1-B944AA2F7F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1162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9DF41F-8483-408D-BE6C-C8117F745841}" type="slidenum">
              <a:rPr lang="en-US"/>
              <a:pPr/>
              <a:t>7</a:t>
            </a:fld>
            <a:endParaRPr lang="en-US"/>
          </a:p>
        </p:txBody>
      </p:sp>
      <p:sp>
        <p:nvSpPr>
          <p:cNvPr id="491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491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8873A7-87E4-420C-96F6-58DFB1FC7D6C}" type="slidenum">
              <a:rPr lang="en-US"/>
              <a:pPr/>
              <a:t>8</a:t>
            </a:fld>
            <a:endParaRPr lang="en-US"/>
          </a:p>
        </p:txBody>
      </p:sp>
      <p:sp>
        <p:nvSpPr>
          <p:cNvPr id="492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492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4174E2-203A-4600-9649-6C808475F23D}" type="slidenum">
              <a:rPr lang="en-US"/>
              <a:pPr/>
              <a:t>9</a:t>
            </a:fld>
            <a:endParaRPr lang="en-US"/>
          </a:p>
        </p:txBody>
      </p:sp>
      <p:sp>
        <p:nvSpPr>
          <p:cNvPr id="493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493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16A226C-DAA6-45F8-9400-DCE1DD49156F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848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086F30-5E83-4849-BF0D-B0D4FC2EC547}" type="slidenum">
              <a:rPr lang="en-US"/>
              <a:pPr/>
              <a:t>35</a:t>
            </a:fld>
            <a:endParaRPr lang="en-US"/>
          </a:p>
        </p:txBody>
      </p:sp>
      <p:sp>
        <p:nvSpPr>
          <p:cNvPr id="495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495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966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3841FB-E06A-4D96-8961-B3D6010EB212}" type="slidenum">
              <a:rPr lang="en-US"/>
              <a:pPr/>
              <a:t>36</a:t>
            </a:fld>
            <a:endParaRPr lang="en-US"/>
          </a:p>
        </p:txBody>
      </p:sp>
      <p:sp>
        <p:nvSpPr>
          <p:cNvPr id="496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496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368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E63219-480C-49BE-A056-623C42F0679C}" type="slidenum">
              <a:rPr lang="en-US"/>
              <a:pPr/>
              <a:t>37</a:t>
            </a:fld>
            <a:endParaRPr lang="en-US"/>
          </a:p>
        </p:txBody>
      </p:sp>
      <p:sp>
        <p:nvSpPr>
          <p:cNvPr id="497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497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123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643DC-E903-4A92-9CBE-2A336786E449}" type="slidenum">
              <a:rPr lang="en-US"/>
              <a:pPr/>
              <a:t>38</a:t>
            </a:fld>
            <a:endParaRPr lang="en-US"/>
          </a:p>
        </p:txBody>
      </p:sp>
      <p:sp>
        <p:nvSpPr>
          <p:cNvPr id="498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498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5522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37FD42-65E1-4693-B87B-93E2F143EBFB}" type="slidenum">
              <a:rPr lang="en-US"/>
              <a:pPr/>
              <a:t>39</a:t>
            </a:fld>
            <a:endParaRPr lang="en-US"/>
          </a:p>
        </p:txBody>
      </p:sp>
      <p:sp>
        <p:nvSpPr>
          <p:cNvPr id="499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499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9924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EB678C-E7DE-407E-9C53-D0713641D6B0}" type="slidenum">
              <a:rPr lang="en-US"/>
              <a:pPr/>
              <a:t>40</a:t>
            </a:fld>
            <a:endParaRPr lang="en-US"/>
          </a:p>
        </p:txBody>
      </p:sp>
      <p:sp>
        <p:nvSpPr>
          <p:cNvPr id="500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500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988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35FC9-4C7C-4839-AD87-B5CD13220982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34" Type="http://schemas.openxmlformats.org/officeDocument/2006/relationships/tags" Target="../tags/tag35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tags" Target="../tags/tag34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29" Type="http://schemas.openxmlformats.org/officeDocument/2006/relationships/tags" Target="../tags/tag30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tags" Target="../tags/tag33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36" Type="http://schemas.openxmlformats.org/officeDocument/2006/relationships/notesSlide" Target="../notesSlides/notesSlide3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tags" Target="../tags/tag32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Relationship Id="rId35" Type="http://schemas.openxmlformats.org/officeDocument/2006/relationships/slideLayout" Target="../slideLayouts/slideLayout2.xml"/><Relationship Id="rId8" Type="http://schemas.openxmlformats.org/officeDocument/2006/relationships/tags" Target="../tags/tag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13" Type="http://schemas.openxmlformats.org/officeDocument/2006/relationships/tags" Target="../tags/tag48.xml"/><Relationship Id="rId18" Type="http://schemas.openxmlformats.org/officeDocument/2006/relationships/tags" Target="../tags/tag53.xml"/><Relationship Id="rId3" Type="http://schemas.openxmlformats.org/officeDocument/2006/relationships/tags" Target="../tags/tag38.xml"/><Relationship Id="rId21" Type="http://schemas.openxmlformats.org/officeDocument/2006/relationships/image" Target="../media/image8.jpeg"/><Relationship Id="rId7" Type="http://schemas.openxmlformats.org/officeDocument/2006/relationships/tags" Target="../tags/tag42.xml"/><Relationship Id="rId12" Type="http://schemas.openxmlformats.org/officeDocument/2006/relationships/tags" Target="../tags/tag47.xml"/><Relationship Id="rId17" Type="http://schemas.openxmlformats.org/officeDocument/2006/relationships/tags" Target="../tags/tag52.xml"/><Relationship Id="rId2" Type="http://schemas.openxmlformats.org/officeDocument/2006/relationships/tags" Target="../tags/tag37.xml"/><Relationship Id="rId16" Type="http://schemas.openxmlformats.org/officeDocument/2006/relationships/tags" Target="../tags/tag51.xml"/><Relationship Id="rId20" Type="http://schemas.openxmlformats.org/officeDocument/2006/relationships/notesSlide" Target="../notesSlides/notesSlide4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tags" Target="../tags/tag46.xml"/><Relationship Id="rId5" Type="http://schemas.openxmlformats.org/officeDocument/2006/relationships/tags" Target="../tags/tag40.xml"/><Relationship Id="rId15" Type="http://schemas.openxmlformats.org/officeDocument/2006/relationships/tags" Target="../tags/tag50.xml"/><Relationship Id="rId10" Type="http://schemas.openxmlformats.org/officeDocument/2006/relationships/tags" Target="../tags/tag45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39.xml"/><Relationship Id="rId9" Type="http://schemas.openxmlformats.org/officeDocument/2006/relationships/tags" Target="../tags/tag44.xml"/><Relationship Id="rId14" Type="http://schemas.openxmlformats.org/officeDocument/2006/relationships/tags" Target="../tags/tag4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image" Target="../media/image9.png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image" Target="../media/image8.jpeg"/><Relationship Id="rId5" Type="http://schemas.openxmlformats.org/officeDocument/2006/relationships/tags" Target="../tags/tag58.xml"/><Relationship Id="rId10" Type="http://schemas.openxmlformats.org/officeDocument/2006/relationships/notesSlide" Target="../notesSlides/notesSlide5.xml"/><Relationship Id="rId4" Type="http://schemas.openxmlformats.org/officeDocument/2006/relationships/tags" Target="../tags/tag57.xml"/><Relationship Id="rId9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image" Target="../media/image24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6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3" Type="http://schemas.openxmlformats.org/officeDocument/2006/relationships/tags" Target="../tags/tag68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10" Type="http://schemas.openxmlformats.org/officeDocument/2006/relationships/image" Target="../media/image28.png"/><Relationship Id="rId4" Type="http://schemas.openxmlformats.org/officeDocument/2006/relationships/tags" Target="../tags/tag69.xml"/><Relationship Id="rId9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32.wmf"/><Relationship Id="rId7" Type="http://schemas.openxmlformats.org/officeDocument/2006/relationships/image" Target="../media/image3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35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oleObject" Target="../embeddings/oleObject8.bin"/><Relationship Id="rId7" Type="http://schemas.openxmlformats.org/officeDocument/2006/relationships/image" Target="../media/image48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oleObject" Target="../embeddings/oleObject9.bin"/><Relationship Id="rId4" Type="http://schemas.openxmlformats.org/officeDocument/2006/relationships/image" Target="../media/image46.png"/><Relationship Id="rId9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13" Type="http://schemas.openxmlformats.org/officeDocument/2006/relationships/tags" Target="../tags/tag85.xml"/><Relationship Id="rId18" Type="http://schemas.openxmlformats.org/officeDocument/2006/relationships/tags" Target="../tags/tag90.xml"/><Relationship Id="rId3" Type="http://schemas.openxmlformats.org/officeDocument/2006/relationships/tags" Target="../tags/tag75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79.xml"/><Relationship Id="rId12" Type="http://schemas.openxmlformats.org/officeDocument/2006/relationships/tags" Target="../tags/tag84.xml"/><Relationship Id="rId17" Type="http://schemas.openxmlformats.org/officeDocument/2006/relationships/tags" Target="../tags/tag89.xml"/><Relationship Id="rId2" Type="http://schemas.openxmlformats.org/officeDocument/2006/relationships/tags" Target="../tags/tag74.xml"/><Relationship Id="rId16" Type="http://schemas.openxmlformats.org/officeDocument/2006/relationships/tags" Target="../tags/tag88.xml"/><Relationship Id="rId20" Type="http://schemas.openxmlformats.org/officeDocument/2006/relationships/tags" Target="../tags/tag92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tags" Target="../tags/tag83.xml"/><Relationship Id="rId24" Type="http://schemas.openxmlformats.org/officeDocument/2006/relationships/image" Target="../media/image9.png"/><Relationship Id="rId5" Type="http://schemas.openxmlformats.org/officeDocument/2006/relationships/tags" Target="../tags/tag77.xml"/><Relationship Id="rId15" Type="http://schemas.openxmlformats.org/officeDocument/2006/relationships/tags" Target="../tags/tag87.xml"/><Relationship Id="rId23" Type="http://schemas.openxmlformats.org/officeDocument/2006/relationships/image" Target="../media/image8.jpeg"/><Relationship Id="rId10" Type="http://schemas.openxmlformats.org/officeDocument/2006/relationships/tags" Target="../tags/tag82.xml"/><Relationship Id="rId19" Type="http://schemas.openxmlformats.org/officeDocument/2006/relationships/tags" Target="../tags/tag91.xml"/><Relationship Id="rId4" Type="http://schemas.openxmlformats.org/officeDocument/2006/relationships/tags" Target="../tags/tag76.xml"/><Relationship Id="rId9" Type="http://schemas.openxmlformats.org/officeDocument/2006/relationships/tags" Target="../tags/tag81.xml"/><Relationship Id="rId14" Type="http://schemas.openxmlformats.org/officeDocument/2006/relationships/tags" Target="../tags/tag86.xml"/><Relationship Id="rId22" Type="http://schemas.openxmlformats.org/officeDocument/2006/relationships/notesSlide" Target="../notesSlides/notesSlide8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100.xml"/><Relationship Id="rId13" Type="http://schemas.openxmlformats.org/officeDocument/2006/relationships/tags" Target="../tags/tag105.xml"/><Relationship Id="rId18" Type="http://schemas.openxmlformats.org/officeDocument/2006/relationships/tags" Target="../tags/tag110.xml"/><Relationship Id="rId3" Type="http://schemas.openxmlformats.org/officeDocument/2006/relationships/tags" Target="../tags/tag95.xml"/><Relationship Id="rId21" Type="http://schemas.openxmlformats.org/officeDocument/2006/relationships/tags" Target="../tags/tag113.xml"/><Relationship Id="rId7" Type="http://schemas.openxmlformats.org/officeDocument/2006/relationships/tags" Target="../tags/tag99.xml"/><Relationship Id="rId12" Type="http://schemas.openxmlformats.org/officeDocument/2006/relationships/tags" Target="../tags/tag104.xml"/><Relationship Id="rId17" Type="http://schemas.openxmlformats.org/officeDocument/2006/relationships/tags" Target="../tags/tag109.xml"/><Relationship Id="rId25" Type="http://schemas.openxmlformats.org/officeDocument/2006/relationships/image" Target="../media/image9.png"/><Relationship Id="rId2" Type="http://schemas.openxmlformats.org/officeDocument/2006/relationships/tags" Target="../tags/tag94.xml"/><Relationship Id="rId16" Type="http://schemas.openxmlformats.org/officeDocument/2006/relationships/tags" Target="../tags/tag108.xml"/><Relationship Id="rId20" Type="http://schemas.openxmlformats.org/officeDocument/2006/relationships/tags" Target="../tags/tag112.xml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11" Type="http://schemas.openxmlformats.org/officeDocument/2006/relationships/tags" Target="../tags/tag103.xml"/><Relationship Id="rId24" Type="http://schemas.openxmlformats.org/officeDocument/2006/relationships/image" Target="../media/image8.jpeg"/><Relationship Id="rId5" Type="http://schemas.openxmlformats.org/officeDocument/2006/relationships/tags" Target="../tags/tag97.xml"/><Relationship Id="rId15" Type="http://schemas.openxmlformats.org/officeDocument/2006/relationships/tags" Target="../tags/tag107.xml"/><Relationship Id="rId23" Type="http://schemas.openxmlformats.org/officeDocument/2006/relationships/notesSlide" Target="../notesSlides/notesSlide9.xml"/><Relationship Id="rId10" Type="http://schemas.openxmlformats.org/officeDocument/2006/relationships/tags" Target="../tags/tag102.xml"/><Relationship Id="rId19" Type="http://schemas.openxmlformats.org/officeDocument/2006/relationships/tags" Target="../tags/tag111.xml"/><Relationship Id="rId4" Type="http://schemas.openxmlformats.org/officeDocument/2006/relationships/tags" Target="../tags/tag96.xml"/><Relationship Id="rId9" Type="http://schemas.openxmlformats.org/officeDocument/2006/relationships/tags" Target="../tags/tag101.xml"/><Relationship Id="rId14" Type="http://schemas.openxmlformats.org/officeDocument/2006/relationships/tags" Target="../tags/tag106.xml"/><Relationship Id="rId22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121.xml"/><Relationship Id="rId13" Type="http://schemas.openxmlformats.org/officeDocument/2006/relationships/tags" Target="../tags/tag126.xml"/><Relationship Id="rId18" Type="http://schemas.openxmlformats.org/officeDocument/2006/relationships/tags" Target="../tags/tag131.xml"/><Relationship Id="rId26" Type="http://schemas.openxmlformats.org/officeDocument/2006/relationships/tags" Target="../tags/tag139.xml"/><Relationship Id="rId3" Type="http://schemas.openxmlformats.org/officeDocument/2006/relationships/tags" Target="../tags/tag116.xml"/><Relationship Id="rId21" Type="http://schemas.openxmlformats.org/officeDocument/2006/relationships/tags" Target="../tags/tag134.xml"/><Relationship Id="rId7" Type="http://schemas.openxmlformats.org/officeDocument/2006/relationships/tags" Target="../tags/tag120.xml"/><Relationship Id="rId12" Type="http://schemas.openxmlformats.org/officeDocument/2006/relationships/tags" Target="../tags/tag125.xml"/><Relationship Id="rId17" Type="http://schemas.openxmlformats.org/officeDocument/2006/relationships/tags" Target="../tags/tag130.xml"/><Relationship Id="rId25" Type="http://schemas.openxmlformats.org/officeDocument/2006/relationships/tags" Target="../tags/tag138.xml"/><Relationship Id="rId2" Type="http://schemas.openxmlformats.org/officeDocument/2006/relationships/tags" Target="../tags/tag115.xml"/><Relationship Id="rId16" Type="http://schemas.openxmlformats.org/officeDocument/2006/relationships/tags" Target="../tags/tag129.xml"/><Relationship Id="rId20" Type="http://schemas.openxmlformats.org/officeDocument/2006/relationships/tags" Target="../tags/tag133.xml"/><Relationship Id="rId29" Type="http://schemas.openxmlformats.org/officeDocument/2006/relationships/tags" Target="../tags/tag142.xml"/><Relationship Id="rId1" Type="http://schemas.openxmlformats.org/officeDocument/2006/relationships/tags" Target="../tags/tag114.xml"/><Relationship Id="rId6" Type="http://schemas.openxmlformats.org/officeDocument/2006/relationships/tags" Target="../tags/tag119.xml"/><Relationship Id="rId11" Type="http://schemas.openxmlformats.org/officeDocument/2006/relationships/tags" Target="../tags/tag124.xml"/><Relationship Id="rId24" Type="http://schemas.openxmlformats.org/officeDocument/2006/relationships/tags" Target="../tags/tag137.xml"/><Relationship Id="rId32" Type="http://schemas.openxmlformats.org/officeDocument/2006/relationships/notesSlide" Target="../notesSlides/notesSlide10.xml"/><Relationship Id="rId5" Type="http://schemas.openxmlformats.org/officeDocument/2006/relationships/tags" Target="../tags/tag118.xml"/><Relationship Id="rId15" Type="http://schemas.openxmlformats.org/officeDocument/2006/relationships/tags" Target="../tags/tag128.xml"/><Relationship Id="rId23" Type="http://schemas.openxmlformats.org/officeDocument/2006/relationships/tags" Target="../tags/tag136.xml"/><Relationship Id="rId28" Type="http://schemas.openxmlformats.org/officeDocument/2006/relationships/tags" Target="../tags/tag141.xml"/><Relationship Id="rId10" Type="http://schemas.openxmlformats.org/officeDocument/2006/relationships/tags" Target="../tags/tag123.xml"/><Relationship Id="rId19" Type="http://schemas.openxmlformats.org/officeDocument/2006/relationships/tags" Target="../tags/tag132.xml"/><Relationship Id="rId31" Type="http://schemas.openxmlformats.org/officeDocument/2006/relationships/slideLayout" Target="../slideLayouts/slideLayout2.xml"/><Relationship Id="rId4" Type="http://schemas.openxmlformats.org/officeDocument/2006/relationships/tags" Target="../tags/tag117.xml"/><Relationship Id="rId9" Type="http://schemas.openxmlformats.org/officeDocument/2006/relationships/tags" Target="../tags/tag122.xml"/><Relationship Id="rId14" Type="http://schemas.openxmlformats.org/officeDocument/2006/relationships/tags" Target="../tags/tag127.xml"/><Relationship Id="rId22" Type="http://schemas.openxmlformats.org/officeDocument/2006/relationships/tags" Target="../tags/tag135.xml"/><Relationship Id="rId27" Type="http://schemas.openxmlformats.org/officeDocument/2006/relationships/tags" Target="../tags/tag140.xml"/><Relationship Id="rId30" Type="http://schemas.openxmlformats.org/officeDocument/2006/relationships/tags" Target="../tags/tag143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151.xml"/><Relationship Id="rId13" Type="http://schemas.openxmlformats.org/officeDocument/2006/relationships/tags" Target="../tags/tag156.xml"/><Relationship Id="rId18" Type="http://schemas.openxmlformats.org/officeDocument/2006/relationships/tags" Target="../tags/tag161.xml"/><Relationship Id="rId3" Type="http://schemas.openxmlformats.org/officeDocument/2006/relationships/tags" Target="../tags/tag146.xml"/><Relationship Id="rId21" Type="http://schemas.openxmlformats.org/officeDocument/2006/relationships/tags" Target="../tags/tag164.xml"/><Relationship Id="rId7" Type="http://schemas.openxmlformats.org/officeDocument/2006/relationships/tags" Target="../tags/tag150.xml"/><Relationship Id="rId12" Type="http://schemas.openxmlformats.org/officeDocument/2006/relationships/tags" Target="../tags/tag155.xml"/><Relationship Id="rId17" Type="http://schemas.openxmlformats.org/officeDocument/2006/relationships/tags" Target="../tags/tag160.xml"/><Relationship Id="rId25" Type="http://schemas.openxmlformats.org/officeDocument/2006/relationships/image" Target="../media/image9.png"/><Relationship Id="rId2" Type="http://schemas.openxmlformats.org/officeDocument/2006/relationships/tags" Target="../tags/tag145.xml"/><Relationship Id="rId16" Type="http://schemas.openxmlformats.org/officeDocument/2006/relationships/tags" Target="../tags/tag159.xml"/><Relationship Id="rId20" Type="http://schemas.openxmlformats.org/officeDocument/2006/relationships/tags" Target="../tags/tag163.xml"/><Relationship Id="rId1" Type="http://schemas.openxmlformats.org/officeDocument/2006/relationships/tags" Target="../tags/tag144.xml"/><Relationship Id="rId6" Type="http://schemas.openxmlformats.org/officeDocument/2006/relationships/tags" Target="../tags/tag149.xml"/><Relationship Id="rId11" Type="http://schemas.openxmlformats.org/officeDocument/2006/relationships/tags" Target="../tags/tag154.xml"/><Relationship Id="rId24" Type="http://schemas.openxmlformats.org/officeDocument/2006/relationships/image" Target="../media/image8.jpeg"/><Relationship Id="rId5" Type="http://schemas.openxmlformats.org/officeDocument/2006/relationships/tags" Target="../tags/tag148.xml"/><Relationship Id="rId15" Type="http://schemas.openxmlformats.org/officeDocument/2006/relationships/tags" Target="../tags/tag158.xml"/><Relationship Id="rId23" Type="http://schemas.openxmlformats.org/officeDocument/2006/relationships/notesSlide" Target="../notesSlides/notesSlide11.xml"/><Relationship Id="rId10" Type="http://schemas.openxmlformats.org/officeDocument/2006/relationships/tags" Target="../tags/tag153.xml"/><Relationship Id="rId19" Type="http://schemas.openxmlformats.org/officeDocument/2006/relationships/tags" Target="../tags/tag162.xml"/><Relationship Id="rId4" Type="http://schemas.openxmlformats.org/officeDocument/2006/relationships/tags" Target="../tags/tag147.xml"/><Relationship Id="rId9" Type="http://schemas.openxmlformats.org/officeDocument/2006/relationships/tags" Target="../tags/tag152.xml"/><Relationship Id="rId14" Type="http://schemas.openxmlformats.org/officeDocument/2006/relationships/tags" Target="../tags/tag157.xml"/><Relationship Id="rId22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172.xml"/><Relationship Id="rId13" Type="http://schemas.openxmlformats.org/officeDocument/2006/relationships/tags" Target="../tags/tag177.xml"/><Relationship Id="rId18" Type="http://schemas.openxmlformats.org/officeDocument/2006/relationships/tags" Target="../tags/tag182.xml"/><Relationship Id="rId26" Type="http://schemas.openxmlformats.org/officeDocument/2006/relationships/tags" Target="../tags/tag190.xml"/><Relationship Id="rId3" Type="http://schemas.openxmlformats.org/officeDocument/2006/relationships/tags" Target="../tags/tag167.xml"/><Relationship Id="rId21" Type="http://schemas.openxmlformats.org/officeDocument/2006/relationships/tags" Target="../tags/tag185.xml"/><Relationship Id="rId7" Type="http://schemas.openxmlformats.org/officeDocument/2006/relationships/tags" Target="../tags/tag171.xml"/><Relationship Id="rId12" Type="http://schemas.openxmlformats.org/officeDocument/2006/relationships/tags" Target="../tags/tag176.xml"/><Relationship Id="rId17" Type="http://schemas.openxmlformats.org/officeDocument/2006/relationships/tags" Target="../tags/tag181.xml"/><Relationship Id="rId25" Type="http://schemas.openxmlformats.org/officeDocument/2006/relationships/tags" Target="../tags/tag189.xml"/><Relationship Id="rId2" Type="http://schemas.openxmlformats.org/officeDocument/2006/relationships/tags" Target="../tags/tag166.xml"/><Relationship Id="rId16" Type="http://schemas.openxmlformats.org/officeDocument/2006/relationships/tags" Target="../tags/tag180.xml"/><Relationship Id="rId20" Type="http://schemas.openxmlformats.org/officeDocument/2006/relationships/tags" Target="../tags/tag184.xml"/><Relationship Id="rId29" Type="http://schemas.openxmlformats.org/officeDocument/2006/relationships/tags" Target="../tags/tag193.xml"/><Relationship Id="rId1" Type="http://schemas.openxmlformats.org/officeDocument/2006/relationships/tags" Target="../tags/tag165.xml"/><Relationship Id="rId6" Type="http://schemas.openxmlformats.org/officeDocument/2006/relationships/tags" Target="../tags/tag170.xml"/><Relationship Id="rId11" Type="http://schemas.openxmlformats.org/officeDocument/2006/relationships/tags" Target="../tags/tag175.xml"/><Relationship Id="rId24" Type="http://schemas.openxmlformats.org/officeDocument/2006/relationships/tags" Target="../tags/tag188.xml"/><Relationship Id="rId32" Type="http://schemas.openxmlformats.org/officeDocument/2006/relationships/notesSlide" Target="../notesSlides/notesSlide12.xml"/><Relationship Id="rId5" Type="http://schemas.openxmlformats.org/officeDocument/2006/relationships/tags" Target="../tags/tag169.xml"/><Relationship Id="rId15" Type="http://schemas.openxmlformats.org/officeDocument/2006/relationships/tags" Target="../tags/tag179.xml"/><Relationship Id="rId23" Type="http://schemas.openxmlformats.org/officeDocument/2006/relationships/tags" Target="../tags/tag187.xml"/><Relationship Id="rId28" Type="http://schemas.openxmlformats.org/officeDocument/2006/relationships/tags" Target="../tags/tag192.xml"/><Relationship Id="rId10" Type="http://schemas.openxmlformats.org/officeDocument/2006/relationships/tags" Target="../tags/tag174.xml"/><Relationship Id="rId19" Type="http://schemas.openxmlformats.org/officeDocument/2006/relationships/tags" Target="../tags/tag183.xml"/><Relationship Id="rId31" Type="http://schemas.openxmlformats.org/officeDocument/2006/relationships/slideLayout" Target="../slideLayouts/slideLayout2.xml"/><Relationship Id="rId4" Type="http://schemas.openxmlformats.org/officeDocument/2006/relationships/tags" Target="../tags/tag168.xml"/><Relationship Id="rId9" Type="http://schemas.openxmlformats.org/officeDocument/2006/relationships/tags" Target="../tags/tag173.xml"/><Relationship Id="rId14" Type="http://schemas.openxmlformats.org/officeDocument/2006/relationships/tags" Target="../tags/tag178.xml"/><Relationship Id="rId22" Type="http://schemas.openxmlformats.org/officeDocument/2006/relationships/tags" Target="../tags/tag186.xml"/><Relationship Id="rId27" Type="http://schemas.openxmlformats.org/officeDocument/2006/relationships/tags" Target="../tags/tag191.xml"/><Relationship Id="rId30" Type="http://schemas.openxmlformats.org/officeDocument/2006/relationships/tags" Target="../tags/tag19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" Type="http://schemas.openxmlformats.org/officeDocument/2006/relationships/tags" Target="../tags/tag195.xml"/><Relationship Id="rId6" Type="http://schemas.openxmlformats.org/officeDocument/2006/relationships/image" Target="../media/image53.png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621" y="519508"/>
            <a:ext cx="10652487" cy="1469571"/>
          </a:xfrm>
        </p:spPr>
        <p:txBody>
          <a:bodyPr>
            <a:normAutofit/>
          </a:bodyPr>
          <a:lstStyle/>
          <a:p>
            <a:pPr algn="l"/>
            <a:r>
              <a:rPr lang="en-US" sz="3600" b="0" dirty="0"/>
              <a:t>Image transformations and image warping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49622" y="-164275"/>
            <a:ext cx="8518228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4400" b="1" dirty="0">
                <a:latin typeface="+mj-lt"/>
                <a:ea typeface="+mj-ea"/>
                <a:cs typeface="+mj-cs"/>
              </a:rPr>
              <a:t>CS5670: Computer Vision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-559081" y="1600200"/>
            <a:ext cx="13310162" cy="4572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101600" dist="762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 cstate="print"/>
          <a:srcRect l="23714" t="51855" r="14572" b="21048"/>
          <a:stretch>
            <a:fillRect/>
          </a:stretch>
        </p:blipFill>
        <p:spPr bwMode="auto">
          <a:xfrm>
            <a:off x="1756095" y="3148777"/>
            <a:ext cx="8679810" cy="2859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CDF3A80-53C6-6C1C-AF1B-0EED3EACEDD7}"/>
              </a:ext>
            </a:extLst>
          </p:cNvPr>
          <p:cNvSpPr txBox="1">
            <a:spLocks/>
          </p:cNvSpPr>
          <p:nvPr/>
        </p:nvSpPr>
        <p:spPr>
          <a:xfrm>
            <a:off x="8129650" y="984663"/>
            <a:ext cx="4876800" cy="92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altLang="zh-CN" sz="3200" dirty="0"/>
              <a:t>Prof. Zhu Zhiyu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C90B8-EF2D-18D8-601D-D1BCA0714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IMG_0105">
            <a:extLst>
              <a:ext uri="{FF2B5EF4-FFF2-40B4-BE49-F238E27FC236}">
                <a16:creationId xmlns:a16="http://schemas.microsoft.com/office/drawing/2014/main" id="{78CA9AAC-6C9C-69A2-83E4-BE00FD87D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91062" y="2096386"/>
            <a:ext cx="3848338" cy="288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5" descr="IMG_0102">
            <a:extLst>
              <a:ext uri="{FF2B5EF4-FFF2-40B4-BE49-F238E27FC236}">
                <a16:creationId xmlns:a16="http://schemas.microsoft.com/office/drawing/2014/main" id="{CD88EA61-2F00-147E-242C-EBB96CDFA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76400" y="2096386"/>
            <a:ext cx="3848338" cy="288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F557A75E-16DC-C747-A724-FE1E82FF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/>
          <a:p>
            <a:r>
              <a:rPr lang="en-US" dirty="0"/>
              <a:t>Image alignment</a:t>
            </a:r>
          </a:p>
        </p:txBody>
      </p:sp>
    </p:spTree>
    <p:extLst>
      <p:ext uri="{BB962C8B-B14F-4D97-AF65-F5344CB8AC3E}">
        <p14:creationId xmlns:p14="http://schemas.microsoft.com/office/powerpoint/2010/main" val="4236370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alignment</a:t>
            </a:r>
          </a:p>
        </p:txBody>
      </p:sp>
      <p:pic>
        <p:nvPicPr>
          <p:cNvPr id="3102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600200"/>
            <a:ext cx="8714826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038600" y="5467290"/>
            <a:ext cx="42649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Why don’t these image line up exactly?</a:t>
            </a:r>
          </a:p>
        </p:txBody>
      </p:sp>
    </p:spTree>
    <p:extLst>
      <p:ext uri="{BB962C8B-B14F-4D97-AF65-F5344CB8AC3E}">
        <p14:creationId xmlns:p14="http://schemas.microsoft.com/office/powerpoint/2010/main" val="3358993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the geometric relationship between these two images?</a:t>
            </a:r>
          </a:p>
        </p:txBody>
      </p:sp>
      <p:pic>
        <p:nvPicPr>
          <p:cNvPr id="311298" name="Picture 2" descr="C:\snavely\matlab\A2P3\search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2362200"/>
            <a:ext cx="4267200" cy="370799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12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3784" y="2538984"/>
            <a:ext cx="2139616" cy="3252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8" name="Group 7"/>
          <p:cNvGrpSpPr/>
          <p:nvPr/>
        </p:nvGrpSpPr>
        <p:grpSpPr>
          <a:xfrm>
            <a:off x="4800600" y="3377626"/>
            <a:ext cx="685800" cy="1041975"/>
            <a:chOff x="3276600" y="3377625"/>
            <a:chExt cx="685800" cy="1041975"/>
          </a:xfrm>
        </p:grpSpPr>
        <p:sp>
          <p:nvSpPr>
            <p:cNvPr id="6" name="Right Arrow 5"/>
            <p:cNvSpPr/>
            <p:nvPr/>
          </p:nvSpPr>
          <p:spPr>
            <a:xfrm>
              <a:off x="3276600" y="3810000"/>
              <a:ext cx="685800" cy="609600"/>
            </a:xfrm>
            <a:prstGeom prst="rightArrow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352800" y="3377625"/>
              <a:ext cx="37542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?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349496" y="6153090"/>
            <a:ext cx="77089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Answer: Similarity transformation </a:t>
            </a:r>
            <a:r>
              <a:rPr lang="en-US" sz="2000" dirty="0"/>
              <a:t>(translation, rotation, uniform scale)</a:t>
            </a:r>
          </a:p>
        </p:txBody>
      </p:sp>
    </p:spTree>
    <p:extLst>
      <p:ext uri="{BB962C8B-B14F-4D97-AF65-F5344CB8AC3E}">
        <p14:creationId xmlns:p14="http://schemas.microsoft.com/office/powerpoint/2010/main" val="2736737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IMG_010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91062" y="2590800"/>
            <a:ext cx="3848338" cy="288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5" descr="IMG_010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76400" y="2590800"/>
            <a:ext cx="3848338" cy="288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1" name="Group 10"/>
          <p:cNvGrpSpPr/>
          <p:nvPr/>
        </p:nvGrpSpPr>
        <p:grpSpPr>
          <a:xfrm>
            <a:off x="5715000" y="3352801"/>
            <a:ext cx="685800" cy="1041975"/>
            <a:chOff x="3276600" y="3377625"/>
            <a:chExt cx="685800" cy="1041975"/>
          </a:xfrm>
        </p:grpSpPr>
        <p:sp>
          <p:nvSpPr>
            <p:cNvPr id="12" name="Right Arrow 11"/>
            <p:cNvSpPr/>
            <p:nvPr/>
          </p:nvSpPr>
          <p:spPr>
            <a:xfrm>
              <a:off x="3276600" y="3810000"/>
              <a:ext cx="685800" cy="609600"/>
            </a:xfrm>
            <a:prstGeom prst="rightArrow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352800" y="3377625"/>
              <a:ext cx="37542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?</a:t>
              </a:r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E06C2C16-E3E2-4F52-95EC-F8E15B12A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the geometric relationship between these two images?</a:t>
            </a:r>
          </a:p>
        </p:txBody>
      </p:sp>
    </p:spTree>
    <p:extLst>
      <p:ext uri="{BB962C8B-B14F-4D97-AF65-F5344CB8AC3E}">
        <p14:creationId xmlns:p14="http://schemas.microsoft.com/office/powerpoint/2010/main" val="2486769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IMG_010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11834" y="3705680"/>
            <a:ext cx="2038350" cy="153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5" descr="IMG_010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11834" y="1981200"/>
            <a:ext cx="2038350" cy="153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6" descr="pan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15004" y="2552020"/>
            <a:ext cx="4342683" cy="2019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ight Arrow 6"/>
          <p:cNvSpPr/>
          <p:nvPr/>
        </p:nvSpPr>
        <p:spPr>
          <a:xfrm>
            <a:off x="4615548" y="3276602"/>
            <a:ext cx="642258" cy="6422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621809" y="5535305"/>
            <a:ext cx="91321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Very important for creating mosaics!</a:t>
            </a:r>
          </a:p>
          <a:p>
            <a:r>
              <a:rPr lang="en-US" sz="2400" dirty="0"/>
              <a:t>First, we need to know what this transformation is.</a:t>
            </a:r>
          </a:p>
          <a:p>
            <a:r>
              <a:rPr lang="en-US" sz="2400" dirty="0"/>
              <a:t>Second, we need to figure out how to compute it using feature matches.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39D7150-EF8C-42C8-9FFD-3D844DD56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the geometric relationship between these two images?</a:t>
            </a:r>
          </a:p>
        </p:txBody>
      </p:sp>
    </p:spTree>
    <p:extLst>
      <p:ext uri="{BB962C8B-B14F-4D97-AF65-F5344CB8AC3E}">
        <p14:creationId xmlns:p14="http://schemas.microsoft.com/office/powerpoint/2010/main" val="3905295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Richard Szeliski</a:t>
            </a:r>
          </a:p>
        </p:txBody>
      </p:sp>
      <p:sp>
        <p:nvSpPr>
          <p:cNvPr id="3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Image Stitching</a:t>
            </a:r>
          </a:p>
        </p:txBody>
      </p:sp>
      <p:sp>
        <p:nvSpPr>
          <p:cNvPr id="3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AE337-7AB0-4109-ABB2-4E1E89413B77}" type="slidenum">
              <a:rPr lang="en-US"/>
              <a:pPr/>
              <a:t>7</a:t>
            </a:fld>
            <a:endParaRPr lang="en-US"/>
          </a:p>
        </p:txBody>
      </p:sp>
      <p:sp>
        <p:nvSpPr>
          <p:cNvPr id="39833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Image Warping</a:t>
            </a:r>
          </a:p>
        </p:txBody>
      </p:sp>
      <p:sp>
        <p:nvSpPr>
          <p:cNvPr id="398339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image filtering: change </a:t>
            </a:r>
            <a:r>
              <a:rPr lang="en-US" i="1" dirty="0"/>
              <a:t>range</a:t>
            </a:r>
            <a:r>
              <a:rPr lang="en-US" dirty="0"/>
              <a:t> of image</a:t>
            </a:r>
          </a:p>
          <a:p>
            <a:pPr algn="ctr">
              <a:lnSpc>
                <a:spcPct val="90000"/>
              </a:lnSpc>
            </a:pPr>
            <a:r>
              <a:rPr lang="en-US" i="1" dirty="0"/>
              <a:t>g(x) = h(f(x))</a:t>
            </a:r>
          </a:p>
          <a:p>
            <a:pPr algn="ctr">
              <a:lnSpc>
                <a:spcPct val="90000"/>
              </a:lnSpc>
            </a:pPr>
            <a:endParaRPr lang="en-US" i="1" dirty="0"/>
          </a:p>
          <a:p>
            <a:pPr algn="ctr">
              <a:lnSpc>
                <a:spcPct val="90000"/>
              </a:lnSpc>
            </a:pPr>
            <a:endParaRPr lang="en-US" i="1" dirty="0"/>
          </a:p>
          <a:p>
            <a:pPr>
              <a:lnSpc>
                <a:spcPct val="170000"/>
              </a:lnSpc>
            </a:pPr>
            <a:r>
              <a:rPr lang="en-US" dirty="0"/>
              <a:t>image warping: change </a:t>
            </a:r>
            <a:r>
              <a:rPr lang="en-US" i="1" dirty="0"/>
              <a:t>domain</a:t>
            </a:r>
            <a:r>
              <a:rPr lang="en-US" dirty="0"/>
              <a:t> of image</a:t>
            </a:r>
          </a:p>
          <a:p>
            <a:pPr algn="ctr">
              <a:lnSpc>
                <a:spcPct val="90000"/>
              </a:lnSpc>
            </a:pPr>
            <a:r>
              <a:rPr lang="en-US" i="1" dirty="0"/>
              <a:t>g(x) = f(h(x))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  <p:grpSp>
        <p:nvGrpSpPr>
          <p:cNvPr id="2" name="Group 4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3048000" y="2667000"/>
            <a:ext cx="1981200" cy="1219200"/>
            <a:chOff x="960" y="1872"/>
            <a:chExt cx="1248" cy="768"/>
          </a:xfrm>
        </p:grpSpPr>
        <p:sp>
          <p:nvSpPr>
            <p:cNvPr id="398341" name="Line 5"/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>
              <a:off x="1152" y="1920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8342" name="Line 6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>
              <a:off x="1152" y="2448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8343" name="Freeform 7"/>
            <p:cNvSpPr>
              <a:spLocks/>
            </p:cNvSpPr>
            <p:nvPr>
              <p:custDataLst>
                <p:tags r:id="rId32"/>
              </p:custDataLst>
            </p:nvPr>
          </p:nvSpPr>
          <p:spPr bwMode="auto">
            <a:xfrm>
              <a:off x="1248" y="2000"/>
              <a:ext cx="672" cy="384"/>
            </a:xfrm>
            <a:custGeom>
              <a:avLst/>
              <a:gdLst/>
              <a:ahLst/>
              <a:cxnLst>
                <a:cxn ang="0">
                  <a:pos x="0" y="304"/>
                </a:cxn>
                <a:cxn ang="0">
                  <a:pos x="96" y="16"/>
                </a:cxn>
                <a:cxn ang="0">
                  <a:pos x="288" y="208"/>
                </a:cxn>
                <a:cxn ang="0">
                  <a:pos x="528" y="352"/>
                </a:cxn>
                <a:cxn ang="0">
                  <a:pos x="672" y="16"/>
                </a:cxn>
              </a:cxnLst>
              <a:rect l="0" t="0" r="r" b="b"/>
              <a:pathLst>
                <a:path w="672" h="384">
                  <a:moveTo>
                    <a:pt x="0" y="304"/>
                  </a:moveTo>
                  <a:cubicBezTo>
                    <a:pt x="24" y="168"/>
                    <a:pt x="48" y="32"/>
                    <a:pt x="96" y="16"/>
                  </a:cubicBezTo>
                  <a:cubicBezTo>
                    <a:pt x="144" y="0"/>
                    <a:pt x="216" y="152"/>
                    <a:pt x="288" y="208"/>
                  </a:cubicBezTo>
                  <a:cubicBezTo>
                    <a:pt x="360" y="264"/>
                    <a:pt x="464" y="384"/>
                    <a:pt x="528" y="352"/>
                  </a:cubicBezTo>
                  <a:cubicBezTo>
                    <a:pt x="592" y="320"/>
                    <a:pt x="648" y="72"/>
                    <a:pt x="672" y="1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8344" name="Text Box 8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960" y="1872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i="1"/>
                <a:t>f</a:t>
              </a:r>
            </a:p>
          </p:txBody>
        </p:sp>
        <p:sp>
          <p:nvSpPr>
            <p:cNvPr id="398345" name="Text Box 9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1968" y="2409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i="1"/>
                <a:t>x</a:t>
              </a:r>
            </a:p>
          </p:txBody>
        </p:sp>
      </p:grpSp>
      <p:grpSp>
        <p:nvGrpSpPr>
          <p:cNvPr id="3" name="Group 10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5105400" y="2971804"/>
            <a:ext cx="1600200" cy="369888"/>
            <a:chOff x="2256" y="2064"/>
            <a:chExt cx="1008" cy="233"/>
          </a:xfrm>
        </p:grpSpPr>
        <p:sp>
          <p:nvSpPr>
            <p:cNvPr id="398347" name="Text Box 11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2592" y="2064"/>
              <a:ext cx="336" cy="23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h</a:t>
              </a:r>
            </a:p>
          </p:txBody>
        </p:sp>
        <p:sp>
          <p:nvSpPr>
            <p:cNvPr id="398348" name="Line 12"/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>
              <a:off x="2256" y="22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8349" name="Line 13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>
              <a:off x="2928" y="22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14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7162800" y="2667000"/>
            <a:ext cx="1981200" cy="1219200"/>
            <a:chOff x="3552" y="1872"/>
            <a:chExt cx="1248" cy="768"/>
          </a:xfrm>
        </p:grpSpPr>
        <p:sp>
          <p:nvSpPr>
            <p:cNvPr id="398351" name="Line 15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>
              <a:off x="3744" y="1920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8352" name="Line 16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>
              <a:off x="3744" y="2448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8353" name="Freeform 17"/>
            <p:cNvSpPr>
              <a:spLocks/>
            </p:cNvSpPr>
            <p:nvPr>
              <p:custDataLst>
                <p:tags r:id="rId24"/>
              </p:custDataLst>
            </p:nvPr>
          </p:nvSpPr>
          <p:spPr bwMode="auto">
            <a:xfrm>
              <a:off x="3840" y="2000"/>
              <a:ext cx="672" cy="160"/>
            </a:xfrm>
            <a:custGeom>
              <a:avLst/>
              <a:gdLst/>
              <a:ahLst/>
              <a:cxnLst>
                <a:cxn ang="0">
                  <a:pos x="0" y="304"/>
                </a:cxn>
                <a:cxn ang="0">
                  <a:pos x="96" y="16"/>
                </a:cxn>
                <a:cxn ang="0">
                  <a:pos x="288" y="208"/>
                </a:cxn>
                <a:cxn ang="0">
                  <a:pos x="528" y="352"/>
                </a:cxn>
                <a:cxn ang="0">
                  <a:pos x="672" y="16"/>
                </a:cxn>
              </a:cxnLst>
              <a:rect l="0" t="0" r="r" b="b"/>
              <a:pathLst>
                <a:path w="672" h="384">
                  <a:moveTo>
                    <a:pt x="0" y="304"/>
                  </a:moveTo>
                  <a:cubicBezTo>
                    <a:pt x="24" y="168"/>
                    <a:pt x="48" y="32"/>
                    <a:pt x="96" y="16"/>
                  </a:cubicBezTo>
                  <a:cubicBezTo>
                    <a:pt x="144" y="0"/>
                    <a:pt x="216" y="152"/>
                    <a:pt x="288" y="208"/>
                  </a:cubicBezTo>
                  <a:cubicBezTo>
                    <a:pt x="360" y="264"/>
                    <a:pt x="464" y="384"/>
                    <a:pt x="528" y="352"/>
                  </a:cubicBezTo>
                  <a:cubicBezTo>
                    <a:pt x="592" y="320"/>
                    <a:pt x="648" y="72"/>
                    <a:pt x="672" y="1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8354" name="Text Box 18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3552" y="1872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i="1"/>
                <a:t>g</a:t>
              </a:r>
            </a:p>
          </p:txBody>
        </p:sp>
        <p:sp>
          <p:nvSpPr>
            <p:cNvPr id="398355" name="Text Box 19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560" y="2409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i="1"/>
                <a:t>x</a:t>
              </a:r>
            </a:p>
          </p:txBody>
        </p:sp>
      </p:grpSp>
      <p:grpSp>
        <p:nvGrpSpPr>
          <p:cNvPr id="5" name="Group 20"/>
          <p:cNvGrpSpPr>
            <a:grpSpLocks/>
          </p:cNvGrpSpPr>
          <p:nvPr>
            <p:custDataLst>
              <p:tags r:id="rId6"/>
            </p:custDataLst>
          </p:nvPr>
        </p:nvGrpSpPr>
        <p:grpSpPr bwMode="auto">
          <a:xfrm>
            <a:off x="3048000" y="5029200"/>
            <a:ext cx="1981200" cy="1219200"/>
            <a:chOff x="960" y="1872"/>
            <a:chExt cx="1248" cy="768"/>
          </a:xfrm>
        </p:grpSpPr>
        <p:sp>
          <p:nvSpPr>
            <p:cNvPr id="398357" name="Line 21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1152" y="1920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8358" name="Line 22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1152" y="2448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8359" name="Freeform 23"/>
            <p:cNvSpPr>
              <a:spLocks/>
            </p:cNvSpPr>
            <p:nvPr>
              <p:custDataLst>
                <p:tags r:id="rId19"/>
              </p:custDataLst>
            </p:nvPr>
          </p:nvSpPr>
          <p:spPr bwMode="auto">
            <a:xfrm>
              <a:off x="1248" y="2000"/>
              <a:ext cx="672" cy="384"/>
            </a:xfrm>
            <a:custGeom>
              <a:avLst/>
              <a:gdLst/>
              <a:ahLst/>
              <a:cxnLst>
                <a:cxn ang="0">
                  <a:pos x="0" y="304"/>
                </a:cxn>
                <a:cxn ang="0">
                  <a:pos x="96" y="16"/>
                </a:cxn>
                <a:cxn ang="0">
                  <a:pos x="288" y="208"/>
                </a:cxn>
                <a:cxn ang="0">
                  <a:pos x="528" y="352"/>
                </a:cxn>
                <a:cxn ang="0">
                  <a:pos x="672" y="16"/>
                </a:cxn>
              </a:cxnLst>
              <a:rect l="0" t="0" r="r" b="b"/>
              <a:pathLst>
                <a:path w="672" h="384">
                  <a:moveTo>
                    <a:pt x="0" y="304"/>
                  </a:moveTo>
                  <a:cubicBezTo>
                    <a:pt x="24" y="168"/>
                    <a:pt x="48" y="32"/>
                    <a:pt x="96" y="16"/>
                  </a:cubicBezTo>
                  <a:cubicBezTo>
                    <a:pt x="144" y="0"/>
                    <a:pt x="216" y="152"/>
                    <a:pt x="288" y="208"/>
                  </a:cubicBezTo>
                  <a:cubicBezTo>
                    <a:pt x="360" y="264"/>
                    <a:pt x="464" y="384"/>
                    <a:pt x="528" y="352"/>
                  </a:cubicBezTo>
                  <a:cubicBezTo>
                    <a:pt x="592" y="320"/>
                    <a:pt x="648" y="72"/>
                    <a:pt x="672" y="1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8360" name="Text Box 24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960" y="1872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i="1"/>
                <a:t>f</a:t>
              </a:r>
            </a:p>
          </p:txBody>
        </p:sp>
        <p:sp>
          <p:nvSpPr>
            <p:cNvPr id="398361" name="Text Box 25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968" y="2409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i="1"/>
                <a:t>x</a:t>
              </a:r>
            </a:p>
          </p:txBody>
        </p:sp>
      </p:grpSp>
      <p:grpSp>
        <p:nvGrpSpPr>
          <p:cNvPr id="6" name="Group 26"/>
          <p:cNvGrpSpPr>
            <a:grpSpLocks/>
          </p:cNvGrpSpPr>
          <p:nvPr>
            <p:custDataLst>
              <p:tags r:id="rId7"/>
            </p:custDataLst>
          </p:nvPr>
        </p:nvGrpSpPr>
        <p:grpSpPr bwMode="auto">
          <a:xfrm>
            <a:off x="5105400" y="5314954"/>
            <a:ext cx="1600200" cy="369888"/>
            <a:chOff x="2256" y="2064"/>
            <a:chExt cx="1008" cy="233"/>
          </a:xfrm>
        </p:grpSpPr>
        <p:sp>
          <p:nvSpPr>
            <p:cNvPr id="398363" name="Text Box 27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92" y="2064"/>
              <a:ext cx="336" cy="23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h</a:t>
              </a:r>
            </a:p>
          </p:txBody>
        </p:sp>
        <p:sp>
          <p:nvSpPr>
            <p:cNvPr id="398364" name="Line 28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2256" y="22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8365" name="Line 29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2928" y="22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0"/>
          <p:cNvGrpSpPr>
            <a:grpSpLocks/>
          </p:cNvGrpSpPr>
          <p:nvPr>
            <p:custDataLst>
              <p:tags r:id="rId8"/>
            </p:custDataLst>
          </p:nvPr>
        </p:nvGrpSpPr>
        <p:grpSpPr bwMode="auto">
          <a:xfrm>
            <a:off x="7162800" y="5029200"/>
            <a:ext cx="1981200" cy="1219200"/>
            <a:chOff x="3552" y="3168"/>
            <a:chExt cx="1248" cy="768"/>
          </a:xfrm>
        </p:grpSpPr>
        <p:sp>
          <p:nvSpPr>
            <p:cNvPr id="398367" name="Line 31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3744" y="3216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8368" name="Line 32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3744" y="3744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8369" name="Freeform 33"/>
            <p:cNvSpPr>
              <a:spLocks/>
            </p:cNvSpPr>
            <p:nvPr>
              <p:custDataLst>
                <p:tags r:id="rId11"/>
              </p:custDataLst>
            </p:nvPr>
          </p:nvSpPr>
          <p:spPr bwMode="auto">
            <a:xfrm>
              <a:off x="4224" y="3296"/>
              <a:ext cx="384" cy="384"/>
            </a:xfrm>
            <a:custGeom>
              <a:avLst/>
              <a:gdLst/>
              <a:ahLst/>
              <a:cxnLst>
                <a:cxn ang="0">
                  <a:pos x="0" y="304"/>
                </a:cxn>
                <a:cxn ang="0">
                  <a:pos x="96" y="16"/>
                </a:cxn>
                <a:cxn ang="0">
                  <a:pos x="288" y="208"/>
                </a:cxn>
                <a:cxn ang="0">
                  <a:pos x="528" y="352"/>
                </a:cxn>
                <a:cxn ang="0">
                  <a:pos x="672" y="16"/>
                </a:cxn>
              </a:cxnLst>
              <a:rect l="0" t="0" r="r" b="b"/>
              <a:pathLst>
                <a:path w="672" h="384">
                  <a:moveTo>
                    <a:pt x="0" y="304"/>
                  </a:moveTo>
                  <a:cubicBezTo>
                    <a:pt x="24" y="168"/>
                    <a:pt x="48" y="32"/>
                    <a:pt x="96" y="16"/>
                  </a:cubicBezTo>
                  <a:cubicBezTo>
                    <a:pt x="144" y="0"/>
                    <a:pt x="216" y="152"/>
                    <a:pt x="288" y="208"/>
                  </a:cubicBezTo>
                  <a:cubicBezTo>
                    <a:pt x="360" y="264"/>
                    <a:pt x="464" y="384"/>
                    <a:pt x="528" y="352"/>
                  </a:cubicBezTo>
                  <a:cubicBezTo>
                    <a:pt x="592" y="320"/>
                    <a:pt x="648" y="72"/>
                    <a:pt x="672" y="1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8370" name="Text Box 34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552" y="3168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i="1"/>
                <a:t>g</a:t>
              </a:r>
            </a:p>
          </p:txBody>
        </p:sp>
        <p:sp>
          <p:nvSpPr>
            <p:cNvPr id="398371" name="Text Box 35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560" y="3705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i="1"/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3818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Richard Szeliski</a:t>
            </a:r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Image Stitching</a:t>
            </a:r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70914-9068-42C4-B28F-653E5D555BEA}" type="slidenum">
              <a:rPr lang="en-US"/>
              <a:pPr/>
              <a:t>8</a:t>
            </a:fld>
            <a:endParaRPr lang="en-US"/>
          </a:p>
        </p:txBody>
      </p:sp>
      <p:sp>
        <p:nvSpPr>
          <p:cNvPr id="3993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Image Warping</a:t>
            </a:r>
          </a:p>
        </p:txBody>
      </p:sp>
      <p:sp>
        <p:nvSpPr>
          <p:cNvPr id="399363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image filtering: change </a:t>
            </a:r>
            <a:r>
              <a:rPr lang="en-US" i="1"/>
              <a:t>range</a:t>
            </a:r>
            <a:r>
              <a:rPr lang="en-US"/>
              <a:t> of image</a:t>
            </a:r>
          </a:p>
          <a:p>
            <a:pPr algn="ctr">
              <a:lnSpc>
                <a:spcPct val="90000"/>
              </a:lnSpc>
            </a:pPr>
            <a:r>
              <a:rPr lang="en-US" i="1"/>
              <a:t>g(x) = h(f(x))</a:t>
            </a:r>
          </a:p>
          <a:p>
            <a:pPr algn="ctr">
              <a:lnSpc>
                <a:spcPct val="90000"/>
              </a:lnSpc>
            </a:pPr>
            <a:endParaRPr lang="en-US" i="1"/>
          </a:p>
          <a:p>
            <a:pPr algn="ctr">
              <a:lnSpc>
                <a:spcPct val="90000"/>
              </a:lnSpc>
            </a:pPr>
            <a:endParaRPr lang="en-US" i="1"/>
          </a:p>
          <a:p>
            <a:pPr>
              <a:lnSpc>
                <a:spcPct val="170000"/>
              </a:lnSpc>
            </a:pPr>
            <a:r>
              <a:rPr lang="en-US"/>
              <a:t>image warping: change </a:t>
            </a:r>
            <a:r>
              <a:rPr lang="en-US" i="1"/>
              <a:t>domain</a:t>
            </a:r>
            <a:r>
              <a:rPr lang="en-US"/>
              <a:t> of image</a:t>
            </a:r>
          </a:p>
          <a:p>
            <a:pPr algn="ctr">
              <a:lnSpc>
                <a:spcPct val="90000"/>
              </a:lnSpc>
            </a:pPr>
            <a:r>
              <a:rPr lang="en-US" i="1"/>
              <a:t>g(x) = f(h(x))</a:t>
            </a:r>
          </a:p>
          <a:p>
            <a:pPr>
              <a:lnSpc>
                <a:spcPct val="90000"/>
              </a:lnSpc>
            </a:pPr>
            <a:endParaRPr lang="en-US"/>
          </a:p>
        </p:txBody>
      </p:sp>
      <p:grpSp>
        <p:nvGrpSpPr>
          <p:cNvPr id="2" name="Group 4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5105400" y="2924179"/>
            <a:ext cx="1600200" cy="369888"/>
            <a:chOff x="2256" y="2064"/>
            <a:chExt cx="1008" cy="233"/>
          </a:xfrm>
        </p:grpSpPr>
        <p:sp>
          <p:nvSpPr>
            <p:cNvPr id="399365" name="Text Box 5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92" y="2064"/>
              <a:ext cx="336" cy="23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h</a:t>
              </a:r>
            </a:p>
          </p:txBody>
        </p:sp>
        <p:sp>
          <p:nvSpPr>
            <p:cNvPr id="399366" name="Line 6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2256" y="22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9367" name="Line 7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2928" y="22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8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5105400" y="5314954"/>
            <a:ext cx="1600200" cy="369888"/>
            <a:chOff x="2256" y="2064"/>
            <a:chExt cx="1008" cy="233"/>
          </a:xfrm>
        </p:grpSpPr>
        <p:sp>
          <p:nvSpPr>
            <p:cNvPr id="399369" name="Text Box 9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592" y="2064"/>
              <a:ext cx="336" cy="23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h</a:t>
              </a:r>
            </a:p>
          </p:txBody>
        </p:sp>
        <p:sp>
          <p:nvSpPr>
            <p:cNvPr id="399370" name="Line 10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2256" y="22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9371" name="Line 11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2928" y="22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99372" name="Picture 12" descr="HHHIMG_1166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3276600" y="2590801"/>
            <a:ext cx="1462088" cy="1095375"/>
          </a:xfrm>
          <a:prstGeom prst="rect">
            <a:avLst/>
          </a:prstGeom>
          <a:noFill/>
        </p:spPr>
      </p:pic>
      <p:pic>
        <p:nvPicPr>
          <p:cNvPr id="399373" name="Picture 13" descr="HHHIMG_1166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21" cstate="print">
            <a:lum bright="48000"/>
          </a:blip>
          <a:srcRect/>
          <a:stretch>
            <a:fillRect/>
          </a:stretch>
        </p:blipFill>
        <p:spPr bwMode="auto">
          <a:xfrm>
            <a:off x="7467600" y="2590801"/>
            <a:ext cx="1462088" cy="1095375"/>
          </a:xfrm>
          <a:prstGeom prst="rect">
            <a:avLst/>
          </a:prstGeom>
          <a:noFill/>
        </p:spPr>
      </p:pic>
      <p:pic>
        <p:nvPicPr>
          <p:cNvPr id="399374" name="Picture 14" descr="HHHIMG_1166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3276600" y="5000626"/>
            <a:ext cx="1462088" cy="1095375"/>
          </a:xfrm>
          <a:prstGeom prst="rect">
            <a:avLst/>
          </a:prstGeom>
          <a:noFill/>
        </p:spPr>
      </p:pic>
      <p:pic>
        <p:nvPicPr>
          <p:cNvPr id="399375" name="Picture 15" descr="HHHIMG_1166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7453314" y="5105400"/>
            <a:ext cx="1843087" cy="762000"/>
          </a:xfrm>
          <a:prstGeom prst="rect">
            <a:avLst/>
          </a:prstGeom>
          <a:noFill/>
        </p:spPr>
      </p:pic>
      <p:sp>
        <p:nvSpPr>
          <p:cNvPr id="399376" name="Text Box 16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971800" y="2619376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/>
              <a:t>f</a:t>
            </a:r>
          </a:p>
        </p:txBody>
      </p:sp>
      <p:sp>
        <p:nvSpPr>
          <p:cNvPr id="399377" name="Text Box 17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2971800" y="50434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/>
              <a:t>f</a:t>
            </a:r>
          </a:p>
        </p:txBody>
      </p:sp>
      <p:sp>
        <p:nvSpPr>
          <p:cNvPr id="399378" name="Text Box 18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162800" y="51196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/>
              <a:t>g</a:t>
            </a:r>
          </a:p>
        </p:txBody>
      </p:sp>
      <p:sp>
        <p:nvSpPr>
          <p:cNvPr id="399379" name="Text Box 19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7162800" y="2619376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/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98886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Richard Szeliski</a:t>
            </a:r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Image Stitching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7186-4E63-452B-BE44-119D89CEC350}" type="slidenum">
              <a:rPr lang="en-US"/>
              <a:pPr/>
              <a:t>9</a:t>
            </a:fld>
            <a:endParaRPr lang="en-US"/>
          </a:p>
        </p:txBody>
      </p:sp>
      <p:sp>
        <p:nvSpPr>
          <p:cNvPr id="40038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Parametric (global) warping</a:t>
            </a:r>
          </a:p>
        </p:txBody>
      </p:sp>
      <p:sp>
        <p:nvSpPr>
          <p:cNvPr id="400387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1981200" y="1600201"/>
            <a:ext cx="8229600" cy="762000"/>
          </a:xfrm>
        </p:spPr>
        <p:txBody>
          <a:bodyPr/>
          <a:lstStyle/>
          <a:p>
            <a:r>
              <a:rPr lang="en-US"/>
              <a:t>Examples of parametric warps:</a:t>
            </a:r>
          </a:p>
        </p:txBody>
      </p:sp>
      <p:pic>
        <p:nvPicPr>
          <p:cNvPr id="400388" name="Picture 4" descr="HHHIMG_1166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171826" y="3338514"/>
            <a:ext cx="1462087" cy="1095375"/>
          </a:xfrm>
          <a:prstGeom prst="rect">
            <a:avLst/>
          </a:prstGeom>
          <a:noFill/>
        </p:spPr>
      </p:pic>
      <p:sp>
        <p:nvSpPr>
          <p:cNvPr id="400389" name="Text Box 5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805112" y="4433888"/>
            <a:ext cx="2057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/>
              <a:t>translation</a:t>
            </a:r>
          </a:p>
        </p:txBody>
      </p:sp>
      <p:pic>
        <p:nvPicPr>
          <p:cNvPr id="400390" name="Picture 6" descr="HHHIMG_1166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758112" y="3352800"/>
            <a:ext cx="1462088" cy="762000"/>
          </a:xfrm>
          <a:prstGeom prst="rect">
            <a:avLst/>
          </a:prstGeom>
          <a:noFill/>
        </p:spPr>
      </p:pic>
      <p:pic>
        <p:nvPicPr>
          <p:cNvPr id="400391" name="Picture 7" descr="rotated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167313" y="3124200"/>
            <a:ext cx="1755775" cy="1411288"/>
          </a:xfrm>
          <a:prstGeom prst="rect">
            <a:avLst/>
          </a:prstGeom>
          <a:noFill/>
        </p:spPr>
      </p:pic>
      <p:sp>
        <p:nvSpPr>
          <p:cNvPr id="400392" name="Text Box 8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399087" y="4419601"/>
            <a:ext cx="1219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rotation</a:t>
            </a:r>
          </a:p>
        </p:txBody>
      </p:sp>
      <p:sp>
        <p:nvSpPr>
          <p:cNvPr id="400393" name="Text Box 9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834312" y="4343401"/>
            <a:ext cx="1219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aspect</a:t>
            </a:r>
          </a:p>
        </p:txBody>
      </p:sp>
    </p:spTree>
    <p:extLst>
      <p:ext uri="{BB962C8B-B14F-4D97-AF65-F5344CB8AC3E}">
        <p14:creationId xmlns:p14="http://schemas.microsoft.com/office/powerpoint/2010/main" val="3347915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Parametric (global) warping</a:t>
            </a:r>
          </a:p>
        </p:txBody>
      </p:sp>
      <p:sp>
        <p:nvSpPr>
          <p:cNvPr id="854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2273" y="3003009"/>
            <a:ext cx="9792854" cy="2706688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Transformation T is a coordinate-changing machine: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sz="2400" dirty="0"/>
              <a:t>					</a:t>
            </a:r>
            <a:r>
              <a:rPr lang="en-US" sz="2400" b="1" dirty="0"/>
              <a:t>p</a:t>
            </a:r>
            <a:r>
              <a:rPr lang="en-US" sz="2400" dirty="0"/>
              <a:t>’ = </a:t>
            </a:r>
            <a:r>
              <a:rPr lang="en-US" sz="2400" i="1" dirty="0"/>
              <a:t>T</a:t>
            </a:r>
            <a:r>
              <a:rPr lang="en-US" sz="2400" dirty="0"/>
              <a:t>(</a:t>
            </a:r>
            <a:r>
              <a:rPr lang="en-US" sz="2400" b="1" dirty="0"/>
              <a:t>p</a:t>
            </a:r>
            <a:r>
              <a:rPr lang="en-US" sz="2400" dirty="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What does it mean that </a:t>
            </a:r>
            <a:r>
              <a:rPr lang="en-US" sz="2400" i="1" dirty="0"/>
              <a:t>T</a:t>
            </a:r>
            <a:r>
              <a:rPr lang="en-US" sz="2400" dirty="0"/>
              <a:t> is global?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Is the same for any point </a:t>
            </a:r>
            <a:r>
              <a:rPr lang="en-US" sz="2000" b="1" dirty="0"/>
              <a:t>p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can be described by just a few numbers (parameters)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Let’s consider </a:t>
            </a:r>
            <a:r>
              <a:rPr lang="en-US" sz="2400" i="1" dirty="0"/>
              <a:t>linear</a:t>
            </a:r>
            <a:r>
              <a:rPr lang="en-US" sz="2400" dirty="0"/>
              <a:t> </a:t>
            </a:r>
            <a:r>
              <a:rPr lang="en-US" sz="2400" dirty="0" err="1"/>
              <a:t>xforms</a:t>
            </a:r>
            <a:r>
              <a:rPr lang="en-US" sz="2400" dirty="0"/>
              <a:t> (can be represented by a 2x2 matrix):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876800" y="1690020"/>
            <a:ext cx="1600200" cy="369888"/>
            <a:chOff x="2256" y="2064"/>
            <a:chExt cx="1008" cy="233"/>
          </a:xfrm>
        </p:grpSpPr>
        <p:sp>
          <p:nvSpPr>
            <p:cNvPr id="10252" name="Text Box 5"/>
            <p:cNvSpPr txBox="1">
              <a:spLocks noChangeArrowheads="1"/>
            </p:cNvSpPr>
            <p:nvPr/>
          </p:nvSpPr>
          <p:spPr bwMode="auto">
            <a:xfrm>
              <a:off x="2592" y="2064"/>
              <a:ext cx="336" cy="23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T</a:t>
              </a:r>
            </a:p>
          </p:txBody>
        </p:sp>
        <p:sp>
          <p:nvSpPr>
            <p:cNvPr id="10253" name="Line 6"/>
            <p:cNvSpPr>
              <a:spLocks noChangeShapeType="1"/>
            </p:cNvSpPr>
            <p:nvPr/>
          </p:nvSpPr>
          <p:spPr bwMode="auto">
            <a:xfrm>
              <a:off x="2256" y="22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54" name="Line 7"/>
            <p:cNvSpPr>
              <a:spLocks noChangeShapeType="1"/>
            </p:cNvSpPr>
            <p:nvPr/>
          </p:nvSpPr>
          <p:spPr bwMode="auto">
            <a:xfrm>
              <a:off x="2928" y="22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0246" name="Picture 8" descr="HHHIMG_116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1375692"/>
            <a:ext cx="1462088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7" name="Picture 9" descr="HHHIMG_116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10400" y="1709066"/>
            <a:ext cx="18430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8" name="Text Box 10"/>
          <p:cNvSpPr txBox="1">
            <a:spLocks noChangeArrowheads="1"/>
          </p:cNvSpPr>
          <p:nvPr/>
        </p:nvSpPr>
        <p:spPr bwMode="auto">
          <a:xfrm>
            <a:off x="3048001" y="2471066"/>
            <a:ext cx="93166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1"/>
              <a:t>p</a:t>
            </a:r>
            <a:r>
              <a:rPr lang="en-US"/>
              <a:t> = (x,y)</a:t>
            </a:r>
          </a:p>
        </p:txBody>
      </p:sp>
      <p:sp>
        <p:nvSpPr>
          <p:cNvPr id="10249" name="Text Box 11"/>
          <p:cNvSpPr txBox="1">
            <a:spLocks noChangeArrowheads="1"/>
          </p:cNvSpPr>
          <p:nvPr/>
        </p:nvSpPr>
        <p:spPr bwMode="auto">
          <a:xfrm>
            <a:off x="7272339" y="2471066"/>
            <a:ext cx="109683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1"/>
              <a:t>p’</a:t>
            </a:r>
            <a:r>
              <a:rPr lang="en-US"/>
              <a:t> = (x’,y’)</a:t>
            </a:r>
          </a:p>
        </p:txBody>
      </p:sp>
      <p:sp>
        <p:nvSpPr>
          <p:cNvPr id="10250" name="Oval 12"/>
          <p:cNvSpPr>
            <a:spLocks noChangeAspect="1" noChangeArrowheads="1"/>
          </p:cNvSpPr>
          <p:nvPr/>
        </p:nvSpPr>
        <p:spPr bwMode="auto">
          <a:xfrm>
            <a:off x="7653338" y="1818604"/>
            <a:ext cx="119062" cy="1190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1" name="Oval 13"/>
          <p:cNvSpPr>
            <a:spLocks noChangeAspect="1" noChangeArrowheads="1"/>
          </p:cNvSpPr>
          <p:nvPr/>
        </p:nvSpPr>
        <p:spPr bwMode="auto">
          <a:xfrm>
            <a:off x="3538538" y="1556667"/>
            <a:ext cx="119062" cy="1190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7833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62314" y="5682938"/>
            <a:ext cx="1756001" cy="520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8336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52433" y="5423719"/>
            <a:ext cx="3389539" cy="1185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12450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401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linear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783775"/>
          </a:xfrm>
        </p:spPr>
        <p:txBody>
          <a:bodyPr/>
          <a:lstStyle/>
          <a:p>
            <a:r>
              <a:rPr lang="en-US" dirty="0"/>
              <a:t>Uniform scaling by </a:t>
            </a:r>
            <a:r>
              <a:rPr lang="en-US" i="1" dirty="0"/>
              <a:t>s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C:\snavely\work\teaching\09Sp-CS1114\lectures\lec14\ey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20736" y="2770415"/>
            <a:ext cx="2843144" cy="1907662"/>
          </a:xfrm>
          <a:prstGeom prst="rect">
            <a:avLst/>
          </a:prstGeom>
          <a:noFill/>
          <a:effectLst/>
        </p:spPr>
      </p:pic>
      <p:pic>
        <p:nvPicPr>
          <p:cNvPr id="6" name="Picture 5" descr="C:\snavely\work\teaching\09Sp-CS1114\lectures\lec14\ey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78336" y="2065565"/>
            <a:ext cx="3918064" cy="2628900"/>
          </a:xfrm>
          <a:prstGeom prst="rect">
            <a:avLst/>
          </a:prstGeom>
          <a:noFill/>
          <a:effectLst/>
        </p:spPr>
      </p:pic>
      <p:grpSp>
        <p:nvGrpSpPr>
          <p:cNvPr id="4" name="Group 11"/>
          <p:cNvGrpSpPr/>
          <p:nvPr/>
        </p:nvGrpSpPr>
        <p:grpSpPr>
          <a:xfrm>
            <a:off x="3709307" y="5310148"/>
            <a:ext cx="2757104" cy="1222427"/>
            <a:chOff x="3143250" y="5027119"/>
            <a:chExt cx="2757104" cy="1222427"/>
          </a:xfrm>
        </p:grpSpPr>
        <p:pic>
          <p:nvPicPr>
            <p:cNvPr id="11266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143250" y="5027119"/>
              <a:ext cx="2757104" cy="12224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85411" name="Picture 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228861" y="5370349"/>
              <a:ext cx="319882" cy="3974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3" name="Oval 12"/>
          <p:cNvSpPr/>
          <p:nvPr/>
        </p:nvSpPr>
        <p:spPr>
          <a:xfrm>
            <a:off x="2561917" y="2720527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208631" y="2020844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002972" y="2600782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71458" y="1890212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75713" y="5671456"/>
            <a:ext cx="2720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What is the inverse?</a:t>
            </a:r>
          </a:p>
        </p:txBody>
      </p:sp>
    </p:spTree>
    <p:extLst>
      <p:ext uri="{BB962C8B-B14F-4D97-AF65-F5344CB8AC3E}">
        <p14:creationId xmlns:p14="http://schemas.microsoft.com/office/powerpoint/2010/main" val="294260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linear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778151"/>
          </a:xfrm>
        </p:spPr>
        <p:txBody>
          <a:bodyPr/>
          <a:lstStyle/>
          <a:p>
            <a:r>
              <a:rPr lang="en-US" dirty="0"/>
              <a:t>Rotation by angle </a:t>
            </a:r>
            <a:r>
              <a:rPr lang="el-GR" sz="2800" i="1" kern="0" dirty="0">
                <a:solidFill>
                  <a:prstClr val="black"/>
                </a:solidFill>
                <a:latin typeface="Verdana"/>
              </a:rPr>
              <a:t>θ</a:t>
            </a:r>
            <a:r>
              <a:rPr lang="en-US" sz="2800" i="1" kern="0" dirty="0">
                <a:solidFill>
                  <a:prstClr val="black"/>
                </a:solidFill>
                <a:latin typeface="Verdana"/>
              </a:rPr>
              <a:t> </a:t>
            </a:r>
            <a:r>
              <a:rPr lang="en-US" sz="2800" kern="0" dirty="0">
                <a:solidFill>
                  <a:prstClr val="black"/>
                </a:solidFill>
              </a:rPr>
              <a:t>(about the origin)</a:t>
            </a:r>
            <a:endParaRPr lang="en-US" i="1" dirty="0"/>
          </a:p>
        </p:txBody>
      </p:sp>
      <p:pic>
        <p:nvPicPr>
          <p:cNvPr id="5" name="Picture 4" descr="C:\snavely\work\teaching\09Sp-CS1114\lectures\lec14\ey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47295" y="2481196"/>
            <a:ext cx="2843144" cy="1907662"/>
          </a:xfrm>
          <a:prstGeom prst="rect">
            <a:avLst/>
          </a:prstGeom>
          <a:noFill/>
          <a:effectLst/>
        </p:spPr>
      </p:pic>
      <p:pic>
        <p:nvPicPr>
          <p:cNvPr id="6" name="Picture 5" descr="C:\snavely\work\teaching\09Sp-CS1114\lectures\lec14\ey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900000">
            <a:off x="5868874" y="3126572"/>
            <a:ext cx="2843144" cy="1907662"/>
          </a:xfrm>
          <a:prstGeom prst="rect">
            <a:avLst/>
          </a:prstGeom>
          <a:noFill/>
          <a:effectLst/>
        </p:spPr>
      </p:pic>
      <p:grpSp>
        <p:nvGrpSpPr>
          <p:cNvPr id="4" name="Group 10"/>
          <p:cNvGrpSpPr/>
          <p:nvPr/>
        </p:nvGrpSpPr>
        <p:grpSpPr>
          <a:xfrm>
            <a:off x="451964" y="5257799"/>
            <a:ext cx="4467225" cy="1266825"/>
            <a:chOff x="2490107" y="5053693"/>
            <a:chExt cx="4467225" cy="1266825"/>
          </a:xfrm>
        </p:grpSpPr>
        <p:pic>
          <p:nvPicPr>
            <p:cNvPr id="12292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490107" y="5053693"/>
              <a:ext cx="4467225" cy="1266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86434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639106" y="5427210"/>
              <a:ext cx="453896" cy="3966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3" name="Oval 12"/>
          <p:cNvSpPr/>
          <p:nvPr/>
        </p:nvSpPr>
        <p:spPr>
          <a:xfrm>
            <a:off x="2277590" y="2420458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718645" y="2300713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(0,0)</a:t>
            </a:r>
          </a:p>
        </p:txBody>
      </p:sp>
      <p:sp>
        <p:nvSpPr>
          <p:cNvPr id="15" name="Oval 14"/>
          <p:cNvSpPr/>
          <p:nvPr/>
        </p:nvSpPr>
        <p:spPr>
          <a:xfrm>
            <a:off x="6118193" y="2702762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559248" y="2583017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3998" y="5283643"/>
            <a:ext cx="2720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What is the inverse?</a:t>
            </a:r>
          </a:p>
        </p:txBody>
      </p:sp>
      <p:pic>
        <p:nvPicPr>
          <p:cNvPr id="78643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72632" y="6096679"/>
            <a:ext cx="1754501" cy="384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TextBox 18"/>
          <p:cNvSpPr txBox="1"/>
          <p:nvPr/>
        </p:nvSpPr>
        <p:spPr>
          <a:xfrm>
            <a:off x="5368548" y="5719078"/>
            <a:ext cx="15917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For rotations:</a:t>
            </a:r>
            <a:endParaRPr lang="en-US" sz="2000" dirty="0"/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6201504" y="2789848"/>
            <a:ext cx="2667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679371" y="2830550"/>
            <a:ext cx="3289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i="1" kern="0" dirty="0">
                <a:solidFill>
                  <a:prstClr val="black"/>
                </a:solidFill>
                <a:latin typeface="Verdana"/>
              </a:rPr>
              <a:t>θ</a:t>
            </a:r>
            <a:endParaRPr lang="en-US" dirty="0"/>
          </a:p>
        </p:txBody>
      </p:sp>
      <p:sp>
        <p:nvSpPr>
          <p:cNvPr id="28" name="Arc 27"/>
          <p:cNvSpPr/>
          <p:nvPr/>
        </p:nvSpPr>
        <p:spPr>
          <a:xfrm flipV="1">
            <a:off x="6479141" y="2199523"/>
            <a:ext cx="1219200" cy="1219200"/>
          </a:xfrm>
          <a:prstGeom prst="arc">
            <a:avLst>
              <a:gd name="adj1" fmla="val 19404709"/>
              <a:gd name="adj2" fmla="val 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142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2x2 Matrices</a:t>
            </a:r>
          </a:p>
        </p:txBody>
      </p:sp>
      <p:sp>
        <p:nvSpPr>
          <p:cNvPr id="15367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600201"/>
            <a:ext cx="8229600" cy="1066800"/>
          </a:xfrm>
        </p:spPr>
        <p:txBody>
          <a:bodyPr/>
          <a:lstStyle/>
          <a:p>
            <a:pPr eaLnBrk="1" hangingPunct="1"/>
            <a:r>
              <a:rPr lang="en-US" dirty="0"/>
              <a:t>What types of transformations can be </a:t>
            </a:r>
            <a:br>
              <a:rPr lang="en-US" dirty="0"/>
            </a:br>
            <a:r>
              <a:rPr lang="en-US" dirty="0"/>
              <a:t>represented with a 2x2 matrix?</a:t>
            </a:r>
          </a:p>
        </p:txBody>
      </p:sp>
      <p:sp>
        <p:nvSpPr>
          <p:cNvPr id="15368" name="Text Box 4"/>
          <p:cNvSpPr txBox="1">
            <a:spLocks noChangeArrowheads="1"/>
          </p:cNvSpPr>
          <p:nvPr/>
        </p:nvSpPr>
        <p:spPr bwMode="auto">
          <a:xfrm>
            <a:off x="2362201" y="2681288"/>
            <a:ext cx="392620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800" dirty="0">
                <a:solidFill>
                  <a:schemeClr val="tx2"/>
                </a:solidFill>
              </a:rPr>
              <a:t>2D mirror across Y axis?</a:t>
            </a:r>
          </a:p>
        </p:txBody>
      </p:sp>
      <p:sp>
        <p:nvSpPr>
          <p:cNvPr id="15369" name="Text Box 7"/>
          <p:cNvSpPr txBox="1">
            <a:spLocks noChangeArrowheads="1"/>
          </p:cNvSpPr>
          <p:nvPr/>
        </p:nvSpPr>
        <p:spPr bwMode="auto">
          <a:xfrm>
            <a:off x="2362201" y="4586288"/>
            <a:ext cx="411490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800" dirty="0">
                <a:solidFill>
                  <a:schemeClr val="tx2"/>
                </a:solidFill>
              </a:rPr>
              <a:t>2D mirror across line y = x?</a:t>
            </a:r>
          </a:p>
        </p:txBody>
      </p:sp>
      <p:pic>
        <p:nvPicPr>
          <p:cNvPr id="787462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1" y="3284766"/>
            <a:ext cx="1992086" cy="1080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8741230" y="3897087"/>
            <a:ext cx="381000" cy="4136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894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0" y="5257800"/>
            <a:ext cx="2039907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13585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8" grpId="0"/>
      <p:bldP spid="1536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2x2 Matrices</a:t>
            </a:r>
          </a:p>
        </p:txBody>
      </p:sp>
      <p:sp>
        <p:nvSpPr>
          <p:cNvPr id="15367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600201"/>
            <a:ext cx="8229600" cy="1066800"/>
          </a:xfrm>
        </p:spPr>
        <p:txBody>
          <a:bodyPr/>
          <a:lstStyle/>
          <a:p>
            <a:pPr eaLnBrk="1" hangingPunct="1"/>
            <a:r>
              <a:rPr lang="en-US" dirty="0"/>
              <a:t>What types of transformations can be </a:t>
            </a:r>
            <a:br>
              <a:rPr lang="en-US" dirty="0"/>
            </a:br>
            <a:r>
              <a:rPr lang="en-US" dirty="0"/>
              <a:t>represented with a 2x2 matrix?</a:t>
            </a:r>
          </a:p>
        </p:txBody>
      </p:sp>
      <p:sp>
        <p:nvSpPr>
          <p:cNvPr id="15368" name="Text Box 4"/>
          <p:cNvSpPr txBox="1">
            <a:spLocks noChangeArrowheads="1"/>
          </p:cNvSpPr>
          <p:nvPr/>
        </p:nvSpPr>
        <p:spPr bwMode="auto">
          <a:xfrm>
            <a:off x="2362201" y="2681288"/>
            <a:ext cx="392620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800" dirty="0">
                <a:solidFill>
                  <a:schemeClr val="tx2"/>
                </a:solidFill>
              </a:rPr>
              <a:t>2D mirror across Y axis?</a:t>
            </a:r>
          </a:p>
        </p:txBody>
      </p:sp>
      <p:sp>
        <p:nvSpPr>
          <p:cNvPr id="15369" name="Text Box 7"/>
          <p:cNvSpPr txBox="1">
            <a:spLocks noChangeArrowheads="1"/>
          </p:cNvSpPr>
          <p:nvPr/>
        </p:nvSpPr>
        <p:spPr bwMode="auto">
          <a:xfrm>
            <a:off x="2362201" y="4586288"/>
            <a:ext cx="411490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800" dirty="0">
                <a:solidFill>
                  <a:schemeClr val="tx2"/>
                </a:solidFill>
              </a:rPr>
              <a:t>2D mirror across line y = x?</a:t>
            </a:r>
          </a:p>
        </p:txBody>
      </p:sp>
      <p:pic>
        <p:nvPicPr>
          <p:cNvPr id="787462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1" y="3284766"/>
            <a:ext cx="1992086" cy="1080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87463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3278" y="3154817"/>
            <a:ext cx="3721112" cy="1286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8741230" y="3897087"/>
            <a:ext cx="381000" cy="4136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8945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0" y="5257800"/>
            <a:ext cx="2039907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894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400800" y="5105401"/>
            <a:ext cx="3352800" cy="1591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66261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8" grpId="0"/>
      <p:bldP spid="1536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What types of transformations can be </a:t>
            </a:r>
            <a:br>
              <a:rPr lang="en-US"/>
            </a:br>
            <a:r>
              <a:rPr lang="en-US"/>
              <a:t>represented with a 2x2 matrix?</a:t>
            </a:r>
          </a:p>
        </p:txBody>
      </p:sp>
      <p:sp>
        <p:nvSpPr>
          <p:cNvPr id="16389" name="Text Box 4"/>
          <p:cNvSpPr txBox="1">
            <a:spLocks noChangeArrowheads="1"/>
          </p:cNvSpPr>
          <p:nvPr/>
        </p:nvSpPr>
        <p:spPr bwMode="auto">
          <a:xfrm>
            <a:off x="2362200" y="2757488"/>
            <a:ext cx="243919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800" dirty="0">
                <a:solidFill>
                  <a:schemeClr val="tx2"/>
                </a:solidFill>
              </a:rPr>
              <a:t>2D Translation?</a:t>
            </a:r>
          </a:p>
        </p:txBody>
      </p:sp>
      <p:pic>
        <p:nvPicPr>
          <p:cNvPr id="78848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7707" y="3254149"/>
            <a:ext cx="2474696" cy="1111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2x2 Matrices</a:t>
            </a:r>
          </a:p>
        </p:txBody>
      </p:sp>
    </p:spTree>
    <p:extLst>
      <p:ext uri="{BB962C8B-B14F-4D97-AF65-F5344CB8AC3E}">
        <p14:creationId xmlns:p14="http://schemas.microsoft.com/office/powerpoint/2010/main" val="2646999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81D776-3656-4D61-92AD-F183682A112E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602187"/>
            <a:ext cx="1219200" cy="51012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B73C6C2-9E2D-4FBC-A9E5-1AA0B08233E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1714500"/>
            <a:ext cx="1219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rgbClr val="424242"/>
                </a:solidFill>
              </a:rPr>
              <a:t>Can a 2D translation by (tx,ty) be represented with a 2x2 matrix transformation?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A6E92E-BE6E-4291-A4F8-58D55C054E4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39AC37"/>
                </a:solidFill>
              </a:rPr>
              <a:t>ⓘ</a:t>
            </a:r>
            <a:r>
              <a:rPr lang="en-US" sz="1400" dirty="0">
                <a:solidFill>
                  <a:srgbClr val="424242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26016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  <p:bldP spid="4" grpId="3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What types of transformations can be </a:t>
            </a:r>
            <a:br>
              <a:rPr lang="en-US"/>
            </a:br>
            <a:r>
              <a:rPr lang="en-US"/>
              <a:t>represented with a 2x2 matrix?</a:t>
            </a:r>
          </a:p>
        </p:txBody>
      </p:sp>
      <p:sp>
        <p:nvSpPr>
          <p:cNvPr id="16389" name="Text Box 4"/>
          <p:cNvSpPr txBox="1">
            <a:spLocks noChangeArrowheads="1"/>
          </p:cNvSpPr>
          <p:nvPr/>
        </p:nvSpPr>
        <p:spPr bwMode="auto">
          <a:xfrm>
            <a:off x="2362200" y="2757488"/>
            <a:ext cx="243919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800" dirty="0">
                <a:solidFill>
                  <a:schemeClr val="tx2"/>
                </a:solidFill>
              </a:rPr>
              <a:t>2D Translation?</a:t>
            </a:r>
          </a:p>
        </p:txBody>
      </p:sp>
      <p:sp>
        <p:nvSpPr>
          <p:cNvPr id="865286" name="Text Box 6"/>
          <p:cNvSpPr txBox="1">
            <a:spLocks noChangeArrowheads="1"/>
          </p:cNvSpPr>
          <p:nvPr/>
        </p:nvSpPr>
        <p:spPr bwMode="auto">
          <a:xfrm>
            <a:off x="1730820" y="4634141"/>
            <a:ext cx="8817428" cy="52322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/>
            <a:r>
              <a:rPr lang="en-US" sz="2800" dirty="0">
                <a:solidFill>
                  <a:schemeClr val="tx2"/>
                </a:solidFill>
              </a:rPr>
              <a:t>Translation is not a linear operation on 2D coordinates</a:t>
            </a:r>
          </a:p>
        </p:txBody>
      </p:sp>
      <p:sp>
        <p:nvSpPr>
          <p:cNvPr id="865287" name="Text Box 7"/>
          <p:cNvSpPr txBox="1">
            <a:spLocks noChangeArrowheads="1"/>
          </p:cNvSpPr>
          <p:nvPr/>
        </p:nvSpPr>
        <p:spPr bwMode="auto">
          <a:xfrm>
            <a:off x="5199076" y="3505200"/>
            <a:ext cx="595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dirty="0">
                <a:solidFill>
                  <a:schemeClr val="tx2"/>
                </a:solidFill>
                <a:latin typeface="Arial" charset="0"/>
              </a:rPr>
              <a:t>NO!</a:t>
            </a:r>
          </a:p>
        </p:txBody>
      </p:sp>
      <p:pic>
        <p:nvPicPr>
          <p:cNvPr id="78848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7707" y="3254149"/>
            <a:ext cx="2474696" cy="1111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2x2 Matrices</a:t>
            </a:r>
          </a:p>
        </p:txBody>
      </p:sp>
    </p:spTree>
    <p:extLst>
      <p:ext uri="{BB962C8B-B14F-4D97-AF65-F5344CB8AC3E}">
        <p14:creationId xmlns:p14="http://schemas.microsoft.com/office/powerpoint/2010/main" val="1587766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5286" grpId="0" animBg="1"/>
      <p:bldP spid="86528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All 2D Linear Transformations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idx="1"/>
          </p:nvPr>
        </p:nvSpPr>
        <p:spPr>
          <a:xfrm>
            <a:off x="2479288" y="1600201"/>
            <a:ext cx="7233424" cy="4525963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Linear transformations are combinations of …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Scale,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Rotation,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Shear, and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Mirror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solidFill>
                  <a:srgbClr val="FF0000"/>
                </a:solidFill>
              </a:rPr>
              <a:t>Properties of linear transformations</a:t>
            </a:r>
            <a:r>
              <a:rPr lang="en-US" sz="2400" dirty="0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Origin maps to origin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Lines map to lines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Parallel lines remain parallel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Ratios are preserved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Closed under composition</a:t>
            </a:r>
          </a:p>
        </p:txBody>
      </p:sp>
      <p:graphicFrame>
        <p:nvGraphicFramePr>
          <p:cNvPr id="17410" name="Object 4"/>
          <p:cNvGraphicFramePr>
            <a:graphicFrameLocks noChangeAspect="1"/>
          </p:cNvGraphicFramePr>
          <p:nvPr/>
        </p:nvGraphicFramePr>
        <p:xfrm>
          <a:off x="6477001" y="2165350"/>
          <a:ext cx="2271713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17440" imgH="457200" progId="Equation.3">
                  <p:embed/>
                </p:oleObj>
              </mc:Choice>
              <mc:Fallback>
                <p:oleObj name="Equation" r:id="rId2" imgW="11174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1" y="2165350"/>
                        <a:ext cx="2271713" cy="927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5"/>
          <p:cNvGraphicFramePr>
            <a:graphicFrameLocks noChangeAspect="1"/>
          </p:cNvGraphicFramePr>
          <p:nvPr/>
        </p:nvGraphicFramePr>
        <p:xfrm>
          <a:off x="5215392" y="5584145"/>
          <a:ext cx="5126037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1840" imgH="406080" progId="Equation.3">
                  <p:embed/>
                </p:oleObj>
              </mc:Choice>
              <mc:Fallback>
                <p:oleObj name="Equation" r:id="rId4" imgW="203184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5392" y="5584145"/>
                        <a:ext cx="5126037" cy="1020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0414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Homogeneous coordinates</a:t>
            </a:r>
          </a:p>
        </p:txBody>
      </p:sp>
      <p:sp>
        <p:nvSpPr>
          <p:cNvPr id="20484" name="Rectangle 2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05000" y="1905000"/>
            <a:ext cx="7772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dirty="0"/>
              <a:t>Trick:  add one more coordinate:</a:t>
            </a:r>
          </a:p>
        </p:txBody>
      </p:sp>
      <p:sp>
        <p:nvSpPr>
          <p:cNvPr id="20485" name="Text Box 3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317876" y="3600451"/>
            <a:ext cx="286777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/>
              <a:t>homogeneous image </a:t>
            </a:r>
          </a:p>
          <a:p>
            <a:pPr algn="ctr"/>
            <a:r>
              <a:rPr lang="en-US" sz="2400"/>
              <a:t>coordinates</a:t>
            </a:r>
          </a:p>
        </p:txBody>
      </p:sp>
      <p:sp>
        <p:nvSpPr>
          <p:cNvPr id="20487" name="Rectangle 3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057400" y="5029200"/>
            <a:ext cx="6858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dirty="0"/>
              <a:t>Converting </a:t>
            </a:r>
            <a:r>
              <a:rPr lang="en-US" sz="2400" i="1" dirty="0"/>
              <a:t>from</a:t>
            </a:r>
            <a:r>
              <a:rPr lang="en-US" sz="2400" dirty="0"/>
              <a:t> homogeneous coordinates</a:t>
            </a:r>
          </a:p>
        </p:txBody>
      </p:sp>
      <p:pic>
        <p:nvPicPr>
          <p:cNvPr id="20488" name="Picture 35" descr="Edittex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113089" y="2449512"/>
            <a:ext cx="1843087" cy="103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9" name="Picture 39" descr="Edittex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895600" y="5562600"/>
            <a:ext cx="2622550" cy="103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3" name="Group 42"/>
          <p:cNvGrpSpPr/>
          <p:nvPr/>
        </p:nvGrpSpPr>
        <p:grpSpPr>
          <a:xfrm>
            <a:off x="6400800" y="1459468"/>
            <a:ext cx="3408252" cy="3351236"/>
            <a:chOff x="4876800" y="1459468"/>
            <a:chExt cx="3408252" cy="3351236"/>
          </a:xfrm>
        </p:grpSpPr>
        <p:cxnSp>
          <p:nvCxnSpPr>
            <p:cNvPr id="15" name="Straight Arrow Connector 14"/>
            <p:cNvCxnSpPr/>
            <p:nvPr/>
          </p:nvCxnSpPr>
          <p:spPr>
            <a:xfrm>
              <a:off x="6172200" y="3579812"/>
              <a:ext cx="18288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rot="5400000" flipH="1" flipV="1">
              <a:off x="5256609" y="2667397"/>
              <a:ext cx="182959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rot="5400000">
              <a:off x="5105400" y="3581400"/>
              <a:ext cx="1066800" cy="10668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8001000" y="3385458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876800" y="4441372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051024" y="1459468"/>
              <a:ext cx="3497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</p:grpSp>
      <p:cxnSp>
        <p:nvCxnSpPr>
          <p:cNvPr id="34" name="Straight Arrow Connector 33"/>
          <p:cNvCxnSpPr/>
          <p:nvPr/>
        </p:nvCxnSpPr>
        <p:spPr>
          <a:xfrm rot="5400000" flipH="1" flipV="1">
            <a:off x="7124700" y="1866900"/>
            <a:ext cx="2286000" cy="1143000"/>
          </a:xfrm>
          <a:prstGeom prst="straightConnector1">
            <a:avLst/>
          </a:prstGeom>
          <a:ln w="38100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7922623" y="3002281"/>
            <a:ext cx="91440" cy="914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8791302" y="1273628"/>
            <a:ext cx="91440" cy="914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8817796" y="1110342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w</a:t>
            </a:r>
            <a:r>
              <a:rPr lang="en-US" dirty="0"/>
              <a:t>)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6400800" y="2208814"/>
            <a:ext cx="3810000" cy="1187528"/>
            <a:chOff x="4876800" y="2208814"/>
            <a:chExt cx="3810000" cy="1187528"/>
          </a:xfrm>
        </p:grpSpPr>
        <p:sp>
          <p:nvSpPr>
            <p:cNvPr id="26" name="Parallelogram 25"/>
            <p:cNvSpPr/>
            <p:nvPr/>
          </p:nvSpPr>
          <p:spPr>
            <a:xfrm>
              <a:off x="4876800" y="2208814"/>
              <a:ext cx="3810000" cy="1143986"/>
            </a:xfrm>
            <a:prstGeom prst="parallelogram">
              <a:avLst>
                <a:gd name="adj" fmla="val 101702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061858" y="3027010"/>
              <a:ext cx="6880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w</a:t>
              </a:r>
              <a:r>
                <a:rPr lang="en-US" dirty="0"/>
                <a:t> = 1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7925167" y="2895600"/>
            <a:ext cx="1375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/</a:t>
            </a:r>
            <a:r>
              <a:rPr lang="en-US" i="1" dirty="0"/>
              <a:t>w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/</a:t>
            </a:r>
            <a:r>
              <a:rPr lang="en-US" i="1" dirty="0"/>
              <a:t>w</a:t>
            </a:r>
            <a:r>
              <a:rPr lang="en-US" dirty="0"/>
              <a:t>, </a:t>
            </a:r>
            <a:r>
              <a:rPr lang="en-US" i="1" dirty="0"/>
              <a:t>1</a:t>
            </a:r>
            <a:r>
              <a:rPr lang="en-US" dirty="0"/>
              <a:t>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63001" y="1927035"/>
            <a:ext cx="1675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homogeneous plane</a:t>
            </a:r>
          </a:p>
        </p:txBody>
      </p:sp>
    </p:spTree>
    <p:extLst>
      <p:ext uri="{BB962C8B-B14F-4D97-AF65-F5344CB8AC3E}">
        <p14:creationId xmlns:p14="http://schemas.microsoft.com/office/powerpoint/2010/main" val="3313412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/>
      <p:bldP spid="20487" grpId="0"/>
      <p:bldP spid="36" grpId="0" animBg="1"/>
      <p:bldP spid="37" grpId="0" animBg="1"/>
      <p:bldP spid="38" grpId="0"/>
      <p:bldP spid="39" grpId="0"/>
      <p:bldP spid="4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Solution: homogeneous coordinates to the rescue</a:t>
            </a:r>
          </a:p>
        </p:txBody>
      </p:sp>
      <p:pic>
        <p:nvPicPr>
          <p:cNvPr id="78950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85926" y="2775858"/>
            <a:ext cx="3645578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8950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40800" y="4653616"/>
            <a:ext cx="6726754" cy="1800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08592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Affine transformations</a:t>
            </a:r>
          </a:p>
        </p:txBody>
      </p:sp>
      <p:pic>
        <p:nvPicPr>
          <p:cNvPr id="78950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85926" y="2775858"/>
            <a:ext cx="3645578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3962400" y="3897087"/>
            <a:ext cx="1905000" cy="424543"/>
          </a:xfrm>
          <a:prstGeom prst="rect">
            <a:avLst/>
          </a:prstGeom>
          <a:solidFill>
            <a:srgbClr val="FFFF0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 flipH="1">
            <a:off x="6346372" y="3897086"/>
            <a:ext cx="457200" cy="4027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934200" y="3646716"/>
            <a:ext cx="33507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any transformation represented by a 3x3 matrix with last row [ 0 0 1 ] we call an </a:t>
            </a:r>
            <a:r>
              <a:rPr lang="en-US" sz="2000" i="1" dirty="0"/>
              <a:t>affine</a:t>
            </a:r>
            <a:r>
              <a:rPr lang="en-US" sz="2000" dirty="0"/>
              <a:t> transformation</a:t>
            </a:r>
            <a:endParaRPr lang="en-US" sz="2000" i="1" dirty="0"/>
          </a:p>
        </p:txBody>
      </p:sp>
      <p:pic>
        <p:nvPicPr>
          <p:cNvPr id="7905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34199" y="4970154"/>
            <a:ext cx="2520044" cy="1725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06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affine transformations</a:t>
            </a:r>
          </a:p>
        </p:txBody>
      </p:sp>
      <p:graphicFrame>
        <p:nvGraphicFramePr>
          <p:cNvPr id="22530" name="Object 4"/>
          <p:cNvGraphicFramePr>
            <a:graphicFrameLocks noChangeAspect="1"/>
          </p:cNvGraphicFramePr>
          <p:nvPr/>
        </p:nvGraphicFramePr>
        <p:xfrm>
          <a:off x="2590800" y="3897076"/>
          <a:ext cx="2868612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54000" imgH="711000" progId="Equation.3">
                  <p:embed/>
                </p:oleObj>
              </mc:Choice>
              <mc:Fallback>
                <p:oleObj name="Equation" r:id="rId2" imgW="185400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897076"/>
                        <a:ext cx="2868612" cy="1100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5"/>
          <p:cNvGraphicFramePr>
            <a:graphicFrameLocks noChangeAspect="1"/>
          </p:cNvGraphicFramePr>
          <p:nvPr/>
        </p:nvGraphicFramePr>
        <p:xfrm>
          <a:off x="2868612" y="2066926"/>
          <a:ext cx="2101850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33440" imgH="698400" progId="Equation.3">
                  <p:embed/>
                </p:oleObj>
              </mc:Choice>
              <mc:Fallback>
                <p:oleObj name="Equation" r:id="rId4" imgW="133344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8612" y="2066926"/>
                        <a:ext cx="2101850" cy="1101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6"/>
          <p:cNvGraphicFramePr>
            <a:graphicFrameLocks noChangeAspect="1"/>
          </p:cNvGraphicFramePr>
          <p:nvPr/>
        </p:nvGraphicFramePr>
        <p:xfrm>
          <a:off x="6800851" y="3897077"/>
          <a:ext cx="2522537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00200" imgH="711000" progId="Equation.3">
                  <p:embed/>
                </p:oleObj>
              </mc:Choice>
              <mc:Fallback>
                <p:oleObj name="Equation" r:id="rId6" imgW="160020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0851" y="3897077"/>
                        <a:ext cx="2522537" cy="1120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6" name="Text Box 7"/>
          <p:cNvSpPr txBox="1">
            <a:spLocks noChangeArrowheads="1"/>
          </p:cNvSpPr>
          <p:nvPr/>
        </p:nvSpPr>
        <p:spPr bwMode="auto">
          <a:xfrm>
            <a:off x="3271837" y="3178175"/>
            <a:ext cx="10492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dirty="0">
                <a:latin typeface="+mj-lt"/>
              </a:rPr>
              <a:t>Translate</a:t>
            </a:r>
          </a:p>
        </p:txBody>
      </p:sp>
      <p:sp>
        <p:nvSpPr>
          <p:cNvPr id="22537" name="Text Box 8"/>
          <p:cNvSpPr txBox="1">
            <a:spLocks noChangeArrowheads="1"/>
          </p:cNvSpPr>
          <p:nvPr/>
        </p:nvSpPr>
        <p:spPr bwMode="auto">
          <a:xfrm>
            <a:off x="2934369" y="5017851"/>
            <a:ext cx="209063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dirty="0">
                <a:latin typeface="+mj-lt"/>
              </a:rPr>
              <a:t>2D </a:t>
            </a:r>
            <a:r>
              <a:rPr lang="en-US" i="1" dirty="0">
                <a:latin typeface="+mj-lt"/>
              </a:rPr>
              <a:t>in-plane </a:t>
            </a:r>
            <a:r>
              <a:rPr lang="en-US" dirty="0">
                <a:latin typeface="+mj-lt"/>
              </a:rPr>
              <a:t>rotation</a:t>
            </a:r>
          </a:p>
        </p:txBody>
      </p:sp>
      <p:sp>
        <p:nvSpPr>
          <p:cNvPr id="22538" name="Text Box 9"/>
          <p:cNvSpPr txBox="1">
            <a:spLocks noChangeArrowheads="1"/>
          </p:cNvSpPr>
          <p:nvPr/>
        </p:nvSpPr>
        <p:spPr bwMode="auto">
          <a:xfrm>
            <a:off x="7539038" y="5017851"/>
            <a:ext cx="72808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>
                <a:latin typeface="+mj-lt"/>
              </a:rPr>
              <a:t>Shear</a:t>
            </a:r>
          </a:p>
        </p:txBody>
      </p:sp>
      <p:graphicFrame>
        <p:nvGraphicFramePr>
          <p:cNvPr id="22533" name="Object 10"/>
          <p:cNvGraphicFramePr>
            <a:graphicFrameLocks noChangeAspect="1"/>
          </p:cNvGraphicFramePr>
          <p:nvPr/>
        </p:nvGraphicFramePr>
        <p:xfrm>
          <a:off x="6800851" y="2057401"/>
          <a:ext cx="2282825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47560" imgH="711000" progId="Equation.3">
                  <p:embed/>
                </p:oleObj>
              </mc:Choice>
              <mc:Fallback>
                <p:oleObj name="Equation" r:id="rId8" imgW="144756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0851" y="2057401"/>
                        <a:ext cx="2282825" cy="1120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9" name="Text Box 11"/>
          <p:cNvSpPr txBox="1">
            <a:spLocks noChangeArrowheads="1"/>
          </p:cNvSpPr>
          <p:nvPr/>
        </p:nvSpPr>
        <p:spPr bwMode="auto">
          <a:xfrm>
            <a:off x="7539038" y="3200400"/>
            <a:ext cx="68461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>
                <a:latin typeface="+mj-lt"/>
              </a:rPr>
              <a:t>Scale</a:t>
            </a:r>
          </a:p>
        </p:txBody>
      </p:sp>
    </p:spTree>
    <p:extLst>
      <p:ext uri="{BB962C8B-B14F-4D97-AF65-F5344CB8AC3E}">
        <p14:creationId xmlns:p14="http://schemas.microsoft.com/office/powerpoint/2010/main" val="27792626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7750" y="1612900"/>
            <a:ext cx="10128250" cy="49403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Affine transformations are combinations of …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Linear transformations, and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Translations</a:t>
            </a:r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 dirty="0"/>
              <a:t>Properties of affine transformations: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solidFill>
                  <a:srgbClr val="FF0000"/>
                </a:solidFill>
              </a:rPr>
              <a:t>Origin does not necessarily map to origin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Lines map to lines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Parallel lines remain parallel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Ratios are preserved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Closed under composition</a:t>
            </a:r>
          </a:p>
        </p:txBody>
      </p:sp>
      <p:graphicFrame>
        <p:nvGraphicFramePr>
          <p:cNvPr id="23554" name="Object 4"/>
          <p:cNvGraphicFramePr>
            <a:graphicFrameLocks noChangeAspect="1"/>
          </p:cNvGraphicFramePr>
          <p:nvPr/>
        </p:nvGraphicFramePr>
        <p:xfrm>
          <a:off x="7162801" y="2209801"/>
          <a:ext cx="2782887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71600" imgH="583920" progId="Equation.3">
                  <p:embed/>
                </p:oleObj>
              </mc:Choice>
              <mc:Fallback>
                <p:oleObj name="Equation" r:id="rId2" imgW="1371600" imgH="583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1" y="2209801"/>
                        <a:ext cx="2782887" cy="1184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3796DC03-A7B6-4B68-8ECF-4FE50EA26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dirty="0"/>
              <a:t>Affine transformations</a:t>
            </a:r>
          </a:p>
        </p:txBody>
      </p:sp>
    </p:spTree>
    <p:extLst>
      <p:ext uri="{BB962C8B-B14F-4D97-AF65-F5344CB8AC3E}">
        <p14:creationId xmlns:p14="http://schemas.microsoft.com/office/powerpoint/2010/main" val="4097093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IMG_010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11834" y="3705680"/>
            <a:ext cx="2038350" cy="153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5" descr="IMG_010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11834" y="1981200"/>
            <a:ext cx="2038350" cy="153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6" descr="pan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15004" y="2552020"/>
            <a:ext cx="4342683" cy="2019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ight Arrow 6"/>
          <p:cNvSpPr/>
          <p:nvPr/>
        </p:nvSpPr>
        <p:spPr>
          <a:xfrm>
            <a:off x="4615548" y="3276602"/>
            <a:ext cx="642258" cy="6422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79736" y="274638"/>
            <a:ext cx="9826445" cy="1143000"/>
          </a:xfrm>
        </p:spPr>
        <p:txBody>
          <a:bodyPr>
            <a:normAutofit/>
          </a:bodyPr>
          <a:lstStyle/>
          <a:p>
            <a:r>
              <a:rPr lang="en-US" dirty="0"/>
              <a:t>Is this an affine transformation?</a:t>
            </a:r>
          </a:p>
        </p:txBody>
      </p:sp>
    </p:spTree>
    <p:extLst>
      <p:ext uri="{BB962C8B-B14F-4D97-AF65-F5344CB8AC3E}">
        <p14:creationId xmlns:p14="http://schemas.microsoft.com/office/powerpoint/2010/main" val="39648595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 we go from here?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2438400"/>
            <a:ext cx="2520044" cy="1725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3124201" y="4191001"/>
            <a:ext cx="28463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dirty="0">
                <a:solidFill>
                  <a:prstClr val="black"/>
                </a:solidFill>
              </a:rPr>
              <a:t>affine transformation</a:t>
            </a:r>
          </a:p>
        </p:txBody>
      </p:sp>
      <p:sp>
        <p:nvSpPr>
          <p:cNvPr id="6" name="Right Arrow 5"/>
          <p:cNvSpPr/>
          <p:nvPr/>
        </p:nvSpPr>
        <p:spPr>
          <a:xfrm flipH="1">
            <a:off x="5780314" y="3643422"/>
            <a:ext cx="457200" cy="4027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46370" y="3494002"/>
            <a:ext cx="29173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what happens when we mess </a:t>
            </a:r>
            <a:r>
              <a:rPr lang="en-US" sz="2000"/>
              <a:t>with this row?</a:t>
            </a: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2334895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83695" y="274638"/>
            <a:ext cx="10824610" cy="11430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600" dirty="0"/>
              <a:t>Projective Transformations </a:t>
            </a:r>
            <a:r>
              <a:rPr lang="en-US" sz="3600" i="1" dirty="0"/>
              <a:t>aka</a:t>
            </a:r>
            <a:r>
              <a:rPr lang="en-US" sz="3600" dirty="0"/>
              <a:t> </a:t>
            </a:r>
            <a:r>
              <a:rPr lang="en-US" sz="3600" dirty="0" err="1"/>
              <a:t>Homographies</a:t>
            </a:r>
            <a:r>
              <a:rPr lang="en-US" sz="3600" dirty="0"/>
              <a:t> </a:t>
            </a:r>
            <a:r>
              <a:rPr lang="en-US" sz="3600" i="1" dirty="0"/>
              <a:t>aka </a:t>
            </a:r>
            <a:r>
              <a:rPr lang="en-US" sz="3600" dirty="0"/>
              <a:t>Planar Perspective Maps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0970" y="3352800"/>
            <a:ext cx="39254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Called a </a:t>
            </a:r>
            <a:r>
              <a:rPr lang="en-US" sz="2400" i="1" dirty="0" err="1"/>
              <a:t>homography</a:t>
            </a:r>
            <a:r>
              <a:rPr lang="en-US" sz="2400" dirty="0"/>
              <a:t> </a:t>
            </a:r>
          </a:p>
          <a:p>
            <a:r>
              <a:rPr lang="en-US" sz="2400" dirty="0"/>
              <a:t>(or </a:t>
            </a:r>
            <a:r>
              <a:rPr lang="en-US" sz="2400" i="1" dirty="0"/>
              <a:t>planar perspective map</a:t>
            </a:r>
            <a:r>
              <a:rPr lang="en-US" sz="2400" dirty="0"/>
              <a:t>)</a:t>
            </a:r>
            <a:endParaRPr lang="en-US" sz="2400" i="1" dirty="0"/>
          </a:p>
        </p:txBody>
      </p:sp>
      <p:grpSp>
        <p:nvGrpSpPr>
          <p:cNvPr id="2" name="Group 11"/>
          <p:cNvGrpSpPr/>
          <p:nvPr/>
        </p:nvGrpSpPr>
        <p:grpSpPr>
          <a:xfrm>
            <a:off x="6312807" y="1774147"/>
            <a:ext cx="3989666" cy="1992311"/>
            <a:chOff x="750206" y="1393146"/>
            <a:chExt cx="7893051" cy="3941536"/>
          </a:xfrm>
        </p:grpSpPr>
        <p:pic>
          <p:nvPicPr>
            <p:cNvPr id="9" name="Picture 2" descr="C:\snavely\work\teaching\09Fa-CS6610\lectures\lec02\images\bee_persp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701721" y="1393146"/>
              <a:ext cx="3941536" cy="3941536"/>
            </a:xfrm>
            <a:prstGeom prst="rect">
              <a:avLst/>
            </a:prstGeom>
            <a:noFill/>
            <a:effectLst>
              <a:outerShdw blurRad="101600" dist="762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0" name="Picture 3" descr="C:\snavely\work\teaching\09Fa-CS6610\lectures\lec02\images\bee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50206" y="2612346"/>
              <a:ext cx="2613025" cy="2613025"/>
            </a:xfrm>
            <a:prstGeom prst="rect">
              <a:avLst/>
            </a:prstGeom>
            <a:noFill/>
            <a:effectLst>
              <a:outerShdw blurRad="101600" dist="762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1" name="Right Arrow 10"/>
            <p:cNvSpPr/>
            <p:nvPr/>
          </p:nvSpPr>
          <p:spPr>
            <a:xfrm>
              <a:off x="3929742" y="3418114"/>
              <a:ext cx="892629" cy="859972"/>
            </a:xfrm>
            <a:prstGeom prst="rightArrow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blurRad="1016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16"/>
          <p:cNvGrpSpPr/>
          <p:nvPr/>
        </p:nvGrpSpPr>
        <p:grpSpPr>
          <a:xfrm>
            <a:off x="3556907" y="4637314"/>
            <a:ext cx="5154387" cy="1763486"/>
            <a:chOff x="1543049" y="4365172"/>
            <a:chExt cx="5154387" cy="1763486"/>
          </a:xfrm>
        </p:grpSpPr>
        <p:pic>
          <p:nvPicPr>
            <p:cNvPr id="798724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543049" y="4365172"/>
              <a:ext cx="2204358" cy="1763486"/>
            </a:xfrm>
            <a:prstGeom prst="rect">
              <a:avLst/>
            </a:prstGeom>
            <a:noFill/>
            <a:effectLst>
              <a:outerShdw blurRad="101600" dist="762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98725" name="Picture 5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493078" y="4365172"/>
              <a:ext cx="2204358" cy="1763486"/>
            </a:xfrm>
            <a:prstGeom prst="rect">
              <a:avLst/>
            </a:prstGeom>
            <a:noFill/>
            <a:effectLst>
              <a:outerShdw blurRad="101600" dist="762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6" name="Right Arrow 15"/>
            <p:cNvSpPr/>
            <p:nvPr/>
          </p:nvSpPr>
          <p:spPr>
            <a:xfrm>
              <a:off x="3914010" y="5061926"/>
              <a:ext cx="451193" cy="434686"/>
            </a:xfrm>
            <a:prstGeom prst="rightArrow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blurRad="1016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40993" name="Picture 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133601" y="1828801"/>
            <a:ext cx="3178899" cy="153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88841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Homographies</a:t>
            </a:r>
            <a:endParaRPr lang="en-US" dirty="0"/>
          </a:p>
        </p:txBody>
      </p:sp>
      <p:pic>
        <p:nvPicPr>
          <p:cNvPr id="3348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3581400"/>
            <a:ext cx="40386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 flipH="1">
            <a:off x="1676400" y="2133600"/>
            <a:ext cx="11430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48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1630778"/>
            <a:ext cx="8991600" cy="1569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7162800" y="1524000"/>
            <a:ext cx="3429000" cy="1981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2669309" y="2895601"/>
            <a:ext cx="5331691" cy="1973997"/>
            <a:chOff x="1145309" y="2895600"/>
            <a:chExt cx="5331691" cy="1973997"/>
          </a:xfrm>
        </p:grpSpPr>
        <p:sp>
          <p:nvSpPr>
            <p:cNvPr id="7" name="TextBox 6"/>
            <p:cNvSpPr txBox="1"/>
            <p:nvPr/>
          </p:nvSpPr>
          <p:spPr>
            <a:xfrm>
              <a:off x="1145309" y="4038600"/>
              <a:ext cx="3519568" cy="83099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What happens when the denominator is 0?</a:t>
              </a: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 flipV="1">
              <a:off x="4495800" y="2895600"/>
              <a:ext cx="1981200" cy="1143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99694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345AB-2FFC-9D65-80D8-66660C476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97DDB-52A5-A51D-1768-74B55AF4D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Homographies</a:t>
            </a:r>
            <a:endParaRPr lang="en-US" dirty="0"/>
          </a:p>
        </p:txBody>
      </p:sp>
      <p:pic>
        <p:nvPicPr>
          <p:cNvPr id="334850" name="Picture 2">
            <a:extLst>
              <a:ext uri="{FF2B5EF4-FFF2-40B4-BE49-F238E27FC236}">
                <a16:creationId xmlns:a16="http://schemas.microsoft.com/office/drawing/2014/main" id="{DD988257-4957-4048-53B6-73916217F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3581400"/>
            <a:ext cx="40386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C1AD58F-A414-7339-5078-7F4074EE6DB0}"/>
              </a:ext>
            </a:extLst>
          </p:cNvPr>
          <p:cNvSpPr/>
          <p:nvPr/>
        </p:nvSpPr>
        <p:spPr>
          <a:xfrm flipH="1">
            <a:off x="1676400" y="2133600"/>
            <a:ext cx="11430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4851" name="Picture 3">
            <a:extLst>
              <a:ext uri="{FF2B5EF4-FFF2-40B4-BE49-F238E27FC236}">
                <a16:creationId xmlns:a16="http://schemas.microsoft.com/office/drawing/2014/main" id="{F6570A3C-144B-3F3C-EC5E-7F8F661A6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1630778"/>
            <a:ext cx="8991600" cy="1569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8E3730-7627-D626-A913-6BC657725B4F}"/>
              </a:ext>
            </a:extLst>
          </p:cNvPr>
          <p:cNvSpPr/>
          <p:nvPr/>
        </p:nvSpPr>
        <p:spPr>
          <a:xfrm>
            <a:off x="7162800" y="1524000"/>
            <a:ext cx="3429000" cy="1981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46A23B5-2E6B-505F-8954-86BCCD02B44A}"/>
              </a:ext>
            </a:extLst>
          </p:cNvPr>
          <p:cNvGrpSpPr/>
          <p:nvPr/>
        </p:nvGrpSpPr>
        <p:grpSpPr>
          <a:xfrm>
            <a:off x="2669309" y="2895601"/>
            <a:ext cx="5331691" cy="1973997"/>
            <a:chOff x="1145309" y="2895600"/>
            <a:chExt cx="5331691" cy="197399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061309B-769F-EBD9-5DAD-0EE60816741D}"/>
                </a:ext>
              </a:extLst>
            </p:cNvPr>
            <p:cNvSpPr txBox="1"/>
            <p:nvPr/>
          </p:nvSpPr>
          <p:spPr>
            <a:xfrm>
              <a:off x="1145309" y="4038600"/>
              <a:ext cx="3519568" cy="83099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What happens when the denominator is 0?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2838E25-814F-23E5-D984-6643EDA8AE47}"/>
                </a:ext>
              </a:extLst>
            </p:cNvPr>
            <p:cNvCxnSpPr/>
            <p:nvPr/>
          </p:nvCxnSpPr>
          <p:spPr>
            <a:xfrm flipV="1">
              <a:off x="4495800" y="2895600"/>
              <a:ext cx="1981200" cy="1143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52F46B34-C3E0-6901-A3E9-A8749DAB3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27"/>
          <a:stretch>
            <a:fillRect/>
          </a:stretch>
        </p:blipFill>
        <p:spPr>
          <a:xfrm>
            <a:off x="641388" y="1226793"/>
            <a:ext cx="9950412" cy="535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551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val 29"/>
          <p:cNvSpPr/>
          <p:nvPr/>
        </p:nvSpPr>
        <p:spPr>
          <a:xfrm>
            <a:off x="8501744" y="1981200"/>
            <a:ext cx="128016" cy="12801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Points at infinity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4" name="Group 11"/>
          <p:cNvGrpSpPr/>
          <p:nvPr/>
        </p:nvGrpSpPr>
        <p:grpSpPr>
          <a:xfrm>
            <a:off x="2513443" y="2362200"/>
            <a:ext cx="7171866" cy="3581400"/>
            <a:chOff x="750206" y="1393146"/>
            <a:chExt cx="7893051" cy="3941536"/>
          </a:xfrm>
        </p:grpSpPr>
        <p:pic>
          <p:nvPicPr>
            <p:cNvPr id="5" name="Picture 2" descr="C:\snavely\work\teaching\09Fa-CS6610\lectures\lec02\images\bee_persp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701721" y="1393146"/>
              <a:ext cx="3941536" cy="3941536"/>
            </a:xfrm>
            <a:prstGeom prst="rect">
              <a:avLst/>
            </a:prstGeom>
            <a:noFill/>
            <a:effectLst>
              <a:outerShdw blurRad="101600" dist="762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" name="Picture 3" descr="C:\snavely\work\teaching\09Fa-CS6610\lectures\lec02\images\bee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50206" y="2612346"/>
              <a:ext cx="2613025" cy="2613025"/>
            </a:xfrm>
            <a:prstGeom prst="rect">
              <a:avLst/>
            </a:prstGeom>
            <a:noFill/>
            <a:effectLst>
              <a:outerShdw blurRad="101600" dist="762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Right Arrow 6"/>
            <p:cNvSpPr/>
            <p:nvPr/>
          </p:nvSpPr>
          <p:spPr>
            <a:xfrm>
              <a:off x="3929742" y="3418114"/>
              <a:ext cx="892629" cy="859972"/>
            </a:xfrm>
            <a:prstGeom prst="rightArrow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blurRad="1016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" name="Straight Connector 8"/>
          <p:cNvCxnSpPr/>
          <p:nvPr/>
        </p:nvCxnSpPr>
        <p:spPr>
          <a:xfrm rot="5400000" flipH="1" flipV="1">
            <a:off x="266700" y="3543300"/>
            <a:ext cx="449580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5400000" flipH="1" flipV="1">
            <a:off x="2628900" y="3543300"/>
            <a:ext cx="449580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5400000" flipH="1" flipV="1">
            <a:off x="5389095" y="2798295"/>
            <a:ext cx="3873987" cy="2416629"/>
          </a:xfrm>
          <a:prstGeom prst="line">
            <a:avLst/>
          </a:prstGeom>
          <a:ln w="28575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rot="16200000" flipV="1">
            <a:off x="7185164" y="3451362"/>
            <a:ext cx="3886202" cy="1098278"/>
          </a:xfrm>
          <a:prstGeom prst="line">
            <a:avLst/>
          </a:prstGeom>
          <a:ln w="28575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1428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49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3783204"/>
            <a:ext cx="457200" cy="331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2"/>
          <p:cNvGrpSpPr>
            <a:grpSpLocks/>
          </p:cNvGrpSpPr>
          <p:nvPr/>
        </p:nvGrpSpPr>
        <p:grpSpPr bwMode="auto">
          <a:xfrm rot="9753105">
            <a:off x="7642226" y="4208464"/>
            <a:ext cx="455613" cy="592137"/>
            <a:chOff x="3979" y="3269"/>
            <a:chExt cx="260" cy="408"/>
          </a:xfrm>
        </p:grpSpPr>
        <p:sp>
          <p:nvSpPr>
            <p:cNvPr id="4132" name="Freeform 3"/>
            <p:cNvSpPr>
              <a:spLocks/>
            </p:cNvSpPr>
            <p:nvPr/>
          </p:nvSpPr>
          <p:spPr bwMode="auto">
            <a:xfrm>
              <a:off x="3984" y="3371"/>
              <a:ext cx="180" cy="306"/>
            </a:xfrm>
            <a:custGeom>
              <a:avLst/>
              <a:gdLst>
                <a:gd name="T0" fmla="*/ 16 w 202"/>
                <a:gd name="T1" fmla="*/ 305 h 306"/>
                <a:gd name="T2" fmla="*/ 0 w 202"/>
                <a:gd name="T3" fmla="*/ 22 h 306"/>
                <a:gd name="T4" fmla="*/ 9 w 202"/>
                <a:gd name="T5" fmla="*/ 13 h 306"/>
                <a:gd name="T6" fmla="*/ 15 w 202"/>
                <a:gd name="T7" fmla="*/ 14 h 306"/>
                <a:gd name="T8" fmla="*/ 21 w 202"/>
                <a:gd name="T9" fmla="*/ 13 h 306"/>
                <a:gd name="T10" fmla="*/ 22 w 202"/>
                <a:gd name="T11" fmla="*/ 10 h 306"/>
                <a:gd name="T12" fmla="*/ 27 w 202"/>
                <a:gd name="T13" fmla="*/ 11 h 306"/>
                <a:gd name="T14" fmla="*/ 31 w 202"/>
                <a:gd name="T15" fmla="*/ 7 h 306"/>
                <a:gd name="T16" fmla="*/ 37 w 202"/>
                <a:gd name="T17" fmla="*/ 9 h 306"/>
                <a:gd name="T18" fmla="*/ 41 w 202"/>
                <a:gd name="T19" fmla="*/ 6 h 306"/>
                <a:gd name="T20" fmla="*/ 46 w 202"/>
                <a:gd name="T21" fmla="*/ 5 h 306"/>
                <a:gd name="T22" fmla="*/ 52 w 202"/>
                <a:gd name="T23" fmla="*/ 3 h 306"/>
                <a:gd name="T24" fmla="*/ 57 w 202"/>
                <a:gd name="T25" fmla="*/ 4 h 306"/>
                <a:gd name="T26" fmla="*/ 62 w 202"/>
                <a:gd name="T27" fmla="*/ 3 h 306"/>
                <a:gd name="T28" fmla="*/ 66 w 202"/>
                <a:gd name="T29" fmla="*/ 0 h 306"/>
                <a:gd name="T30" fmla="*/ 74 w 202"/>
                <a:gd name="T31" fmla="*/ 0 h 306"/>
                <a:gd name="T32" fmla="*/ 80 w 202"/>
                <a:gd name="T33" fmla="*/ 1 h 306"/>
                <a:gd name="T34" fmla="*/ 83 w 202"/>
                <a:gd name="T35" fmla="*/ 1 h 306"/>
                <a:gd name="T36" fmla="*/ 86 w 202"/>
                <a:gd name="T37" fmla="*/ 3 h 306"/>
                <a:gd name="T38" fmla="*/ 92 w 202"/>
                <a:gd name="T39" fmla="*/ 4 h 306"/>
                <a:gd name="T40" fmla="*/ 98 w 202"/>
                <a:gd name="T41" fmla="*/ 7 h 306"/>
                <a:gd name="T42" fmla="*/ 103 w 202"/>
                <a:gd name="T43" fmla="*/ 7 h 306"/>
                <a:gd name="T44" fmla="*/ 111 w 202"/>
                <a:gd name="T45" fmla="*/ 10 h 306"/>
                <a:gd name="T46" fmla="*/ 115 w 202"/>
                <a:gd name="T47" fmla="*/ 12 h 306"/>
                <a:gd name="T48" fmla="*/ 121 w 202"/>
                <a:gd name="T49" fmla="*/ 11 h 306"/>
                <a:gd name="T50" fmla="*/ 125 w 202"/>
                <a:gd name="T51" fmla="*/ 16 h 306"/>
                <a:gd name="T52" fmla="*/ 131 w 202"/>
                <a:gd name="T53" fmla="*/ 17 h 306"/>
                <a:gd name="T54" fmla="*/ 135 w 202"/>
                <a:gd name="T55" fmla="*/ 19 h 306"/>
                <a:gd name="T56" fmla="*/ 140 w 202"/>
                <a:gd name="T57" fmla="*/ 21 h 306"/>
                <a:gd name="T58" fmla="*/ 142 w 202"/>
                <a:gd name="T59" fmla="*/ 24 h 306"/>
                <a:gd name="T60" fmla="*/ 146 w 202"/>
                <a:gd name="T61" fmla="*/ 27 h 306"/>
                <a:gd name="T62" fmla="*/ 151 w 202"/>
                <a:gd name="T63" fmla="*/ 31 h 306"/>
                <a:gd name="T64" fmla="*/ 153 w 202"/>
                <a:gd name="T65" fmla="*/ 35 h 306"/>
                <a:gd name="T66" fmla="*/ 156 w 202"/>
                <a:gd name="T67" fmla="*/ 36 h 306"/>
                <a:gd name="T68" fmla="*/ 160 w 202"/>
                <a:gd name="T69" fmla="*/ 41 h 306"/>
                <a:gd name="T70" fmla="*/ 163 w 202"/>
                <a:gd name="T71" fmla="*/ 44 h 306"/>
                <a:gd name="T72" fmla="*/ 168 w 202"/>
                <a:gd name="T73" fmla="*/ 46 h 306"/>
                <a:gd name="T74" fmla="*/ 172 w 202"/>
                <a:gd name="T75" fmla="*/ 50 h 306"/>
                <a:gd name="T76" fmla="*/ 176 w 202"/>
                <a:gd name="T77" fmla="*/ 53 h 306"/>
                <a:gd name="T78" fmla="*/ 178 w 202"/>
                <a:gd name="T79" fmla="*/ 55 h 306"/>
                <a:gd name="T80" fmla="*/ 182 w 202"/>
                <a:gd name="T81" fmla="*/ 59 h 306"/>
                <a:gd name="T82" fmla="*/ 185 w 202"/>
                <a:gd name="T83" fmla="*/ 62 h 306"/>
                <a:gd name="T84" fmla="*/ 186 w 202"/>
                <a:gd name="T85" fmla="*/ 67 h 306"/>
                <a:gd name="T86" fmla="*/ 189 w 202"/>
                <a:gd name="T87" fmla="*/ 73 h 306"/>
                <a:gd name="T88" fmla="*/ 192 w 202"/>
                <a:gd name="T89" fmla="*/ 76 h 306"/>
                <a:gd name="T90" fmla="*/ 196 w 202"/>
                <a:gd name="T91" fmla="*/ 80 h 306"/>
                <a:gd name="T92" fmla="*/ 198 w 202"/>
                <a:gd name="T93" fmla="*/ 84 h 306"/>
                <a:gd name="T94" fmla="*/ 200 w 202"/>
                <a:gd name="T95" fmla="*/ 90 h 306"/>
                <a:gd name="T96" fmla="*/ 201 w 202"/>
                <a:gd name="T97" fmla="*/ 99 h 306"/>
                <a:gd name="T98" fmla="*/ 16 w 202"/>
                <a:gd name="T99" fmla="*/ 305 h 30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202"/>
                <a:gd name="T151" fmla="*/ 0 h 306"/>
                <a:gd name="T152" fmla="*/ 202 w 202"/>
                <a:gd name="T153" fmla="*/ 306 h 30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202" h="306">
                  <a:moveTo>
                    <a:pt x="16" y="305"/>
                  </a:moveTo>
                  <a:lnTo>
                    <a:pt x="0" y="22"/>
                  </a:lnTo>
                  <a:lnTo>
                    <a:pt x="9" y="13"/>
                  </a:lnTo>
                  <a:lnTo>
                    <a:pt x="15" y="14"/>
                  </a:lnTo>
                  <a:lnTo>
                    <a:pt x="21" y="13"/>
                  </a:lnTo>
                  <a:lnTo>
                    <a:pt x="22" y="10"/>
                  </a:lnTo>
                  <a:lnTo>
                    <a:pt x="27" y="11"/>
                  </a:lnTo>
                  <a:lnTo>
                    <a:pt x="31" y="7"/>
                  </a:lnTo>
                  <a:lnTo>
                    <a:pt x="37" y="9"/>
                  </a:lnTo>
                  <a:lnTo>
                    <a:pt x="41" y="6"/>
                  </a:lnTo>
                  <a:lnTo>
                    <a:pt x="46" y="5"/>
                  </a:lnTo>
                  <a:lnTo>
                    <a:pt x="52" y="3"/>
                  </a:lnTo>
                  <a:lnTo>
                    <a:pt x="57" y="4"/>
                  </a:lnTo>
                  <a:lnTo>
                    <a:pt x="62" y="3"/>
                  </a:lnTo>
                  <a:lnTo>
                    <a:pt x="66" y="0"/>
                  </a:lnTo>
                  <a:lnTo>
                    <a:pt x="74" y="0"/>
                  </a:lnTo>
                  <a:lnTo>
                    <a:pt x="80" y="1"/>
                  </a:lnTo>
                  <a:lnTo>
                    <a:pt x="83" y="1"/>
                  </a:lnTo>
                  <a:lnTo>
                    <a:pt x="86" y="3"/>
                  </a:lnTo>
                  <a:lnTo>
                    <a:pt x="92" y="4"/>
                  </a:lnTo>
                  <a:lnTo>
                    <a:pt x="98" y="7"/>
                  </a:lnTo>
                  <a:lnTo>
                    <a:pt x="103" y="7"/>
                  </a:lnTo>
                  <a:lnTo>
                    <a:pt x="111" y="10"/>
                  </a:lnTo>
                  <a:lnTo>
                    <a:pt x="115" y="12"/>
                  </a:lnTo>
                  <a:lnTo>
                    <a:pt x="121" y="11"/>
                  </a:lnTo>
                  <a:lnTo>
                    <a:pt x="125" y="16"/>
                  </a:lnTo>
                  <a:lnTo>
                    <a:pt x="131" y="17"/>
                  </a:lnTo>
                  <a:lnTo>
                    <a:pt x="135" y="19"/>
                  </a:lnTo>
                  <a:lnTo>
                    <a:pt x="140" y="21"/>
                  </a:lnTo>
                  <a:lnTo>
                    <a:pt x="142" y="24"/>
                  </a:lnTo>
                  <a:lnTo>
                    <a:pt x="146" y="27"/>
                  </a:lnTo>
                  <a:lnTo>
                    <a:pt x="151" y="31"/>
                  </a:lnTo>
                  <a:lnTo>
                    <a:pt x="153" y="35"/>
                  </a:lnTo>
                  <a:lnTo>
                    <a:pt x="156" y="36"/>
                  </a:lnTo>
                  <a:lnTo>
                    <a:pt x="160" y="41"/>
                  </a:lnTo>
                  <a:lnTo>
                    <a:pt x="163" y="44"/>
                  </a:lnTo>
                  <a:lnTo>
                    <a:pt x="168" y="46"/>
                  </a:lnTo>
                  <a:lnTo>
                    <a:pt x="172" y="50"/>
                  </a:lnTo>
                  <a:lnTo>
                    <a:pt x="176" y="53"/>
                  </a:lnTo>
                  <a:lnTo>
                    <a:pt x="178" y="55"/>
                  </a:lnTo>
                  <a:lnTo>
                    <a:pt x="182" y="59"/>
                  </a:lnTo>
                  <a:lnTo>
                    <a:pt x="185" y="62"/>
                  </a:lnTo>
                  <a:lnTo>
                    <a:pt x="186" y="67"/>
                  </a:lnTo>
                  <a:lnTo>
                    <a:pt x="189" y="73"/>
                  </a:lnTo>
                  <a:lnTo>
                    <a:pt x="192" y="76"/>
                  </a:lnTo>
                  <a:lnTo>
                    <a:pt x="196" y="80"/>
                  </a:lnTo>
                  <a:lnTo>
                    <a:pt x="198" y="84"/>
                  </a:lnTo>
                  <a:lnTo>
                    <a:pt x="200" y="90"/>
                  </a:lnTo>
                  <a:lnTo>
                    <a:pt x="201" y="99"/>
                  </a:lnTo>
                  <a:lnTo>
                    <a:pt x="16" y="305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3" name="Arc 4"/>
            <p:cNvSpPr>
              <a:spLocks/>
            </p:cNvSpPr>
            <p:nvPr/>
          </p:nvSpPr>
          <p:spPr bwMode="auto">
            <a:xfrm rot="-1380000">
              <a:off x="4011" y="3348"/>
              <a:ext cx="132" cy="149"/>
            </a:xfrm>
            <a:custGeom>
              <a:avLst/>
              <a:gdLst>
                <a:gd name="T0" fmla="*/ 0 w 21745"/>
                <a:gd name="T1" fmla="*/ 0 h 21600"/>
                <a:gd name="T2" fmla="*/ 132 w 21745"/>
                <a:gd name="T3" fmla="*/ 149 h 21600"/>
                <a:gd name="T4" fmla="*/ 1 w 21745"/>
                <a:gd name="T5" fmla="*/ 149 h 21600"/>
                <a:gd name="T6" fmla="*/ 0 60000 65536"/>
                <a:gd name="T7" fmla="*/ 0 60000 65536"/>
                <a:gd name="T8" fmla="*/ 0 60000 65536"/>
                <a:gd name="T9" fmla="*/ 0 w 21745"/>
                <a:gd name="T10" fmla="*/ 0 h 21600"/>
                <a:gd name="T11" fmla="*/ 21745 w 2174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45" h="21600" fill="none" extrusionOk="0">
                  <a:moveTo>
                    <a:pt x="0" y="0"/>
                  </a:moveTo>
                  <a:cubicBezTo>
                    <a:pt x="48" y="0"/>
                    <a:pt x="96" y="-1"/>
                    <a:pt x="145" y="0"/>
                  </a:cubicBezTo>
                  <a:cubicBezTo>
                    <a:pt x="12074" y="0"/>
                    <a:pt x="21745" y="9670"/>
                    <a:pt x="21745" y="21600"/>
                  </a:cubicBezTo>
                </a:path>
                <a:path w="21745" h="21600" stroke="0" extrusionOk="0">
                  <a:moveTo>
                    <a:pt x="0" y="0"/>
                  </a:moveTo>
                  <a:cubicBezTo>
                    <a:pt x="48" y="0"/>
                    <a:pt x="96" y="-1"/>
                    <a:pt x="145" y="0"/>
                  </a:cubicBezTo>
                  <a:cubicBezTo>
                    <a:pt x="12074" y="0"/>
                    <a:pt x="21745" y="9670"/>
                    <a:pt x="21745" y="21600"/>
                  </a:cubicBezTo>
                  <a:lnTo>
                    <a:pt x="145" y="21600"/>
                  </a:lnTo>
                  <a:close/>
                </a:path>
              </a:pathLst>
            </a:custGeom>
            <a:solidFill>
              <a:schemeClr val="bg1"/>
            </a:solidFill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4" name="Line 5"/>
            <p:cNvSpPr>
              <a:spLocks noChangeShapeType="1"/>
            </p:cNvSpPr>
            <p:nvPr/>
          </p:nvSpPr>
          <p:spPr bwMode="auto">
            <a:xfrm>
              <a:off x="3979" y="3269"/>
              <a:ext cx="20" cy="40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5" name="Oval 6"/>
            <p:cNvSpPr>
              <a:spLocks noChangeArrowheads="1"/>
            </p:cNvSpPr>
            <p:nvPr/>
          </p:nvSpPr>
          <p:spPr bwMode="auto">
            <a:xfrm rot="-3960000">
              <a:off x="4047" y="3351"/>
              <a:ext cx="71" cy="11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6" name="Line 7"/>
            <p:cNvSpPr>
              <a:spLocks noChangeShapeType="1"/>
            </p:cNvSpPr>
            <p:nvPr/>
          </p:nvSpPr>
          <p:spPr bwMode="auto">
            <a:xfrm flipV="1">
              <a:off x="3999" y="3376"/>
              <a:ext cx="240" cy="3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02" name="Line 8"/>
          <p:cNvSpPr>
            <a:spLocks noChangeShapeType="1"/>
          </p:cNvSpPr>
          <p:nvPr/>
        </p:nvSpPr>
        <p:spPr bwMode="auto">
          <a:xfrm flipV="1">
            <a:off x="9753600" y="4572000"/>
            <a:ext cx="0" cy="5334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3" name="Line 9"/>
          <p:cNvSpPr>
            <a:spLocks noChangeShapeType="1"/>
          </p:cNvSpPr>
          <p:nvPr/>
        </p:nvSpPr>
        <p:spPr bwMode="auto">
          <a:xfrm>
            <a:off x="8991600" y="5105400"/>
            <a:ext cx="76200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4" name="Rectangle 10"/>
          <p:cNvSpPr>
            <a:spLocks noGrp="1" noChangeArrowheads="1"/>
          </p:cNvSpPr>
          <p:nvPr>
            <p:ph type="title"/>
          </p:nvPr>
        </p:nvSpPr>
        <p:spPr>
          <a:xfrm>
            <a:off x="628073" y="-106372"/>
            <a:ext cx="10935854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Image warping with </a:t>
            </a:r>
            <a:r>
              <a:rPr lang="en-US" dirty="0" err="1"/>
              <a:t>homographies</a:t>
            </a:r>
            <a:endParaRPr lang="en-US" dirty="0"/>
          </a:p>
        </p:txBody>
      </p:sp>
      <p:sp>
        <p:nvSpPr>
          <p:cNvPr id="4105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2514600" y="914400"/>
            <a:ext cx="7772400" cy="5257800"/>
          </a:xfrm>
        </p:spPr>
        <p:txBody>
          <a:bodyPr/>
          <a:lstStyle/>
          <a:p>
            <a:pPr eaLnBrk="1" hangingPunct="1"/>
            <a:endParaRPr lang="en-US"/>
          </a:p>
          <a:p>
            <a:pPr eaLnBrk="1" hangingPunct="1"/>
            <a:endParaRPr lang="en-US"/>
          </a:p>
        </p:txBody>
      </p:sp>
      <p:graphicFrame>
        <p:nvGraphicFramePr>
          <p:cNvPr id="4098" name="Object 12"/>
          <p:cNvGraphicFramePr>
            <a:graphicFrameLocks noChangeAspect="1"/>
          </p:cNvGraphicFramePr>
          <p:nvPr/>
        </p:nvGraphicFramePr>
        <p:xfrm>
          <a:off x="2438401" y="914400"/>
          <a:ext cx="3082925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5106113" imgH="5172797" progId="">
                  <p:embed/>
                </p:oleObj>
              </mc:Choice>
              <mc:Fallback>
                <p:oleObj name="Photo Editor Photo" r:id="rId3" imgW="5106113" imgH="5172797" progId="">
                  <p:embed/>
                  <p:pic>
                    <p:nvPicPr>
                      <p:cNvPr id="409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1" y="914400"/>
                        <a:ext cx="3082925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13"/>
          <p:cNvGraphicFramePr>
            <a:graphicFrameLocks noChangeAspect="1"/>
          </p:cNvGraphicFramePr>
          <p:nvPr/>
        </p:nvGraphicFramePr>
        <p:xfrm>
          <a:off x="6705601" y="914400"/>
          <a:ext cx="3082925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5" imgW="5106113" imgH="5172797" progId="">
                  <p:embed/>
                </p:oleObj>
              </mc:Choice>
              <mc:Fallback>
                <p:oleObj name="Photo Editor Photo" r:id="rId5" imgW="5106113" imgH="5172797" progId="">
                  <p:embed/>
                  <p:pic>
                    <p:nvPicPr>
                      <p:cNvPr id="409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1" y="914400"/>
                        <a:ext cx="3082925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4"/>
          <p:cNvGrpSpPr>
            <a:grpSpLocks/>
          </p:cNvGrpSpPr>
          <p:nvPr/>
        </p:nvGrpSpPr>
        <p:grpSpPr bwMode="auto">
          <a:xfrm rot="4164331">
            <a:off x="3241675" y="4270375"/>
            <a:ext cx="412750" cy="647700"/>
            <a:chOff x="3979" y="3269"/>
            <a:chExt cx="260" cy="408"/>
          </a:xfrm>
        </p:grpSpPr>
        <p:sp>
          <p:nvSpPr>
            <p:cNvPr id="4127" name="Freeform 15"/>
            <p:cNvSpPr>
              <a:spLocks/>
            </p:cNvSpPr>
            <p:nvPr/>
          </p:nvSpPr>
          <p:spPr bwMode="auto">
            <a:xfrm>
              <a:off x="3984" y="3371"/>
              <a:ext cx="180" cy="306"/>
            </a:xfrm>
            <a:custGeom>
              <a:avLst/>
              <a:gdLst>
                <a:gd name="T0" fmla="*/ 16 w 202"/>
                <a:gd name="T1" fmla="*/ 305 h 306"/>
                <a:gd name="T2" fmla="*/ 0 w 202"/>
                <a:gd name="T3" fmla="*/ 22 h 306"/>
                <a:gd name="T4" fmla="*/ 9 w 202"/>
                <a:gd name="T5" fmla="*/ 13 h 306"/>
                <a:gd name="T6" fmla="*/ 15 w 202"/>
                <a:gd name="T7" fmla="*/ 14 h 306"/>
                <a:gd name="T8" fmla="*/ 21 w 202"/>
                <a:gd name="T9" fmla="*/ 13 h 306"/>
                <a:gd name="T10" fmla="*/ 22 w 202"/>
                <a:gd name="T11" fmla="*/ 10 h 306"/>
                <a:gd name="T12" fmla="*/ 27 w 202"/>
                <a:gd name="T13" fmla="*/ 11 h 306"/>
                <a:gd name="T14" fmla="*/ 31 w 202"/>
                <a:gd name="T15" fmla="*/ 7 h 306"/>
                <a:gd name="T16" fmla="*/ 37 w 202"/>
                <a:gd name="T17" fmla="*/ 9 h 306"/>
                <a:gd name="T18" fmla="*/ 41 w 202"/>
                <a:gd name="T19" fmla="*/ 6 h 306"/>
                <a:gd name="T20" fmla="*/ 46 w 202"/>
                <a:gd name="T21" fmla="*/ 5 h 306"/>
                <a:gd name="T22" fmla="*/ 52 w 202"/>
                <a:gd name="T23" fmla="*/ 3 h 306"/>
                <a:gd name="T24" fmla="*/ 57 w 202"/>
                <a:gd name="T25" fmla="*/ 4 h 306"/>
                <a:gd name="T26" fmla="*/ 62 w 202"/>
                <a:gd name="T27" fmla="*/ 3 h 306"/>
                <a:gd name="T28" fmla="*/ 66 w 202"/>
                <a:gd name="T29" fmla="*/ 0 h 306"/>
                <a:gd name="T30" fmla="*/ 74 w 202"/>
                <a:gd name="T31" fmla="*/ 0 h 306"/>
                <a:gd name="T32" fmla="*/ 80 w 202"/>
                <a:gd name="T33" fmla="*/ 1 h 306"/>
                <a:gd name="T34" fmla="*/ 83 w 202"/>
                <a:gd name="T35" fmla="*/ 1 h 306"/>
                <a:gd name="T36" fmla="*/ 86 w 202"/>
                <a:gd name="T37" fmla="*/ 3 h 306"/>
                <a:gd name="T38" fmla="*/ 92 w 202"/>
                <a:gd name="T39" fmla="*/ 4 h 306"/>
                <a:gd name="T40" fmla="*/ 98 w 202"/>
                <a:gd name="T41" fmla="*/ 7 h 306"/>
                <a:gd name="T42" fmla="*/ 103 w 202"/>
                <a:gd name="T43" fmla="*/ 7 h 306"/>
                <a:gd name="T44" fmla="*/ 111 w 202"/>
                <a:gd name="T45" fmla="*/ 10 h 306"/>
                <a:gd name="T46" fmla="*/ 115 w 202"/>
                <a:gd name="T47" fmla="*/ 12 h 306"/>
                <a:gd name="T48" fmla="*/ 121 w 202"/>
                <a:gd name="T49" fmla="*/ 11 h 306"/>
                <a:gd name="T50" fmla="*/ 125 w 202"/>
                <a:gd name="T51" fmla="*/ 16 h 306"/>
                <a:gd name="T52" fmla="*/ 131 w 202"/>
                <a:gd name="T53" fmla="*/ 17 h 306"/>
                <a:gd name="T54" fmla="*/ 135 w 202"/>
                <a:gd name="T55" fmla="*/ 19 h 306"/>
                <a:gd name="T56" fmla="*/ 140 w 202"/>
                <a:gd name="T57" fmla="*/ 21 h 306"/>
                <a:gd name="T58" fmla="*/ 142 w 202"/>
                <a:gd name="T59" fmla="*/ 24 h 306"/>
                <a:gd name="T60" fmla="*/ 146 w 202"/>
                <a:gd name="T61" fmla="*/ 27 h 306"/>
                <a:gd name="T62" fmla="*/ 151 w 202"/>
                <a:gd name="T63" fmla="*/ 31 h 306"/>
                <a:gd name="T64" fmla="*/ 153 w 202"/>
                <a:gd name="T65" fmla="*/ 35 h 306"/>
                <a:gd name="T66" fmla="*/ 156 w 202"/>
                <a:gd name="T67" fmla="*/ 36 h 306"/>
                <a:gd name="T68" fmla="*/ 160 w 202"/>
                <a:gd name="T69" fmla="*/ 41 h 306"/>
                <a:gd name="T70" fmla="*/ 163 w 202"/>
                <a:gd name="T71" fmla="*/ 44 h 306"/>
                <a:gd name="T72" fmla="*/ 168 w 202"/>
                <a:gd name="T73" fmla="*/ 46 h 306"/>
                <a:gd name="T74" fmla="*/ 172 w 202"/>
                <a:gd name="T75" fmla="*/ 50 h 306"/>
                <a:gd name="T76" fmla="*/ 176 w 202"/>
                <a:gd name="T77" fmla="*/ 53 h 306"/>
                <a:gd name="T78" fmla="*/ 178 w 202"/>
                <a:gd name="T79" fmla="*/ 55 h 306"/>
                <a:gd name="T80" fmla="*/ 182 w 202"/>
                <a:gd name="T81" fmla="*/ 59 h 306"/>
                <a:gd name="T82" fmla="*/ 185 w 202"/>
                <a:gd name="T83" fmla="*/ 62 h 306"/>
                <a:gd name="T84" fmla="*/ 186 w 202"/>
                <a:gd name="T85" fmla="*/ 67 h 306"/>
                <a:gd name="T86" fmla="*/ 189 w 202"/>
                <a:gd name="T87" fmla="*/ 73 h 306"/>
                <a:gd name="T88" fmla="*/ 192 w 202"/>
                <a:gd name="T89" fmla="*/ 76 h 306"/>
                <a:gd name="T90" fmla="*/ 196 w 202"/>
                <a:gd name="T91" fmla="*/ 80 h 306"/>
                <a:gd name="T92" fmla="*/ 198 w 202"/>
                <a:gd name="T93" fmla="*/ 84 h 306"/>
                <a:gd name="T94" fmla="*/ 200 w 202"/>
                <a:gd name="T95" fmla="*/ 90 h 306"/>
                <a:gd name="T96" fmla="*/ 201 w 202"/>
                <a:gd name="T97" fmla="*/ 99 h 306"/>
                <a:gd name="T98" fmla="*/ 16 w 202"/>
                <a:gd name="T99" fmla="*/ 305 h 30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202"/>
                <a:gd name="T151" fmla="*/ 0 h 306"/>
                <a:gd name="T152" fmla="*/ 202 w 202"/>
                <a:gd name="T153" fmla="*/ 306 h 30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202" h="306">
                  <a:moveTo>
                    <a:pt x="16" y="305"/>
                  </a:moveTo>
                  <a:lnTo>
                    <a:pt x="0" y="22"/>
                  </a:lnTo>
                  <a:lnTo>
                    <a:pt x="9" y="13"/>
                  </a:lnTo>
                  <a:lnTo>
                    <a:pt x="15" y="14"/>
                  </a:lnTo>
                  <a:lnTo>
                    <a:pt x="21" y="13"/>
                  </a:lnTo>
                  <a:lnTo>
                    <a:pt x="22" y="10"/>
                  </a:lnTo>
                  <a:lnTo>
                    <a:pt x="27" y="11"/>
                  </a:lnTo>
                  <a:lnTo>
                    <a:pt x="31" y="7"/>
                  </a:lnTo>
                  <a:lnTo>
                    <a:pt x="37" y="9"/>
                  </a:lnTo>
                  <a:lnTo>
                    <a:pt x="41" y="6"/>
                  </a:lnTo>
                  <a:lnTo>
                    <a:pt x="46" y="5"/>
                  </a:lnTo>
                  <a:lnTo>
                    <a:pt x="52" y="3"/>
                  </a:lnTo>
                  <a:lnTo>
                    <a:pt x="57" y="4"/>
                  </a:lnTo>
                  <a:lnTo>
                    <a:pt x="62" y="3"/>
                  </a:lnTo>
                  <a:lnTo>
                    <a:pt x="66" y="0"/>
                  </a:lnTo>
                  <a:lnTo>
                    <a:pt x="74" y="0"/>
                  </a:lnTo>
                  <a:lnTo>
                    <a:pt x="80" y="1"/>
                  </a:lnTo>
                  <a:lnTo>
                    <a:pt x="83" y="1"/>
                  </a:lnTo>
                  <a:lnTo>
                    <a:pt x="86" y="3"/>
                  </a:lnTo>
                  <a:lnTo>
                    <a:pt x="92" y="4"/>
                  </a:lnTo>
                  <a:lnTo>
                    <a:pt x="98" y="7"/>
                  </a:lnTo>
                  <a:lnTo>
                    <a:pt x="103" y="7"/>
                  </a:lnTo>
                  <a:lnTo>
                    <a:pt x="111" y="10"/>
                  </a:lnTo>
                  <a:lnTo>
                    <a:pt x="115" y="12"/>
                  </a:lnTo>
                  <a:lnTo>
                    <a:pt x="121" y="11"/>
                  </a:lnTo>
                  <a:lnTo>
                    <a:pt x="125" y="16"/>
                  </a:lnTo>
                  <a:lnTo>
                    <a:pt x="131" y="17"/>
                  </a:lnTo>
                  <a:lnTo>
                    <a:pt x="135" y="19"/>
                  </a:lnTo>
                  <a:lnTo>
                    <a:pt x="140" y="21"/>
                  </a:lnTo>
                  <a:lnTo>
                    <a:pt x="142" y="24"/>
                  </a:lnTo>
                  <a:lnTo>
                    <a:pt x="146" y="27"/>
                  </a:lnTo>
                  <a:lnTo>
                    <a:pt x="151" y="31"/>
                  </a:lnTo>
                  <a:lnTo>
                    <a:pt x="153" y="35"/>
                  </a:lnTo>
                  <a:lnTo>
                    <a:pt x="156" y="36"/>
                  </a:lnTo>
                  <a:lnTo>
                    <a:pt x="160" y="41"/>
                  </a:lnTo>
                  <a:lnTo>
                    <a:pt x="163" y="44"/>
                  </a:lnTo>
                  <a:lnTo>
                    <a:pt x="168" y="46"/>
                  </a:lnTo>
                  <a:lnTo>
                    <a:pt x="172" y="50"/>
                  </a:lnTo>
                  <a:lnTo>
                    <a:pt x="176" y="53"/>
                  </a:lnTo>
                  <a:lnTo>
                    <a:pt x="178" y="55"/>
                  </a:lnTo>
                  <a:lnTo>
                    <a:pt x="182" y="59"/>
                  </a:lnTo>
                  <a:lnTo>
                    <a:pt x="185" y="62"/>
                  </a:lnTo>
                  <a:lnTo>
                    <a:pt x="186" y="67"/>
                  </a:lnTo>
                  <a:lnTo>
                    <a:pt x="189" y="73"/>
                  </a:lnTo>
                  <a:lnTo>
                    <a:pt x="192" y="76"/>
                  </a:lnTo>
                  <a:lnTo>
                    <a:pt x="196" y="80"/>
                  </a:lnTo>
                  <a:lnTo>
                    <a:pt x="198" y="84"/>
                  </a:lnTo>
                  <a:lnTo>
                    <a:pt x="200" y="90"/>
                  </a:lnTo>
                  <a:lnTo>
                    <a:pt x="201" y="99"/>
                  </a:lnTo>
                  <a:lnTo>
                    <a:pt x="16" y="305"/>
                  </a:lnTo>
                </a:path>
              </a:pathLst>
            </a:custGeom>
            <a:solidFill>
              <a:schemeClr val="bg1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8" name="Arc 16"/>
            <p:cNvSpPr>
              <a:spLocks/>
            </p:cNvSpPr>
            <p:nvPr/>
          </p:nvSpPr>
          <p:spPr bwMode="auto">
            <a:xfrm rot="-1380000">
              <a:off x="4011" y="3348"/>
              <a:ext cx="132" cy="149"/>
            </a:xfrm>
            <a:custGeom>
              <a:avLst/>
              <a:gdLst>
                <a:gd name="T0" fmla="*/ 0 w 21745"/>
                <a:gd name="T1" fmla="*/ 0 h 21600"/>
                <a:gd name="T2" fmla="*/ 132 w 21745"/>
                <a:gd name="T3" fmla="*/ 149 h 21600"/>
                <a:gd name="T4" fmla="*/ 1 w 21745"/>
                <a:gd name="T5" fmla="*/ 149 h 21600"/>
                <a:gd name="T6" fmla="*/ 0 60000 65536"/>
                <a:gd name="T7" fmla="*/ 0 60000 65536"/>
                <a:gd name="T8" fmla="*/ 0 60000 65536"/>
                <a:gd name="T9" fmla="*/ 0 w 21745"/>
                <a:gd name="T10" fmla="*/ 0 h 21600"/>
                <a:gd name="T11" fmla="*/ 21745 w 2174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45" h="21600" fill="none" extrusionOk="0">
                  <a:moveTo>
                    <a:pt x="0" y="0"/>
                  </a:moveTo>
                  <a:cubicBezTo>
                    <a:pt x="48" y="0"/>
                    <a:pt x="96" y="-1"/>
                    <a:pt x="145" y="0"/>
                  </a:cubicBezTo>
                  <a:cubicBezTo>
                    <a:pt x="12074" y="0"/>
                    <a:pt x="21745" y="9670"/>
                    <a:pt x="21745" y="21600"/>
                  </a:cubicBezTo>
                </a:path>
                <a:path w="21745" h="21600" stroke="0" extrusionOk="0">
                  <a:moveTo>
                    <a:pt x="0" y="0"/>
                  </a:moveTo>
                  <a:cubicBezTo>
                    <a:pt x="48" y="0"/>
                    <a:pt x="96" y="-1"/>
                    <a:pt x="145" y="0"/>
                  </a:cubicBezTo>
                  <a:cubicBezTo>
                    <a:pt x="12074" y="0"/>
                    <a:pt x="21745" y="9670"/>
                    <a:pt x="21745" y="21600"/>
                  </a:cubicBezTo>
                  <a:lnTo>
                    <a:pt x="145" y="21600"/>
                  </a:lnTo>
                  <a:close/>
                </a:path>
              </a:pathLst>
            </a:custGeom>
            <a:solidFill>
              <a:schemeClr val="bg1"/>
            </a:solidFill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9" name="Line 17"/>
            <p:cNvSpPr>
              <a:spLocks noChangeShapeType="1"/>
            </p:cNvSpPr>
            <p:nvPr/>
          </p:nvSpPr>
          <p:spPr bwMode="auto">
            <a:xfrm>
              <a:off x="3979" y="3269"/>
              <a:ext cx="20" cy="40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0" name="Oval 18"/>
            <p:cNvSpPr>
              <a:spLocks noChangeArrowheads="1"/>
            </p:cNvSpPr>
            <p:nvPr/>
          </p:nvSpPr>
          <p:spPr bwMode="auto">
            <a:xfrm rot="-3960000">
              <a:off x="4047" y="3351"/>
              <a:ext cx="71" cy="11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1" name="Line 19"/>
            <p:cNvSpPr>
              <a:spLocks noChangeShapeType="1"/>
            </p:cNvSpPr>
            <p:nvPr/>
          </p:nvSpPr>
          <p:spPr bwMode="auto">
            <a:xfrm flipV="1">
              <a:off x="3999" y="3376"/>
              <a:ext cx="240" cy="3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07" name="Line 20"/>
          <p:cNvSpPr>
            <a:spLocks noChangeShapeType="1"/>
          </p:cNvSpPr>
          <p:nvPr/>
        </p:nvSpPr>
        <p:spPr bwMode="auto">
          <a:xfrm>
            <a:off x="4343400" y="4114800"/>
            <a:ext cx="0" cy="762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8" name="Line 21"/>
          <p:cNvSpPr>
            <a:spLocks noChangeShapeType="1"/>
          </p:cNvSpPr>
          <p:nvPr/>
        </p:nvSpPr>
        <p:spPr bwMode="auto">
          <a:xfrm>
            <a:off x="4343400" y="4114800"/>
            <a:ext cx="457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9" name="Line 22"/>
          <p:cNvSpPr>
            <a:spLocks noChangeShapeType="1"/>
          </p:cNvSpPr>
          <p:nvPr/>
        </p:nvSpPr>
        <p:spPr bwMode="auto">
          <a:xfrm>
            <a:off x="4343400" y="4876800"/>
            <a:ext cx="457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4110" name="Line 23"/>
          <p:cNvSpPr>
            <a:spLocks noChangeShapeType="1"/>
          </p:cNvSpPr>
          <p:nvPr/>
        </p:nvSpPr>
        <p:spPr bwMode="auto">
          <a:xfrm>
            <a:off x="4800600" y="4495800"/>
            <a:ext cx="0" cy="762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24"/>
          <p:cNvGrpSpPr>
            <a:grpSpLocks/>
          </p:cNvGrpSpPr>
          <p:nvPr/>
        </p:nvGrpSpPr>
        <p:grpSpPr bwMode="auto">
          <a:xfrm rot="16200000">
            <a:off x="7658100" y="4533900"/>
            <a:ext cx="457200" cy="1143000"/>
            <a:chOff x="4416" y="2592"/>
            <a:chExt cx="288" cy="720"/>
          </a:xfrm>
        </p:grpSpPr>
        <p:sp>
          <p:nvSpPr>
            <p:cNvPr id="4123" name="Line 25"/>
            <p:cNvSpPr>
              <a:spLocks noChangeShapeType="1"/>
            </p:cNvSpPr>
            <p:nvPr/>
          </p:nvSpPr>
          <p:spPr bwMode="auto">
            <a:xfrm>
              <a:off x="4416" y="2592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4" name="Line 26"/>
            <p:cNvSpPr>
              <a:spLocks noChangeShapeType="1"/>
            </p:cNvSpPr>
            <p:nvPr/>
          </p:nvSpPr>
          <p:spPr bwMode="auto">
            <a:xfrm>
              <a:off x="4416" y="2592"/>
              <a:ext cx="288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5" name="Line 27"/>
            <p:cNvSpPr>
              <a:spLocks noChangeShapeType="1"/>
            </p:cNvSpPr>
            <p:nvPr/>
          </p:nvSpPr>
          <p:spPr bwMode="auto">
            <a:xfrm>
              <a:off x="4416" y="3072"/>
              <a:ext cx="288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6" name="Line 28"/>
            <p:cNvSpPr>
              <a:spLocks noChangeShapeType="1"/>
            </p:cNvSpPr>
            <p:nvPr/>
          </p:nvSpPr>
          <p:spPr bwMode="auto">
            <a:xfrm>
              <a:off x="4704" y="2832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12" name="Text Box 29"/>
          <p:cNvSpPr txBox="1">
            <a:spLocks noChangeArrowheads="1"/>
          </p:cNvSpPr>
          <p:nvPr/>
        </p:nvSpPr>
        <p:spPr bwMode="auto">
          <a:xfrm>
            <a:off x="2819400" y="5334001"/>
            <a:ext cx="2413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>
                <a:latin typeface="+mj-lt"/>
              </a:rPr>
              <a:t>image plane in front</a:t>
            </a:r>
          </a:p>
        </p:txBody>
      </p:sp>
      <p:sp>
        <p:nvSpPr>
          <p:cNvPr id="4113" name="Text Box 30"/>
          <p:cNvSpPr txBox="1">
            <a:spLocks noChangeArrowheads="1"/>
          </p:cNvSpPr>
          <p:nvPr/>
        </p:nvSpPr>
        <p:spPr bwMode="auto">
          <a:xfrm>
            <a:off x="7162801" y="5334001"/>
            <a:ext cx="23034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>
                <a:latin typeface="+mj-lt"/>
              </a:rPr>
              <a:t>image plane below</a:t>
            </a:r>
          </a:p>
        </p:txBody>
      </p:sp>
      <p:sp>
        <p:nvSpPr>
          <p:cNvPr id="4114" name="Line 31"/>
          <p:cNvSpPr>
            <a:spLocks noChangeShapeType="1"/>
          </p:cNvSpPr>
          <p:nvPr/>
        </p:nvSpPr>
        <p:spPr bwMode="auto">
          <a:xfrm>
            <a:off x="5791200" y="2438400"/>
            <a:ext cx="685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5416550" y="4038601"/>
            <a:ext cx="1517650" cy="2474913"/>
            <a:chOff x="2452" y="2544"/>
            <a:chExt cx="956" cy="1559"/>
          </a:xfrm>
        </p:grpSpPr>
        <p:sp>
          <p:nvSpPr>
            <p:cNvPr id="4121" name="Text Box 33"/>
            <p:cNvSpPr txBox="1">
              <a:spLocks noChangeArrowheads="1"/>
            </p:cNvSpPr>
            <p:nvPr/>
          </p:nvSpPr>
          <p:spPr bwMode="auto">
            <a:xfrm>
              <a:off x="2452" y="3583"/>
              <a:ext cx="940" cy="5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600">
                  <a:latin typeface="+mj-lt"/>
                </a:rPr>
                <a:t>black area</a:t>
              </a:r>
            </a:p>
            <a:p>
              <a:pPr eaLnBrk="0" hangingPunct="0"/>
              <a:r>
                <a:rPr lang="en-US" sz="1600">
                  <a:latin typeface="+mj-lt"/>
                </a:rPr>
                <a:t>where no pixel</a:t>
              </a:r>
            </a:p>
            <a:p>
              <a:pPr eaLnBrk="0" hangingPunct="0"/>
              <a:r>
                <a:rPr lang="en-US" sz="1600">
                  <a:latin typeface="+mj-lt"/>
                </a:rPr>
                <a:t>maps to</a:t>
              </a:r>
            </a:p>
          </p:txBody>
        </p:sp>
        <p:sp>
          <p:nvSpPr>
            <p:cNvPr id="4122" name="Line 34"/>
            <p:cNvSpPr>
              <a:spLocks noChangeShapeType="1"/>
            </p:cNvSpPr>
            <p:nvPr/>
          </p:nvSpPr>
          <p:spPr bwMode="auto">
            <a:xfrm flipV="1">
              <a:off x="3120" y="2544"/>
              <a:ext cx="288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</p:grpSp>
      <p:sp>
        <p:nvSpPr>
          <p:cNvPr id="4116" name="Line 35"/>
          <p:cNvSpPr>
            <a:spLocks noChangeShapeType="1"/>
          </p:cNvSpPr>
          <p:nvPr/>
        </p:nvSpPr>
        <p:spPr bwMode="auto">
          <a:xfrm flipV="1">
            <a:off x="5867400" y="4572000"/>
            <a:ext cx="0" cy="5334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17" name="Line 36"/>
          <p:cNvSpPr>
            <a:spLocks noChangeShapeType="1"/>
          </p:cNvSpPr>
          <p:nvPr/>
        </p:nvSpPr>
        <p:spPr bwMode="auto">
          <a:xfrm>
            <a:off x="5105400" y="5105400"/>
            <a:ext cx="76200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 rot="5400000" flipH="1" flipV="1">
            <a:off x="2048778" y="2740936"/>
            <a:ext cx="1718616" cy="808744"/>
          </a:xfrm>
          <a:prstGeom prst="line">
            <a:avLst/>
          </a:prstGeom>
          <a:ln w="28575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rot="16200000" flipV="1">
            <a:off x="3095172" y="2485572"/>
            <a:ext cx="1676400" cy="1277257"/>
          </a:xfrm>
          <a:prstGeom prst="line">
            <a:avLst/>
          </a:prstGeom>
          <a:ln w="28575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9493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867400" y="2034540"/>
            <a:ext cx="457200" cy="327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1" name="Straight Connector 50"/>
          <p:cNvCxnSpPr/>
          <p:nvPr/>
        </p:nvCxnSpPr>
        <p:spPr>
          <a:xfrm rot="5400000" flipH="1" flipV="1">
            <a:off x="5715000" y="2438400"/>
            <a:ext cx="320040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rot="5400000" flipH="1" flipV="1">
            <a:off x="7489372" y="2438400"/>
            <a:ext cx="320040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3257442" y="2277726"/>
            <a:ext cx="128016" cy="12801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5715000" y="3733800"/>
            <a:ext cx="4267200" cy="2895600"/>
            <a:chOff x="2640" y="2304"/>
            <a:chExt cx="2688" cy="1824"/>
          </a:xfrm>
        </p:grpSpPr>
        <p:graphicFrame>
          <p:nvGraphicFramePr>
            <p:cNvPr id="4100" name="Object 38"/>
            <p:cNvGraphicFramePr>
              <a:graphicFrameLocks noChangeAspect="1"/>
            </p:cNvGraphicFramePr>
            <p:nvPr/>
          </p:nvGraphicFramePr>
          <p:xfrm>
            <a:off x="3576" y="2304"/>
            <a:ext cx="1752" cy="18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8" imgW="5125165" imgH="5191850" progId="">
                    <p:embed/>
                  </p:oleObj>
                </mc:Choice>
                <mc:Fallback>
                  <p:oleObj name="Photo Editor Photo" r:id="rId8" imgW="5125165" imgH="5191850" progId="">
                    <p:embed/>
                    <p:pic>
                      <p:nvPicPr>
                        <p:cNvPr id="410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5194" t="2563"/>
                        <a:stretch>
                          <a:fillRect/>
                        </a:stretch>
                      </p:blipFill>
                      <p:spPr bwMode="auto">
                        <a:xfrm>
                          <a:off x="3576" y="2304"/>
                          <a:ext cx="1752" cy="18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19" name="Line 39"/>
            <p:cNvSpPr>
              <a:spLocks noChangeShapeType="1"/>
            </p:cNvSpPr>
            <p:nvPr/>
          </p:nvSpPr>
          <p:spPr bwMode="auto">
            <a:xfrm>
              <a:off x="2640" y="2304"/>
              <a:ext cx="480" cy="48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0" name="Line 40"/>
            <p:cNvSpPr>
              <a:spLocks noChangeShapeType="1"/>
            </p:cNvSpPr>
            <p:nvPr/>
          </p:nvSpPr>
          <p:spPr bwMode="auto">
            <a:xfrm>
              <a:off x="3264" y="3648"/>
              <a:ext cx="182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1567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2" grpId="0" animBg="1"/>
      <p:bldP spid="4103" grpId="0" animBg="1"/>
      <p:bldP spid="4113" grpId="0"/>
      <p:bldP spid="4114" grpId="0" animBg="1"/>
      <p:bldP spid="5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IMG_010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11834" y="3705680"/>
            <a:ext cx="2038350" cy="153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5" descr="IMG_010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11834" y="1981200"/>
            <a:ext cx="2038350" cy="153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6" descr="pan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15004" y="2552020"/>
            <a:ext cx="4342683" cy="2019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ight Arrow 6"/>
          <p:cNvSpPr/>
          <p:nvPr/>
        </p:nvSpPr>
        <p:spPr>
          <a:xfrm>
            <a:off x="4615548" y="3276602"/>
            <a:ext cx="642258" cy="6422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Homographies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339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Homographies</a:t>
            </a:r>
            <a:endParaRPr lang="en-US" dirty="0"/>
          </a:p>
        </p:txBody>
      </p:sp>
      <p:sp>
        <p:nvSpPr>
          <p:cNvPr id="24580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00201"/>
            <a:ext cx="10972800" cy="5124892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sz="2800" dirty="0" err="1"/>
              <a:t>Homographies</a:t>
            </a:r>
            <a:r>
              <a:rPr lang="en-US" sz="2800" dirty="0"/>
              <a:t> …</a:t>
            </a:r>
          </a:p>
          <a:p>
            <a:pPr lvl="1" eaLnBrk="1" hangingPunct="1"/>
            <a:r>
              <a:rPr lang="en-US" sz="2400" dirty="0"/>
              <a:t>Affine transformations, and</a:t>
            </a:r>
          </a:p>
          <a:p>
            <a:pPr lvl="1" eaLnBrk="1" hangingPunct="1"/>
            <a:r>
              <a:rPr lang="en-US" sz="2400" dirty="0"/>
              <a:t>Projective warps</a:t>
            </a:r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sz="2800" dirty="0"/>
              <a:t>Properties of projective transformations:</a:t>
            </a:r>
          </a:p>
          <a:p>
            <a:pPr lvl="1" eaLnBrk="1" hangingPunct="1"/>
            <a:r>
              <a:rPr lang="en-US" sz="2400" dirty="0">
                <a:solidFill>
                  <a:srgbClr val="FF0000"/>
                </a:solidFill>
              </a:rPr>
              <a:t>Origin does not necessarily map to origin</a:t>
            </a:r>
          </a:p>
          <a:p>
            <a:pPr lvl="1" eaLnBrk="1" hangingPunct="1"/>
            <a:r>
              <a:rPr lang="en-US" sz="2400" dirty="0"/>
              <a:t>Lines map to lines</a:t>
            </a:r>
          </a:p>
          <a:p>
            <a:pPr lvl="1" eaLnBrk="1" hangingPunct="1"/>
            <a:r>
              <a:rPr lang="en-US" sz="2400" dirty="0">
                <a:solidFill>
                  <a:srgbClr val="FF0000"/>
                </a:solidFill>
              </a:rPr>
              <a:t>Parallel lines do not necessarily remain parallel</a:t>
            </a:r>
          </a:p>
          <a:p>
            <a:pPr lvl="1" eaLnBrk="1" hangingPunct="1"/>
            <a:r>
              <a:rPr lang="en-US" sz="2400" dirty="0">
                <a:solidFill>
                  <a:srgbClr val="FF0000"/>
                </a:solidFill>
              </a:rPr>
              <a:t>Ratios are not preserved</a:t>
            </a:r>
          </a:p>
          <a:p>
            <a:pPr lvl="1" eaLnBrk="1" hangingPunct="1"/>
            <a:r>
              <a:rPr lang="en-US" sz="2400" dirty="0"/>
              <a:t>Closed under composition</a:t>
            </a:r>
          </a:p>
          <a:p>
            <a:pPr lvl="1" eaLnBrk="1" hangingPunct="1"/>
            <a:endParaRPr lang="en-US" sz="2400" dirty="0"/>
          </a:p>
          <a:p>
            <a:r>
              <a:rPr lang="en-US" sz="2800" dirty="0"/>
              <a:t>Key fact: </a:t>
            </a:r>
            <a:r>
              <a:rPr lang="en-US" sz="2800" dirty="0" err="1"/>
              <a:t>homographies</a:t>
            </a:r>
            <a:r>
              <a:rPr lang="en-US" sz="2800" dirty="0"/>
              <a:t> are only defined up to a scale factor (</a:t>
            </a:r>
            <a:r>
              <a:rPr lang="en-US" sz="2800"/>
              <a:t>e.g., </a:t>
            </a:r>
            <a:r>
              <a:rPr lang="en-US" sz="2800" b="1" i="1"/>
              <a:t>H </a:t>
            </a:r>
            <a:r>
              <a:rPr lang="en-US" sz="2800" dirty="0"/>
              <a:t>and 2</a:t>
            </a:r>
            <a:r>
              <a:rPr lang="en-US" sz="2800" b="1" i="1" dirty="0"/>
              <a:t>H</a:t>
            </a:r>
            <a:r>
              <a:rPr lang="en-US" sz="2800" dirty="0"/>
              <a:t> are equivalent </a:t>
            </a:r>
            <a:r>
              <a:rPr lang="en-US" sz="2800" dirty="0" err="1"/>
              <a:t>homographies</a:t>
            </a:r>
            <a:r>
              <a:rPr lang="en-US" sz="2800" dirty="0"/>
              <a:t>)</a:t>
            </a:r>
            <a:endParaRPr lang="en-US" sz="2800" b="1" dirty="0"/>
          </a:p>
        </p:txBody>
      </p:sp>
      <p:pic>
        <p:nvPicPr>
          <p:cNvPr id="3184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6824" y="1644832"/>
            <a:ext cx="4210050" cy="1174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14529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Alternate formulation for </a:t>
            </a:r>
            <a:r>
              <a:rPr lang="en-US" dirty="0" err="1"/>
              <a:t>homographies</a:t>
            </a:r>
            <a:endParaRPr lang="en-US" dirty="0"/>
          </a:p>
        </p:txBody>
      </p:sp>
      <p:pic>
        <p:nvPicPr>
          <p:cNvPr id="4" name="Picture 3" descr="Edittex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15342" y="2472072"/>
            <a:ext cx="6372354" cy="1500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156034" y="4277380"/>
            <a:ext cx="72927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where the length of the vector [h</a:t>
            </a:r>
            <a:r>
              <a:rPr lang="en-US" sz="2800" baseline="-25000" dirty="0"/>
              <a:t>00</a:t>
            </a:r>
            <a:r>
              <a:rPr lang="en-US" sz="2800" dirty="0"/>
              <a:t> h</a:t>
            </a:r>
            <a:r>
              <a:rPr lang="en-US" sz="2800" baseline="-25000" dirty="0"/>
              <a:t>01</a:t>
            </a:r>
            <a:r>
              <a:rPr lang="en-US" sz="2800" dirty="0"/>
              <a:t> … h</a:t>
            </a:r>
            <a:r>
              <a:rPr lang="en-US" sz="2800" baseline="-25000" dirty="0"/>
              <a:t>22</a:t>
            </a:r>
            <a:r>
              <a:rPr lang="en-US" sz="2800" dirty="0"/>
              <a:t>] is 1</a:t>
            </a:r>
          </a:p>
        </p:txBody>
      </p:sp>
    </p:spTree>
    <p:extLst>
      <p:ext uri="{BB962C8B-B14F-4D97-AF65-F5344CB8AC3E}">
        <p14:creationId xmlns:p14="http://schemas.microsoft.com/office/powerpoint/2010/main" val="11146802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2D image transformations</a:t>
            </a:r>
          </a:p>
        </p:txBody>
      </p:sp>
      <p:pic>
        <p:nvPicPr>
          <p:cNvPr id="73731" name="Picture 3"/>
          <p:cNvPicPr>
            <a:picLocks noChangeAspect="1" noChangeArrowheads="1"/>
          </p:cNvPicPr>
          <p:nvPr/>
        </p:nvPicPr>
        <p:blipFill>
          <a:blip r:embed="rId2" cstate="print"/>
          <a:srcRect l="23714" t="51855" r="14572" b="21048"/>
          <a:stretch>
            <a:fillRect/>
          </a:stretch>
        </p:blipFill>
        <p:spPr bwMode="auto">
          <a:xfrm>
            <a:off x="3167743" y="1307951"/>
            <a:ext cx="5475514" cy="1803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3732" name="Picture 4"/>
          <p:cNvPicPr>
            <a:picLocks noChangeAspect="1" noChangeArrowheads="1"/>
          </p:cNvPicPr>
          <p:nvPr/>
        </p:nvPicPr>
        <p:blipFill>
          <a:blip r:embed="rId3" cstate="print"/>
          <a:srcRect l="6572" t="30191" r="4286" b="14952"/>
          <a:stretch>
            <a:fillRect/>
          </a:stretch>
        </p:blipFill>
        <p:spPr bwMode="auto">
          <a:xfrm>
            <a:off x="2960914" y="3058886"/>
            <a:ext cx="59436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77573" name="Text Box 5"/>
          <p:cNvSpPr txBox="1">
            <a:spLocks noChangeArrowheads="1"/>
          </p:cNvSpPr>
          <p:nvPr/>
        </p:nvSpPr>
        <p:spPr bwMode="auto">
          <a:xfrm>
            <a:off x="2346326" y="5930449"/>
            <a:ext cx="794067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000" dirty="0"/>
              <a:t>These transformations are a nested set of groups</a:t>
            </a:r>
          </a:p>
          <a:p>
            <a:pPr lvl="1" eaLnBrk="0" hangingPunct="0">
              <a:buFontTx/>
              <a:buChar char="•"/>
            </a:pPr>
            <a:r>
              <a:rPr lang="en-US" sz="2000" dirty="0"/>
              <a:t> Closed under composition and inverse is a member</a:t>
            </a:r>
          </a:p>
        </p:txBody>
      </p:sp>
    </p:spTree>
    <p:extLst>
      <p:ext uri="{BB962C8B-B14F-4D97-AF65-F5344CB8AC3E}">
        <p14:creationId xmlns:p14="http://schemas.microsoft.com/office/powerpoint/2010/main" val="2215119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757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Implementing image warping</a:t>
            </a:r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870617" y="1600200"/>
            <a:ext cx="10883676" cy="3384673"/>
          </a:xfrm>
        </p:spPr>
        <p:txBody>
          <a:bodyPr>
            <a:normAutofit/>
          </a:bodyPr>
          <a:lstStyle/>
          <a:p>
            <a:r>
              <a:rPr lang="en-US" sz="2800" dirty="0"/>
              <a:t>Given a coordinate </a:t>
            </a:r>
            <a:r>
              <a:rPr lang="en-US" sz="2800" dirty="0" err="1"/>
              <a:t>xform</a:t>
            </a:r>
            <a:r>
              <a:rPr lang="en-US" sz="2800" dirty="0"/>
              <a:t> (</a:t>
            </a:r>
            <a:r>
              <a:rPr lang="en-US" sz="2800" b="1" i="1" dirty="0" err="1"/>
              <a:t>x’</a:t>
            </a:r>
            <a:r>
              <a:rPr lang="en-US" sz="2800" b="1" dirty="0" err="1"/>
              <a:t>,</a:t>
            </a:r>
            <a:r>
              <a:rPr lang="en-US" sz="2800" b="1" i="1" dirty="0" err="1"/>
              <a:t>y</a:t>
            </a:r>
            <a:r>
              <a:rPr lang="en-US" sz="2800" b="1" i="1" dirty="0"/>
              <a:t>’</a:t>
            </a:r>
            <a:r>
              <a:rPr lang="en-US" sz="2800" dirty="0"/>
              <a:t>)</a:t>
            </a:r>
            <a:r>
              <a:rPr lang="en-US" sz="2800" b="1" i="1" dirty="0"/>
              <a:t> </a:t>
            </a:r>
            <a:r>
              <a:rPr lang="en-US" sz="2800" dirty="0"/>
              <a:t>=</a:t>
            </a:r>
            <a:r>
              <a:rPr lang="en-US" sz="2800" b="1" i="1" dirty="0"/>
              <a:t> T</a:t>
            </a:r>
            <a:r>
              <a:rPr lang="en-US" sz="2800" dirty="0"/>
              <a:t>(</a:t>
            </a:r>
            <a:r>
              <a:rPr lang="en-US" sz="2800" b="1" i="1" dirty="0" err="1"/>
              <a:t>x,y</a:t>
            </a:r>
            <a:r>
              <a:rPr lang="en-US" sz="2800" dirty="0"/>
              <a:t>) and a source image </a:t>
            </a:r>
            <a:r>
              <a:rPr lang="en-US" sz="2800" b="1" i="1" dirty="0"/>
              <a:t>f</a:t>
            </a:r>
            <a:r>
              <a:rPr lang="en-US" sz="2800" dirty="0"/>
              <a:t>(</a:t>
            </a:r>
            <a:r>
              <a:rPr lang="en-US" sz="2800" b="1" i="1" dirty="0" err="1"/>
              <a:t>x,y</a:t>
            </a:r>
            <a:r>
              <a:rPr lang="en-US" sz="2800" dirty="0"/>
              <a:t>), how do we compute a transformed image </a:t>
            </a:r>
            <a:r>
              <a:rPr lang="en-US" sz="2800" b="1" i="1" dirty="0"/>
              <a:t>g</a:t>
            </a:r>
            <a:r>
              <a:rPr lang="en-US" sz="2800" dirty="0"/>
              <a:t>(</a:t>
            </a:r>
            <a:r>
              <a:rPr lang="en-US" sz="2800" b="1" i="1" dirty="0" err="1"/>
              <a:t>x’</a:t>
            </a:r>
            <a:r>
              <a:rPr lang="en-US" sz="2800" b="1" dirty="0" err="1"/>
              <a:t>,</a:t>
            </a:r>
            <a:r>
              <a:rPr lang="en-US" sz="2800" b="1" i="1" dirty="0" err="1"/>
              <a:t>y</a:t>
            </a:r>
            <a:r>
              <a:rPr lang="en-US" sz="2800" b="1" i="1" dirty="0"/>
              <a:t>’</a:t>
            </a:r>
            <a:r>
              <a:rPr lang="en-US" sz="2800" dirty="0"/>
              <a:t>)</a:t>
            </a:r>
            <a:r>
              <a:rPr lang="en-US" sz="2800" b="1" dirty="0"/>
              <a:t> </a:t>
            </a:r>
            <a:r>
              <a:rPr lang="en-US" sz="2800" dirty="0"/>
              <a:t>=</a:t>
            </a:r>
            <a:r>
              <a:rPr lang="en-US" sz="2800" b="1" dirty="0"/>
              <a:t> </a:t>
            </a:r>
            <a:r>
              <a:rPr lang="en-US" sz="2800" b="1" i="1" dirty="0"/>
              <a:t>f</a:t>
            </a:r>
            <a:r>
              <a:rPr lang="en-US" sz="2800" dirty="0"/>
              <a:t>(</a:t>
            </a:r>
            <a:r>
              <a:rPr lang="en-US" sz="2800" b="1" i="1" dirty="0"/>
              <a:t>T</a:t>
            </a:r>
            <a:r>
              <a:rPr lang="en-US" sz="2800" dirty="0"/>
              <a:t>(</a:t>
            </a:r>
            <a:r>
              <a:rPr lang="en-US" sz="2800" b="1" i="1" dirty="0" err="1"/>
              <a:t>x</a:t>
            </a:r>
            <a:r>
              <a:rPr lang="en-US" sz="2800" b="1" dirty="0" err="1"/>
              <a:t>,</a:t>
            </a:r>
            <a:r>
              <a:rPr lang="en-US" sz="2800" b="1" i="1" dirty="0" err="1"/>
              <a:t>y</a:t>
            </a:r>
            <a:r>
              <a:rPr lang="en-US" sz="2800" dirty="0"/>
              <a:t>))?</a:t>
            </a:r>
          </a:p>
        </p:txBody>
      </p:sp>
      <p:pic>
        <p:nvPicPr>
          <p:cNvPr id="402436" name="Picture 4" descr="HHHIMG_1166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23" cstate="print"/>
          <a:srcRect/>
          <a:stretch>
            <a:fillRect/>
          </a:stretch>
        </p:blipFill>
        <p:spPr bwMode="auto">
          <a:xfrm>
            <a:off x="3429001" y="3886201"/>
            <a:ext cx="2193925" cy="1643063"/>
          </a:xfrm>
          <a:prstGeom prst="rect">
            <a:avLst/>
          </a:prstGeom>
          <a:noFill/>
        </p:spPr>
      </p:pic>
      <p:pic>
        <p:nvPicPr>
          <p:cNvPr id="402437" name="Picture 5" descr="rotated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24" cstate="print"/>
          <a:srcRect/>
          <a:stretch>
            <a:fillRect/>
          </a:stretch>
        </p:blipFill>
        <p:spPr bwMode="auto">
          <a:xfrm>
            <a:off x="6892926" y="3733800"/>
            <a:ext cx="2632075" cy="2114550"/>
          </a:xfrm>
          <a:prstGeom prst="rect">
            <a:avLst/>
          </a:prstGeom>
          <a:noFill/>
        </p:spPr>
      </p:pic>
      <p:sp>
        <p:nvSpPr>
          <p:cNvPr id="402438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114800" y="5715000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f</a:t>
            </a:r>
            <a:r>
              <a:rPr lang="en-US" dirty="0"/>
              <a:t>(</a:t>
            </a:r>
            <a:r>
              <a:rPr lang="en-US" b="1" i="1" dirty="0" err="1"/>
              <a:t>x,y</a:t>
            </a:r>
            <a:r>
              <a:rPr lang="en-US" dirty="0"/>
              <a:t>)</a:t>
            </a:r>
          </a:p>
        </p:txBody>
      </p:sp>
      <p:sp>
        <p:nvSpPr>
          <p:cNvPr id="402439" name="Text Box 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619999" y="5715000"/>
            <a:ext cx="99290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g</a:t>
            </a:r>
            <a:r>
              <a:rPr lang="en-US" dirty="0"/>
              <a:t>(</a:t>
            </a:r>
            <a:r>
              <a:rPr lang="en-US" b="1" i="1" dirty="0" err="1"/>
              <a:t>x’,y</a:t>
            </a:r>
            <a:r>
              <a:rPr lang="en-US" b="1" i="1" dirty="0"/>
              <a:t>’</a:t>
            </a:r>
            <a:r>
              <a:rPr lang="en-US" dirty="0"/>
              <a:t>)</a:t>
            </a:r>
          </a:p>
        </p:txBody>
      </p:sp>
      <p:grpSp>
        <p:nvGrpSpPr>
          <p:cNvPr id="2" name="Group 8"/>
          <p:cNvGrpSpPr>
            <a:grpSpLocks/>
          </p:cNvGrpSpPr>
          <p:nvPr>
            <p:custDataLst>
              <p:tags r:id="rId7"/>
            </p:custDataLst>
          </p:nvPr>
        </p:nvGrpSpPr>
        <p:grpSpPr bwMode="auto">
          <a:xfrm>
            <a:off x="3276600" y="5257800"/>
            <a:ext cx="381000" cy="381000"/>
            <a:chOff x="1104" y="3312"/>
            <a:chExt cx="240" cy="240"/>
          </a:xfrm>
        </p:grpSpPr>
        <p:sp>
          <p:nvSpPr>
            <p:cNvPr id="402441" name="Line 9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2442" name="Line 10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1"/>
          <p:cNvGrpSpPr>
            <a:grpSpLocks/>
          </p:cNvGrpSpPr>
          <p:nvPr>
            <p:custDataLst>
              <p:tags r:id="rId8"/>
            </p:custDataLst>
          </p:nvPr>
        </p:nvGrpSpPr>
        <p:grpSpPr bwMode="auto">
          <a:xfrm>
            <a:off x="6781800" y="5257800"/>
            <a:ext cx="381000" cy="381000"/>
            <a:chOff x="1104" y="3312"/>
            <a:chExt cx="240" cy="240"/>
          </a:xfrm>
        </p:grpSpPr>
        <p:sp>
          <p:nvSpPr>
            <p:cNvPr id="402444" name="Line 12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2445" name="Line 13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2446" name="Text Box 14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276600" y="55626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/>
              <a:t>x</a:t>
            </a:r>
            <a:endParaRPr lang="en-US"/>
          </a:p>
        </p:txBody>
      </p:sp>
      <p:sp>
        <p:nvSpPr>
          <p:cNvPr id="402447" name="Text Box 15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781800" y="55626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/>
              <a:t>x’</a:t>
            </a:r>
            <a:endParaRPr lang="en-US"/>
          </a:p>
        </p:txBody>
      </p:sp>
      <p:sp>
        <p:nvSpPr>
          <p:cNvPr id="402448" name="Rectangle 16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749676" y="5105401"/>
            <a:ext cx="136525" cy="1365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2449" name="Rectangle 17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7315201" y="5121276"/>
            <a:ext cx="136525" cy="1365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2450" name="Freeform 18"/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3946525" y="4724400"/>
            <a:ext cx="3352800" cy="381000"/>
          </a:xfrm>
          <a:custGeom>
            <a:avLst/>
            <a:gdLst/>
            <a:ahLst/>
            <a:cxnLst>
              <a:cxn ang="0">
                <a:pos x="0" y="288"/>
              </a:cxn>
              <a:cxn ang="0">
                <a:pos x="1152" y="0"/>
              </a:cxn>
              <a:cxn ang="0">
                <a:pos x="2160" y="288"/>
              </a:cxn>
            </a:cxnLst>
            <a:rect l="0" t="0" r="r" b="b"/>
            <a:pathLst>
              <a:path w="2160" h="288">
                <a:moveTo>
                  <a:pt x="0" y="288"/>
                </a:moveTo>
                <a:cubicBezTo>
                  <a:pt x="396" y="144"/>
                  <a:pt x="792" y="0"/>
                  <a:pt x="1152" y="0"/>
                </a:cubicBezTo>
                <a:cubicBezTo>
                  <a:pt x="1512" y="0"/>
                  <a:pt x="1836" y="144"/>
                  <a:pt x="2160" y="288"/>
                </a:cubicBezTo>
              </a:path>
            </a:pathLst>
          </a:custGeom>
          <a:noFill/>
          <a:ln w="57150">
            <a:solidFill>
              <a:schemeClr val="accent6"/>
            </a:solidFill>
            <a:round/>
            <a:headEnd type="none" w="lg" len="lg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2451" name="Text Box 19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5715000" y="4800600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T</a:t>
            </a:r>
            <a:r>
              <a:rPr lang="en-US" dirty="0"/>
              <a:t>(</a:t>
            </a:r>
            <a:r>
              <a:rPr lang="en-US" b="1" i="1" dirty="0" err="1"/>
              <a:t>x,y</a:t>
            </a:r>
            <a:r>
              <a:rPr lang="en-US" dirty="0"/>
              <a:t>)</a:t>
            </a:r>
          </a:p>
        </p:txBody>
      </p:sp>
      <p:sp>
        <p:nvSpPr>
          <p:cNvPr id="23" name="Text Box 14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2917372" y="4931229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y</a:t>
            </a:r>
            <a:endParaRPr lang="en-US" dirty="0"/>
          </a:p>
        </p:txBody>
      </p:sp>
      <p:sp>
        <p:nvSpPr>
          <p:cNvPr id="24" name="Text Box 14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433459" y="4920342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y’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9063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Forward Warping</a:t>
            </a:r>
          </a:p>
        </p:txBody>
      </p:sp>
      <p:sp>
        <p:nvSpPr>
          <p:cNvPr id="403459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Send each pixel (</a:t>
            </a:r>
            <a:r>
              <a:rPr lang="en-US" b="1" i="1" dirty="0" err="1"/>
              <a:t>x</a:t>
            </a:r>
            <a:r>
              <a:rPr lang="en-US" b="1" dirty="0" err="1"/>
              <a:t>,</a:t>
            </a:r>
            <a:r>
              <a:rPr lang="en-US" b="1" i="1" dirty="0" err="1"/>
              <a:t>y</a:t>
            </a:r>
            <a:r>
              <a:rPr lang="en-US" dirty="0"/>
              <a:t>) to its corresponding location (</a:t>
            </a:r>
            <a:r>
              <a:rPr lang="en-US" b="1" i="1" dirty="0" err="1"/>
              <a:t>x’</a:t>
            </a:r>
            <a:r>
              <a:rPr lang="en-US" b="1" dirty="0" err="1"/>
              <a:t>,</a:t>
            </a:r>
            <a:r>
              <a:rPr lang="en-US" b="1" i="1" dirty="0" err="1"/>
              <a:t>y</a:t>
            </a:r>
            <a:r>
              <a:rPr lang="en-US" b="1" i="1" dirty="0"/>
              <a:t>’</a:t>
            </a:r>
            <a:r>
              <a:rPr lang="en-US" dirty="0"/>
              <a:t>)</a:t>
            </a:r>
            <a:r>
              <a:rPr lang="en-US" b="1" dirty="0"/>
              <a:t> </a:t>
            </a:r>
            <a:r>
              <a:rPr lang="en-US" dirty="0"/>
              <a:t>=</a:t>
            </a:r>
            <a:r>
              <a:rPr lang="en-US" b="1" dirty="0"/>
              <a:t> </a:t>
            </a:r>
            <a:r>
              <a:rPr lang="en-US" b="1" i="1" dirty="0"/>
              <a:t>T</a:t>
            </a:r>
            <a:r>
              <a:rPr lang="en-US" dirty="0"/>
              <a:t>(</a:t>
            </a:r>
            <a:r>
              <a:rPr lang="en-US" b="1" i="1" dirty="0" err="1"/>
              <a:t>x</a:t>
            </a:r>
            <a:r>
              <a:rPr lang="en-US" b="1" dirty="0" err="1"/>
              <a:t>,</a:t>
            </a:r>
            <a:r>
              <a:rPr lang="en-US" b="1" i="1" dirty="0" err="1"/>
              <a:t>y</a:t>
            </a:r>
            <a:r>
              <a:rPr lang="en-US" dirty="0"/>
              <a:t>) in </a:t>
            </a:r>
            <a:r>
              <a:rPr lang="en-US" b="1" i="1" dirty="0"/>
              <a:t>g</a:t>
            </a:r>
            <a:r>
              <a:rPr lang="en-US" dirty="0"/>
              <a:t>(</a:t>
            </a:r>
            <a:r>
              <a:rPr lang="en-US" b="1" i="1" dirty="0" err="1"/>
              <a:t>x’</a:t>
            </a:r>
            <a:r>
              <a:rPr lang="en-US" b="1" dirty="0" err="1"/>
              <a:t>,</a:t>
            </a:r>
            <a:r>
              <a:rPr lang="en-US" b="1" i="1" dirty="0" err="1"/>
              <a:t>y</a:t>
            </a:r>
            <a:r>
              <a:rPr lang="en-US" b="1" i="1" dirty="0"/>
              <a:t>’</a:t>
            </a:r>
            <a:r>
              <a:rPr lang="en-US" dirty="0"/>
              <a:t>)</a:t>
            </a:r>
          </a:p>
        </p:txBody>
      </p:sp>
      <p:pic>
        <p:nvPicPr>
          <p:cNvPr id="403460" name="Picture 4" descr="HHHIMG_1166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24" cstate="print"/>
          <a:srcRect/>
          <a:stretch>
            <a:fillRect/>
          </a:stretch>
        </p:blipFill>
        <p:spPr bwMode="auto">
          <a:xfrm>
            <a:off x="3429001" y="3886201"/>
            <a:ext cx="2193925" cy="1643063"/>
          </a:xfrm>
          <a:prstGeom prst="rect">
            <a:avLst/>
          </a:prstGeom>
          <a:noFill/>
        </p:spPr>
      </p:pic>
      <p:pic>
        <p:nvPicPr>
          <p:cNvPr id="403461" name="Picture 5" descr="rotated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25" cstate="print"/>
          <a:srcRect/>
          <a:stretch>
            <a:fillRect/>
          </a:stretch>
        </p:blipFill>
        <p:spPr bwMode="auto">
          <a:xfrm>
            <a:off x="6892926" y="3733800"/>
            <a:ext cx="2632075" cy="2114550"/>
          </a:xfrm>
          <a:prstGeom prst="rect">
            <a:avLst/>
          </a:prstGeom>
          <a:noFill/>
        </p:spPr>
      </p:pic>
      <p:grpSp>
        <p:nvGrpSpPr>
          <p:cNvPr id="2" name="Group 8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3276600" y="5257800"/>
            <a:ext cx="381000" cy="381000"/>
            <a:chOff x="1104" y="3312"/>
            <a:chExt cx="240" cy="240"/>
          </a:xfrm>
        </p:grpSpPr>
        <p:sp>
          <p:nvSpPr>
            <p:cNvPr id="403465" name="Line 9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3466" name="Line 10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1"/>
          <p:cNvGrpSpPr>
            <a:grpSpLocks/>
          </p:cNvGrpSpPr>
          <p:nvPr>
            <p:custDataLst>
              <p:tags r:id="rId6"/>
            </p:custDataLst>
          </p:nvPr>
        </p:nvGrpSpPr>
        <p:grpSpPr bwMode="auto">
          <a:xfrm>
            <a:off x="6781800" y="5257800"/>
            <a:ext cx="381000" cy="381000"/>
            <a:chOff x="1104" y="3312"/>
            <a:chExt cx="240" cy="240"/>
          </a:xfrm>
        </p:grpSpPr>
        <p:sp>
          <p:nvSpPr>
            <p:cNvPr id="403468" name="Line 12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3469" name="Line 13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3470" name="Text Box 14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276600" y="55626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x</a:t>
            </a:r>
            <a:endParaRPr lang="en-US" dirty="0"/>
          </a:p>
        </p:txBody>
      </p:sp>
      <p:sp>
        <p:nvSpPr>
          <p:cNvPr id="403471" name="Text Box 15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781800" y="55626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/>
              <a:t>x’</a:t>
            </a:r>
            <a:endParaRPr lang="en-US"/>
          </a:p>
        </p:txBody>
      </p:sp>
      <p:sp>
        <p:nvSpPr>
          <p:cNvPr id="403472" name="Rectangle 16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749676" y="5105401"/>
            <a:ext cx="136525" cy="13652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444500" sx="168000" sy="168000" algn="ctr" rotWithShape="0">
              <a:prstClr val="black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403473" name="Rectangle 17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315201" y="5121276"/>
            <a:ext cx="136525" cy="13652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444500" sx="168000" sy="168000" algn="ctr" rotWithShape="0">
              <a:prstClr val="black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403474" name="Freeform 18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3946525" y="4724400"/>
            <a:ext cx="3352800" cy="381000"/>
          </a:xfrm>
          <a:custGeom>
            <a:avLst/>
            <a:gdLst/>
            <a:ahLst/>
            <a:cxnLst>
              <a:cxn ang="0">
                <a:pos x="0" y="288"/>
              </a:cxn>
              <a:cxn ang="0">
                <a:pos x="1152" y="0"/>
              </a:cxn>
              <a:cxn ang="0">
                <a:pos x="2160" y="288"/>
              </a:cxn>
            </a:cxnLst>
            <a:rect l="0" t="0" r="r" b="b"/>
            <a:pathLst>
              <a:path w="2160" h="288">
                <a:moveTo>
                  <a:pt x="0" y="288"/>
                </a:moveTo>
                <a:cubicBezTo>
                  <a:pt x="396" y="144"/>
                  <a:pt x="792" y="0"/>
                  <a:pt x="1152" y="0"/>
                </a:cubicBezTo>
                <a:cubicBezTo>
                  <a:pt x="1512" y="0"/>
                  <a:pt x="1836" y="144"/>
                  <a:pt x="2160" y="288"/>
                </a:cubicBezTo>
              </a:path>
            </a:pathLst>
          </a:custGeom>
          <a:noFill/>
          <a:ln w="57150">
            <a:solidFill>
              <a:schemeClr val="accent6"/>
            </a:solidFill>
            <a:round/>
            <a:headEnd type="none" w="lg" len="lg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3475" name="Text Box 19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715000" y="4800600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T</a:t>
            </a:r>
            <a:r>
              <a:rPr lang="en-US" dirty="0"/>
              <a:t>(</a:t>
            </a:r>
            <a:r>
              <a:rPr lang="en-US" b="1" i="1" dirty="0" err="1"/>
              <a:t>x,y</a:t>
            </a:r>
            <a:r>
              <a:rPr lang="en-US" dirty="0"/>
              <a:t>)</a:t>
            </a:r>
          </a:p>
        </p:txBody>
      </p:sp>
      <p:sp>
        <p:nvSpPr>
          <p:cNvPr id="403476" name="Rectangle 20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209800" y="2667000"/>
            <a:ext cx="7772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/>
              <a:t>What if pixel lands “between” two pixels?</a:t>
            </a:r>
          </a:p>
        </p:txBody>
      </p:sp>
      <p:sp>
        <p:nvSpPr>
          <p:cNvPr id="24" name="Text Box 14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2917372" y="4931229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y</a:t>
            </a:r>
            <a:endParaRPr lang="en-US" dirty="0"/>
          </a:p>
        </p:txBody>
      </p:sp>
      <p:sp>
        <p:nvSpPr>
          <p:cNvPr id="25" name="Text Box 14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433459" y="4920342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y’</a:t>
            </a:r>
            <a:endParaRPr lang="en-US" dirty="0"/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275EBB90-3E9E-43BD-B03D-D6CD5C299969}"/>
              </a:ext>
            </a:extLst>
          </p:cNvPr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4114800" y="5715000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f</a:t>
            </a:r>
            <a:r>
              <a:rPr lang="en-US" dirty="0"/>
              <a:t>(</a:t>
            </a:r>
            <a:r>
              <a:rPr lang="en-US" b="1" i="1" dirty="0" err="1"/>
              <a:t>x,y</a:t>
            </a:r>
            <a:r>
              <a:rPr lang="en-US" dirty="0"/>
              <a:t>)</a:t>
            </a:r>
          </a:p>
        </p:txBody>
      </p:sp>
      <p:sp>
        <p:nvSpPr>
          <p:cNvPr id="26" name="Text Box 7">
            <a:extLst>
              <a:ext uri="{FF2B5EF4-FFF2-40B4-BE49-F238E27FC236}">
                <a16:creationId xmlns:a16="http://schemas.microsoft.com/office/drawing/2014/main" id="{793D001A-242A-4F44-8954-13209F52E44C}"/>
              </a:ext>
            </a:extLst>
          </p:cNvPr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7619999" y="5715000"/>
            <a:ext cx="99290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g</a:t>
            </a:r>
            <a:r>
              <a:rPr lang="en-US" dirty="0"/>
              <a:t>(</a:t>
            </a:r>
            <a:r>
              <a:rPr lang="en-US" b="1" i="1" dirty="0" err="1"/>
              <a:t>x’,y</a:t>
            </a:r>
            <a:r>
              <a:rPr lang="en-US" b="1" i="1" dirty="0"/>
              <a:t>’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5039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03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72" grpId="0" animBg="1"/>
      <p:bldP spid="403473" grpId="0" animBg="1"/>
      <p:bldP spid="403474" grpId="0" animBg="1"/>
      <p:bldP spid="403476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Forward Warping</a:t>
            </a:r>
          </a:p>
        </p:txBody>
      </p:sp>
      <p:sp>
        <p:nvSpPr>
          <p:cNvPr id="404483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Send each pixel (</a:t>
            </a:r>
            <a:r>
              <a:rPr lang="en-US" b="1" i="1" dirty="0" err="1"/>
              <a:t>x</a:t>
            </a:r>
            <a:r>
              <a:rPr lang="en-US" b="1" dirty="0" err="1"/>
              <a:t>,</a:t>
            </a:r>
            <a:r>
              <a:rPr lang="en-US" b="1" i="1" dirty="0" err="1"/>
              <a:t>y</a:t>
            </a:r>
            <a:r>
              <a:rPr lang="en-US" dirty="0"/>
              <a:t>) to its corresponding location (</a:t>
            </a:r>
            <a:r>
              <a:rPr lang="en-US" b="1" i="1" dirty="0" err="1"/>
              <a:t>x’</a:t>
            </a:r>
            <a:r>
              <a:rPr lang="en-US" b="1" dirty="0" err="1"/>
              <a:t>,</a:t>
            </a:r>
            <a:r>
              <a:rPr lang="en-US" b="1" i="1" dirty="0" err="1"/>
              <a:t>y</a:t>
            </a:r>
            <a:r>
              <a:rPr lang="en-US" b="1" i="1" dirty="0"/>
              <a:t>’</a:t>
            </a:r>
            <a:r>
              <a:rPr lang="en-US" dirty="0"/>
              <a:t>)</a:t>
            </a:r>
            <a:r>
              <a:rPr lang="en-US" b="1" dirty="0"/>
              <a:t> </a:t>
            </a:r>
            <a:r>
              <a:rPr lang="en-US" dirty="0"/>
              <a:t>=</a:t>
            </a:r>
            <a:r>
              <a:rPr lang="en-US" b="1" dirty="0"/>
              <a:t> </a:t>
            </a:r>
            <a:r>
              <a:rPr lang="en-US" b="1" i="1" dirty="0"/>
              <a:t>T</a:t>
            </a:r>
            <a:r>
              <a:rPr lang="en-US" dirty="0"/>
              <a:t>(</a:t>
            </a:r>
            <a:r>
              <a:rPr lang="en-US" b="1" i="1" dirty="0" err="1"/>
              <a:t>x</a:t>
            </a:r>
            <a:r>
              <a:rPr lang="en-US" b="1" dirty="0" err="1"/>
              <a:t>,</a:t>
            </a:r>
            <a:r>
              <a:rPr lang="en-US" b="1" i="1" dirty="0" err="1"/>
              <a:t>y</a:t>
            </a:r>
            <a:r>
              <a:rPr lang="en-US" dirty="0"/>
              <a:t>) in </a:t>
            </a:r>
            <a:r>
              <a:rPr lang="en-US" b="1" i="1" dirty="0"/>
              <a:t>g</a:t>
            </a:r>
            <a:r>
              <a:rPr lang="en-US" dirty="0"/>
              <a:t>(</a:t>
            </a:r>
            <a:r>
              <a:rPr lang="en-US" b="1" i="1" dirty="0" err="1"/>
              <a:t>x’</a:t>
            </a:r>
            <a:r>
              <a:rPr lang="en-US" b="1" dirty="0" err="1"/>
              <a:t>,</a:t>
            </a:r>
            <a:r>
              <a:rPr lang="en-US" b="1" i="1" dirty="0" err="1"/>
              <a:t>y</a:t>
            </a:r>
            <a:r>
              <a:rPr lang="en-US" b="1" i="1" dirty="0"/>
              <a:t>’</a:t>
            </a:r>
            <a:r>
              <a:rPr lang="en-US" dirty="0"/>
              <a:t>)</a:t>
            </a:r>
          </a:p>
        </p:txBody>
      </p:sp>
      <p:grpSp>
        <p:nvGrpSpPr>
          <p:cNvPr id="2" name="Group 6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3276600" y="5257800"/>
            <a:ext cx="381000" cy="381000"/>
            <a:chOff x="1104" y="3312"/>
            <a:chExt cx="240" cy="240"/>
          </a:xfrm>
        </p:grpSpPr>
        <p:sp>
          <p:nvSpPr>
            <p:cNvPr id="404487" name="Line 7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4488" name="Line 8"/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9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6781800" y="5257800"/>
            <a:ext cx="381000" cy="381000"/>
            <a:chOff x="1104" y="3312"/>
            <a:chExt cx="240" cy="240"/>
          </a:xfrm>
        </p:grpSpPr>
        <p:sp>
          <p:nvSpPr>
            <p:cNvPr id="404490" name="Line 10"/>
            <p:cNvSpPr>
              <a:spLocks noChangeShapeType="1"/>
            </p:cNvSpPr>
            <p:nvPr>
              <p:custDataLst>
                <p:tags r:id="rId27"/>
              </p:custDataLst>
            </p:nvPr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4491" name="Line 11"/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4492" name="Text Box 12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76600" y="55626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/>
              <a:t>x</a:t>
            </a:r>
            <a:endParaRPr lang="en-US"/>
          </a:p>
        </p:txBody>
      </p:sp>
      <p:sp>
        <p:nvSpPr>
          <p:cNvPr id="404493" name="Text Box 13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781800" y="55626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/>
              <a:t>x’</a:t>
            </a:r>
            <a:endParaRPr lang="en-US"/>
          </a:p>
        </p:txBody>
      </p:sp>
      <p:sp>
        <p:nvSpPr>
          <p:cNvPr id="404494" name="Rectangle 14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738790" y="5105401"/>
            <a:ext cx="136525" cy="13652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4495" name="Rectangle 15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304315" y="5099504"/>
            <a:ext cx="136525" cy="13652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4496" name="Freeform 16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3946525" y="4724400"/>
            <a:ext cx="3352800" cy="381000"/>
          </a:xfrm>
          <a:custGeom>
            <a:avLst/>
            <a:gdLst/>
            <a:ahLst/>
            <a:cxnLst>
              <a:cxn ang="0">
                <a:pos x="0" y="288"/>
              </a:cxn>
              <a:cxn ang="0">
                <a:pos x="1152" y="0"/>
              </a:cxn>
              <a:cxn ang="0">
                <a:pos x="2160" y="288"/>
              </a:cxn>
            </a:cxnLst>
            <a:rect l="0" t="0" r="r" b="b"/>
            <a:pathLst>
              <a:path w="2160" h="288">
                <a:moveTo>
                  <a:pt x="0" y="288"/>
                </a:moveTo>
                <a:cubicBezTo>
                  <a:pt x="396" y="144"/>
                  <a:pt x="792" y="0"/>
                  <a:pt x="1152" y="0"/>
                </a:cubicBezTo>
                <a:cubicBezTo>
                  <a:pt x="1512" y="0"/>
                  <a:pt x="1836" y="144"/>
                  <a:pt x="2160" y="288"/>
                </a:cubicBezTo>
              </a:path>
            </a:pathLst>
          </a:custGeom>
          <a:noFill/>
          <a:ln w="25400">
            <a:solidFill>
              <a:schemeClr val="accent1"/>
            </a:solidFill>
            <a:round/>
            <a:headEnd type="none" w="lg" len="lg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4497" name="Text Box 17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715000" y="4800600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T</a:t>
            </a:r>
            <a:r>
              <a:rPr lang="en-US" dirty="0"/>
              <a:t>(</a:t>
            </a:r>
            <a:r>
              <a:rPr lang="en-US" b="1" i="1" dirty="0" err="1"/>
              <a:t>x,y</a:t>
            </a:r>
            <a:r>
              <a:rPr lang="en-US" dirty="0"/>
              <a:t>)</a:t>
            </a:r>
          </a:p>
        </p:txBody>
      </p:sp>
      <p:sp>
        <p:nvSpPr>
          <p:cNvPr id="404498" name="Rectangle 18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209800" y="2667000"/>
            <a:ext cx="7772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/>
              <a:t>What if pixel lands “between” two pixels?</a:t>
            </a:r>
          </a:p>
        </p:txBody>
      </p:sp>
      <p:sp>
        <p:nvSpPr>
          <p:cNvPr id="404499" name="Rectangle 19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2209800" y="3124200"/>
            <a:ext cx="7772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/>
              <a:t>Answer: add “contribution” to several pixels, normalize later (</a:t>
            </a:r>
            <a:r>
              <a:rPr lang="en-US" sz="2800" i="1" dirty="0" err="1"/>
              <a:t>splatting</a:t>
            </a:r>
            <a:r>
              <a:rPr lang="en-US" sz="2800" dirty="0"/>
              <a:t>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/>
              <a:t>Can still result in holes</a:t>
            </a:r>
          </a:p>
        </p:txBody>
      </p:sp>
      <p:grpSp>
        <p:nvGrpSpPr>
          <p:cNvPr id="4" name="Group 20"/>
          <p:cNvGrpSpPr>
            <a:grpSpLocks/>
          </p:cNvGrpSpPr>
          <p:nvPr>
            <p:custDataLst>
              <p:tags r:id="rId13"/>
            </p:custDataLst>
          </p:nvPr>
        </p:nvGrpSpPr>
        <p:grpSpPr bwMode="auto">
          <a:xfrm>
            <a:off x="3505200" y="4876800"/>
            <a:ext cx="609600" cy="609600"/>
            <a:chOff x="1248" y="3072"/>
            <a:chExt cx="384" cy="384"/>
          </a:xfrm>
        </p:grpSpPr>
        <p:sp>
          <p:nvSpPr>
            <p:cNvPr id="404501" name="Line 21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>
              <a:off x="1392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4502" name="Line 22"/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>
              <a:off x="1488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4503" name="Line 23"/>
            <p:cNvSpPr>
              <a:spLocks noChangeShapeType="1"/>
            </p:cNvSpPr>
            <p:nvPr>
              <p:custDataLst>
                <p:tags r:id="rId25"/>
              </p:custDataLst>
            </p:nvPr>
          </p:nvSpPr>
          <p:spPr bwMode="auto">
            <a:xfrm flipV="1">
              <a:off x="1248" y="321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4504" name="Line 24"/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 flipV="1">
              <a:off x="1248" y="33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25"/>
          <p:cNvGrpSpPr>
            <a:grpSpLocks/>
          </p:cNvGrpSpPr>
          <p:nvPr>
            <p:custDataLst>
              <p:tags r:id="rId14"/>
            </p:custDataLst>
          </p:nvPr>
        </p:nvGrpSpPr>
        <p:grpSpPr bwMode="auto">
          <a:xfrm>
            <a:off x="7010400" y="4800600"/>
            <a:ext cx="609600" cy="609600"/>
            <a:chOff x="1248" y="3072"/>
            <a:chExt cx="384" cy="384"/>
          </a:xfrm>
        </p:grpSpPr>
        <p:sp>
          <p:nvSpPr>
            <p:cNvPr id="404506" name="Line 26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>
              <a:off x="1392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4507" name="Line 27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1488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4508" name="Line 28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 flipV="1">
              <a:off x="1248" y="321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4509" name="Line 29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 flipV="1">
              <a:off x="1248" y="33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Text Box 14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2917372" y="4931229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y</a:t>
            </a:r>
            <a:endParaRPr lang="en-US" dirty="0"/>
          </a:p>
        </p:txBody>
      </p:sp>
      <p:sp>
        <p:nvSpPr>
          <p:cNvPr id="34" name="Text Box 14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433459" y="4920342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y’</a:t>
            </a:r>
            <a:endParaRPr lang="en-US" dirty="0"/>
          </a:p>
        </p:txBody>
      </p:sp>
      <p:sp>
        <p:nvSpPr>
          <p:cNvPr id="32" name="Text Box 6">
            <a:extLst>
              <a:ext uri="{FF2B5EF4-FFF2-40B4-BE49-F238E27FC236}">
                <a16:creationId xmlns:a16="http://schemas.microsoft.com/office/drawing/2014/main" id="{7E6F7B30-7E83-4308-8684-22BF98897374}"/>
              </a:ext>
            </a:extLst>
          </p:cNvPr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114800" y="5715000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f</a:t>
            </a:r>
            <a:r>
              <a:rPr lang="en-US" dirty="0"/>
              <a:t>(</a:t>
            </a:r>
            <a:r>
              <a:rPr lang="en-US" b="1" i="1" dirty="0" err="1"/>
              <a:t>x,y</a:t>
            </a:r>
            <a:r>
              <a:rPr lang="en-US" dirty="0"/>
              <a:t>)</a:t>
            </a:r>
          </a:p>
        </p:txBody>
      </p:sp>
      <p:sp>
        <p:nvSpPr>
          <p:cNvPr id="35" name="Text Box 7">
            <a:extLst>
              <a:ext uri="{FF2B5EF4-FFF2-40B4-BE49-F238E27FC236}">
                <a16:creationId xmlns:a16="http://schemas.microsoft.com/office/drawing/2014/main" id="{20801351-6B52-4CB1-80AB-3F799CBBFA1E}"/>
              </a:ext>
            </a:extLst>
          </p:cNvPr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7619999" y="5715000"/>
            <a:ext cx="99290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g</a:t>
            </a:r>
            <a:r>
              <a:rPr lang="en-US" dirty="0"/>
              <a:t>(</a:t>
            </a:r>
            <a:r>
              <a:rPr lang="en-US" b="1" i="1" dirty="0" err="1"/>
              <a:t>x’,y</a:t>
            </a:r>
            <a:r>
              <a:rPr lang="en-US" b="1" i="1" dirty="0"/>
              <a:t>’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42002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499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Inverse Warping</a:t>
            </a:r>
          </a:p>
        </p:txBody>
      </p:sp>
      <p:sp>
        <p:nvSpPr>
          <p:cNvPr id="405507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Get each pixel </a:t>
            </a:r>
            <a:r>
              <a:rPr lang="en-US" b="1" i="1" dirty="0"/>
              <a:t>g</a:t>
            </a:r>
            <a:r>
              <a:rPr lang="en-US" dirty="0"/>
              <a:t>(</a:t>
            </a:r>
            <a:r>
              <a:rPr lang="en-US" b="1" i="1" dirty="0" err="1"/>
              <a:t>x’,y</a:t>
            </a:r>
            <a:r>
              <a:rPr lang="en-US" b="1" i="1" dirty="0"/>
              <a:t>’</a:t>
            </a:r>
            <a:r>
              <a:rPr lang="en-US" dirty="0"/>
              <a:t>) from its corresponding location (</a:t>
            </a:r>
            <a:r>
              <a:rPr lang="en-US" b="1" i="1" dirty="0" err="1"/>
              <a:t>x,y</a:t>
            </a:r>
            <a:r>
              <a:rPr lang="en-US" dirty="0"/>
              <a:t>)</a:t>
            </a:r>
            <a:r>
              <a:rPr lang="en-US" b="1" dirty="0"/>
              <a:t> </a:t>
            </a:r>
            <a:r>
              <a:rPr lang="en-US" dirty="0"/>
              <a:t>=</a:t>
            </a:r>
            <a:r>
              <a:rPr lang="en-US" b="1" dirty="0"/>
              <a:t> </a:t>
            </a:r>
            <a:r>
              <a:rPr lang="en-US" b="1" i="1" dirty="0"/>
              <a:t>T</a:t>
            </a:r>
            <a:r>
              <a:rPr lang="en-US" baseline="30000" dirty="0"/>
              <a:t>-1</a:t>
            </a:r>
            <a:r>
              <a:rPr lang="en-US" dirty="0"/>
              <a:t>(</a:t>
            </a:r>
            <a:r>
              <a:rPr lang="en-US" b="1" i="1" dirty="0" err="1"/>
              <a:t>x,y</a:t>
            </a:r>
            <a:r>
              <a:rPr lang="en-US" dirty="0"/>
              <a:t>) in </a:t>
            </a:r>
            <a:r>
              <a:rPr lang="en-US" b="1" i="1" dirty="0"/>
              <a:t>f</a:t>
            </a:r>
            <a:r>
              <a:rPr lang="en-US" dirty="0"/>
              <a:t>(</a:t>
            </a:r>
            <a:r>
              <a:rPr lang="en-US" b="1" i="1" dirty="0" err="1"/>
              <a:t>x,y</a:t>
            </a:r>
            <a:r>
              <a:rPr lang="en-US" dirty="0"/>
              <a:t>)</a:t>
            </a:r>
          </a:p>
        </p:txBody>
      </p:sp>
      <p:pic>
        <p:nvPicPr>
          <p:cNvPr id="405508" name="Picture 4" descr="HHHIMG_1166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24" cstate="print"/>
          <a:srcRect/>
          <a:stretch>
            <a:fillRect/>
          </a:stretch>
        </p:blipFill>
        <p:spPr bwMode="auto">
          <a:xfrm>
            <a:off x="3429001" y="3886201"/>
            <a:ext cx="2193925" cy="1643063"/>
          </a:xfrm>
          <a:prstGeom prst="rect">
            <a:avLst/>
          </a:prstGeom>
          <a:noFill/>
        </p:spPr>
      </p:pic>
      <p:pic>
        <p:nvPicPr>
          <p:cNvPr id="405509" name="Picture 5" descr="rotated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25" cstate="print"/>
          <a:srcRect/>
          <a:stretch>
            <a:fillRect/>
          </a:stretch>
        </p:blipFill>
        <p:spPr bwMode="auto">
          <a:xfrm>
            <a:off x="6892926" y="3733800"/>
            <a:ext cx="2632075" cy="2114550"/>
          </a:xfrm>
          <a:prstGeom prst="rect">
            <a:avLst/>
          </a:prstGeom>
          <a:noFill/>
        </p:spPr>
      </p:pic>
      <p:grpSp>
        <p:nvGrpSpPr>
          <p:cNvPr id="2" name="Group 8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3276600" y="5257800"/>
            <a:ext cx="381000" cy="381000"/>
            <a:chOff x="1104" y="3312"/>
            <a:chExt cx="240" cy="240"/>
          </a:xfrm>
        </p:grpSpPr>
        <p:sp>
          <p:nvSpPr>
            <p:cNvPr id="405513" name="Line 9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14" name="Line 10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1"/>
          <p:cNvGrpSpPr>
            <a:grpSpLocks/>
          </p:cNvGrpSpPr>
          <p:nvPr>
            <p:custDataLst>
              <p:tags r:id="rId6"/>
            </p:custDataLst>
          </p:nvPr>
        </p:nvGrpSpPr>
        <p:grpSpPr bwMode="auto">
          <a:xfrm>
            <a:off x="6781800" y="5257800"/>
            <a:ext cx="381000" cy="381000"/>
            <a:chOff x="1104" y="3312"/>
            <a:chExt cx="240" cy="240"/>
          </a:xfrm>
        </p:grpSpPr>
        <p:sp>
          <p:nvSpPr>
            <p:cNvPr id="405516" name="Line 12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17" name="Line 13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5518" name="Text Box 14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276600" y="55626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/>
              <a:t>x</a:t>
            </a:r>
            <a:endParaRPr lang="en-US"/>
          </a:p>
        </p:txBody>
      </p:sp>
      <p:sp>
        <p:nvSpPr>
          <p:cNvPr id="405519" name="Text Box 15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781800" y="55626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/>
              <a:t>x’</a:t>
            </a:r>
            <a:endParaRPr lang="en-US"/>
          </a:p>
        </p:txBody>
      </p:sp>
      <p:sp>
        <p:nvSpPr>
          <p:cNvPr id="405520" name="Rectangle 16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749676" y="5105401"/>
            <a:ext cx="136525" cy="13652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444500" sx="168000" sy="168000" algn="ctr" rotWithShape="0">
              <a:prstClr val="black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405521" name="Rectangle 17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315201" y="5121276"/>
            <a:ext cx="136525" cy="13652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444500" sx="168000" sy="168000" algn="ctr" rotWithShape="0">
              <a:prstClr val="black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405522" name="Freeform 18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3946525" y="4724400"/>
            <a:ext cx="3352800" cy="381000"/>
          </a:xfrm>
          <a:custGeom>
            <a:avLst/>
            <a:gdLst/>
            <a:ahLst/>
            <a:cxnLst>
              <a:cxn ang="0">
                <a:pos x="0" y="288"/>
              </a:cxn>
              <a:cxn ang="0">
                <a:pos x="1152" y="0"/>
              </a:cxn>
              <a:cxn ang="0">
                <a:pos x="2160" y="288"/>
              </a:cxn>
            </a:cxnLst>
            <a:rect l="0" t="0" r="r" b="b"/>
            <a:pathLst>
              <a:path w="2160" h="288">
                <a:moveTo>
                  <a:pt x="0" y="288"/>
                </a:moveTo>
                <a:cubicBezTo>
                  <a:pt x="396" y="144"/>
                  <a:pt x="792" y="0"/>
                  <a:pt x="1152" y="0"/>
                </a:cubicBezTo>
                <a:cubicBezTo>
                  <a:pt x="1512" y="0"/>
                  <a:pt x="1836" y="144"/>
                  <a:pt x="2160" y="288"/>
                </a:cubicBezTo>
              </a:path>
            </a:pathLst>
          </a:custGeom>
          <a:noFill/>
          <a:ln w="57150">
            <a:solidFill>
              <a:schemeClr val="accent6"/>
            </a:solidFill>
            <a:round/>
            <a:headEnd type="triangle" w="lg" len="lg"/>
            <a:tailEnd type="non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5523" name="Text Box 19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664200" y="4800600"/>
            <a:ext cx="939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T</a:t>
            </a:r>
            <a:r>
              <a:rPr lang="en-US" baseline="30000" dirty="0"/>
              <a:t>-1</a:t>
            </a:r>
            <a:r>
              <a:rPr lang="en-US" dirty="0"/>
              <a:t>(</a:t>
            </a:r>
            <a:r>
              <a:rPr lang="en-US" b="1" i="1" dirty="0" err="1"/>
              <a:t>x,y</a:t>
            </a:r>
            <a:r>
              <a:rPr lang="en-US" dirty="0"/>
              <a:t>)</a:t>
            </a:r>
          </a:p>
        </p:txBody>
      </p:sp>
      <p:sp>
        <p:nvSpPr>
          <p:cNvPr id="405524" name="Rectangle 20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209800" y="2667000"/>
            <a:ext cx="8001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/>
              <a:t>Requires taking the inverse of the transform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/>
              <a:t>What if pixel comes from “between” two pixels?</a:t>
            </a:r>
          </a:p>
        </p:txBody>
      </p:sp>
      <p:sp>
        <p:nvSpPr>
          <p:cNvPr id="24" name="Text Box 14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2917372" y="4931229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y</a:t>
            </a:r>
            <a:endParaRPr lang="en-US" dirty="0"/>
          </a:p>
        </p:txBody>
      </p:sp>
      <p:sp>
        <p:nvSpPr>
          <p:cNvPr id="25" name="Text Box 14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433459" y="4920342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y’</a:t>
            </a:r>
            <a:endParaRPr lang="en-US" dirty="0"/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E54DEA88-1DAE-4688-97C3-B08087372B97}"/>
              </a:ext>
            </a:extLst>
          </p:cNvPr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4114800" y="5715000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f</a:t>
            </a:r>
            <a:r>
              <a:rPr lang="en-US" dirty="0"/>
              <a:t>(</a:t>
            </a:r>
            <a:r>
              <a:rPr lang="en-US" b="1" i="1" dirty="0" err="1"/>
              <a:t>x,y</a:t>
            </a:r>
            <a:r>
              <a:rPr lang="en-US" dirty="0"/>
              <a:t>)</a:t>
            </a:r>
          </a:p>
        </p:txBody>
      </p:sp>
      <p:sp>
        <p:nvSpPr>
          <p:cNvPr id="26" name="Text Box 7">
            <a:extLst>
              <a:ext uri="{FF2B5EF4-FFF2-40B4-BE49-F238E27FC236}">
                <a16:creationId xmlns:a16="http://schemas.microsoft.com/office/drawing/2014/main" id="{401BDBB6-7832-4220-A5D5-136C4E2F7B7A}"/>
              </a:ext>
            </a:extLst>
          </p:cNvPr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7619999" y="5715000"/>
            <a:ext cx="99290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g</a:t>
            </a:r>
            <a:r>
              <a:rPr lang="en-US" dirty="0"/>
              <a:t>(</a:t>
            </a:r>
            <a:r>
              <a:rPr lang="en-US" b="1" i="1" dirty="0" err="1"/>
              <a:t>x’,y</a:t>
            </a:r>
            <a:r>
              <a:rPr lang="en-US" b="1" i="1" dirty="0"/>
              <a:t>’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86126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405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20" grpId="0" animBg="1"/>
      <p:bldP spid="405521" grpId="0" animBg="1"/>
      <p:bldP spid="405522" grpId="0" animBg="1"/>
      <p:bldP spid="405524" grpId="0" build="allAtOnce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Inverse Warping</a:t>
            </a:r>
          </a:p>
        </p:txBody>
      </p:sp>
      <p:sp>
        <p:nvSpPr>
          <p:cNvPr id="406531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Get each pixel </a:t>
            </a:r>
            <a:r>
              <a:rPr lang="en-US" b="1" i="1" dirty="0"/>
              <a:t>g</a:t>
            </a:r>
            <a:r>
              <a:rPr lang="en-US" dirty="0"/>
              <a:t>(</a:t>
            </a:r>
            <a:r>
              <a:rPr lang="en-US" b="1" i="1" dirty="0" err="1"/>
              <a:t>x’,y</a:t>
            </a:r>
            <a:r>
              <a:rPr lang="en-US" b="1" i="1" dirty="0"/>
              <a:t>’</a:t>
            </a:r>
            <a:r>
              <a:rPr lang="en-US" dirty="0"/>
              <a:t>) from its corresponding location (</a:t>
            </a:r>
            <a:r>
              <a:rPr lang="en-US" b="1" i="1" dirty="0" err="1"/>
              <a:t>x,y</a:t>
            </a:r>
            <a:r>
              <a:rPr lang="en-US" dirty="0"/>
              <a:t>)</a:t>
            </a:r>
            <a:r>
              <a:rPr lang="en-US" b="1" dirty="0"/>
              <a:t> </a:t>
            </a:r>
            <a:r>
              <a:rPr lang="en-US" dirty="0"/>
              <a:t>=</a:t>
            </a:r>
            <a:r>
              <a:rPr lang="en-US" b="1" dirty="0"/>
              <a:t> </a:t>
            </a:r>
            <a:r>
              <a:rPr lang="en-US" b="1" i="1" dirty="0"/>
              <a:t>T</a:t>
            </a:r>
            <a:r>
              <a:rPr lang="en-US" baseline="30000" dirty="0"/>
              <a:t>-1</a:t>
            </a:r>
            <a:r>
              <a:rPr lang="en-US" dirty="0"/>
              <a:t>(</a:t>
            </a:r>
            <a:r>
              <a:rPr lang="en-US" b="1" i="1" dirty="0" err="1"/>
              <a:t>x’,y</a:t>
            </a:r>
            <a:r>
              <a:rPr lang="en-US" b="1" i="1"/>
              <a:t>’</a:t>
            </a:r>
            <a:r>
              <a:rPr lang="en-US"/>
              <a:t>) </a:t>
            </a:r>
            <a:r>
              <a:rPr lang="en-US" dirty="0"/>
              <a:t>in </a:t>
            </a:r>
            <a:r>
              <a:rPr lang="en-US" b="1" i="1" dirty="0"/>
              <a:t>f</a:t>
            </a:r>
            <a:r>
              <a:rPr lang="en-US" dirty="0"/>
              <a:t>(</a:t>
            </a:r>
            <a:r>
              <a:rPr lang="en-US" b="1" i="1" dirty="0" err="1"/>
              <a:t>x,y</a:t>
            </a:r>
            <a:r>
              <a:rPr lang="en-US" dirty="0"/>
              <a:t>)</a:t>
            </a:r>
          </a:p>
        </p:txBody>
      </p:sp>
      <p:sp>
        <p:nvSpPr>
          <p:cNvPr id="406532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209800" y="2667000"/>
            <a:ext cx="8001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/>
              <a:t>What if pixel comes from “between” two pixels?</a:t>
            </a:r>
          </a:p>
        </p:txBody>
      </p:sp>
      <p:sp>
        <p:nvSpPr>
          <p:cNvPr id="406533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09800" y="3124200"/>
            <a:ext cx="7772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/>
              <a:t>Answer: </a:t>
            </a:r>
            <a:r>
              <a:rPr lang="en-US" sz="2800" i="1"/>
              <a:t>resample</a:t>
            </a:r>
            <a:r>
              <a:rPr lang="en-US" sz="2800"/>
              <a:t> color value from </a:t>
            </a:r>
            <a:r>
              <a:rPr lang="en-US" sz="2800" i="1"/>
              <a:t>interpolated</a:t>
            </a:r>
            <a:r>
              <a:rPr lang="en-US" sz="2800"/>
              <a:t> (</a:t>
            </a:r>
            <a:r>
              <a:rPr lang="en-US" sz="2800" i="1"/>
              <a:t>prefiltered</a:t>
            </a:r>
            <a:r>
              <a:rPr lang="en-US" sz="2800"/>
              <a:t>) source image</a:t>
            </a:r>
          </a:p>
        </p:txBody>
      </p:sp>
      <p:grpSp>
        <p:nvGrpSpPr>
          <p:cNvPr id="2" name="Group 8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3276600" y="5257800"/>
            <a:ext cx="381000" cy="381000"/>
            <a:chOff x="1104" y="3312"/>
            <a:chExt cx="240" cy="240"/>
          </a:xfrm>
        </p:grpSpPr>
        <p:sp>
          <p:nvSpPr>
            <p:cNvPr id="406537" name="Line 9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6538" name="Line 10"/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1"/>
          <p:cNvGrpSpPr>
            <a:grpSpLocks/>
          </p:cNvGrpSpPr>
          <p:nvPr>
            <p:custDataLst>
              <p:tags r:id="rId6"/>
            </p:custDataLst>
          </p:nvPr>
        </p:nvGrpSpPr>
        <p:grpSpPr bwMode="auto">
          <a:xfrm>
            <a:off x="6781800" y="5257800"/>
            <a:ext cx="381000" cy="381000"/>
            <a:chOff x="1104" y="3312"/>
            <a:chExt cx="240" cy="240"/>
          </a:xfrm>
        </p:grpSpPr>
        <p:sp>
          <p:nvSpPr>
            <p:cNvPr id="406540" name="Line 12"/>
            <p:cNvSpPr>
              <a:spLocks noChangeShapeType="1"/>
            </p:cNvSpPr>
            <p:nvPr>
              <p:custDataLst>
                <p:tags r:id="rId27"/>
              </p:custDataLst>
            </p:nvPr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6541" name="Line 13"/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6542" name="Text Box 14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276600" y="55626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/>
              <a:t>x</a:t>
            </a:r>
            <a:endParaRPr lang="en-US"/>
          </a:p>
        </p:txBody>
      </p:sp>
      <p:sp>
        <p:nvSpPr>
          <p:cNvPr id="406543" name="Text Box 15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781800" y="55626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/>
              <a:t>x’</a:t>
            </a:r>
            <a:endParaRPr lang="en-US"/>
          </a:p>
        </p:txBody>
      </p:sp>
      <p:sp>
        <p:nvSpPr>
          <p:cNvPr id="406544" name="Rectangle 16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727904" y="5072743"/>
            <a:ext cx="92075" cy="92075"/>
          </a:xfrm>
          <a:prstGeom prst="rect">
            <a:avLst/>
          </a:prstGeom>
          <a:solidFill>
            <a:srgbClr val="FF0000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6545" name="Rectangle 17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269162" y="5060949"/>
            <a:ext cx="92075" cy="92075"/>
          </a:xfrm>
          <a:prstGeom prst="rect">
            <a:avLst/>
          </a:prstGeom>
          <a:solidFill>
            <a:srgbClr val="FF0000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6546" name="Freeform 18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3946525" y="4724400"/>
            <a:ext cx="3352800" cy="381000"/>
          </a:xfrm>
          <a:custGeom>
            <a:avLst/>
            <a:gdLst/>
            <a:ahLst/>
            <a:cxnLst>
              <a:cxn ang="0">
                <a:pos x="0" y="288"/>
              </a:cxn>
              <a:cxn ang="0">
                <a:pos x="1152" y="0"/>
              </a:cxn>
              <a:cxn ang="0">
                <a:pos x="2160" y="288"/>
              </a:cxn>
            </a:cxnLst>
            <a:rect l="0" t="0" r="r" b="b"/>
            <a:pathLst>
              <a:path w="2160" h="288">
                <a:moveTo>
                  <a:pt x="0" y="288"/>
                </a:moveTo>
                <a:cubicBezTo>
                  <a:pt x="396" y="144"/>
                  <a:pt x="792" y="0"/>
                  <a:pt x="1152" y="0"/>
                </a:cubicBezTo>
                <a:cubicBezTo>
                  <a:pt x="1512" y="0"/>
                  <a:pt x="1836" y="144"/>
                  <a:pt x="2160" y="288"/>
                </a:cubicBezTo>
              </a:path>
            </a:pathLst>
          </a:custGeom>
          <a:noFill/>
          <a:ln w="25400">
            <a:solidFill>
              <a:schemeClr val="accent1"/>
            </a:solidFill>
            <a:round/>
            <a:headEnd type="triangle" w="lg" len="lg"/>
            <a:tailEnd type="none" w="lg" len="lg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4" name="Group 19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3505200" y="4876800"/>
            <a:ext cx="609600" cy="609600"/>
            <a:chOff x="1248" y="3072"/>
            <a:chExt cx="384" cy="384"/>
          </a:xfrm>
        </p:grpSpPr>
        <p:sp>
          <p:nvSpPr>
            <p:cNvPr id="406548" name="Line 20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>
              <a:off x="1392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6549" name="Line 21"/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>
              <a:off x="1488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6550" name="Line 22"/>
            <p:cNvSpPr>
              <a:spLocks noChangeShapeType="1"/>
            </p:cNvSpPr>
            <p:nvPr>
              <p:custDataLst>
                <p:tags r:id="rId25"/>
              </p:custDataLst>
            </p:nvPr>
          </p:nvSpPr>
          <p:spPr bwMode="auto">
            <a:xfrm flipV="1">
              <a:off x="1248" y="321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6551" name="Line 23"/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 flipV="1">
              <a:off x="1248" y="33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24"/>
          <p:cNvGrpSpPr>
            <a:grpSpLocks/>
          </p:cNvGrpSpPr>
          <p:nvPr>
            <p:custDataLst>
              <p:tags r:id="rId13"/>
            </p:custDataLst>
          </p:nvPr>
        </p:nvGrpSpPr>
        <p:grpSpPr bwMode="auto">
          <a:xfrm>
            <a:off x="7010400" y="4800600"/>
            <a:ext cx="609600" cy="609600"/>
            <a:chOff x="1248" y="3072"/>
            <a:chExt cx="384" cy="384"/>
          </a:xfrm>
        </p:grpSpPr>
        <p:sp>
          <p:nvSpPr>
            <p:cNvPr id="406553" name="Line 25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>
              <a:off x="1392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6554" name="Line 26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1488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6555" name="Line 27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 flipV="1">
              <a:off x="1248" y="321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6556" name="Line 28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 flipV="1">
              <a:off x="1248" y="33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" name="Text Box 14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2917372" y="4931229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y</a:t>
            </a:r>
            <a:endParaRPr lang="en-US" dirty="0"/>
          </a:p>
        </p:txBody>
      </p:sp>
      <p:sp>
        <p:nvSpPr>
          <p:cNvPr id="33" name="Text Box 14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433459" y="4920342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y’</a:t>
            </a:r>
            <a:endParaRPr lang="en-US" dirty="0"/>
          </a:p>
        </p:txBody>
      </p:sp>
      <p:sp>
        <p:nvSpPr>
          <p:cNvPr id="35" name="Text Box 6">
            <a:extLst>
              <a:ext uri="{FF2B5EF4-FFF2-40B4-BE49-F238E27FC236}">
                <a16:creationId xmlns:a16="http://schemas.microsoft.com/office/drawing/2014/main" id="{8CD2FE61-9FB4-4F3F-A559-3157E06498C2}"/>
              </a:ext>
            </a:extLst>
          </p:cNvPr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4114800" y="5715000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f</a:t>
            </a:r>
            <a:r>
              <a:rPr lang="en-US" dirty="0"/>
              <a:t>(</a:t>
            </a:r>
            <a:r>
              <a:rPr lang="en-US" b="1" i="1" dirty="0" err="1"/>
              <a:t>x,y</a:t>
            </a:r>
            <a:r>
              <a:rPr lang="en-US" dirty="0"/>
              <a:t>)</a:t>
            </a:r>
          </a:p>
        </p:txBody>
      </p:sp>
      <p:sp>
        <p:nvSpPr>
          <p:cNvPr id="36" name="Text Box 7">
            <a:extLst>
              <a:ext uri="{FF2B5EF4-FFF2-40B4-BE49-F238E27FC236}">
                <a16:creationId xmlns:a16="http://schemas.microsoft.com/office/drawing/2014/main" id="{8AD2B899-F1D5-40C4-BA22-681044F8DA76}"/>
              </a:ext>
            </a:extLst>
          </p:cNvPr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7619999" y="5715000"/>
            <a:ext cx="99290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g</a:t>
            </a:r>
            <a:r>
              <a:rPr lang="en-US" dirty="0"/>
              <a:t>(</a:t>
            </a:r>
            <a:r>
              <a:rPr lang="en-US" b="1" i="1" dirty="0" err="1"/>
              <a:t>x’,y</a:t>
            </a:r>
            <a:r>
              <a:rPr lang="en-US" b="1" i="1" dirty="0"/>
              <a:t>’</a:t>
            </a:r>
            <a:r>
              <a:rPr lang="en-US" dirty="0"/>
              <a:t>)</a:t>
            </a:r>
          </a:p>
        </p:txBody>
      </p:sp>
      <p:sp>
        <p:nvSpPr>
          <p:cNvPr id="37" name="Text Box 19">
            <a:extLst>
              <a:ext uri="{FF2B5EF4-FFF2-40B4-BE49-F238E27FC236}">
                <a16:creationId xmlns:a16="http://schemas.microsoft.com/office/drawing/2014/main" id="{8954F3C1-6C62-4119-BFE0-731D26530AB5}"/>
              </a:ext>
            </a:extLst>
          </p:cNvPr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5664200" y="4800600"/>
            <a:ext cx="939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T</a:t>
            </a:r>
            <a:r>
              <a:rPr lang="en-US" baseline="30000" dirty="0"/>
              <a:t>-1</a:t>
            </a:r>
            <a:r>
              <a:rPr lang="en-US" dirty="0"/>
              <a:t>(</a:t>
            </a:r>
            <a:r>
              <a:rPr lang="en-US" b="1" i="1" dirty="0" err="1"/>
              <a:t>x,y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54653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533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Interpolation</a:t>
            </a:r>
          </a:p>
        </p:txBody>
      </p:sp>
      <p:sp>
        <p:nvSpPr>
          <p:cNvPr id="407555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Possible interpolation filters:</a:t>
            </a:r>
          </a:p>
          <a:p>
            <a:pPr lvl="1"/>
            <a:r>
              <a:rPr lang="en-US" dirty="0"/>
              <a:t>nearest neighbor</a:t>
            </a:r>
          </a:p>
          <a:p>
            <a:pPr lvl="1"/>
            <a:r>
              <a:rPr lang="en-US" dirty="0"/>
              <a:t>bilinear</a:t>
            </a:r>
          </a:p>
          <a:p>
            <a:pPr lvl="1"/>
            <a:r>
              <a:rPr lang="en-US"/>
              <a:t>bicubic</a:t>
            </a:r>
            <a:endParaRPr lang="en-US" dirty="0"/>
          </a:p>
          <a:p>
            <a:pPr lvl="1"/>
            <a:r>
              <a:rPr lang="en-US" dirty="0" err="1"/>
              <a:t>sinc</a:t>
            </a:r>
            <a:endParaRPr lang="en-US" dirty="0"/>
          </a:p>
          <a:p>
            <a:r>
              <a:rPr lang="en-US" dirty="0"/>
              <a:t>Needed to prevent “jaggies”</a:t>
            </a:r>
            <a:br>
              <a:rPr lang="en-US" dirty="0"/>
            </a:br>
            <a:r>
              <a:rPr lang="en-US" dirty="0"/>
              <a:t> and “texture crawl” </a:t>
            </a:r>
          </a:p>
          <a:p>
            <a:pPr>
              <a:buNone/>
            </a:pPr>
            <a:r>
              <a:rPr lang="en-US" dirty="0"/>
              <a:t>       </a:t>
            </a:r>
            <a:r>
              <a:rPr lang="en-US" sz="2400" dirty="0"/>
              <a:t>(with </a:t>
            </a:r>
            <a:r>
              <a:rPr lang="en-US" sz="2400" dirty="0" err="1"/>
              <a:t>prefiltering</a:t>
            </a:r>
            <a:r>
              <a:rPr lang="en-US" sz="2400" dirty="0"/>
              <a:t>)</a:t>
            </a:r>
          </a:p>
        </p:txBody>
      </p:sp>
      <p:pic>
        <p:nvPicPr>
          <p:cNvPr id="407556" name="Picture 4" descr="rotatedNN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010400" y="1807029"/>
            <a:ext cx="3449638" cy="28400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9901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55" grpId="0" build="p" bldLvl="2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8981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0.17.1.1417"/>
  <p:tag name="SLIDO_PRESENTATION_ID" val="00000000-0000-0000-0000-000000000000"/>
  <p:tag name="SLIDO_EVENT_UUID" val="ddcd4ec7-4e7b-49b2-9470-3ab17b7ef00d"/>
  <p:tag name="SLIDO_EVENT_SECTION_UUID" val="668f0d42-67c0-41a5-a3f1-688ee53fddd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2MTQ1NzI2MjZ9"/>
  <p:tag name="SLIDO_TYPE" val="SlidoPoll"/>
  <p:tag name="SLIDO_POLL_UUID" val="7bddc316-fc82-4313-83fd-ab065e277edf"/>
  <p:tag name="SLIDO_POLL_QUESTION_UUID" val="403b1a4c-ab18-44f3-9bb4-2b0829583c89"/>
  <p:tag name="SLIDO_TIMELINE" val="W3sic2NyZWVuIjoiUXVpekpvaW5pbmciLCJzaG93UmVzdWx0cyI6ZmFsc2UsInNob3dDb3JyZWN0QW5zd2VycyI6ZmFsc2UsInZvdGluZ0xvY2tlZCI6ZmFsc2V9LHsicG9sbFF1ZXN0aW9uVXVpZCI6IjQwM2IxYTRjLWFiMTgtNDRmMy05YmI0LTJiMDgyOTU4M2M4OSIsInNob3dSZXN1bHRzIjpmYWxzZSwic2hvd0NvcnJlY3RBbnN3ZXJzIjpmYWxzZSwidm90aW5nTG9ja2VkIjpmYWxzZX0seyJwb2xsUXVlc3Rpb25VdWlkIjoiNDAzYjFhNGMtYWIxOC00NGYzLTliYjQtMmIwODI5NTgzYzg5Iiwic2hvd1Jlc3VsdHMiOnRydWUsInNob3dDb3JyZWN0QW5zd2VycyI6ZmFsc2UsInZvdGluZ0xvY2tlZCI6dHJ1ZX0seyJwb2xsUXVlc3Rpb25VdWlkIjoiNDAzYjFhNGMtYWIxOC00NGYzLTliYjQtMmIwODI5NTgzYzg5Iiwic2hvd1Jlc3VsdHMiOnRydWUsInNob3dDb3JyZWN0QW5zd2VycyI6dHJ1ZSwidm90aW5nTG9ja2VkIjp0cnVlfSx7InNjcmVlbiI6IlF1aXpMZWFkZXJib2FyZCIsInBvbGxRdWVzdGlvblV1aWQiOiIwMjQ3ZTBmZi1jM2E5LTQ4MzEtYjcwMi05Y2QxMmJjMTg1ZDciLCJzaG93UmVzdWx0cyI6dHJ1ZSwic2hvd0NvcnJlY3RBbnN3ZXJzIjp0cnVlLCJ2b3RpbmdMb2NrZWQiOnRydWV9XQ==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(x,y) \Rightarrow&#10;\left[&#10;\begin{array}{c}&#10;x \\ y \\ 1&#10;\end{array}&#10;\right]&#10;\]&#10;\end{document}&#10;"/>
  <p:tag name="EXTERNALNAME" val="Edittex"/>
  <p:tag name="BLEND" val="False"/>
  <p:tag name="TRANSPARENT" val="False"/>
  <p:tag name="BITMAPFORMAT" val="bmpmono"/>
  <p:tag name="DEBUGINTERACTIVE" val="True"/>
  <p:tag name="ORIGWIDTH" val="486.875"/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left[&#10;\begin{array}{c}&#10;x \\ y \\ w&#10;\end{array}&#10;\right]&#10;\Rightarrow&#10;(x/w,y/w) &#10;\]&#10;\end{document}&#10;"/>
  <p:tag name="EXTERNALNAME" val="Edittex"/>
  <p:tag name="BLEND" val="False"/>
  <p:tag name="TRANSPARENT" val="False"/>
  <p:tag name="BITMAPFORMAT" val="bmpmono"/>
  <p:tag name="DEBUGINTERACTIVE" val="True"/>
  <p:tag name="ORIGWIDTH" val="693"/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def\matrx #1#2{\left[&#10;    \begin{array}{#1} #2&#10;    \end{array} \right]} % real matrix (square brackets)&#10;\def\Rm{{\bf R}} % rotation matrix&#10;\[&#10; \matrx{c}{x'_i \\ y'_i \\ 1} \cong&#10; \matrx{cccc}{h_{00} &amp; h_{01} &amp; h_{02} \\&#10;       h_{10} &amp; h_{11} &amp; h_{12} \\&#10;       h_{20} &amp; h_{21} &amp; h_{22}}&#10; \matrx{c}{x_i \\ y_i \\  1}&#10;\]&#10;\end{document}&#10;"/>
  <p:tag name="EXTERNALNAME" val="Edittex"/>
  <p:tag name="BLEND" val="False"/>
  <p:tag name="TRANSPARENT" val="False"/>
  <p:tag name="BITMAPFORMAT" val="bmpmono"/>
  <p:tag name="DEBUGINTERACTIVE" val="True"/>
  <p:tag name="ORIGWIDTH" val="1161.875"/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yriad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9030</TotalTime>
  <Words>1253</Words>
  <Application>Microsoft Office PowerPoint</Application>
  <PresentationFormat>宽屏</PresentationFormat>
  <Paragraphs>255</Paragraphs>
  <Slides>41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41</vt:i4>
      </vt:variant>
    </vt:vector>
  </HeadingPairs>
  <TitlesOfParts>
    <vt:vector size="48" baseType="lpstr">
      <vt:lpstr>Myriad Pro</vt:lpstr>
      <vt:lpstr>Calibri</vt:lpstr>
      <vt:lpstr>Verdana</vt:lpstr>
      <vt:lpstr>Arial</vt:lpstr>
      <vt:lpstr>Office Theme</vt:lpstr>
      <vt:lpstr>Equation</vt:lpstr>
      <vt:lpstr>Photo Editor Photo</vt:lpstr>
      <vt:lpstr>Image transformations and image warping</vt:lpstr>
      <vt:lpstr>Image alignment</vt:lpstr>
      <vt:lpstr>Image alignment</vt:lpstr>
      <vt:lpstr>What is the geometric relationship between these two images?</vt:lpstr>
      <vt:lpstr>What is the geometric relationship between these two images?</vt:lpstr>
      <vt:lpstr>What is the geometric relationship between these two images?</vt:lpstr>
      <vt:lpstr>Image Warping</vt:lpstr>
      <vt:lpstr>Image Warping</vt:lpstr>
      <vt:lpstr>Parametric (global) warping</vt:lpstr>
      <vt:lpstr>Parametric (global) warping</vt:lpstr>
      <vt:lpstr>Common linear transformations</vt:lpstr>
      <vt:lpstr>Common linear transformations</vt:lpstr>
      <vt:lpstr>2x2 Matrices</vt:lpstr>
      <vt:lpstr>2x2 Matrices</vt:lpstr>
      <vt:lpstr>2x2 Matrices</vt:lpstr>
      <vt:lpstr>PowerPoint 演示文稿</vt:lpstr>
      <vt:lpstr>2x2 Matrices</vt:lpstr>
      <vt:lpstr>All 2D Linear Transformations</vt:lpstr>
      <vt:lpstr>Homogeneous coordinates</vt:lpstr>
      <vt:lpstr>Translation</vt:lpstr>
      <vt:lpstr>Affine transformations</vt:lpstr>
      <vt:lpstr>Basic affine transformations</vt:lpstr>
      <vt:lpstr>Affine transformations</vt:lpstr>
      <vt:lpstr>Is this an affine transformation?</vt:lpstr>
      <vt:lpstr>Where do we go from here?</vt:lpstr>
      <vt:lpstr>Projective Transformations aka Homographies aka Planar Perspective Maps</vt:lpstr>
      <vt:lpstr>Homographies</vt:lpstr>
      <vt:lpstr>Homographies</vt:lpstr>
      <vt:lpstr>Points at infinity</vt:lpstr>
      <vt:lpstr>Image warping with homographies</vt:lpstr>
      <vt:lpstr>Homographies</vt:lpstr>
      <vt:lpstr>Homographies</vt:lpstr>
      <vt:lpstr>Alternate formulation for homographies</vt:lpstr>
      <vt:lpstr>2D image transformations</vt:lpstr>
      <vt:lpstr>Implementing image warping</vt:lpstr>
      <vt:lpstr>Forward Warping</vt:lpstr>
      <vt:lpstr>Forward Warping</vt:lpstr>
      <vt:lpstr>Inverse Warping</vt:lpstr>
      <vt:lpstr>Inverse Warping</vt:lpstr>
      <vt:lpstr>Interpolation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7: Transformations and warping</dc:title>
  <dc:creator>Noah Snavely</dc:creator>
  <cp:lastModifiedBy>Zhiyu ZHU 朱智宇</cp:lastModifiedBy>
  <cp:revision>253</cp:revision>
  <dcterms:created xsi:type="dcterms:W3CDTF">2009-08-25T02:47:59Z</dcterms:created>
  <dcterms:modified xsi:type="dcterms:W3CDTF">2026-03-03T05:16:15Z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0.17.1.1417</vt:lpwstr>
  </property>
</Properties>
</file>