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2"/>
  </p:notesMasterIdLst>
  <p:sldIdLst>
    <p:sldId id="289" r:id="rId2"/>
    <p:sldId id="296" r:id="rId3"/>
    <p:sldId id="297" r:id="rId4"/>
    <p:sldId id="321" r:id="rId5"/>
    <p:sldId id="298" r:id="rId6"/>
    <p:sldId id="300" r:id="rId7"/>
    <p:sldId id="299" r:id="rId8"/>
    <p:sldId id="301" r:id="rId9"/>
    <p:sldId id="302" r:id="rId10"/>
    <p:sldId id="303" r:id="rId11"/>
    <p:sldId id="304" r:id="rId12"/>
    <p:sldId id="323" r:id="rId13"/>
    <p:sldId id="305" r:id="rId14"/>
    <p:sldId id="306" r:id="rId15"/>
    <p:sldId id="307" r:id="rId16"/>
    <p:sldId id="308" r:id="rId17"/>
    <p:sldId id="322" r:id="rId18"/>
    <p:sldId id="309" r:id="rId19"/>
    <p:sldId id="310" r:id="rId20"/>
    <p:sldId id="311" r:id="rId21"/>
    <p:sldId id="324" r:id="rId22"/>
    <p:sldId id="312" r:id="rId23"/>
    <p:sldId id="325" r:id="rId24"/>
    <p:sldId id="326" r:id="rId25"/>
    <p:sldId id="313" r:id="rId26"/>
    <p:sldId id="314" r:id="rId27"/>
    <p:sldId id="315" r:id="rId28"/>
    <p:sldId id="317" r:id="rId29"/>
    <p:sldId id="318" r:id="rId30"/>
    <p:sldId id="319" r:id="rId31"/>
  </p:sldIdLst>
  <p:sldSz cx="12192000" cy="6858000"/>
  <p:notesSz cx="7010400" cy="9296400"/>
  <p:embeddedFontLst>
    <p:embeddedFont>
      <p:font typeface="ＭＳ Ｐゴシック" panose="020B0600070205080204" pitchFamily="34" charset="-128"/>
      <p:regular r:id="rId33"/>
    </p:embeddedFont>
    <p:embeddedFont>
      <p:font typeface="Cambria Math" panose="02040503050406030204" pitchFamily="18" charset="0"/>
      <p:regular r:id="rId34"/>
    </p:embeddedFont>
    <p:embeddedFont>
      <p:font typeface="Myriad Pro" panose="020B0503030403020204" charset="0"/>
      <p:regular r:id="rId35"/>
      <p:bold r:id="rId36"/>
      <p:italic r:id="rId37"/>
      <p:boldItalic r:id="rId38"/>
    </p:embeddedFont>
  </p:embeddedFontLst>
  <p:custDataLst>
    <p:tags r:id="rId3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118" autoAdjust="0"/>
    <p:restoredTop sz="94587" autoAdjust="0"/>
  </p:normalViewPr>
  <p:slideViewPr>
    <p:cSldViewPr>
      <p:cViewPr>
        <p:scale>
          <a:sx n="100" d="100"/>
          <a:sy n="100" d="100"/>
        </p:scale>
        <p:origin x="2106" y="12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65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61C155-FDB6-45B3-A8EB-64DCB3A41D3B}" type="slidenum">
              <a:rPr lang="en-US"/>
              <a:pPr/>
              <a:t>2</a:t>
            </a:fld>
            <a:endParaRPr lang="en-US"/>
          </a:p>
        </p:txBody>
      </p:sp>
      <p:sp>
        <p:nvSpPr>
          <p:cNvPr id="482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B6B1AF-0CDC-4AFE-91EB-1BA445E390DC}" type="slidenum">
              <a:rPr lang="en-US"/>
              <a:pPr/>
              <a:t>3</a:t>
            </a:fld>
            <a:endParaRPr lang="en-US"/>
          </a:p>
        </p:txBody>
      </p:sp>
      <p:sp>
        <p:nvSpPr>
          <p:cNvPr id="483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19368F-EAE0-4D3F-A58D-0C61B9EB5CD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FF5886-D4A8-4A49-8F34-B8597D3588F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</p:spPr>
        <p:txBody>
          <a:bodyPr/>
          <a:lstStyle/>
          <a:p>
            <a:pPr eaLnBrk="1" hangingPunct="1"/>
            <a:r>
              <a:rPr lang="en-US"/>
              <a:t>give definition of partial derivative:  lim h-&gt;0 [f(x+h,y) – f(x,y)]/h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D0F738-C018-426C-9157-CC508A33937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</p:spPr>
        <p:txBody>
          <a:bodyPr/>
          <a:lstStyle/>
          <a:p>
            <a:pPr eaLnBrk="1" hangingPunct="1"/>
            <a:r>
              <a:rPr lang="en-US"/>
              <a:t>How to fix?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0E5181-7D8B-4D93-BCED-A4CB54E0453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0F13A1-DA61-48C2-B89C-2B2DDFCE63B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9314D7-CA33-4C25-8A78-E08FA11C49BE}" type="slidenum">
              <a:rPr lang="en-US"/>
              <a:pPr/>
              <a:t>13</a:t>
            </a:fld>
            <a:endParaRPr lang="en-US"/>
          </a:p>
        </p:txBody>
      </p:sp>
      <p:sp>
        <p:nvSpPr>
          <p:cNvPr id="45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many 2</a:t>
            </a:r>
            <a:r>
              <a:rPr lang="en-US" baseline="30000"/>
              <a:t>nd</a:t>
            </a:r>
            <a:r>
              <a:rPr lang="en-US"/>
              <a:t> derivative filters are there?  There are four 2</a:t>
            </a:r>
            <a:r>
              <a:rPr lang="en-US" baseline="30000"/>
              <a:t>nd</a:t>
            </a:r>
            <a:r>
              <a:rPr lang="en-US"/>
              <a:t> partial derivative filters.</a:t>
            </a:r>
          </a:p>
          <a:p>
            <a:r>
              <a:rPr lang="en-US"/>
              <a:t>In practice, it’s handy to define a single 2</a:t>
            </a:r>
            <a:r>
              <a:rPr lang="en-US" baseline="30000"/>
              <a:t>nd</a:t>
            </a:r>
            <a:r>
              <a:rPr lang="en-US"/>
              <a:t> derivative filter—the Laplacian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FCEA50-995A-484F-A7D6-79A1942CBCF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E7AF4E-50B3-4AEC-A02E-C05AF9D042D7}" type="slidenum">
              <a:rPr lang="en-US"/>
              <a:pPr/>
              <a:t>15</a:t>
            </a:fld>
            <a:endParaRPr lang="en-US"/>
          </a:p>
        </p:txBody>
      </p:sp>
      <p:sp>
        <p:nvSpPr>
          <p:cNvPr id="467970" name="Rectangle 7"/>
          <p:cNvSpPr txBox="1">
            <a:spLocks noGrp="1" noChangeArrowheads="1"/>
          </p:cNvSpPr>
          <p:nvPr/>
        </p:nvSpPr>
        <p:spPr bwMode="auto">
          <a:xfrm>
            <a:off x="3946393" y="8869085"/>
            <a:ext cx="3033580" cy="462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880" tIns="45939" rIns="91880" bIns="45939" anchor="b"/>
          <a:lstStyle/>
          <a:p>
            <a:pPr algn="r" defTabSz="919645"/>
            <a:fld id="{6566B668-B627-4CC7-846D-72C5D0232D1C}" type="slidenum">
              <a:rPr lang="en-US" sz="1200"/>
              <a:pPr algn="r" defTabSz="919645"/>
              <a:t>15</a:t>
            </a:fld>
            <a:endParaRPr lang="en-US" sz="1200" dirty="0"/>
          </a:p>
        </p:txBody>
      </p:sp>
      <p:sp>
        <p:nvSpPr>
          <p:cNvPr id="467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679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Q:  Why might these work better?</a:t>
            </a:r>
          </a:p>
          <a:p>
            <a:r>
              <a:rPr lang="en-US"/>
              <a:t>A:  more stable when there is noise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4300EC-EC5B-46B8-88DB-97E06B2D2D1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8BDD3E-763B-40B1-9E99-56467CB7372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5F0F6A-4F37-4F70-9747-5EA58DB911E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5F0F6A-4F37-4F70-9747-5EA58DB911E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7EF8A6-361E-481F-B292-4B0DFD99E6D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9770" y="4396116"/>
            <a:ext cx="5160433" cy="424086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4272B6-521F-4D44-91D1-C5931EDFFC7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AB75984D-5BC5-7232-92D5-7B6CA854F3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defRPr/>
            </a:lvl1pPr>
            <a:lvl2pPr>
              <a:lnSpc>
                <a:spcPct val="100000"/>
              </a:lnSpc>
              <a:spcBef>
                <a:spcPts val="1200"/>
              </a:spcBef>
              <a:defRPr/>
            </a:lvl2pPr>
            <a:lvl3pPr>
              <a:lnSpc>
                <a:spcPct val="100000"/>
              </a:lnSpc>
              <a:spcBef>
                <a:spcPts val="1200"/>
              </a:spcBef>
              <a:defRPr/>
            </a:lvl3pPr>
            <a:lvl4pPr>
              <a:lnSpc>
                <a:spcPct val="100000"/>
              </a:lnSpc>
              <a:spcBef>
                <a:spcPts val="1200"/>
              </a:spcBef>
              <a:defRPr/>
            </a:lvl4pPr>
            <a:lvl5pPr>
              <a:lnSpc>
                <a:spcPct val="10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991E06CD-3AAB-14ED-5A96-D6BA6018AC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BB135E1B-5E79-9B3A-404C-B96DC3C8BA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B9FB2B7F-0946-CA6A-5BFA-7E570BFA10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7F242701-5BD6-8D6E-F330-A3A6F124F6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671CB29A-2B85-B4FA-EEB1-4F9C59868E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0EE53350-8236-3D42-43BE-2B684EA2A1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48643BA0-2351-8531-4747-131D1FD98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B791CF5C-0091-E879-A52F-F280C52E4B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A88F96B6-184B-3794-58C4-76A479B795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84AF5E54-2812-562D-D57D-23E316512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oleObject" Target="../embeddings/oleObject2.bin"/><Relationship Id="rId5" Type="http://schemas.openxmlformats.org/officeDocument/2006/relationships/tags" Target="../tags/tag8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7.xml"/><Relationship Id="rId9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.png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image" Target="../media/image10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image" Target="../media/image9.png"/><Relationship Id="rId5" Type="http://schemas.openxmlformats.org/officeDocument/2006/relationships/tags" Target="../tags/tag16.xml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tags" Target="../tags/tag15.xml"/><Relationship Id="rId9" Type="http://schemas.openxmlformats.org/officeDocument/2006/relationships/notesSlide" Target="../notesSlides/notesSlide4.xml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8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17.png"/><Relationship Id="rId5" Type="http://schemas.openxmlformats.org/officeDocument/2006/relationships/tags" Target="../tags/tag23.xml"/><Relationship Id="rId10" Type="http://schemas.openxmlformats.org/officeDocument/2006/relationships/image" Target="../media/image16.png"/><Relationship Id="rId4" Type="http://schemas.openxmlformats.org/officeDocument/2006/relationships/tags" Target="../tags/tag22.xml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oleObject" Target="../embeddings/oleObject3.bin"/><Relationship Id="rId10" Type="http://schemas.openxmlformats.org/officeDocument/2006/relationships/image" Target="../media/image23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38.png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oleObject" Target="../embeddings/oleObject7.bin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image" Target="../media/image37.png"/><Relationship Id="rId5" Type="http://schemas.openxmlformats.org/officeDocument/2006/relationships/tags" Target="../tags/tag31.xml"/><Relationship Id="rId15" Type="http://schemas.openxmlformats.org/officeDocument/2006/relationships/image" Target="../media/image40.png"/><Relationship Id="rId10" Type="http://schemas.openxmlformats.org/officeDocument/2006/relationships/oleObject" Target="../embeddings/oleObject6.bin"/><Relationship Id="rId4" Type="http://schemas.openxmlformats.org/officeDocument/2006/relationships/tags" Target="../tags/tag30.xml"/><Relationship Id="rId9" Type="http://schemas.openxmlformats.org/officeDocument/2006/relationships/notesSlide" Target="../notesSlides/notesSlide8.xml"/><Relationship Id="rId1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image" Target="../media/image46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image" Target="../media/image45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38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bigwww.epfl.ch/demo/ip/demos/edgeDetector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tags" Target="../tags/tag45.xml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74.png"/><Relationship Id="rId5" Type="http://schemas.openxmlformats.org/officeDocument/2006/relationships/tags" Target="../tags/tag47.xml"/><Relationship Id="rId10" Type="http://schemas.openxmlformats.org/officeDocument/2006/relationships/image" Target="../media/image73.png"/><Relationship Id="rId4" Type="http://schemas.openxmlformats.org/officeDocument/2006/relationships/tags" Target="../tags/tag46.xml"/><Relationship Id="rId9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632206"/>
            <a:ext cx="8077200" cy="1087438"/>
          </a:xfrm>
        </p:spPr>
        <p:txBody>
          <a:bodyPr>
            <a:normAutofit/>
          </a:bodyPr>
          <a:lstStyle/>
          <a:p>
            <a:pPr algn="l"/>
            <a:r>
              <a:rPr lang="en-US" sz="3600" b="0" dirty="0"/>
              <a:t>Lecture 2: Edge detection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81000" y="-217869"/>
            <a:ext cx="744855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CS4186: Computer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-381000" y="1600200"/>
            <a:ext cx="12954000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016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E257B-2869-0609-966D-F3FBD991A1F4}"/>
              </a:ext>
            </a:extLst>
          </p:cNvPr>
          <p:cNvSpPr txBox="1">
            <a:spLocks/>
          </p:cNvSpPr>
          <p:nvPr/>
        </p:nvSpPr>
        <p:spPr>
          <a:xfrm>
            <a:off x="7239000" y="984663"/>
            <a:ext cx="4876800" cy="92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3200" dirty="0"/>
              <a:t>Prof. Zhu Zhiyu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F7DF14A6-0718-1D01-B1CA-312C95D0DB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5587C0FA-971E-7048-A34E-3DFAFCB94B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图片 11" descr="图示, 工程绘图&#10;&#10;AI 生成的内容可能不正确。">
            <a:extLst>
              <a:ext uri="{FF2B5EF4-FFF2-40B4-BE49-F238E27FC236}">
                <a16:creationId xmlns:a16="http://schemas.microsoft.com/office/drawing/2014/main" id="{A792FC2C-D18A-4733-DA9F-722D97B23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2335181"/>
            <a:ext cx="7696200" cy="4215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Edge detection</a:t>
            </a:r>
          </a:p>
        </p:txBody>
      </p:sp>
      <p:sp>
        <p:nvSpPr>
          <p:cNvPr id="460807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24000" y="7112000"/>
            <a:ext cx="9144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TexPoint fonts used in EMF. </a:t>
            </a:r>
          </a:p>
          <a:p>
            <a:r>
              <a:rPr lang="en-US"/>
              <a:t>Read the TexPoint manual before you delete this box.: </a:t>
            </a:r>
            <a:r>
              <a:rPr lang="en-US">
                <a:latin typeface="CMMI10" pitchFamily="34" charset="0"/>
              </a:rPr>
              <a:t>A</a:t>
            </a:r>
            <a:r>
              <a:rPr lang="en-US">
                <a:latin typeface="CMR7" pitchFamily="34" charset="0"/>
              </a:rPr>
              <a:t>A</a:t>
            </a:r>
            <a:r>
              <a:rPr lang="en-US">
                <a:latin typeface="CMR10" pitchFamily="34" charset="0"/>
              </a:rPr>
              <a:t>A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209800" y="5257800"/>
            <a:ext cx="7772400" cy="12954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/>
              <a:t>Convert a 2D image into a set of curves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400" dirty="0"/>
              <a:t>Extracts salient features of the scene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400" dirty="0"/>
              <a:t>More compact than pixels</a:t>
            </a:r>
          </a:p>
        </p:txBody>
      </p:sp>
      <p:graphicFrame>
        <p:nvGraphicFramePr>
          <p:cNvPr id="8" name="Object 2048"/>
          <p:cNvGraphicFramePr>
            <a:graphicFrameLocks noChangeAspect="1"/>
          </p:cNvGraphicFramePr>
          <p:nvPr/>
        </p:nvGraphicFramePr>
        <p:xfrm>
          <a:off x="3105150" y="1304926"/>
          <a:ext cx="6267450" cy="395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7354327" imgH="4638095" progId="">
                  <p:embed/>
                </p:oleObj>
              </mc:Choice>
              <mc:Fallback>
                <p:oleObj name="Photo Editor Photo" r:id="rId5" imgW="7354327" imgH="4638095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1304926"/>
                        <a:ext cx="6267450" cy="395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823346B1-8167-0F0B-CD95-044ED3205AB8}"/>
              </a:ext>
            </a:extLst>
          </p:cNvPr>
          <p:cNvSpPr/>
          <p:nvPr/>
        </p:nvSpPr>
        <p:spPr>
          <a:xfrm>
            <a:off x="9601200" y="2057400"/>
            <a:ext cx="1752600" cy="2641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闪电形 2">
            <a:extLst>
              <a:ext uri="{FF2B5EF4-FFF2-40B4-BE49-F238E27FC236}">
                <a16:creationId xmlns:a16="http://schemas.microsoft.com/office/drawing/2014/main" id="{2C7CB51C-FCD3-0AE7-57A6-B5F061CC521C}"/>
              </a:ext>
            </a:extLst>
          </p:cNvPr>
          <p:cNvSpPr/>
          <p:nvPr/>
        </p:nvSpPr>
        <p:spPr>
          <a:xfrm>
            <a:off x="9944100" y="2921000"/>
            <a:ext cx="1066800" cy="1371600"/>
          </a:xfrm>
          <a:prstGeom prst="lightningBol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Origin of edges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2209800" y="4800600"/>
            <a:ext cx="7772400" cy="1371600"/>
          </a:xfrm>
        </p:spPr>
        <p:txBody>
          <a:bodyPr/>
          <a:lstStyle/>
          <a:p>
            <a:r>
              <a:rPr lang="en-US"/>
              <a:t>Edges are caused by a variety of factors</a:t>
            </a:r>
          </a:p>
        </p:txBody>
      </p:sp>
      <p:sp>
        <p:nvSpPr>
          <p:cNvPr id="46387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5588" y="92075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463877" name="Object 7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4191000" y="1447800"/>
          <a:ext cx="2990850" cy="285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1" imgW="2991268" imgH="2857899" progId="">
                  <p:embed/>
                </p:oleObj>
              </mc:Choice>
              <mc:Fallback>
                <p:oleObj name="Photo Editor Photo" r:id="rId11" imgW="2991268" imgH="2857899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447800"/>
                        <a:ext cx="2990850" cy="285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3878" name="Text Box 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162801" y="2330450"/>
            <a:ext cx="19271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+mj-lt"/>
              </a:rPr>
              <a:t>depth discontinuity</a:t>
            </a:r>
          </a:p>
        </p:txBody>
      </p:sp>
      <p:sp>
        <p:nvSpPr>
          <p:cNvPr id="463879" name="Text Box 10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162800" y="2971800"/>
            <a:ext cx="255621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+mj-lt"/>
              </a:rPr>
              <a:t>surface color discontinuity</a:t>
            </a:r>
          </a:p>
        </p:txBody>
      </p:sp>
      <p:sp>
        <p:nvSpPr>
          <p:cNvPr id="463880" name="Text Box 1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162800" y="3625850"/>
            <a:ext cx="245932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+mj-lt"/>
              </a:rPr>
              <a:t>illumination discontinuity</a:t>
            </a:r>
          </a:p>
        </p:txBody>
      </p:sp>
      <p:sp>
        <p:nvSpPr>
          <p:cNvPr id="463881" name="Text Box 1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162801" y="1676400"/>
            <a:ext cx="273696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+mj-lt"/>
              </a:rPr>
              <a:t>surface normal discontinuity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vert="horz" lIns="91440" tIns="45720" rIns="132080" bIns="45720" rtlCol="0" anchor="ctr">
            <a:normAutofit/>
          </a:bodyPr>
          <a:lstStyle/>
          <a:p>
            <a:r>
              <a:rPr lang="en-US" dirty="0"/>
              <a:t>Images as functions…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5791200"/>
            <a:ext cx="10972800" cy="792164"/>
          </a:xfrm>
          <a:ln/>
        </p:spPr>
        <p:txBody>
          <a:bodyPr vert="horz" lIns="91440" tIns="45720" rIns="132080" bIns="45720" rtlCol="0">
            <a:normAutofit/>
          </a:bodyPr>
          <a:lstStyle/>
          <a:p>
            <a:pPr marL="382588"/>
            <a:r>
              <a:rPr lang="en-US" dirty="0"/>
              <a:t>Edges look like steep cliffs</a:t>
            </a:r>
          </a:p>
        </p:txBody>
      </p:sp>
      <p:pic>
        <p:nvPicPr>
          <p:cNvPr id="7172" name="Picture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0" y="1319214"/>
            <a:ext cx="4914900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81200"/>
            <a:ext cx="3276600" cy="306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40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Characterizing edges</a:t>
            </a:r>
          </a:p>
        </p:txBody>
      </p:sp>
      <p:sp>
        <p:nvSpPr>
          <p:cNvPr id="8195" name="Rectangle 26"/>
          <p:cNvSpPr>
            <a:spLocks noGrp="1" noChangeArrowheads="1"/>
          </p:cNvSpPr>
          <p:nvPr>
            <p:ph type="body" idx="1"/>
          </p:nvPr>
        </p:nvSpPr>
        <p:spPr>
          <a:xfrm>
            <a:off x="762000" y="1447801"/>
            <a:ext cx="10668000" cy="4678363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dirty="0"/>
              <a:t>An edge is a place of </a:t>
            </a:r>
            <a:r>
              <a:rPr lang="en-US" i="1" dirty="0"/>
              <a:t>rapid change </a:t>
            </a:r>
            <a:r>
              <a:rPr lang="en-US" dirty="0"/>
              <a:t>in the image intensity function</a:t>
            </a:r>
          </a:p>
        </p:txBody>
      </p:sp>
      <p:pic>
        <p:nvPicPr>
          <p:cNvPr id="8196" name="Picture 10" descr="step_edge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3276600"/>
            <a:ext cx="2743200" cy="2082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8197" name="Line 21"/>
          <p:cNvSpPr>
            <a:spLocks noChangeShapeType="1"/>
          </p:cNvSpPr>
          <p:nvPr/>
        </p:nvSpPr>
        <p:spPr bwMode="auto">
          <a:xfrm>
            <a:off x="1752600" y="4343400"/>
            <a:ext cx="2743200" cy="0"/>
          </a:xfrm>
          <a:prstGeom prst="line">
            <a:avLst/>
          </a:prstGeom>
          <a:noFill/>
          <a:ln w="38100">
            <a:solidFill>
              <a:srgbClr val="FF0000">
                <a:alpha val="50000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8" name="Text Box 22"/>
          <p:cNvSpPr txBox="1">
            <a:spLocks noChangeArrowheads="1"/>
          </p:cNvSpPr>
          <p:nvPr/>
        </p:nvSpPr>
        <p:spPr bwMode="auto">
          <a:xfrm>
            <a:off x="2724468" y="2895600"/>
            <a:ext cx="7550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image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724400" y="2635250"/>
            <a:ext cx="2743200" cy="2725738"/>
            <a:chOff x="2016" y="1420"/>
            <a:chExt cx="1728" cy="1717"/>
          </a:xfrm>
        </p:grpSpPr>
        <p:sp>
          <p:nvSpPr>
            <p:cNvPr id="8210" name="Rectangle 11"/>
            <p:cNvSpPr>
              <a:spLocks noChangeArrowheads="1"/>
            </p:cNvSpPr>
            <p:nvPr/>
          </p:nvSpPr>
          <p:spPr bwMode="auto">
            <a:xfrm>
              <a:off x="2016" y="1824"/>
              <a:ext cx="1727" cy="1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1" name="Freeform 12"/>
            <p:cNvSpPr>
              <a:spLocks/>
            </p:cNvSpPr>
            <p:nvPr/>
          </p:nvSpPr>
          <p:spPr bwMode="auto">
            <a:xfrm>
              <a:off x="2016" y="2016"/>
              <a:ext cx="912" cy="1015"/>
            </a:xfrm>
            <a:custGeom>
              <a:avLst/>
              <a:gdLst>
                <a:gd name="T0" fmla="*/ 0 w 912"/>
                <a:gd name="T1" fmla="*/ 0 h 1015"/>
                <a:gd name="T2" fmla="*/ 316 w 912"/>
                <a:gd name="T3" fmla="*/ 0 h 1015"/>
                <a:gd name="T4" fmla="*/ 435 w 912"/>
                <a:gd name="T5" fmla="*/ 129 h 1015"/>
                <a:gd name="T6" fmla="*/ 492 w 912"/>
                <a:gd name="T7" fmla="*/ 579 h 1015"/>
                <a:gd name="T8" fmla="*/ 549 w 912"/>
                <a:gd name="T9" fmla="*/ 927 h 1015"/>
                <a:gd name="T10" fmla="*/ 660 w 912"/>
                <a:gd name="T11" fmla="*/ 1008 h 1015"/>
                <a:gd name="T12" fmla="*/ 912 w 912"/>
                <a:gd name="T13" fmla="*/ 1014 h 10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12"/>
                <a:gd name="T22" fmla="*/ 0 h 1015"/>
                <a:gd name="T23" fmla="*/ 912 w 912"/>
                <a:gd name="T24" fmla="*/ 1015 h 101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12" h="1015">
                  <a:moveTo>
                    <a:pt x="0" y="0"/>
                  </a:moveTo>
                  <a:cubicBezTo>
                    <a:pt x="0" y="0"/>
                    <a:pt x="252" y="0"/>
                    <a:pt x="316" y="0"/>
                  </a:cubicBezTo>
                  <a:cubicBezTo>
                    <a:pt x="380" y="0"/>
                    <a:pt x="405" y="28"/>
                    <a:pt x="435" y="129"/>
                  </a:cubicBezTo>
                  <a:cubicBezTo>
                    <a:pt x="465" y="230"/>
                    <a:pt x="480" y="444"/>
                    <a:pt x="492" y="579"/>
                  </a:cubicBezTo>
                  <a:cubicBezTo>
                    <a:pt x="504" y="714"/>
                    <a:pt x="521" y="856"/>
                    <a:pt x="549" y="927"/>
                  </a:cubicBezTo>
                  <a:cubicBezTo>
                    <a:pt x="577" y="998"/>
                    <a:pt x="602" y="1001"/>
                    <a:pt x="660" y="1008"/>
                  </a:cubicBezTo>
                  <a:cubicBezTo>
                    <a:pt x="718" y="1015"/>
                    <a:pt x="860" y="1013"/>
                    <a:pt x="912" y="10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2" name="Freeform 15"/>
            <p:cNvSpPr>
              <a:spLocks/>
            </p:cNvSpPr>
            <p:nvPr/>
          </p:nvSpPr>
          <p:spPr bwMode="auto">
            <a:xfrm flipH="1">
              <a:off x="2832" y="2016"/>
              <a:ext cx="912" cy="1015"/>
            </a:xfrm>
            <a:custGeom>
              <a:avLst/>
              <a:gdLst>
                <a:gd name="T0" fmla="*/ 0 w 912"/>
                <a:gd name="T1" fmla="*/ 0 h 1015"/>
                <a:gd name="T2" fmla="*/ 316 w 912"/>
                <a:gd name="T3" fmla="*/ 0 h 1015"/>
                <a:gd name="T4" fmla="*/ 435 w 912"/>
                <a:gd name="T5" fmla="*/ 129 h 1015"/>
                <a:gd name="T6" fmla="*/ 492 w 912"/>
                <a:gd name="T7" fmla="*/ 579 h 1015"/>
                <a:gd name="T8" fmla="*/ 549 w 912"/>
                <a:gd name="T9" fmla="*/ 927 h 1015"/>
                <a:gd name="T10" fmla="*/ 660 w 912"/>
                <a:gd name="T11" fmla="*/ 1008 h 1015"/>
                <a:gd name="T12" fmla="*/ 912 w 912"/>
                <a:gd name="T13" fmla="*/ 1014 h 10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12"/>
                <a:gd name="T22" fmla="*/ 0 h 1015"/>
                <a:gd name="T23" fmla="*/ 912 w 912"/>
                <a:gd name="T24" fmla="*/ 1015 h 101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12" h="1015">
                  <a:moveTo>
                    <a:pt x="0" y="0"/>
                  </a:moveTo>
                  <a:cubicBezTo>
                    <a:pt x="0" y="0"/>
                    <a:pt x="252" y="0"/>
                    <a:pt x="316" y="0"/>
                  </a:cubicBezTo>
                  <a:cubicBezTo>
                    <a:pt x="380" y="0"/>
                    <a:pt x="405" y="28"/>
                    <a:pt x="435" y="129"/>
                  </a:cubicBezTo>
                  <a:cubicBezTo>
                    <a:pt x="465" y="230"/>
                    <a:pt x="480" y="444"/>
                    <a:pt x="492" y="579"/>
                  </a:cubicBezTo>
                  <a:cubicBezTo>
                    <a:pt x="504" y="714"/>
                    <a:pt x="521" y="856"/>
                    <a:pt x="549" y="927"/>
                  </a:cubicBezTo>
                  <a:cubicBezTo>
                    <a:pt x="577" y="998"/>
                    <a:pt x="602" y="1001"/>
                    <a:pt x="660" y="1008"/>
                  </a:cubicBezTo>
                  <a:cubicBezTo>
                    <a:pt x="718" y="1015"/>
                    <a:pt x="860" y="1013"/>
                    <a:pt x="912" y="10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13" name="Text Box 24"/>
            <p:cNvSpPr txBox="1">
              <a:spLocks noChangeArrowheads="1"/>
            </p:cNvSpPr>
            <p:nvPr/>
          </p:nvSpPr>
          <p:spPr bwMode="auto">
            <a:xfrm>
              <a:off x="2031" y="1420"/>
              <a:ext cx="1670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intensity function</a:t>
              </a:r>
              <a:br>
                <a:rPr lang="en-US"/>
              </a:br>
              <a:r>
                <a:rPr lang="en-US"/>
                <a:t>(along horizontal scanline)</a:t>
              </a:r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7696200" y="2909888"/>
            <a:ext cx="2743200" cy="2451100"/>
            <a:chOff x="3888" y="1593"/>
            <a:chExt cx="1728" cy="1544"/>
          </a:xfrm>
        </p:grpSpPr>
        <p:sp>
          <p:nvSpPr>
            <p:cNvPr id="8205" name="Rectangle 16"/>
            <p:cNvSpPr>
              <a:spLocks noChangeArrowheads="1"/>
            </p:cNvSpPr>
            <p:nvPr/>
          </p:nvSpPr>
          <p:spPr bwMode="auto">
            <a:xfrm>
              <a:off x="3888" y="1824"/>
              <a:ext cx="1727" cy="1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19"/>
            <p:cNvGrpSpPr>
              <a:grpSpLocks/>
            </p:cNvGrpSpPr>
            <p:nvPr/>
          </p:nvGrpSpPr>
          <p:grpSpPr bwMode="auto">
            <a:xfrm>
              <a:off x="3888" y="1854"/>
              <a:ext cx="1728" cy="1248"/>
              <a:chOff x="3888" y="2640"/>
              <a:chExt cx="1728" cy="1248"/>
            </a:xfrm>
          </p:grpSpPr>
          <p:sp>
            <p:nvSpPr>
              <p:cNvPr id="8208" name="Freeform 17"/>
              <p:cNvSpPr>
                <a:spLocks/>
              </p:cNvSpPr>
              <p:nvPr/>
            </p:nvSpPr>
            <p:spPr bwMode="auto">
              <a:xfrm>
                <a:off x="3888" y="3264"/>
                <a:ext cx="909" cy="624"/>
              </a:xfrm>
              <a:custGeom>
                <a:avLst/>
                <a:gdLst>
                  <a:gd name="T0" fmla="*/ 0 w 909"/>
                  <a:gd name="T1" fmla="*/ 0 h 630"/>
                  <a:gd name="T2" fmla="*/ 288 w 909"/>
                  <a:gd name="T3" fmla="*/ 6 h 630"/>
                  <a:gd name="T4" fmla="*/ 354 w 909"/>
                  <a:gd name="T5" fmla="*/ 83 h 630"/>
                  <a:gd name="T6" fmla="*/ 399 w 909"/>
                  <a:gd name="T7" fmla="*/ 425 h 630"/>
                  <a:gd name="T8" fmla="*/ 459 w 909"/>
                  <a:gd name="T9" fmla="*/ 624 h 630"/>
                  <a:gd name="T10" fmla="*/ 528 w 909"/>
                  <a:gd name="T11" fmla="*/ 428 h 630"/>
                  <a:gd name="T12" fmla="*/ 564 w 909"/>
                  <a:gd name="T13" fmla="*/ 95 h 630"/>
                  <a:gd name="T14" fmla="*/ 642 w 909"/>
                  <a:gd name="T15" fmla="*/ 15 h 630"/>
                  <a:gd name="T16" fmla="*/ 909 w 909"/>
                  <a:gd name="T17" fmla="*/ 3 h 6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09"/>
                  <a:gd name="T28" fmla="*/ 0 h 630"/>
                  <a:gd name="T29" fmla="*/ 909 w 909"/>
                  <a:gd name="T30" fmla="*/ 630 h 6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09" h="630">
                    <a:moveTo>
                      <a:pt x="0" y="0"/>
                    </a:moveTo>
                    <a:cubicBezTo>
                      <a:pt x="48" y="1"/>
                      <a:pt x="231" y="0"/>
                      <a:pt x="288" y="6"/>
                    </a:cubicBezTo>
                    <a:cubicBezTo>
                      <a:pt x="345" y="12"/>
                      <a:pt x="351" y="57"/>
                      <a:pt x="354" y="84"/>
                    </a:cubicBezTo>
                    <a:cubicBezTo>
                      <a:pt x="357" y="111"/>
                      <a:pt x="382" y="338"/>
                      <a:pt x="399" y="429"/>
                    </a:cubicBezTo>
                    <a:cubicBezTo>
                      <a:pt x="416" y="520"/>
                      <a:pt x="438" y="630"/>
                      <a:pt x="459" y="630"/>
                    </a:cubicBezTo>
                    <a:cubicBezTo>
                      <a:pt x="483" y="630"/>
                      <a:pt x="504" y="536"/>
                      <a:pt x="528" y="432"/>
                    </a:cubicBezTo>
                    <a:cubicBezTo>
                      <a:pt x="546" y="343"/>
                      <a:pt x="545" y="165"/>
                      <a:pt x="564" y="96"/>
                    </a:cubicBezTo>
                    <a:cubicBezTo>
                      <a:pt x="581" y="24"/>
                      <a:pt x="585" y="28"/>
                      <a:pt x="642" y="15"/>
                    </a:cubicBezTo>
                    <a:cubicBezTo>
                      <a:pt x="699" y="2"/>
                      <a:pt x="854" y="5"/>
                      <a:pt x="909" y="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9" name="Freeform 18"/>
              <p:cNvSpPr>
                <a:spLocks/>
              </p:cNvSpPr>
              <p:nvPr/>
            </p:nvSpPr>
            <p:spPr bwMode="auto">
              <a:xfrm flipV="1">
                <a:off x="4707" y="2640"/>
                <a:ext cx="909" cy="624"/>
              </a:xfrm>
              <a:custGeom>
                <a:avLst/>
                <a:gdLst>
                  <a:gd name="T0" fmla="*/ 0 w 909"/>
                  <a:gd name="T1" fmla="*/ 0 h 630"/>
                  <a:gd name="T2" fmla="*/ 288 w 909"/>
                  <a:gd name="T3" fmla="*/ 6 h 630"/>
                  <a:gd name="T4" fmla="*/ 354 w 909"/>
                  <a:gd name="T5" fmla="*/ 83 h 630"/>
                  <a:gd name="T6" fmla="*/ 399 w 909"/>
                  <a:gd name="T7" fmla="*/ 425 h 630"/>
                  <a:gd name="T8" fmla="*/ 459 w 909"/>
                  <a:gd name="T9" fmla="*/ 624 h 630"/>
                  <a:gd name="T10" fmla="*/ 528 w 909"/>
                  <a:gd name="T11" fmla="*/ 428 h 630"/>
                  <a:gd name="T12" fmla="*/ 564 w 909"/>
                  <a:gd name="T13" fmla="*/ 95 h 630"/>
                  <a:gd name="T14" fmla="*/ 642 w 909"/>
                  <a:gd name="T15" fmla="*/ 15 h 630"/>
                  <a:gd name="T16" fmla="*/ 909 w 909"/>
                  <a:gd name="T17" fmla="*/ 3 h 6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09"/>
                  <a:gd name="T28" fmla="*/ 0 h 630"/>
                  <a:gd name="T29" fmla="*/ 909 w 909"/>
                  <a:gd name="T30" fmla="*/ 630 h 6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09" h="630">
                    <a:moveTo>
                      <a:pt x="0" y="0"/>
                    </a:moveTo>
                    <a:cubicBezTo>
                      <a:pt x="48" y="1"/>
                      <a:pt x="231" y="0"/>
                      <a:pt x="288" y="6"/>
                    </a:cubicBezTo>
                    <a:cubicBezTo>
                      <a:pt x="345" y="12"/>
                      <a:pt x="351" y="57"/>
                      <a:pt x="354" y="84"/>
                    </a:cubicBezTo>
                    <a:cubicBezTo>
                      <a:pt x="357" y="111"/>
                      <a:pt x="382" y="338"/>
                      <a:pt x="399" y="429"/>
                    </a:cubicBezTo>
                    <a:cubicBezTo>
                      <a:pt x="416" y="520"/>
                      <a:pt x="438" y="630"/>
                      <a:pt x="459" y="630"/>
                    </a:cubicBezTo>
                    <a:cubicBezTo>
                      <a:pt x="483" y="630"/>
                      <a:pt x="504" y="536"/>
                      <a:pt x="528" y="432"/>
                    </a:cubicBezTo>
                    <a:cubicBezTo>
                      <a:pt x="546" y="343"/>
                      <a:pt x="545" y="165"/>
                      <a:pt x="564" y="96"/>
                    </a:cubicBezTo>
                    <a:cubicBezTo>
                      <a:pt x="581" y="24"/>
                      <a:pt x="585" y="28"/>
                      <a:pt x="642" y="15"/>
                    </a:cubicBezTo>
                    <a:cubicBezTo>
                      <a:pt x="699" y="2"/>
                      <a:pt x="854" y="5"/>
                      <a:pt x="909" y="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207" name="Text Box 25"/>
            <p:cNvSpPr txBox="1">
              <a:spLocks noChangeArrowheads="1"/>
            </p:cNvSpPr>
            <p:nvPr/>
          </p:nvSpPr>
          <p:spPr bwMode="auto">
            <a:xfrm>
              <a:off x="4237" y="1593"/>
              <a:ext cx="96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first derivative</a:t>
              </a:r>
            </a:p>
          </p:txBody>
        </p:sp>
      </p:grp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8072439" y="3657602"/>
            <a:ext cx="2185988" cy="3205163"/>
            <a:chOff x="4125" y="2064"/>
            <a:chExt cx="1377" cy="2019"/>
          </a:xfrm>
        </p:grpSpPr>
        <p:sp>
          <p:nvSpPr>
            <p:cNvPr id="8202" name="Line 28"/>
            <p:cNvSpPr>
              <a:spLocks noChangeShapeType="1"/>
            </p:cNvSpPr>
            <p:nvPr/>
          </p:nvSpPr>
          <p:spPr bwMode="auto">
            <a:xfrm flipH="1" flipV="1">
              <a:off x="4368" y="3168"/>
              <a:ext cx="14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3" name="Line 29"/>
            <p:cNvSpPr>
              <a:spLocks noChangeShapeType="1"/>
            </p:cNvSpPr>
            <p:nvPr/>
          </p:nvSpPr>
          <p:spPr bwMode="auto">
            <a:xfrm flipV="1">
              <a:off x="5040" y="2064"/>
              <a:ext cx="144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4" name="Text Box 30"/>
            <p:cNvSpPr txBox="1">
              <a:spLocks noChangeArrowheads="1"/>
            </p:cNvSpPr>
            <p:nvPr/>
          </p:nvSpPr>
          <p:spPr bwMode="auto">
            <a:xfrm>
              <a:off x="4125" y="3676"/>
              <a:ext cx="1377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/>
                <a:t>edges correspond to</a:t>
              </a:r>
              <a:br>
                <a:rPr lang="en-US"/>
              </a:br>
              <a:r>
                <a:rPr lang="en-US"/>
                <a:t>extrema of derivative</a:t>
              </a:r>
            </a:p>
          </p:txBody>
        </p:sp>
      </p:grpSp>
      <p:sp>
        <p:nvSpPr>
          <p:cNvPr id="22" name="Text Box 31"/>
          <p:cNvSpPr txBox="1">
            <a:spLocks noChangeArrowheads="1"/>
          </p:cNvSpPr>
          <p:nvPr/>
        </p:nvSpPr>
        <p:spPr bwMode="auto">
          <a:xfrm>
            <a:off x="1371600" y="6583361"/>
            <a:ext cx="2362200" cy="276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/>
              <a:t>Source: L. Lazebnik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9"/>
          <p:cNvSpPr>
            <a:spLocks noChangeArrowheads="1"/>
          </p:cNvSpPr>
          <p:nvPr/>
        </p:nvSpPr>
        <p:spPr bwMode="auto">
          <a:xfrm>
            <a:off x="2438400" y="1828800"/>
            <a:ext cx="8077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dirty="0"/>
              <a:t>The gradient points in the direction of most rapid increase in intensity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315200" y="2438400"/>
            <a:ext cx="2590800" cy="990600"/>
            <a:chOff x="3840" y="1776"/>
            <a:chExt cx="1632" cy="624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3840" y="1776"/>
              <a:ext cx="1632" cy="624"/>
              <a:chOff x="3840" y="1776"/>
              <a:chExt cx="1632" cy="624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3840" y="1776"/>
                <a:ext cx="624" cy="624"/>
                <a:chOff x="3840" y="1776"/>
                <a:chExt cx="624" cy="624"/>
              </a:xfrm>
            </p:grpSpPr>
            <p:sp>
              <p:nvSpPr>
                <p:cNvPr id="974853" name="Rectangle 5"/>
                <p:cNvSpPr>
                  <a:spLocks noChangeArrowheads="1"/>
                </p:cNvSpPr>
                <p:nvPr/>
              </p:nvSpPr>
              <p:spPr bwMode="auto">
                <a:xfrm>
                  <a:off x="3840" y="1776"/>
                  <a:ext cx="624" cy="624"/>
                </a:xfrm>
                <a:prstGeom prst="rect">
                  <a:avLst/>
                </a:prstGeom>
                <a:gradFill rotWithShape="0">
                  <a:gsLst>
                    <a:gs pos="0">
                      <a:schemeClr val="tx1"/>
                    </a:gs>
                    <a:gs pos="100000">
                      <a:schemeClr val="tx1">
                        <a:gamma/>
                        <a:tint val="0"/>
                        <a:invGamma/>
                      </a:schemeClr>
                    </a:gs>
                  </a:gsLst>
                  <a:lin ang="189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9246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4161" y="1872"/>
                  <a:ext cx="207" cy="207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9244" name="Picture 7" descr="Edittex"/>
              <p:cNvPicPr>
                <a:picLocks noChangeAspect="1" noChangeArrowheads="1"/>
              </p:cNvPicPr>
              <p:nvPr>
                <p:custDataLst>
                  <p:tags r:id="rId7"/>
                </p:custDataLst>
              </p:nvPr>
            </p:nvPicPr>
            <p:blipFill>
              <a:blip r:embed="rId10" cstate="print"/>
              <a:srcRect/>
              <a:stretch>
                <a:fillRect/>
              </a:stretch>
            </p:blipFill>
            <p:spPr bwMode="auto">
              <a:xfrm>
                <a:off x="4505" y="1824"/>
                <a:ext cx="967" cy="2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9242" name="Oval 8"/>
            <p:cNvSpPr>
              <a:spLocks noChangeArrowheads="1"/>
            </p:cNvSpPr>
            <p:nvPr/>
          </p:nvSpPr>
          <p:spPr bwMode="auto">
            <a:xfrm>
              <a:off x="4128" y="2064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20" name="Rectangle 9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/>
              <a:t>Image gradient</a:t>
            </a:r>
          </a:p>
        </p:txBody>
      </p:sp>
      <p:sp>
        <p:nvSpPr>
          <p:cNvPr id="9221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2209800" y="1219200"/>
            <a:ext cx="8077200" cy="1295400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i="1" dirty="0"/>
              <a:t>gradient</a:t>
            </a:r>
            <a:r>
              <a:rPr lang="en-US" sz="2400" dirty="0"/>
              <a:t> of an image: </a:t>
            </a:r>
          </a:p>
        </p:txBody>
      </p:sp>
      <p:pic>
        <p:nvPicPr>
          <p:cNvPr id="9222" name="Picture 11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096001" y="1143001"/>
            <a:ext cx="2468563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4860" name="Rectangle 12"/>
          <p:cNvSpPr>
            <a:spLocks noChangeArrowheads="1"/>
          </p:cNvSpPr>
          <p:nvPr/>
        </p:nvSpPr>
        <p:spPr bwMode="auto">
          <a:xfrm>
            <a:off x="2286000" y="2438400"/>
            <a:ext cx="304800" cy="9906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224" name="Line 13"/>
          <p:cNvSpPr>
            <a:spLocks noChangeShapeType="1"/>
          </p:cNvSpPr>
          <p:nvPr/>
        </p:nvSpPr>
        <p:spPr bwMode="auto">
          <a:xfrm>
            <a:off x="2438400" y="2971800"/>
            <a:ext cx="533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25" name="Oval 14"/>
          <p:cNvSpPr>
            <a:spLocks noChangeArrowheads="1"/>
          </p:cNvSpPr>
          <p:nvPr/>
        </p:nvSpPr>
        <p:spPr bwMode="auto">
          <a:xfrm>
            <a:off x="2381250" y="29337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9226" name="Picture 15" descr="Edittex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743201" y="2513014"/>
            <a:ext cx="1408113" cy="38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5021264" y="2438400"/>
            <a:ext cx="1882775" cy="1157288"/>
            <a:chOff x="2395" y="1776"/>
            <a:chExt cx="1186" cy="729"/>
          </a:xfrm>
        </p:grpSpPr>
        <p:pic>
          <p:nvPicPr>
            <p:cNvPr id="9237" name="Picture 17" descr="Edittex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2688" y="2256"/>
              <a:ext cx="893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74866" name="Rectangle 18"/>
            <p:cNvSpPr>
              <a:spLocks noChangeArrowheads="1"/>
            </p:cNvSpPr>
            <p:nvPr/>
          </p:nvSpPr>
          <p:spPr bwMode="auto">
            <a:xfrm rot="5400000">
              <a:off x="2638" y="1533"/>
              <a:ext cx="192" cy="677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100000">
                  <a:schemeClr val="tx1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239" name="Line 19"/>
            <p:cNvSpPr>
              <a:spLocks noChangeShapeType="1"/>
            </p:cNvSpPr>
            <p:nvPr/>
          </p:nvSpPr>
          <p:spPr bwMode="auto">
            <a:xfrm rot="5400000">
              <a:off x="2568" y="2040"/>
              <a:ext cx="3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0" name="Oval 20"/>
            <p:cNvSpPr>
              <a:spLocks noChangeArrowheads="1"/>
            </p:cNvSpPr>
            <p:nvPr/>
          </p:nvSpPr>
          <p:spPr bwMode="auto">
            <a:xfrm>
              <a:off x="2712" y="1848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7800976" y="2449514"/>
            <a:ext cx="485775" cy="509587"/>
            <a:chOff x="4152" y="1776"/>
            <a:chExt cx="306" cy="321"/>
          </a:xfrm>
        </p:grpSpPr>
        <p:sp>
          <p:nvSpPr>
            <p:cNvPr id="9233" name="Line 22"/>
            <p:cNvSpPr>
              <a:spLocks noChangeShapeType="1"/>
            </p:cNvSpPr>
            <p:nvPr/>
          </p:nvSpPr>
          <p:spPr bwMode="auto">
            <a:xfrm>
              <a:off x="4155" y="2088"/>
              <a:ext cx="3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4" name="Line 23"/>
            <p:cNvSpPr>
              <a:spLocks noChangeShapeType="1"/>
            </p:cNvSpPr>
            <p:nvPr/>
          </p:nvSpPr>
          <p:spPr bwMode="auto">
            <a:xfrm flipV="1">
              <a:off x="4152" y="1776"/>
              <a:ext cx="0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5" name="Freeform 24"/>
            <p:cNvSpPr>
              <a:spLocks/>
            </p:cNvSpPr>
            <p:nvPr/>
          </p:nvSpPr>
          <p:spPr bwMode="auto">
            <a:xfrm flipV="1">
              <a:off x="4216" y="2032"/>
              <a:ext cx="27" cy="51"/>
            </a:xfrm>
            <a:custGeom>
              <a:avLst/>
              <a:gdLst>
                <a:gd name="T0" fmla="*/ 18 w 27"/>
                <a:gd name="T1" fmla="*/ 0 h 51"/>
                <a:gd name="T2" fmla="*/ 24 w 27"/>
                <a:gd name="T3" fmla="*/ 33 h 51"/>
                <a:gd name="T4" fmla="*/ 0 w 27"/>
                <a:gd name="T5" fmla="*/ 51 h 51"/>
                <a:gd name="T6" fmla="*/ 0 60000 65536"/>
                <a:gd name="T7" fmla="*/ 0 60000 65536"/>
                <a:gd name="T8" fmla="*/ 0 60000 65536"/>
                <a:gd name="T9" fmla="*/ 0 w 27"/>
                <a:gd name="T10" fmla="*/ 0 h 51"/>
                <a:gd name="T11" fmla="*/ 27 w 27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" h="51">
                  <a:moveTo>
                    <a:pt x="18" y="0"/>
                  </a:moveTo>
                  <a:cubicBezTo>
                    <a:pt x="22" y="12"/>
                    <a:pt x="27" y="25"/>
                    <a:pt x="24" y="33"/>
                  </a:cubicBezTo>
                  <a:cubicBezTo>
                    <a:pt x="21" y="41"/>
                    <a:pt x="10" y="46"/>
                    <a:pt x="0" y="51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236" name="Picture 25" descr="Edittex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299" y="1968"/>
              <a:ext cx="69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229" name="Rectangle 26"/>
          <p:cNvSpPr>
            <a:spLocks noChangeArrowheads="1"/>
          </p:cNvSpPr>
          <p:nvPr/>
        </p:nvSpPr>
        <p:spPr bwMode="auto">
          <a:xfrm>
            <a:off x="2057400" y="3962400"/>
            <a:ext cx="8077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dirty="0"/>
              <a:t>The </a:t>
            </a:r>
            <a:r>
              <a:rPr lang="en-US" i="1" dirty="0"/>
              <a:t>edge strength</a:t>
            </a:r>
            <a:r>
              <a:rPr lang="en-US" dirty="0"/>
              <a:t> is given by the gradient magnitude:</a:t>
            </a:r>
          </a:p>
          <a:p>
            <a:pPr marL="342900" indent="-342900">
              <a:spcBef>
                <a:spcPct val="20000"/>
              </a:spcBef>
            </a:pPr>
            <a:endParaRPr lang="en-US" dirty="0"/>
          </a:p>
          <a:p>
            <a:pPr marL="342900" indent="-342900">
              <a:spcBef>
                <a:spcPct val="20000"/>
              </a:spcBef>
            </a:pPr>
            <a:endParaRPr lang="en-US" dirty="0"/>
          </a:p>
          <a:p>
            <a:pPr marL="342900" indent="-342900">
              <a:spcBef>
                <a:spcPct val="20000"/>
              </a:spcBef>
            </a:pPr>
            <a:endParaRPr lang="en-US" dirty="0"/>
          </a:p>
          <a:p>
            <a:pPr marL="342900" indent="-342900">
              <a:spcBef>
                <a:spcPct val="20000"/>
              </a:spcBef>
            </a:pPr>
            <a:r>
              <a:rPr lang="en-US" dirty="0"/>
              <a:t>The gradient direction is given by: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dirty="0"/>
              <a:t>how does this relate to the direction of the edge?</a:t>
            </a:r>
            <a:br>
              <a:rPr lang="en-US" dirty="0"/>
            </a:br>
            <a:endParaRPr lang="en-US" dirty="0"/>
          </a:p>
        </p:txBody>
      </p:sp>
      <p:pic>
        <p:nvPicPr>
          <p:cNvPr id="9230" name="Picture 27" descr="Edittex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724401" y="5671456"/>
            <a:ext cx="279717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31" name="Picture 28" descr="Edittex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190996" y="4354284"/>
            <a:ext cx="3708400" cy="66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2" name="Text Box 31"/>
          <p:cNvSpPr txBox="1">
            <a:spLocks noChangeArrowheads="1"/>
          </p:cNvSpPr>
          <p:nvPr/>
        </p:nvSpPr>
        <p:spPr bwMode="auto">
          <a:xfrm>
            <a:off x="9209324" y="6476999"/>
            <a:ext cx="1839676" cy="276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/>
              <a:t>Source: Steve Seitz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000" y="1447800"/>
            <a:ext cx="9601200" cy="746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dirty="0"/>
              <a:t>How can we differentiate a </a:t>
            </a:r>
            <a:r>
              <a:rPr lang="en-US" sz="3200" i="1" dirty="0"/>
              <a:t>digital</a:t>
            </a:r>
            <a:r>
              <a:rPr lang="en-US" sz="3200" dirty="0"/>
              <a:t> image F[</a:t>
            </a:r>
            <a:r>
              <a:rPr lang="en-US" sz="3200" dirty="0" err="1"/>
              <a:t>x,y</a:t>
            </a:r>
            <a:r>
              <a:rPr lang="en-US" sz="3200" dirty="0"/>
              <a:t>]?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800" dirty="0"/>
              <a:t>Option 1:  reconstruct a continuous image, </a:t>
            </a:r>
            <a:r>
              <a:rPr lang="en-US" sz="2800" i="1" dirty="0"/>
              <a:t>f,</a:t>
            </a:r>
            <a:r>
              <a:rPr lang="en-US" sz="2800" dirty="0"/>
              <a:t> then compute the derivative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800" dirty="0"/>
              <a:t>Option 2:  take discrete derivative (finite difference)</a:t>
            </a:r>
          </a:p>
        </p:txBody>
      </p:sp>
      <p:pic>
        <p:nvPicPr>
          <p:cNvPr id="6" name="Picture 4" descr="Edittex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406190" y="3581400"/>
            <a:ext cx="4481062" cy="679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Group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962400" y="5241924"/>
          <a:ext cx="1143000" cy="9747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-1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2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895600" y="4556124"/>
            <a:ext cx="6629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50000"/>
              </a:spcBef>
              <a:spcAft>
                <a:spcPct val="50000"/>
              </a:spcAft>
            </a:pPr>
            <a:r>
              <a:rPr lang="en-US" sz="2000" dirty="0"/>
              <a:t>How would you implement this as a linear filter?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 dirty="0"/>
              <a:t>Image derivatives</a:t>
            </a:r>
          </a:p>
        </p:txBody>
      </p:sp>
      <p:graphicFrame>
        <p:nvGraphicFramePr>
          <p:cNvPr id="12" name="Group 5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7010400" y="5241924"/>
          <a:ext cx="1143000" cy="9747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-1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yriad Roman" pitchFamily="34" charset="0"/>
                        </a:rPr>
                        <a:t>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5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yriad Roman" pitchFamily="34" charset="0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213868" y="5406387"/>
            <a:ext cx="391486" cy="64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529154" y="5453744"/>
            <a:ext cx="280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:</a:t>
            </a:r>
          </a:p>
        </p:txBody>
      </p:sp>
      <p:pic>
        <p:nvPicPr>
          <p:cNvPr id="89091" name="Picture 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389915" y="5410199"/>
            <a:ext cx="371203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6672944" y="5421086"/>
            <a:ext cx="280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:</a:t>
            </a:r>
          </a:p>
        </p:txBody>
      </p:sp>
      <p:pic>
        <p:nvPicPr>
          <p:cNvPr id="89092" name="Picture 4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295775" y="6303475"/>
            <a:ext cx="428626" cy="336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3" name="Picture 5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369404" y="6323197"/>
            <a:ext cx="434744" cy="338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 Box 31"/>
          <p:cNvSpPr txBox="1">
            <a:spLocks noChangeArrowheads="1"/>
          </p:cNvSpPr>
          <p:nvPr/>
        </p:nvSpPr>
        <p:spPr bwMode="auto">
          <a:xfrm>
            <a:off x="9448817" y="6520543"/>
            <a:ext cx="1676383" cy="276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/>
              <a:t>Source: S. Seitz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7830" y="5584371"/>
            <a:ext cx="239485" cy="2503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027714" y="5595255"/>
            <a:ext cx="239485" cy="2503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467602" y="5606142"/>
            <a:ext cx="239485" cy="2503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456715" y="5943601"/>
            <a:ext cx="261256" cy="217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7" grpId="0"/>
      <p:bldP spid="16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gradient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371600"/>
            <a:ext cx="5829300" cy="517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31"/>
          <p:cNvSpPr txBox="1">
            <a:spLocks noChangeArrowheads="1"/>
          </p:cNvSpPr>
          <p:nvPr/>
        </p:nvSpPr>
        <p:spPr bwMode="auto">
          <a:xfrm>
            <a:off x="9209324" y="6477000"/>
            <a:ext cx="2525476" cy="276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/>
              <a:t>Source: L. Lazebnik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Effects of noise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5421314" y="1917700"/>
          <a:ext cx="5018087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5885714" imgH="2219635" progId="">
                  <p:embed/>
                </p:oleObj>
              </mc:Choice>
              <mc:Fallback>
                <p:oleObj name="Photo Editor Photo" r:id="rId5" imgW="5885714" imgH="2219635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314" y="1917700"/>
                        <a:ext cx="5018087" cy="189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8" name="Picture 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06926" y="2673350"/>
            <a:ext cx="650875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075" name="Object 7"/>
          <p:cNvGraphicFramePr>
            <a:graphicFrameLocks noChangeAspect="1"/>
          </p:cNvGraphicFramePr>
          <p:nvPr/>
        </p:nvGraphicFramePr>
        <p:xfrm>
          <a:off x="5410200" y="4216400"/>
          <a:ext cx="5037138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8" imgW="5915851" imgH="2029108" progId="">
                  <p:embed/>
                </p:oleObj>
              </mc:Choice>
              <mc:Fallback>
                <p:oleObj name="Photo Editor Photo" r:id="rId8" imgW="5915851" imgH="2029108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216400"/>
                        <a:ext cx="5037138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81" name="Picture 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267201" y="4737100"/>
            <a:ext cx="987425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2" name="Rectangle 9"/>
          <p:cNvSpPr>
            <a:spLocks noChangeArrowheads="1"/>
          </p:cNvSpPr>
          <p:nvPr/>
        </p:nvSpPr>
        <p:spPr bwMode="auto">
          <a:xfrm>
            <a:off x="3055938" y="6098978"/>
            <a:ext cx="4708524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2800" dirty="0"/>
              <a:t>Where is the edge?</a:t>
            </a:r>
            <a:endParaRPr lang="en-US" sz="2800" i="1" dirty="0"/>
          </a:p>
        </p:txBody>
      </p:sp>
      <p:sp>
        <p:nvSpPr>
          <p:cNvPr id="3080" name="Text Box 10"/>
          <p:cNvSpPr txBox="1">
            <a:spLocks noChangeArrowheads="1"/>
          </p:cNvSpPr>
          <p:nvPr/>
        </p:nvSpPr>
        <p:spPr bwMode="auto">
          <a:xfrm>
            <a:off x="8927815" y="6477001"/>
            <a:ext cx="128009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/>
              <a:t>Source: S. Seitz</a:t>
            </a:r>
          </a:p>
        </p:txBody>
      </p:sp>
      <p:pic>
        <p:nvPicPr>
          <p:cNvPr id="77830" name="Picture 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878213" y="1752600"/>
            <a:ext cx="2221461" cy="2209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Line 21"/>
          <p:cNvSpPr>
            <a:spLocks noChangeShapeType="1"/>
          </p:cNvSpPr>
          <p:nvPr/>
        </p:nvSpPr>
        <p:spPr bwMode="auto">
          <a:xfrm>
            <a:off x="1872342" y="2819400"/>
            <a:ext cx="2209800" cy="0"/>
          </a:xfrm>
          <a:prstGeom prst="line">
            <a:avLst/>
          </a:prstGeom>
          <a:noFill/>
          <a:ln w="38100">
            <a:solidFill>
              <a:srgbClr val="FF0000">
                <a:alpha val="50000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090058" y="4038595"/>
            <a:ext cx="186974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Noisy input image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" grpId="0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dirty="0"/>
              <a:t>Solution: smooth first</a:t>
            </a:r>
          </a:p>
        </p:txBody>
      </p:sp>
      <p:pic>
        <p:nvPicPr>
          <p:cNvPr id="4102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49638" y="990600"/>
            <a:ext cx="5313362" cy="139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Text Box 17"/>
          <p:cNvSpPr txBox="1">
            <a:spLocks noChangeArrowheads="1"/>
          </p:cNvSpPr>
          <p:nvPr/>
        </p:nvSpPr>
        <p:spPr bwMode="auto">
          <a:xfrm>
            <a:off x="3162300" y="1517650"/>
            <a:ext cx="2487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dirty="0">
                <a:latin typeface="Times New Roman" pitchFamily="18" charset="0"/>
              </a:rPr>
              <a:t>f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3162300" y="2392364"/>
            <a:ext cx="5600700" cy="1120775"/>
            <a:chOff x="1032" y="1507"/>
            <a:chExt cx="3528" cy="706"/>
          </a:xfrm>
        </p:grpSpPr>
        <p:pic>
          <p:nvPicPr>
            <p:cNvPr id="4111" name="Picture 10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213" y="1507"/>
              <a:ext cx="3347" cy="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12" name="Text Box 18"/>
            <p:cNvSpPr txBox="1">
              <a:spLocks noChangeArrowheads="1"/>
            </p:cNvSpPr>
            <p:nvPr/>
          </p:nvSpPr>
          <p:spPr bwMode="auto">
            <a:xfrm>
              <a:off x="1032" y="1684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 dirty="0">
                  <a:latin typeface="Times New Roman" pitchFamily="18" charset="0"/>
                </a:rPr>
                <a:t>h</a:t>
              </a: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743200" y="3530600"/>
            <a:ext cx="6019800" cy="1104900"/>
            <a:chOff x="768" y="2224"/>
            <a:chExt cx="3792" cy="696"/>
          </a:xfrm>
        </p:grpSpPr>
        <p:pic>
          <p:nvPicPr>
            <p:cNvPr id="4109" name="Picture 1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213" y="2224"/>
              <a:ext cx="3347" cy="6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10" name="Text Box 19"/>
            <p:cNvSpPr txBox="1">
              <a:spLocks noChangeArrowheads="1"/>
            </p:cNvSpPr>
            <p:nvPr/>
          </p:nvSpPr>
          <p:spPr bwMode="auto">
            <a:xfrm>
              <a:off x="768" y="2346"/>
              <a:ext cx="37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 dirty="0">
                  <a:latin typeface="Times New Roman" pitchFamily="18" charset="0"/>
                </a:rPr>
                <a:t>f * h</a:t>
              </a:r>
            </a:p>
          </p:txBody>
        </p:sp>
      </p:grpSp>
      <p:sp>
        <p:nvSpPr>
          <p:cNvPr id="4107" name="Text Box 26"/>
          <p:cNvSpPr txBox="1">
            <a:spLocks noChangeArrowheads="1"/>
          </p:cNvSpPr>
          <p:nvPr/>
        </p:nvSpPr>
        <p:spPr bwMode="auto">
          <a:xfrm>
            <a:off x="9223090" y="6477001"/>
            <a:ext cx="128009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/>
              <a:t>Source: S. </a:t>
            </a:r>
            <a:r>
              <a:rPr lang="en-US" sz="1400" dirty="0"/>
              <a:t>Seitz</a:t>
            </a:r>
          </a:p>
        </p:txBody>
      </p:sp>
      <p:grpSp>
        <p:nvGrpSpPr>
          <p:cNvPr id="4" name="Group 23"/>
          <p:cNvGrpSpPr/>
          <p:nvPr/>
        </p:nvGrpSpPr>
        <p:grpSpPr>
          <a:xfrm>
            <a:off x="2057401" y="4635500"/>
            <a:ext cx="6705601" cy="1155700"/>
            <a:chOff x="533400" y="4635500"/>
            <a:chExt cx="6705601" cy="1155700"/>
          </a:xfrm>
        </p:grpSpPr>
        <p:pic>
          <p:nvPicPr>
            <p:cNvPr id="4108" name="Picture 1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925638" y="4635500"/>
              <a:ext cx="5313363" cy="1155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8853" name="Picture 5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33400" y="4800600"/>
              <a:ext cx="1295400" cy="659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24"/>
          <p:cNvGrpSpPr/>
          <p:nvPr/>
        </p:nvGrpSpPr>
        <p:grpSpPr>
          <a:xfrm>
            <a:off x="2797628" y="6028489"/>
            <a:ext cx="7772400" cy="659750"/>
            <a:chOff x="1273628" y="6028489"/>
            <a:chExt cx="7772400" cy="659750"/>
          </a:xfrm>
        </p:grpSpPr>
        <p:sp>
          <p:nvSpPr>
            <p:cNvPr id="4113" name="Rectangle 2"/>
            <p:cNvSpPr>
              <a:spLocks noChangeArrowheads="1"/>
            </p:cNvSpPr>
            <p:nvPr/>
          </p:nvSpPr>
          <p:spPr bwMode="auto">
            <a:xfrm>
              <a:off x="1273628" y="6063342"/>
              <a:ext cx="7772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</a:pPr>
              <a:r>
                <a:rPr lang="en-US" sz="2800" dirty="0"/>
                <a:t>To find edges, look for peaks in</a:t>
              </a:r>
              <a:endParaRPr lang="en-US" sz="2800" i="1" dirty="0"/>
            </a:p>
          </p:txBody>
        </p:sp>
        <p:pic>
          <p:nvPicPr>
            <p:cNvPr id="23" name="Picture 5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335881" y="6028489"/>
              <a:ext cx="1295400" cy="659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1"/>
            <a:ext cx="11125200" cy="4525963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dirty="0"/>
              <a:t>Differentiation is convolution, and convolution is associative:</a:t>
            </a:r>
          </a:p>
          <a:p>
            <a:pPr>
              <a:buFontTx/>
              <a:buChar char="•"/>
            </a:pPr>
            <a:endParaRPr lang="en-US" dirty="0"/>
          </a:p>
          <a:p>
            <a:pPr>
              <a:buFontTx/>
              <a:buChar char="•"/>
            </a:pPr>
            <a:endParaRPr lang="en-US" dirty="0"/>
          </a:p>
          <a:p>
            <a:pPr>
              <a:buFontTx/>
              <a:buChar char="•"/>
            </a:pPr>
            <a:endParaRPr lang="en-US" dirty="0"/>
          </a:p>
          <a:p>
            <a:pPr>
              <a:buFontTx/>
              <a:buChar char="•"/>
            </a:pPr>
            <a:endParaRPr lang="en-US" dirty="0"/>
          </a:p>
          <a:p>
            <a:pPr>
              <a:buFontTx/>
              <a:buChar char="•"/>
            </a:pPr>
            <a:r>
              <a:rPr lang="en-US" dirty="0"/>
              <a:t>This saves us one operation:</a:t>
            </a:r>
            <a:endParaRPr lang="en-US" i="1" dirty="0"/>
          </a:p>
        </p:txBody>
      </p:sp>
      <p:sp>
        <p:nvSpPr>
          <p:cNvPr id="5127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9677400" cy="1143000"/>
          </a:xfrm>
        </p:spPr>
        <p:txBody>
          <a:bodyPr>
            <a:normAutofit/>
          </a:bodyPr>
          <a:lstStyle/>
          <a:p>
            <a:r>
              <a:rPr lang="en-US" dirty="0"/>
              <a:t>Associative property of convolution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217440" y="1848322"/>
            <a:ext cx="5413368" cy="3810000"/>
            <a:chOff x="1025" y="1317"/>
            <a:chExt cx="3973" cy="2907"/>
          </a:xfrm>
        </p:grpSpPr>
        <p:graphicFrame>
          <p:nvGraphicFramePr>
            <p:cNvPr id="512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5793880"/>
                </p:ext>
              </p:extLst>
            </p:nvPr>
          </p:nvGraphicFramePr>
          <p:xfrm>
            <a:off x="1399" y="1317"/>
            <a:ext cx="3599" cy="29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3" imgW="6001588" imgH="4847619" progId="">
                    <p:embed/>
                  </p:oleObj>
                </mc:Choice>
                <mc:Fallback>
                  <p:oleObj name="Photo Editor Photo" r:id="rId3" imgW="6001588" imgH="4847619" progId="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9" y="1317"/>
                          <a:ext cx="3599" cy="29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0" name="Text Box 10"/>
            <p:cNvSpPr txBox="1">
              <a:spLocks noChangeArrowheads="1"/>
            </p:cNvSpPr>
            <p:nvPr/>
          </p:nvSpPr>
          <p:spPr bwMode="auto">
            <a:xfrm>
              <a:off x="1025" y="1666"/>
              <a:ext cx="198" cy="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i="1" dirty="0">
                  <a:latin typeface="Times New Roman" pitchFamily="18" charset="0"/>
                </a:rPr>
                <a:t>f</a:t>
              </a:r>
            </a:p>
          </p:txBody>
        </p:sp>
      </p:grpSp>
      <p:sp>
        <p:nvSpPr>
          <p:cNvPr id="5129" name="Text Box 12"/>
          <p:cNvSpPr txBox="1">
            <a:spLocks noChangeArrowheads="1"/>
          </p:cNvSpPr>
          <p:nvPr/>
        </p:nvSpPr>
        <p:spPr bwMode="auto">
          <a:xfrm>
            <a:off x="9223090" y="6477001"/>
            <a:ext cx="128009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/>
              <a:t>Source: S. Seitz</a:t>
            </a:r>
          </a:p>
        </p:txBody>
      </p:sp>
      <p:pic>
        <p:nvPicPr>
          <p:cNvPr id="79879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00400" y="1656879"/>
            <a:ext cx="2715766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880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38801" y="3962400"/>
            <a:ext cx="62905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881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81600" y="5105400"/>
            <a:ext cx="1219200" cy="775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4963666" y="3219922"/>
            <a:ext cx="7239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914900" y="4455085"/>
            <a:ext cx="7239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EC099D4-18FE-DC40-E67E-4F2C48DF635A}"/>
                  </a:ext>
                </a:extLst>
              </p:cNvPr>
              <p:cNvSpPr txBox="1"/>
              <p:nvPr/>
            </p:nvSpPr>
            <p:spPr>
              <a:xfrm>
                <a:off x="990600" y="3264971"/>
                <a:ext cx="7165488" cy="802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EC099D4-18FE-DC40-E67E-4F2C48DF6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264971"/>
                <a:ext cx="7165488" cy="8029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13EB683-C053-5669-3817-7A0016481856}"/>
              </a:ext>
            </a:extLst>
          </p:cNvPr>
          <p:cNvSpPr/>
          <p:nvPr/>
        </p:nvSpPr>
        <p:spPr>
          <a:xfrm>
            <a:off x="4591050" y="2409825"/>
            <a:ext cx="867340" cy="923925"/>
          </a:xfrm>
          <a:custGeom>
            <a:avLst/>
            <a:gdLst>
              <a:gd name="csX0" fmla="*/ 104775 w 867340"/>
              <a:gd name="csY0" fmla="*/ 0 h 923925"/>
              <a:gd name="csX1" fmla="*/ 866775 w 867340"/>
              <a:gd name="csY1" fmla="*/ 523875 h 923925"/>
              <a:gd name="csX2" fmla="*/ 0 w 867340"/>
              <a:gd name="csY2" fmla="*/ 923925 h 923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67340" h="923925">
                <a:moveTo>
                  <a:pt x="104775" y="0"/>
                </a:moveTo>
                <a:cubicBezTo>
                  <a:pt x="494506" y="184944"/>
                  <a:pt x="884237" y="369888"/>
                  <a:pt x="866775" y="523875"/>
                </a:cubicBezTo>
                <a:cubicBezTo>
                  <a:pt x="849313" y="677862"/>
                  <a:pt x="271462" y="823913"/>
                  <a:pt x="0" y="923925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1D Gaussian and its derivatives</a:t>
            </a:r>
          </a:p>
        </p:txBody>
      </p:sp>
      <p:pic>
        <p:nvPicPr>
          <p:cNvPr id="3" name="Picture 2" descr="Screen Shot 2015-02-08 at 10.22.14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7" t="20720" r="26894" b="25002"/>
          <a:stretch/>
        </p:blipFill>
        <p:spPr>
          <a:xfrm>
            <a:off x="5791201" y="1524000"/>
            <a:ext cx="4732843" cy="16238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240988"/>
            <a:ext cx="5492582" cy="362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628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2D edge detection filters</a:t>
            </a:r>
          </a:p>
        </p:txBody>
      </p:sp>
      <p:graphicFrame>
        <p:nvGraphicFramePr>
          <p:cNvPr id="416772" name="Object 4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590801" y="1981201"/>
          <a:ext cx="2733675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0" imgW="4133333" imgH="2905531" progId="">
                  <p:embed/>
                </p:oleObj>
              </mc:Choice>
              <mc:Fallback>
                <p:oleObj name="Photo Editor Photo" r:id="rId10" imgW="4133333" imgH="2905531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1" y="1981201"/>
                        <a:ext cx="2733675" cy="192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6773" name="Object 5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6400801" y="2667001"/>
          <a:ext cx="300672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2" imgW="6001588" imgH="2629267" progId="">
                  <p:embed/>
                </p:oleObj>
              </mc:Choice>
              <mc:Fallback>
                <p:oleObj name="Photo Editor Photo" r:id="rId12" imgW="6001588" imgH="2629267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2667001"/>
                        <a:ext cx="3006725" cy="131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6781" name="Picture 13" descr="Edittex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601913" y="4506914"/>
            <a:ext cx="2747962" cy="59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6792" name="Text Box 2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346451" y="4129088"/>
            <a:ext cx="102784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/>
              <a:t>Gaussian</a:t>
            </a:r>
          </a:p>
        </p:txBody>
      </p:sp>
      <p:sp>
        <p:nvSpPr>
          <p:cNvPr id="416793" name="Text Box 2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584950" y="3922713"/>
            <a:ext cx="25461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dirty="0"/>
              <a:t>derivative of Gaussian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/>
              <a:t>)</a:t>
            </a:r>
          </a:p>
        </p:txBody>
      </p:sp>
      <p:pic>
        <p:nvPicPr>
          <p:cNvPr id="416794" name="Picture 26" descr="Edittex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424738" y="4357688"/>
            <a:ext cx="1187450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/>
              <a:t>Derivative of Gaussian filter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3581400" y="4114800"/>
            <a:ext cx="1752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10400" y="4114800"/>
            <a:ext cx="1752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43200" y="1006475"/>
            <a:ext cx="3429000" cy="270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1" y="990601"/>
            <a:ext cx="3363913" cy="275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3641726" y="3544888"/>
            <a:ext cx="11931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x</a:t>
            </a:r>
            <a:r>
              <a:rPr lang="en-US"/>
              <a:t>-direction</a:t>
            </a: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7094539" y="3505200"/>
            <a:ext cx="11963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y</a:t>
            </a:r>
            <a:r>
              <a:rPr lang="en-US"/>
              <a:t>-direction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The Sobel operator</a:t>
            </a:r>
          </a:p>
        </p:txBody>
      </p:sp>
      <p:sp>
        <p:nvSpPr>
          <p:cNvPr id="466947" name="Rectangle 3"/>
          <p:cNvSpPr>
            <a:spLocks noGrp="1" noChangeArrowheads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914400" y="1371600"/>
            <a:ext cx="10515600" cy="1371600"/>
          </a:xfrm>
        </p:spPr>
        <p:txBody>
          <a:bodyPr>
            <a:normAutofit/>
          </a:bodyPr>
          <a:lstStyle/>
          <a:p>
            <a:r>
              <a:rPr lang="en-US" sz="3100" dirty="0"/>
              <a:t>Common approximation of derivative of Gaussian</a:t>
            </a:r>
          </a:p>
        </p:txBody>
      </p:sp>
      <p:graphicFrame>
        <p:nvGraphicFramePr>
          <p:cNvPr id="434180" name="Group 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229100" y="2730500"/>
          <a:ext cx="1143000" cy="105156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4198" name="Group 22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6629400" y="2730500"/>
          <a:ext cx="1143000" cy="105156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66984" name="Picture 42" descr="Edittex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962400" y="3017839"/>
            <a:ext cx="19050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6985" name="Picture 43" descr="Edittex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362700" y="3022601"/>
            <a:ext cx="190500" cy="44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6986" name="Rectangle 4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990600" y="4800600"/>
            <a:ext cx="10363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20000"/>
              </a:spcBef>
              <a:buFontTx/>
              <a:buChar char="•"/>
            </a:pPr>
            <a:r>
              <a:rPr lang="en-US" sz="2400" dirty="0"/>
              <a:t>The standard definition of the Sobel operator omits the 1/8 term</a:t>
            </a:r>
          </a:p>
          <a:p>
            <a:pPr marL="1143000" lvl="2" indent="-228600">
              <a:spcBef>
                <a:spcPct val="20000"/>
              </a:spcBef>
              <a:buFontTx/>
              <a:buChar char="–"/>
            </a:pPr>
            <a:r>
              <a:rPr lang="en-US" sz="2000" dirty="0"/>
              <a:t>doesn’t make a difference for edge detection</a:t>
            </a:r>
          </a:p>
          <a:p>
            <a:pPr marL="1143000" lvl="2" indent="-228600">
              <a:spcBef>
                <a:spcPct val="20000"/>
              </a:spcBef>
              <a:buFontTx/>
              <a:buChar char="–"/>
            </a:pPr>
            <a:r>
              <a:rPr lang="en-US" sz="2000" dirty="0"/>
              <a:t>the 1/8 term </a:t>
            </a:r>
            <a:r>
              <a:rPr lang="en-US" sz="2000" b="1" dirty="0"/>
              <a:t>is</a:t>
            </a:r>
            <a:r>
              <a:rPr lang="en-US" sz="2000" dirty="0"/>
              <a:t> needed to get the right gradient magnitude</a:t>
            </a:r>
          </a:p>
        </p:txBody>
      </p:sp>
      <p:pic>
        <p:nvPicPr>
          <p:cNvPr id="466987" name="Picture 47" descr="Edittex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621214" y="3976688"/>
            <a:ext cx="300037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6988" name="Picture 48" descr="Edittex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029451" y="3956050"/>
            <a:ext cx="284163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8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2819400"/>
            <a:ext cx="5181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1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2819400"/>
            <a:ext cx="5181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118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05200" y="2819400"/>
            <a:ext cx="5181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Sobel</a:t>
            </a:r>
            <a:r>
              <a:rPr lang="en-US" dirty="0"/>
              <a:t> operator: example</a:t>
            </a:r>
          </a:p>
        </p:txBody>
      </p:sp>
      <p:sp>
        <p:nvSpPr>
          <p:cNvPr id="9" name="Text Box 26"/>
          <p:cNvSpPr txBox="1">
            <a:spLocks noChangeArrowheads="1"/>
          </p:cNvSpPr>
          <p:nvPr/>
        </p:nvSpPr>
        <p:spPr bwMode="auto">
          <a:xfrm>
            <a:off x="9090492" y="6477001"/>
            <a:ext cx="150130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Source: Wikipedia</a:t>
            </a:r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05200" y="2819400"/>
            <a:ext cx="5181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05000" y="1295400"/>
            <a:ext cx="167640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40200" y="1295400"/>
            <a:ext cx="167640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375400" y="1295400"/>
            <a:ext cx="167640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610600" y="1295400"/>
            <a:ext cx="167640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15-01-30 at 12.49.4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81001"/>
            <a:ext cx="9144000" cy="591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45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791200"/>
            <a:ext cx="7772400" cy="60960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original 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959909-37A7-4CF6-BDCA-7CEA59AE6BC5}"/>
              </a:ext>
            </a:extLst>
          </p:cNvPr>
          <p:cNvSpPr/>
          <p:nvPr/>
        </p:nvSpPr>
        <p:spPr>
          <a:xfrm>
            <a:off x="1524000" y="6477000"/>
            <a:ext cx="8077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Demo:  </a:t>
            </a:r>
            <a:r>
              <a:rPr lang="en-US" dirty="0">
                <a:hlinkClick r:id="rId3"/>
              </a:rPr>
              <a:t>http://bigwww.epfl.ch/demo/ip/demos/edgeDetector/</a:t>
            </a:r>
            <a:r>
              <a:rPr lang="en-US" dirty="0"/>
              <a:t> </a:t>
            </a:r>
          </a:p>
        </p:txBody>
      </p:sp>
      <p:pic>
        <p:nvPicPr>
          <p:cNvPr id="132098" name="Picture 2" descr="https://lh4.googleusercontent.com/IEXMjimwvH5fpDZjvxpPs1JmygrZtA72aaS37zaL20fAl79bjWuK18Ah0y5nYT0yQScGfoX03AcZPNjrH2Mp27n2N4poSm8Qvfkl8JZuLnlyIPjUBDEzBhXNlBj1oENjF4LA3r-9n0s">
            <a:extLst>
              <a:ext uri="{FF2B5EF4-FFF2-40B4-BE49-F238E27FC236}">
                <a16:creationId xmlns:a16="http://schemas.microsoft.com/office/drawing/2014/main" id="{F4D6576B-4F23-4F70-A2B2-370E69214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295400"/>
            <a:ext cx="4419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37E575-B634-4251-A193-906EF3D17F15}"/>
              </a:ext>
            </a:extLst>
          </p:cNvPr>
          <p:cNvSpPr/>
          <p:nvPr/>
        </p:nvSpPr>
        <p:spPr>
          <a:xfrm>
            <a:off x="9220200" y="6463145"/>
            <a:ext cx="26404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Image credit: Joseph Redmon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2209800" y="5791200"/>
            <a:ext cx="777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2800" dirty="0"/>
              <a:t>smoothed gradient magnitude</a:t>
            </a:r>
          </a:p>
        </p:txBody>
      </p:sp>
      <p:pic>
        <p:nvPicPr>
          <p:cNvPr id="5" name="Picture 6" descr="https://lh3.googleusercontent.com/_oZjRL99_-7FF04-nnEmXK3z43TwVjOm_Q_dnmcI62sFP_XOnfGCFvj4LSntRi-2mtkDDQeEbZ1eM7LXepBamnW5COVYJP-QBLwH6rpIQOuqkXM2Sy_n_B1cXH4dGaMXOp-o5k8T2sQ">
            <a:extLst>
              <a:ext uri="{FF2B5EF4-FFF2-40B4-BE49-F238E27FC236}">
                <a16:creationId xmlns:a16="http://schemas.microsoft.com/office/drawing/2014/main" id="{96663076-281A-425F-A3C7-FF206370E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295945"/>
            <a:ext cx="4419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BA09668E-5695-4C03-9269-5D1D11AA9897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Finding edges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209800" y="5791200"/>
            <a:ext cx="777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2800"/>
              <a:t>thresholding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9812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Finding edges</a:t>
            </a:r>
          </a:p>
        </p:txBody>
      </p:sp>
      <p:pic>
        <p:nvPicPr>
          <p:cNvPr id="10" name="Picture 6" descr="https://lh3.googleusercontent.com/_oZjRL99_-7FF04-nnEmXK3z43TwVjOm_Q_dnmcI62sFP_XOnfGCFvj4LSntRi-2mtkDDQeEbZ1eM7LXepBamnW5COVYJP-QBLwH6rpIQOuqkXM2Sy_n_B1cXH4dGaMXOp-o5k8T2sQ">
            <a:extLst>
              <a:ext uri="{FF2B5EF4-FFF2-40B4-BE49-F238E27FC236}">
                <a16:creationId xmlns:a16="http://schemas.microsoft.com/office/drawing/2014/main" id="{B3442126-8C31-4D18-8348-6936A1D38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295945"/>
            <a:ext cx="4419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934200" y="2119952"/>
            <a:ext cx="2286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cxnSpLocks/>
          </p:cNvCxnSpPr>
          <p:nvPr/>
        </p:nvCxnSpPr>
        <p:spPr>
          <a:xfrm>
            <a:off x="7154839" y="2346947"/>
            <a:ext cx="1745776" cy="20518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cxnSpLocks/>
          </p:cNvCxnSpPr>
          <p:nvPr/>
        </p:nvCxnSpPr>
        <p:spPr>
          <a:xfrm flipV="1">
            <a:off x="6942161" y="1207828"/>
            <a:ext cx="1951630" cy="88710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10595" y="2666988"/>
            <a:ext cx="1962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is the edge?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4C2CD4-F9FD-4BF8-B17A-B278D5AFA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1184" y="1222718"/>
            <a:ext cx="1338192" cy="133819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dirty="0"/>
              <a:t>Get Orientation at Each Pixel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609600" y="1066801"/>
            <a:ext cx="10363200" cy="4525963"/>
          </a:xfrm>
        </p:spPr>
        <p:txBody>
          <a:bodyPr/>
          <a:lstStyle/>
          <a:p>
            <a:r>
              <a:rPr lang="en-US" sz="2400" dirty="0">
                <a:latin typeface="+mj-lt"/>
              </a:rPr>
              <a:t>Get orientation (below, threshold at minimum gradient magnitude)</a:t>
            </a:r>
          </a:p>
          <a:p>
            <a:endParaRPr lang="en-US" sz="2400" dirty="0">
              <a:latin typeface="+mj-lt"/>
            </a:endParaRPr>
          </a:p>
        </p:txBody>
      </p:sp>
      <p:sp>
        <p:nvSpPr>
          <p:cNvPr id="50181" name="TextBox 8"/>
          <p:cNvSpPr txBox="1">
            <a:spLocks noChangeArrowheads="1"/>
          </p:cNvSpPr>
          <p:nvPr/>
        </p:nvSpPr>
        <p:spPr bwMode="auto">
          <a:xfrm>
            <a:off x="7315200" y="2057401"/>
            <a:ext cx="22790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atan2(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D9A740-B745-4145-858F-CB9F3B9FD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81200"/>
            <a:ext cx="4800600" cy="480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C4C772-EEC3-48A9-97BD-D5F15E640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315200" y="2749551"/>
            <a:ext cx="310850" cy="38338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FA72AD-74A8-4F1F-A5F5-AEA784F9A692}"/>
              </a:ext>
            </a:extLst>
          </p:cNvPr>
          <p:cNvSpPr txBox="1"/>
          <p:nvPr/>
        </p:nvSpPr>
        <p:spPr>
          <a:xfrm>
            <a:off x="7588542" y="6432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A0C28E-B372-4CF0-8009-326E53752D60}"/>
              </a:ext>
            </a:extLst>
          </p:cNvPr>
          <p:cNvSpPr txBox="1"/>
          <p:nvPr/>
        </p:nvSpPr>
        <p:spPr>
          <a:xfrm>
            <a:off x="7617676" y="25908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360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653967-4966-42B4-AFBD-591F53BD6E0C}"/>
              </a:ext>
            </a:extLst>
          </p:cNvPr>
          <p:cNvSpPr txBox="1"/>
          <p:nvPr/>
        </p:nvSpPr>
        <p:spPr>
          <a:xfrm>
            <a:off x="7740942" y="4451740"/>
            <a:ext cx="2713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Gradient orientation angle</a:t>
            </a:r>
          </a:p>
        </p:txBody>
      </p:sp>
    </p:spTree>
    <p:extLst>
      <p:ext uri="{BB962C8B-B14F-4D97-AF65-F5344CB8AC3E}">
        <p14:creationId xmlns:p14="http://schemas.microsoft.com/office/powerpoint/2010/main" val="3855617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2057400" y="5916186"/>
            <a:ext cx="8102600" cy="989012"/>
          </a:xfrm>
          <a:noFill/>
        </p:spPr>
        <p:txBody>
          <a:bodyPr/>
          <a:lstStyle/>
          <a:p>
            <a:pPr eaLnBrk="1" hangingPunct="1"/>
            <a:r>
              <a:rPr lang="en-US" altLang="ja-JP" sz="2000" dirty="0">
                <a:ea typeface="ＭＳ Ｐゴシック" charset="-128"/>
              </a:rPr>
              <a:t>Check if pixel is local maximum along gradient direction</a:t>
            </a:r>
          </a:p>
          <a:p>
            <a:pPr lvl="1" eaLnBrk="1" hangingPunct="1"/>
            <a:r>
              <a:rPr lang="en-US" altLang="ja-JP" sz="1800" dirty="0">
                <a:ea typeface="ＭＳ Ｐゴシック" charset="-128"/>
              </a:rPr>
              <a:t>requires </a:t>
            </a:r>
            <a:r>
              <a:rPr lang="en-US" altLang="ja-JP" sz="1800" i="1" dirty="0">
                <a:ea typeface="ＭＳ Ｐゴシック" charset="-128"/>
              </a:rPr>
              <a:t>interpolating</a:t>
            </a:r>
            <a:r>
              <a:rPr lang="en-US" altLang="ja-JP" sz="1800" dirty="0">
                <a:ea typeface="ＭＳ Ｐゴシック" charset="-128"/>
              </a:rPr>
              <a:t> pixels p and r</a:t>
            </a:r>
          </a:p>
        </p:txBody>
      </p:sp>
      <p:pic>
        <p:nvPicPr>
          <p:cNvPr id="43012" name="Picture 2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1600208"/>
            <a:ext cx="3200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3" name="Picture 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0" y="1600208"/>
            <a:ext cx="3200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Non-maximum </a:t>
            </a:r>
            <a:r>
              <a:rPr lang="en-US" dirty="0" err="1"/>
              <a:t>supression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668487" y="3516087"/>
            <a:ext cx="195943" cy="195943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1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67154" y="4897853"/>
            <a:ext cx="4007076" cy="871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Non-max Suppression</a:t>
            </a:r>
          </a:p>
        </p:txBody>
      </p:sp>
      <p:pic>
        <p:nvPicPr>
          <p:cNvPr id="4" name="Picture 6" descr="https://lh3.googleusercontent.com/_oZjRL99_-7FF04-nnEmXK3z43TwVjOm_Q_dnmcI62sFP_XOnfGCFvj4LSntRi-2mtkDDQeEbZ1eM7LXepBamnW5COVYJP-QBLwH6rpIQOuqkXM2Sy_n_B1cXH4dGaMXOp-o5k8T2sQ">
            <a:extLst>
              <a:ext uri="{FF2B5EF4-FFF2-40B4-BE49-F238E27FC236}">
                <a16:creationId xmlns:a16="http://schemas.microsoft.com/office/drawing/2014/main" id="{B7A21366-0AD3-4F57-B80C-649DFF82E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295945"/>
            <a:ext cx="4419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623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Non-max Suppression</a:t>
            </a:r>
          </a:p>
        </p:txBody>
      </p:sp>
      <p:pic>
        <p:nvPicPr>
          <p:cNvPr id="4" name="Picture 2" descr="https://lh3.googleusercontent.com/Lfg8v9BxNotSf67--yxvFhlVu8rh3YyQRImD32FoNZYGTmrEptP7GD77TXd14gh4xwNyW03ep_6H78-0RHZ1eGLbJpmpFWu9QeD2-WXaq2EGZNSeCSQrVsoIRp1BrQs4k6HngtfX1qk">
            <a:extLst>
              <a:ext uri="{FF2B5EF4-FFF2-40B4-BE49-F238E27FC236}">
                <a16:creationId xmlns:a16="http://schemas.microsoft.com/office/drawing/2014/main" id="{6E25C69F-6363-464D-B8F9-612E3A8C8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948" y="1295945"/>
            <a:ext cx="4419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914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9812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Thresholding edges</a:t>
            </a:r>
          </a:p>
        </p:txBody>
      </p:sp>
      <p:pic>
        <p:nvPicPr>
          <p:cNvPr id="5" name="Picture 2" descr="https://lh5.googleusercontent.com/GiW0yLLmlMM733W-0CY2IRMpLgz52RCiPj2prVCS8VQppoSy8Y824CwCqAYjPy3le857nw3-YrGZlVdet7mWQf9erPtBq0TadlsmruLxUnMilSHfpARWZY0uZvdsq5DdA0QOjfWxpp8">
            <a:extLst>
              <a:ext uri="{FF2B5EF4-FFF2-40B4-BE49-F238E27FC236}">
                <a16:creationId xmlns:a16="http://schemas.microsoft.com/office/drawing/2014/main" id="{C8D30686-3DDC-44E5-B207-D1759E02D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415773"/>
            <a:ext cx="4419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6A8332-C4D3-45B7-BA06-30CCF344E2EF}"/>
              </a:ext>
            </a:extLst>
          </p:cNvPr>
          <p:cNvSpPr txBox="1"/>
          <p:nvPr/>
        </p:nvSpPr>
        <p:spPr>
          <a:xfrm>
            <a:off x="1600200" y="1865055"/>
            <a:ext cx="4724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Still some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Only want strong edges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2 thresholds, 3 cases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R &gt; T: strong edge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R &lt; T but R &gt; t: weak edge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R &lt; t: no 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Why two thresholds?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9812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Connecting edges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886D57-84E4-425B-872B-854B05452925}"/>
              </a:ext>
            </a:extLst>
          </p:cNvPr>
          <p:cNvSpPr txBox="1"/>
          <p:nvPr/>
        </p:nvSpPr>
        <p:spPr>
          <a:xfrm>
            <a:off x="1219201" y="2286000"/>
            <a:ext cx="50004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/>
              <a:t>Strong edges are edges!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/>
              <a:t>Weak edges are edges </a:t>
            </a:r>
            <a:br>
              <a:rPr lang="en-US" sz="2800" dirty="0"/>
            </a:br>
            <a:r>
              <a:rPr lang="en-US" sz="2800" dirty="0" err="1"/>
              <a:t>iff</a:t>
            </a:r>
            <a:r>
              <a:rPr lang="en-US" sz="2800" dirty="0"/>
              <a:t> they connect to strong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/>
              <a:t>Look in some neighborhood</a:t>
            </a:r>
            <a:br>
              <a:rPr lang="en-US" sz="2800" dirty="0"/>
            </a:br>
            <a:r>
              <a:rPr lang="en-US" sz="2800" dirty="0"/>
              <a:t>(usually 8 closest)</a:t>
            </a:r>
          </a:p>
          <a:p>
            <a:endParaRPr lang="en-US" sz="2800" dirty="0"/>
          </a:p>
        </p:txBody>
      </p:sp>
      <p:pic>
        <p:nvPicPr>
          <p:cNvPr id="8" name="Picture 2" descr="https://lh4.googleusercontent.com/VBulbEH6rMveyhbwkYDN88P11eja0yrRe8Ap_si8PKeHC48tKEpe8q5XyGcWRAZv513KsadupRymTexCxml-N1kt-DsXPQsHBlId3xb2GT9Hjim19FmnRQ5mfYFJIDH2MzQbzgmulAM">
            <a:extLst>
              <a:ext uri="{FF2B5EF4-FFF2-40B4-BE49-F238E27FC236}">
                <a16:creationId xmlns:a16="http://schemas.microsoft.com/office/drawing/2014/main" id="{D10741AF-1C43-4E87-9099-C65B549CE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988" y="1415773"/>
            <a:ext cx="4419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735475" y="762001"/>
            <a:ext cx="386505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Canny edge detector</a:t>
            </a:r>
          </a:p>
        </p:txBody>
      </p:sp>
      <p:sp>
        <p:nvSpPr>
          <p:cNvPr id="1102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16086" y="1905001"/>
            <a:ext cx="7010400" cy="4525963"/>
          </a:xfrm>
        </p:spPr>
        <p:txBody>
          <a:bodyPr>
            <a:normAutofit fontScale="92500" lnSpcReduction="20000"/>
          </a:bodyPr>
          <a:lstStyle/>
          <a:p>
            <a:pPr marL="533400" indent="-533400">
              <a:buFontTx/>
              <a:buAutoNum type="arabicPeriod"/>
            </a:pPr>
            <a:r>
              <a:rPr lang="en-US" sz="2800" dirty="0"/>
              <a:t>Filter image with derivative of Gaussian </a:t>
            </a:r>
          </a:p>
          <a:p>
            <a:pPr marL="533400" indent="-533400">
              <a:buFontTx/>
              <a:buAutoNum type="arabicPeriod"/>
            </a:pPr>
            <a:endParaRPr lang="en-US" sz="2800" dirty="0"/>
          </a:p>
          <a:p>
            <a:pPr marL="533400" indent="-533400">
              <a:buFontTx/>
              <a:buAutoNum type="arabicPeriod"/>
            </a:pPr>
            <a:r>
              <a:rPr lang="en-US" sz="2800" dirty="0"/>
              <a:t>Find magnitude and orientation of gradient</a:t>
            </a:r>
          </a:p>
          <a:p>
            <a:pPr marL="533400" indent="-533400">
              <a:buFontTx/>
              <a:buAutoNum type="arabicPeriod"/>
            </a:pPr>
            <a:endParaRPr lang="en-US" sz="2800" dirty="0"/>
          </a:p>
          <a:p>
            <a:pPr marL="533400" indent="-533400">
              <a:buFontTx/>
              <a:buAutoNum type="arabicPeriod"/>
            </a:pPr>
            <a:r>
              <a:rPr lang="en-US" sz="2800" dirty="0"/>
              <a:t>Non-maximum suppression</a:t>
            </a:r>
          </a:p>
          <a:p>
            <a:pPr marL="533400" indent="-533400">
              <a:buFontTx/>
              <a:buAutoNum type="arabicPeriod"/>
            </a:pPr>
            <a:endParaRPr lang="en-US" sz="2800" dirty="0"/>
          </a:p>
          <a:p>
            <a:pPr marL="533400" indent="-533400">
              <a:buFontTx/>
              <a:buAutoNum type="arabicPeriod"/>
            </a:pPr>
            <a:r>
              <a:rPr lang="en-US" sz="2800" dirty="0"/>
              <a:t>Linking and </a:t>
            </a:r>
            <a:r>
              <a:rPr lang="en-US" sz="2800" dirty="0" err="1"/>
              <a:t>thresholding</a:t>
            </a:r>
            <a:r>
              <a:rPr lang="en-US" sz="2800" dirty="0"/>
              <a:t> (hysteresis):</a:t>
            </a:r>
          </a:p>
          <a:p>
            <a:pPr marL="838200" lvl="1" indent="-381000"/>
            <a:r>
              <a:rPr lang="en-US" sz="2400" dirty="0"/>
              <a:t>Define two thresholds: low and high</a:t>
            </a:r>
          </a:p>
          <a:p>
            <a:pPr marL="838200" lvl="1" indent="-381000"/>
            <a:r>
              <a:rPr lang="en-US" sz="2400" dirty="0"/>
              <a:t>Use the high threshold to start edge curves and the low threshold to continue them</a:t>
            </a:r>
            <a:endParaRPr lang="en-US" sz="2400" b="1" dirty="0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7764576" y="6553201"/>
            <a:ext cx="29034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Source: D. Lowe, L. Fei-Fei, J. Redmon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7495" y="1099843"/>
            <a:ext cx="3837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33400" indent="-533400"/>
            <a:r>
              <a:rPr lang="en-US" dirty="0"/>
              <a:t>MATLAB: 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edge(</a:t>
            </a:r>
            <a:r>
              <a:rPr lang="en-US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image,‘canny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’)</a:t>
            </a:r>
          </a:p>
        </p:txBody>
      </p:sp>
      <p:pic>
        <p:nvPicPr>
          <p:cNvPr id="139266" name="Picture 2" descr="https://lh5.googleusercontent.com/MV7zelDynpOd0Aq3H07KZ6x8jPfK99SHfbe_kTJTioUc8BltEo99YM18dMNJZ--zF9Jhln30xrTJJRQRoA5Cb9xLy2QeRUSB7rlrYzQxYcHXWYNH3v5T7QqC840NVTPzBPMY3a8yfPU">
            <a:extLst>
              <a:ext uri="{FF2B5EF4-FFF2-40B4-BE49-F238E27FC236}">
                <a16:creationId xmlns:a16="http://schemas.microsoft.com/office/drawing/2014/main" id="{228D57AF-2EBF-409F-9603-5F426F834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679" y="304800"/>
            <a:ext cx="1440838" cy="144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268" name="Picture 4" descr="https://lh6.googleusercontent.com/GZaL28u0ZfTIjV_VRjGsbtadZQudQ8QM9I1aRZ-XeFmal3pWDvYrFObM_nGWozXNf2zGtFkGGizPB6J1suleN6kyiJhhsbQnOyRVKtkwFBsYyLjlJQoFStNMZbsgoVPSHvVFctjn3aw">
            <a:extLst>
              <a:ext uri="{FF2B5EF4-FFF2-40B4-BE49-F238E27FC236}">
                <a16:creationId xmlns:a16="http://schemas.microsoft.com/office/drawing/2014/main" id="{F125E5BA-6CC3-45F3-8369-0663920B9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683" y="5144126"/>
            <a:ext cx="1440838" cy="144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270" name="Picture 6" descr="https://lh3.googleusercontent.com/Lfg8v9BxNotSf67--yxvFhlVu8rh3YyQRImD32FoNZYGTmrEptP7GD77TXd14gh4xwNyW03ep_6H78-0RHZ1eGLbJpmpFWu9QeD2-WXaq2EGZNSeCSQrVsoIRp1BrQs4k6HngtfX1qk">
            <a:extLst>
              <a:ext uri="{FF2B5EF4-FFF2-40B4-BE49-F238E27FC236}">
                <a16:creationId xmlns:a16="http://schemas.microsoft.com/office/drawing/2014/main" id="{C4D789BA-F8AF-4273-AF88-0E0BE9A9A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683" y="3521034"/>
            <a:ext cx="1439024" cy="143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271" name="Picture 7" descr="https://lh3.googleusercontent.com/_oZjRL99_-7FF04-nnEmXK3z43TwVjOm_Q_dnmcI62sFP_XOnfGCFvj4LSntRi-2mtkDDQeEbZ1eM7LXepBamnW5COVYJP-QBLwH6rpIQOuqkXM2Sy_n_B1cXH4dGaMXOp-o5k8T2sQ">
            <a:extLst>
              <a:ext uri="{FF2B5EF4-FFF2-40B4-BE49-F238E27FC236}">
                <a16:creationId xmlns:a16="http://schemas.microsoft.com/office/drawing/2014/main" id="{947E8E70-C06A-470B-AC44-08F637E77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679" y="1896128"/>
            <a:ext cx="1440838" cy="144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51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Canny edge detector</a:t>
            </a:r>
          </a:p>
        </p:txBody>
      </p:sp>
      <p:pic>
        <p:nvPicPr>
          <p:cNvPr id="47107" name="Picture 4" descr="cln1can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75551" y="1246188"/>
            <a:ext cx="2925763" cy="292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08" name="Picture 5" descr="cln1can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589463" y="1244601"/>
            <a:ext cx="2925762" cy="292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09" name="Picture 6" descr="cln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631951" y="1246188"/>
            <a:ext cx="2925763" cy="292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10" name="Text Box 7"/>
          <p:cNvSpPr txBox="1">
            <a:spLocks noChangeArrowheads="1"/>
          </p:cNvSpPr>
          <p:nvPr/>
        </p:nvSpPr>
        <p:spPr bwMode="auto">
          <a:xfrm>
            <a:off x="4864100" y="4157664"/>
            <a:ext cx="1511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ja-JP" sz="2000">
                <a:latin typeface="+mj-lt"/>
                <a:ea typeface="ＭＳ Ｐゴシック" charset="-128"/>
              </a:rPr>
              <a:t>Canny with </a:t>
            </a:r>
          </a:p>
        </p:txBody>
      </p:sp>
      <p:pic>
        <p:nvPicPr>
          <p:cNvPr id="47111" name="Picture 8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361114" y="4222751"/>
            <a:ext cx="865187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12" name="Text Box 9"/>
          <p:cNvSpPr txBox="1">
            <a:spLocks noChangeArrowheads="1"/>
          </p:cNvSpPr>
          <p:nvPr/>
        </p:nvSpPr>
        <p:spPr bwMode="auto">
          <a:xfrm>
            <a:off x="7835900" y="4146551"/>
            <a:ext cx="1511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ja-JP" sz="2000">
                <a:latin typeface="+mj-lt"/>
                <a:ea typeface="ＭＳ Ｐゴシック" charset="-128"/>
              </a:rPr>
              <a:t>Canny with </a:t>
            </a:r>
          </a:p>
        </p:txBody>
      </p:sp>
      <p:pic>
        <p:nvPicPr>
          <p:cNvPr id="47113" name="Picture 10" descr="Edittex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324976" y="4206876"/>
            <a:ext cx="881063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14" name="Text Box 11"/>
          <p:cNvSpPr txBox="1">
            <a:spLocks noChangeArrowheads="1"/>
          </p:cNvSpPr>
          <p:nvPr/>
        </p:nvSpPr>
        <p:spPr bwMode="auto">
          <a:xfrm>
            <a:off x="2562225" y="4146551"/>
            <a:ext cx="110959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ja-JP" sz="2000">
                <a:latin typeface="+mj-lt"/>
                <a:ea typeface="ＭＳ Ｐゴシック" charset="-128"/>
              </a:rPr>
              <a:t>original </a:t>
            </a:r>
          </a:p>
        </p:txBody>
      </p:sp>
      <p:sp>
        <p:nvSpPr>
          <p:cNvPr id="47115" name="Rectangle 12"/>
          <p:cNvSpPr>
            <a:spLocks noChangeArrowheads="1"/>
          </p:cNvSpPr>
          <p:nvPr/>
        </p:nvSpPr>
        <p:spPr bwMode="auto">
          <a:xfrm>
            <a:off x="2106613" y="49530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ja-JP" sz="2000" dirty="0">
                <a:ea typeface="ＭＳ Ｐゴシック" charset="-128"/>
              </a:rPr>
              <a:t>The choice of         depends on desired behavior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altLang="ja-JP" sz="2000" dirty="0">
                <a:ea typeface="ＭＳ Ｐゴシック" charset="-128"/>
              </a:rPr>
              <a:t>large       detects “large-scale” edges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altLang="ja-JP" sz="2000" dirty="0">
                <a:ea typeface="ＭＳ Ｐゴシック" charset="-128"/>
              </a:rPr>
              <a:t>small       detects fine edges</a:t>
            </a:r>
          </a:p>
        </p:txBody>
      </p:sp>
      <p:pic>
        <p:nvPicPr>
          <p:cNvPr id="47116" name="Picture 13" descr="Edittex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080616" y="5052333"/>
            <a:ext cx="268288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7" name="Picture 14" descr="Edittex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556000" y="5408839"/>
            <a:ext cx="268287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8" name="Picture 15" descr="Edittex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581634" y="5783037"/>
            <a:ext cx="268288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8991601" y="6491289"/>
            <a:ext cx="19796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Source: S. </a:t>
            </a:r>
            <a:r>
              <a:rPr lang="en-US" sz="1400" dirty="0"/>
              <a:t>Seitz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4260"/>
            <a:ext cx="8229600" cy="1143000"/>
          </a:xfrm>
        </p:spPr>
        <p:txBody>
          <a:bodyPr/>
          <a:lstStyle/>
          <a:p>
            <a:r>
              <a:rPr lang="en-US" dirty="0"/>
              <a:t>Scale space </a:t>
            </a:r>
            <a:r>
              <a:rPr lang="en-US" sz="1800" dirty="0"/>
              <a:t>[</a:t>
            </a:r>
            <a:r>
              <a:rPr lang="en-US" sz="1800" dirty="0" err="1"/>
              <a:t>Witkin</a:t>
            </a:r>
            <a:r>
              <a:rPr lang="en-US" sz="1800" dirty="0"/>
              <a:t> 83]</a:t>
            </a:r>
          </a:p>
        </p:txBody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219700"/>
            <a:ext cx="7772400" cy="1409700"/>
          </a:xfrm>
        </p:spPr>
        <p:txBody>
          <a:bodyPr>
            <a:normAutofit fontScale="92500" lnSpcReduction="20000"/>
          </a:bodyPr>
          <a:lstStyle/>
          <a:p>
            <a:r>
              <a:rPr lang="en-US" sz="2000"/>
              <a:t>Properties of scale space (w/ Gaussian smoothing)</a:t>
            </a:r>
          </a:p>
          <a:p>
            <a:pPr lvl="1"/>
            <a:r>
              <a:rPr lang="en-US" sz="1800">
                <a:sym typeface="Symbol" pitchFamily="18" charset="2"/>
              </a:rPr>
              <a:t>edge position may shift with increasing scale ()</a:t>
            </a:r>
          </a:p>
          <a:p>
            <a:pPr lvl="1"/>
            <a:r>
              <a:rPr lang="en-US" sz="1800">
                <a:sym typeface="Symbol" pitchFamily="18" charset="2"/>
              </a:rPr>
              <a:t>two edges may merge with increasing scale </a:t>
            </a:r>
          </a:p>
          <a:p>
            <a:pPr lvl="1"/>
            <a:r>
              <a:rPr lang="en-US" sz="1800">
                <a:sym typeface="Symbol" pitchFamily="18" charset="2"/>
              </a:rPr>
              <a:t>an edge may </a:t>
            </a:r>
            <a:r>
              <a:rPr lang="en-US" sz="1800" b="1" i="1">
                <a:sym typeface="Symbol" pitchFamily="18" charset="2"/>
              </a:rPr>
              <a:t>not</a:t>
            </a:r>
            <a:r>
              <a:rPr lang="en-US" sz="1800">
                <a:sym typeface="Symbol" pitchFamily="18" charset="2"/>
              </a:rPr>
              <a:t> split into two with increasing scale</a:t>
            </a:r>
          </a:p>
        </p:txBody>
      </p:sp>
      <p:pic>
        <p:nvPicPr>
          <p:cNvPr id="4464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76550" y="1333500"/>
            <a:ext cx="344805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64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1295400"/>
            <a:ext cx="396240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6470" name="Oval 6"/>
          <p:cNvSpPr>
            <a:spLocks noChangeArrowheads="1"/>
          </p:cNvSpPr>
          <p:nvPr/>
        </p:nvSpPr>
        <p:spPr bwMode="auto">
          <a:xfrm>
            <a:off x="4391025" y="155733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71" name="Oval 7"/>
          <p:cNvSpPr>
            <a:spLocks noChangeArrowheads="1"/>
          </p:cNvSpPr>
          <p:nvPr/>
        </p:nvSpPr>
        <p:spPr bwMode="auto">
          <a:xfrm>
            <a:off x="4335463" y="181927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72" name="Oval 8"/>
          <p:cNvSpPr>
            <a:spLocks noChangeArrowheads="1"/>
          </p:cNvSpPr>
          <p:nvPr/>
        </p:nvSpPr>
        <p:spPr bwMode="auto">
          <a:xfrm>
            <a:off x="4314825" y="20701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73" name="Oval 9"/>
          <p:cNvSpPr>
            <a:spLocks noChangeArrowheads="1"/>
          </p:cNvSpPr>
          <p:nvPr/>
        </p:nvSpPr>
        <p:spPr bwMode="auto">
          <a:xfrm>
            <a:off x="4279900" y="2362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74" name="Oval 10"/>
          <p:cNvSpPr>
            <a:spLocks noChangeArrowheads="1"/>
          </p:cNvSpPr>
          <p:nvPr/>
        </p:nvSpPr>
        <p:spPr bwMode="auto">
          <a:xfrm>
            <a:off x="4237038" y="263366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75" name="Oval 11"/>
          <p:cNvSpPr>
            <a:spLocks noChangeArrowheads="1"/>
          </p:cNvSpPr>
          <p:nvPr/>
        </p:nvSpPr>
        <p:spPr bwMode="auto">
          <a:xfrm>
            <a:off x="4203700" y="29067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76" name="Oval 12"/>
          <p:cNvSpPr>
            <a:spLocks noChangeArrowheads="1"/>
          </p:cNvSpPr>
          <p:nvPr/>
        </p:nvSpPr>
        <p:spPr bwMode="auto">
          <a:xfrm>
            <a:off x="4171950" y="3200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77" name="Oval 13"/>
          <p:cNvSpPr>
            <a:spLocks noChangeArrowheads="1"/>
          </p:cNvSpPr>
          <p:nvPr/>
        </p:nvSpPr>
        <p:spPr bwMode="auto">
          <a:xfrm>
            <a:off x="4171950" y="34401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78" name="Oval 14"/>
          <p:cNvSpPr>
            <a:spLocks noChangeArrowheads="1"/>
          </p:cNvSpPr>
          <p:nvPr/>
        </p:nvSpPr>
        <p:spPr bwMode="auto">
          <a:xfrm>
            <a:off x="4171950" y="370046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79" name="Oval 15"/>
          <p:cNvSpPr>
            <a:spLocks noChangeArrowheads="1"/>
          </p:cNvSpPr>
          <p:nvPr/>
        </p:nvSpPr>
        <p:spPr bwMode="auto">
          <a:xfrm>
            <a:off x="4171950" y="3962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80" name="Oval 16"/>
          <p:cNvSpPr>
            <a:spLocks noChangeArrowheads="1"/>
          </p:cNvSpPr>
          <p:nvPr/>
        </p:nvSpPr>
        <p:spPr bwMode="auto">
          <a:xfrm>
            <a:off x="4162425" y="42354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81" name="Oval 17"/>
          <p:cNvSpPr>
            <a:spLocks noChangeArrowheads="1"/>
          </p:cNvSpPr>
          <p:nvPr/>
        </p:nvSpPr>
        <p:spPr bwMode="auto">
          <a:xfrm>
            <a:off x="4140200" y="451802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82" name="Oval 18"/>
          <p:cNvSpPr>
            <a:spLocks noChangeArrowheads="1"/>
          </p:cNvSpPr>
          <p:nvPr/>
        </p:nvSpPr>
        <p:spPr bwMode="auto">
          <a:xfrm>
            <a:off x="3181350" y="44958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83" name="Oval 19"/>
          <p:cNvSpPr>
            <a:spLocks noChangeArrowheads="1"/>
          </p:cNvSpPr>
          <p:nvPr/>
        </p:nvSpPr>
        <p:spPr bwMode="auto">
          <a:xfrm>
            <a:off x="3195638" y="261937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84" name="Oval 20"/>
          <p:cNvSpPr>
            <a:spLocks noChangeArrowheads="1"/>
          </p:cNvSpPr>
          <p:nvPr/>
        </p:nvSpPr>
        <p:spPr bwMode="auto">
          <a:xfrm>
            <a:off x="3162300" y="289242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85" name="Oval 21"/>
          <p:cNvSpPr>
            <a:spLocks noChangeArrowheads="1"/>
          </p:cNvSpPr>
          <p:nvPr/>
        </p:nvSpPr>
        <p:spPr bwMode="auto">
          <a:xfrm>
            <a:off x="3159125" y="315753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86" name="Oval 22"/>
          <p:cNvSpPr>
            <a:spLocks noChangeArrowheads="1"/>
          </p:cNvSpPr>
          <p:nvPr/>
        </p:nvSpPr>
        <p:spPr bwMode="auto">
          <a:xfrm>
            <a:off x="3144838" y="341153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87" name="Oval 23"/>
          <p:cNvSpPr>
            <a:spLocks noChangeArrowheads="1"/>
          </p:cNvSpPr>
          <p:nvPr/>
        </p:nvSpPr>
        <p:spPr bwMode="auto">
          <a:xfrm>
            <a:off x="3144838" y="367188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88" name="Oval 24"/>
          <p:cNvSpPr>
            <a:spLocks noChangeArrowheads="1"/>
          </p:cNvSpPr>
          <p:nvPr/>
        </p:nvSpPr>
        <p:spPr bwMode="auto">
          <a:xfrm>
            <a:off x="3130550" y="393382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89" name="Oval 25"/>
          <p:cNvSpPr>
            <a:spLocks noChangeArrowheads="1"/>
          </p:cNvSpPr>
          <p:nvPr/>
        </p:nvSpPr>
        <p:spPr bwMode="auto">
          <a:xfrm>
            <a:off x="3148013" y="420528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91" name="Oval 27"/>
          <p:cNvSpPr>
            <a:spLocks noChangeArrowheads="1"/>
          </p:cNvSpPr>
          <p:nvPr/>
        </p:nvSpPr>
        <p:spPr bwMode="auto">
          <a:xfrm>
            <a:off x="3390900" y="446722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93" name="Oval 29"/>
          <p:cNvSpPr>
            <a:spLocks noChangeArrowheads="1"/>
          </p:cNvSpPr>
          <p:nvPr/>
        </p:nvSpPr>
        <p:spPr bwMode="auto">
          <a:xfrm>
            <a:off x="3362325" y="289718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94" name="Oval 30"/>
          <p:cNvSpPr>
            <a:spLocks noChangeArrowheads="1"/>
          </p:cNvSpPr>
          <p:nvPr/>
        </p:nvSpPr>
        <p:spPr bwMode="auto">
          <a:xfrm>
            <a:off x="3373438" y="31623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95" name="Oval 31"/>
          <p:cNvSpPr>
            <a:spLocks noChangeArrowheads="1"/>
          </p:cNvSpPr>
          <p:nvPr/>
        </p:nvSpPr>
        <p:spPr bwMode="auto">
          <a:xfrm>
            <a:off x="3387725" y="343058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96" name="Oval 32"/>
          <p:cNvSpPr>
            <a:spLocks noChangeArrowheads="1"/>
          </p:cNvSpPr>
          <p:nvPr/>
        </p:nvSpPr>
        <p:spPr bwMode="auto">
          <a:xfrm>
            <a:off x="3373438" y="3690938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97" name="Oval 33"/>
          <p:cNvSpPr>
            <a:spLocks noChangeArrowheads="1"/>
          </p:cNvSpPr>
          <p:nvPr/>
        </p:nvSpPr>
        <p:spPr bwMode="auto">
          <a:xfrm>
            <a:off x="3373438" y="3948113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6498" name="Oval 34"/>
          <p:cNvSpPr>
            <a:spLocks noChangeArrowheads="1"/>
          </p:cNvSpPr>
          <p:nvPr/>
        </p:nvSpPr>
        <p:spPr bwMode="auto">
          <a:xfrm>
            <a:off x="3376613" y="421005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3143250" y="1600200"/>
            <a:ext cx="1257300" cy="2971800"/>
            <a:chOff x="696" y="1248"/>
            <a:chExt cx="792" cy="1872"/>
          </a:xfrm>
        </p:grpSpPr>
        <p:sp>
          <p:nvSpPr>
            <p:cNvPr id="446499" name="Freeform 35"/>
            <p:cNvSpPr>
              <a:spLocks/>
            </p:cNvSpPr>
            <p:nvPr/>
          </p:nvSpPr>
          <p:spPr bwMode="auto">
            <a:xfrm>
              <a:off x="696" y="1824"/>
              <a:ext cx="192" cy="1296"/>
            </a:xfrm>
            <a:custGeom>
              <a:avLst/>
              <a:gdLst/>
              <a:ahLst/>
              <a:cxnLst>
                <a:cxn ang="0">
                  <a:pos x="24" y="1368"/>
                </a:cxn>
                <a:cxn ang="0">
                  <a:pos x="24" y="168"/>
                </a:cxn>
                <a:cxn ang="0">
                  <a:pos x="168" y="360"/>
                </a:cxn>
                <a:cxn ang="0">
                  <a:pos x="168" y="1320"/>
                </a:cxn>
              </a:cxnLst>
              <a:rect l="0" t="0" r="r" b="b"/>
              <a:pathLst>
                <a:path w="192" h="1368">
                  <a:moveTo>
                    <a:pt x="24" y="1368"/>
                  </a:moveTo>
                  <a:cubicBezTo>
                    <a:pt x="12" y="852"/>
                    <a:pt x="0" y="336"/>
                    <a:pt x="24" y="168"/>
                  </a:cubicBezTo>
                  <a:cubicBezTo>
                    <a:pt x="48" y="0"/>
                    <a:pt x="144" y="168"/>
                    <a:pt x="168" y="360"/>
                  </a:cubicBezTo>
                  <a:cubicBezTo>
                    <a:pt x="192" y="552"/>
                    <a:pt x="180" y="936"/>
                    <a:pt x="168" y="132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6500" name="Freeform 36"/>
            <p:cNvSpPr>
              <a:spLocks/>
            </p:cNvSpPr>
            <p:nvPr/>
          </p:nvSpPr>
          <p:spPr bwMode="auto">
            <a:xfrm>
              <a:off x="1320" y="1248"/>
              <a:ext cx="168" cy="1872"/>
            </a:xfrm>
            <a:custGeom>
              <a:avLst/>
              <a:gdLst/>
              <a:ahLst/>
              <a:cxnLst>
                <a:cxn ang="0">
                  <a:pos x="24" y="1872"/>
                </a:cxn>
                <a:cxn ang="0">
                  <a:pos x="24" y="1536"/>
                </a:cxn>
                <a:cxn ang="0">
                  <a:pos x="24" y="1200"/>
                </a:cxn>
                <a:cxn ang="0">
                  <a:pos x="168" y="0"/>
                </a:cxn>
              </a:cxnLst>
              <a:rect l="0" t="0" r="r" b="b"/>
              <a:pathLst>
                <a:path w="168" h="1872">
                  <a:moveTo>
                    <a:pt x="24" y="1872"/>
                  </a:moveTo>
                  <a:cubicBezTo>
                    <a:pt x="24" y="1760"/>
                    <a:pt x="24" y="1648"/>
                    <a:pt x="24" y="1536"/>
                  </a:cubicBezTo>
                  <a:cubicBezTo>
                    <a:pt x="24" y="1424"/>
                    <a:pt x="0" y="1456"/>
                    <a:pt x="24" y="1200"/>
                  </a:cubicBezTo>
                  <a:cubicBezTo>
                    <a:pt x="48" y="944"/>
                    <a:pt x="136" y="200"/>
                    <a:pt x="168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46503" name="Picture 39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71726" y="3173414"/>
            <a:ext cx="219075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46504" name="Line 40"/>
          <p:cNvSpPr>
            <a:spLocks noChangeShapeType="1"/>
          </p:cNvSpPr>
          <p:nvPr/>
        </p:nvSpPr>
        <p:spPr bwMode="auto">
          <a:xfrm flipV="1">
            <a:off x="2743200" y="2843214"/>
            <a:ext cx="0" cy="814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6505" name="Text Box 41"/>
          <p:cNvSpPr txBox="1">
            <a:spLocks noChangeArrowheads="1"/>
          </p:cNvSpPr>
          <p:nvPr/>
        </p:nvSpPr>
        <p:spPr bwMode="auto">
          <a:xfrm>
            <a:off x="1600200" y="3048001"/>
            <a:ext cx="903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latin typeface="+mj-lt"/>
              </a:rPr>
              <a:t>larger </a:t>
            </a:r>
          </a:p>
        </p:txBody>
      </p:sp>
      <p:sp>
        <p:nvSpPr>
          <p:cNvPr id="446506" name="Text Box 42"/>
          <p:cNvSpPr txBox="1">
            <a:spLocks noChangeArrowheads="1"/>
          </p:cNvSpPr>
          <p:nvPr/>
        </p:nvSpPr>
        <p:spPr bwMode="auto">
          <a:xfrm>
            <a:off x="3321050" y="4657726"/>
            <a:ext cx="2622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+mj-lt"/>
              </a:rPr>
              <a:t>Gaussian filtered signal </a:t>
            </a:r>
          </a:p>
        </p:txBody>
      </p: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505200" y="990600"/>
            <a:ext cx="2266950" cy="566738"/>
            <a:chOff x="1248" y="624"/>
            <a:chExt cx="1428" cy="357"/>
          </a:xfrm>
        </p:grpSpPr>
        <p:sp>
          <p:nvSpPr>
            <p:cNvPr id="446507" name="Text Box 43"/>
            <p:cNvSpPr txBox="1">
              <a:spLocks noChangeArrowheads="1"/>
            </p:cNvSpPr>
            <p:nvPr/>
          </p:nvSpPr>
          <p:spPr bwMode="auto">
            <a:xfrm>
              <a:off x="1248" y="624"/>
              <a:ext cx="14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latin typeface="+mj-lt"/>
                </a:rPr>
                <a:t>first derivative peaks</a:t>
              </a:r>
            </a:p>
          </p:txBody>
        </p:sp>
        <p:sp>
          <p:nvSpPr>
            <p:cNvPr id="446508" name="Line 44"/>
            <p:cNvSpPr>
              <a:spLocks noChangeShapeType="1"/>
            </p:cNvSpPr>
            <p:nvPr/>
          </p:nvSpPr>
          <p:spPr bwMode="auto">
            <a:xfrm flipH="1">
              <a:off x="1854" y="816"/>
              <a:ext cx="162" cy="1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67" grpId="0" build="p"/>
      <p:bldP spid="446470" grpId="0" animBg="1"/>
      <p:bldP spid="446471" grpId="0" animBg="1"/>
      <p:bldP spid="446472" grpId="0" animBg="1"/>
      <p:bldP spid="446473" grpId="0" animBg="1"/>
      <p:bldP spid="446474" grpId="0" animBg="1"/>
      <p:bldP spid="446475" grpId="0" animBg="1"/>
      <p:bldP spid="446476" grpId="0" animBg="1"/>
      <p:bldP spid="446477" grpId="0" animBg="1"/>
      <p:bldP spid="446478" grpId="0" animBg="1"/>
      <p:bldP spid="446479" grpId="0" animBg="1"/>
      <p:bldP spid="446480" grpId="0" animBg="1"/>
      <p:bldP spid="446481" grpId="0" animBg="1"/>
      <p:bldP spid="446482" grpId="0" animBg="1"/>
      <p:bldP spid="446483" grpId="0" animBg="1"/>
      <p:bldP spid="446484" grpId="0" animBg="1"/>
      <p:bldP spid="446485" grpId="0" animBg="1"/>
      <p:bldP spid="446486" grpId="0" animBg="1"/>
      <p:bldP spid="446487" grpId="0" animBg="1"/>
      <p:bldP spid="446488" grpId="0" animBg="1"/>
      <p:bldP spid="446489" grpId="0" animBg="1"/>
      <p:bldP spid="446491" grpId="0" animBg="1"/>
      <p:bldP spid="446493" grpId="0" animBg="1"/>
      <p:bldP spid="446494" grpId="0" animBg="1"/>
      <p:bldP spid="446495" grpId="0" animBg="1"/>
      <p:bldP spid="446496" grpId="0" animBg="1"/>
      <p:bldP spid="446497" grpId="0" animBg="1"/>
      <p:bldP spid="44649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0.1.2417"/>
  <p:tag name="SLIDO_PRESENTATION_ID" val="00000000-0000-0000-0000-000000000000"/>
  <p:tag name="SLIDO_EVENT_UUID" val="33df81ea-7f17-450f-a693-fc035b9aeb87"/>
  <p:tag name="SLIDO_EVENT_SECTION_UUID" val="3b8c116d-04db-46e3-8bf4-bfdd4e6769f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nabla f = \left[\frac{\partial f}{\partial x},\frac{\partial f}{\partial y}\right]$&#10;\end{document}&#10;"/>
  <p:tag name="EXTERNALNAME" val="Edittex"/>
  <p:tag name="BLEND" val="False"/>
  <p:tag name="TRANSPARENT" val="False"/>
  <p:tag name="BITMAPFORMAT" val="bmpmono"/>
  <p:tag name="DEBUGINTERACTIVE" val="True"/>
  <p:tag name="ORIGWIDTH" val="479.7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nabla f = \left[\frac{\partial f}{\partial x},0\right]$&#10;\end{document}&#10;"/>
  <p:tag name="EXTERNALNAME" val="Edittex"/>
  <p:tag name="BLEND" val="False"/>
  <p:tag name="TRANSPARENT" val="False"/>
  <p:tag name="BITMAPFORMAT" val="bmpmono"/>
  <p:tag name="DEBUGINTERACTIVE" val="True"/>
  <p:tag name="ORIGWIDTH" val="441.87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theta = \tan^{-1} \left(\frac{\partial f}{\partial y}/\frac{\partial f}{\partial x}\right)$&#10;\end{document}&#10;"/>
  <p:tag name="EXTERNALNAME" val="Edittex"/>
  <p:tag name="BLEND" val="False"/>
  <p:tag name="TRANSPARENT" val="False"/>
  <p:tag name="BITMAPFORMAT" val="bmpmono"/>
  <p:tag name="DEBUGINTERACTIVE" val="True"/>
  <p:tag name="ORIGWIDTH" val="659.7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|\nabla f\| = \sqrt{{(\frac{\partial f}{\partial x})}^2 + {(\frac{\partial f}{\partial y})}^2}$&#10;\end{document}&#10;"/>
  <p:tag name="EXTERNALNAME" val="Edittex"/>
  <p:tag name="BLEND" val="False"/>
  <p:tag name="TRANSPARENT" val="False"/>
  <p:tag name="BITMAPFORMAT" val="bmpmono"/>
  <p:tag name="DEBUGINTERACTIVE" val="True"/>
  <p:tag name="ORIGWIDTH" val="87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theta$&#10;\end{document}&#10;"/>
  <p:tag name="EXTERNALNAME" val="Edittex"/>
  <p:tag name="BLEND" val="False"/>
  <p:tag name="TRANSPARENT" val="True"/>
  <p:tag name="BITMAPFORMAT" val="bmpmono"/>
  <p:tag name="DEBUGINTERACTIVE" val="True"/>
  <p:tag name="ORIGWIDTH" val="33.2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nabla f = \left[0,\frac{\partial f}{\partial y}\right]$&#10;\end{document}&#10;"/>
  <p:tag name="EXTERNALNAME" val="Edittex"/>
  <p:tag name="BLEND" val="False"/>
  <p:tag name="TRANSPARENT" val="False"/>
  <p:tag name="BITMAPFORMAT" val="bmpmono"/>
  <p:tag name="DEBUGINTERACTIVE" val="True"/>
  <p:tag name="ORIGWIDTH" val="441.87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nabla f = \left[\frac{\partial f}{\partial x},\frac{\partial f}{\partial y}\right]$&#10;\end{document}&#10;"/>
  <p:tag name="EXTERNALNAME" val="Edittex"/>
  <p:tag name="BLEND" val="False"/>
  <p:tag name="TRANSPARENT" val="False"/>
  <p:tag name="BITMAPFORMAT" val="bmpmono"/>
  <p:tag name="DEBUGINTERACTIVE" val="True"/>
  <p:tag name="ORIGWIDTH" val="479.7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frac{\partial f}{\partial x}[x,y] \approx&#10;F[x + 1,y] - F[x,y]&#10;\]&#10;\end{document}&#10;"/>
  <p:tag name="EXTERNALNAME" val="Edittex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17"/>
  <p:tag name="BOXFONT" val="10"/>
  <p:tag name="BOXWRAP" val="False"/>
  <p:tag name="WORKAROUNDTRANSPARENCYBUG" val="False"/>
  <p:tag name="BITMAPFORMAT" val="bmpmono"/>
  <p:tag name="DEBUGINTERACTIVE" val="True"/>
  <p:tag name="ORIGWIDTH" val="291"/>
  <p:tag name="PICTUREFILESIZE" val="445726"/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(x)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153"/>
  <p:tag name="PICTUREFILESIZE" val="205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d}{dx}f(x)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232.25"/>
  <p:tag name="PICTUREFILESIZE" val="423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h_\sigma(u,v) = \frac{1}{2 \pi \sigma^2} e^{-\frac{u^2+v^2}{2\sigma^2}}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858.625"/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frac{\partial}{\partial x} h_\sigma(u,v)&#10;\]&#10;\end{document}&#10;"/>
  <p:tag name="EXTERNALNAME" val="Edittex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370.75"/>
  <p:tag name="PICTUREFILESIZE" val="9578"/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1}{8}$&#10;\end{document}&#10;"/>
  <p:tag name="EXTERNALNAME" val="Edittex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45"/>
  <p:tag name="PICTUREFILESIZE" val="990"/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1}{8}$&#10;\end{document}&#10;"/>
  <p:tag name="EXTERNALNAME" val="Edittex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45"/>
  <p:tag name="PICTUREFILESIZE" val="990"/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s_x$&#10;\end{document}&#10;"/>
  <p:tag name="EXTERNALNAME" val="Edittex"/>
  <p:tag name="BLEND" val="False"/>
  <p:tag name="TRANSPARENT" val="False"/>
  <p:tag name="BITMAPFORMAT" val="bmpmono"/>
  <p:tag name="DEBUGINTERACTIVE" val="True"/>
  <p:tag name="ORIGWIDTH" val="71.125"/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s_y$&#10;\end{document}&#10;"/>
  <p:tag name="EXTERNALNAME" val="Edittex"/>
  <p:tag name="BLEND" val="False"/>
  <p:tag name="TRANSPARENT" val="False"/>
  <p:tag name="BITMAPFORMAT" val="bmpmono"/>
  <p:tag name="DEBUGINTERACTIVE" val="True"/>
  <p:tag name="ORIGWIDTH" val="67.5"/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 = 1$&#10;\end{document}&#10;"/>
  <p:tag name="EXTERNALNAME" val="Edittex"/>
  <p:tag name="BLEND" val="False"/>
  <p:tag name="TRANSPARENT" val="False"/>
  <p:tag name="BITMAPFORMAT" val="bmpmono"/>
  <p:tag name="DEBUGINTERACTIVE" val="True"/>
  <p:tag name="ORIGWIDTH" val="202.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 = 2$&#10;\end{document}&#10;"/>
  <p:tag name="EXTERNALNAME" val="Edittex"/>
  <p:tag name="BLEND" val="False"/>
  <p:tag name="TRANSPARENT" val="False"/>
  <p:tag name="BITMAPFORMAT" val="bmpmono"/>
  <p:tag name="DEBUGINTERACTIVE" val="True"/>
  <p:tag name="ORIGWIDTH" val="206.12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sigma$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sigma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4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16551</TotalTime>
  <Words>825</Words>
  <Application>Microsoft Office PowerPoint</Application>
  <PresentationFormat>宽屏</PresentationFormat>
  <Paragraphs>186</Paragraphs>
  <Slides>30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4" baseType="lpstr">
      <vt:lpstr>CMMI10</vt:lpstr>
      <vt:lpstr>Courier New</vt:lpstr>
      <vt:lpstr>CMR10</vt:lpstr>
      <vt:lpstr>Arial</vt:lpstr>
      <vt:lpstr>CMR7</vt:lpstr>
      <vt:lpstr>Symbol</vt:lpstr>
      <vt:lpstr>Myriad Roman</vt:lpstr>
      <vt:lpstr>Calibri</vt:lpstr>
      <vt:lpstr>ＭＳ Ｐゴシック</vt:lpstr>
      <vt:lpstr>Myriad Pro</vt:lpstr>
      <vt:lpstr>Times New Roman</vt:lpstr>
      <vt:lpstr>Cambria Math</vt:lpstr>
      <vt:lpstr>Office Theme</vt:lpstr>
      <vt:lpstr>Photo Editor Photo</vt:lpstr>
      <vt:lpstr>Lecture 2: Edge detection</vt:lpstr>
      <vt:lpstr>Edge detection</vt:lpstr>
      <vt:lpstr>Origin of edges</vt:lpstr>
      <vt:lpstr>Images as functions…</vt:lpstr>
      <vt:lpstr>Characterizing edges</vt:lpstr>
      <vt:lpstr>Image gradient</vt:lpstr>
      <vt:lpstr>Image derivatives</vt:lpstr>
      <vt:lpstr>Image gradient</vt:lpstr>
      <vt:lpstr>Effects of noise</vt:lpstr>
      <vt:lpstr>Solution: smooth first</vt:lpstr>
      <vt:lpstr>Associative property of convolution</vt:lpstr>
      <vt:lpstr>The 1D Gaussian and its derivatives</vt:lpstr>
      <vt:lpstr>2D edge detection filters</vt:lpstr>
      <vt:lpstr>Derivative of Gaussian filter</vt:lpstr>
      <vt:lpstr>The Sobel operator</vt:lpstr>
      <vt:lpstr>Sobel operator: example</vt:lpstr>
      <vt:lpstr>PowerPoint 演示文稿</vt:lpstr>
      <vt:lpstr>Example</vt:lpstr>
      <vt:lpstr>PowerPoint 演示文稿</vt:lpstr>
      <vt:lpstr>PowerPoint 演示文稿</vt:lpstr>
      <vt:lpstr>Get Orientation at Each Pixel</vt:lpstr>
      <vt:lpstr>Non-maximum supression</vt:lpstr>
      <vt:lpstr>Before Non-max Suppression</vt:lpstr>
      <vt:lpstr>After Non-max Suppression</vt:lpstr>
      <vt:lpstr>PowerPoint 演示文稿</vt:lpstr>
      <vt:lpstr>PowerPoint 演示文稿</vt:lpstr>
      <vt:lpstr>Canny edge detector</vt:lpstr>
      <vt:lpstr>Canny edge detector</vt:lpstr>
      <vt:lpstr>Scale space [Witkin 83]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Images and image filtering</dc:title>
  <dc:creator>Noah Snavely</dc:creator>
  <cp:lastModifiedBy>Zhiyu ZHU 朱智宇</cp:lastModifiedBy>
  <cp:revision>259</cp:revision>
  <dcterms:created xsi:type="dcterms:W3CDTF">2009-08-25T02:47:59Z</dcterms:created>
  <dcterms:modified xsi:type="dcterms:W3CDTF">2026-09-08T00:08:02Z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1.0.1.2417</vt:lpwstr>
  </property>
</Properties>
</file>