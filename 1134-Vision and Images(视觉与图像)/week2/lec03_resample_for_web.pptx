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4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5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6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7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0"/>
  </p:notesMasterIdLst>
  <p:sldIdLst>
    <p:sldId id="387" r:id="rId2"/>
    <p:sldId id="346" r:id="rId3"/>
    <p:sldId id="347" r:id="rId4"/>
    <p:sldId id="348" r:id="rId5"/>
    <p:sldId id="391" r:id="rId6"/>
    <p:sldId id="392" r:id="rId7"/>
    <p:sldId id="393" r:id="rId8"/>
    <p:sldId id="352" r:id="rId9"/>
    <p:sldId id="402" r:id="rId10"/>
    <p:sldId id="561" r:id="rId11"/>
    <p:sldId id="560" r:id="rId12"/>
    <p:sldId id="376" r:id="rId13"/>
    <p:sldId id="354" r:id="rId14"/>
    <p:sldId id="355" r:id="rId15"/>
    <p:sldId id="356" r:id="rId16"/>
    <p:sldId id="357" r:id="rId17"/>
    <p:sldId id="358" r:id="rId18"/>
    <p:sldId id="397" r:id="rId19"/>
    <p:sldId id="361" r:id="rId20"/>
    <p:sldId id="362" r:id="rId21"/>
    <p:sldId id="377" r:id="rId22"/>
    <p:sldId id="406" r:id="rId23"/>
    <p:sldId id="403" r:id="rId24"/>
    <p:sldId id="365" r:id="rId25"/>
    <p:sldId id="366" r:id="rId26"/>
    <p:sldId id="367" r:id="rId27"/>
    <p:sldId id="368" r:id="rId28"/>
    <p:sldId id="369" r:id="rId29"/>
    <p:sldId id="370" r:id="rId30"/>
    <p:sldId id="371" r:id="rId31"/>
    <p:sldId id="372" r:id="rId32"/>
    <p:sldId id="373" r:id="rId33"/>
    <p:sldId id="396" r:id="rId34"/>
    <p:sldId id="400" r:id="rId35"/>
    <p:sldId id="401" r:id="rId36"/>
    <p:sldId id="563" r:id="rId37"/>
    <p:sldId id="493" r:id="rId38"/>
    <p:sldId id="374" r:id="rId39"/>
  </p:sldIdLst>
  <p:sldSz cx="12192000" cy="6858000"/>
  <p:notesSz cx="7010400" cy="9296400"/>
  <p:embeddedFontLst>
    <p:embeddedFont>
      <p:font typeface="Myriad Pro" panose="020B0503030403020204" charset="0"/>
      <p:regular r:id="rId41"/>
      <p:bold r:id="rId42"/>
      <p:italic r:id="rId43"/>
      <p:boldItalic r:id="rId44"/>
    </p:embeddedFont>
  </p:embeddedFontLst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94587" autoAdjust="0"/>
  </p:normalViewPr>
  <p:slideViewPr>
    <p:cSldViewPr>
      <p:cViewPr varScale="1">
        <p:scale>
          <a:sx n="148" d="100"/>
          <a:sy n="148" d="100"/>
        </p:scale>
        <p:origin x="366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371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23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D82530-5356-474B-952C-7411B353ECE8}" type="slidenum">
              <a:rPr lang="en-US"/>
              <a:pPr/>
              <a:t>19</a:t>
            </a:fld>
            <a:endParaRPr 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D82530-5356-474B-952C-7411B353ECE8}" type="slidenum">
              <a:rPr lang="en-US"/>
              <a:pPr/>
              <a:t>20</a:t>
            </a:fld>
            <a:endParaRPr 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DC254-149C-498F-8815-7C1C302AE3D7}" type="slidenum">
              <a:rPr lang="en-US"/>
              <a:pPr/>
              <a:t>26</a:t>
            </a:fld>
            <a:endParaRPr lang="en-US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1DD676-CD22-46A5-AB2F-E720FE6E420B}" type="slidenum">
              <a:rPr lang="en-US"/>
              <a:pPr/>
              <a:t>27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C29DBDB-E8F5-4B5B-909A-75CD8EEAB6AB}" type="slidenum">
              <a:rPr lang="en-US"/>
              <a:pPr/>
              <a:t>28</a:t>
            </a:fld>
            <a:endParaRPr lang="en-US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E6F44F-91D6-46DF-8B0A-4FF0D7EEC38E}" type="slidenum">
              <a:rPr lang="en-US"/>
              <a:pPr/>
              <a:t>30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8473-3869-672F-24AC-776C7232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87B6B1A-9345-2262-F26A-73A386AA0E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3DC254-149C-498F-8815-7C1C302AE3D7}" type="slidenum">
              <a:rPr lang="en-US"/>
              <a:pPr/>
              <a:t>36</a:t>
            </a:fld>
            <a:endParaRPr lang="en-US"/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8FD2F246-D0DA-9111-47E7-0AF594E30D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695325"/>
            <a:ext cx="6167437" cy="3470275"/>
          </a:xfrm>
          <a:ln/>
        </p:spPr>
      </p:sp>
      <p:sp>
        <p:nvSpPr>
          <p:cNvPr id="495619" name="Rectangle 3">
            <a:extLst>
              <a:ext uri="{FF2B5EF4-FFF2-40B4-BE49-F238E27FC236}">
                <a16:creationId xmlns:a16="http://schemas.microsoft.com/office/drawing/2014/main" id="{EFFFAF6A-CF8C-4953-A1B6-A3CBDEC405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6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haelbach.de/ot/mot-wagonWheel/index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webm"/><Relationship Id="rId1" Type="http://schemas.microsoft.com/office/2007/relationships/media" Target="../media/media1.webm"/><Relationship Id="rId5" Type="http://schemas.openxmlformats.org/officeDocument/2006/relationships/hyperlink" Target="https://en.wikipedia.org/wiki/Wagon-wheel_effect" TargetMode="Externa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r3ngmRuGUc" TargetMode="Externa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eometric_series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9.xml"/><Relationship Id="rId21" Type="http://schemas.openxmlformats.org/officeDocument/2006/relationships/tags" Target="../tags/tag27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29" Type="http://schemas.openxmlformats.org/officeDocument/2006/relationships/image" Target="../media/image37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image" Target="../media/image36.png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43.xml"/><Relationship Id="rId18" Type="http://schemas.openxmlformats.org/officeDocument/2006/relationships/tags" Target="../tags/tag48.xml"/><Relationship Id="rId26" Type="http://schemas.openxmlformats.org/officeDocument/2006/relationships/tags" Target="../tags/tag56.xml"/><Relationship Id="rId21" Type="http://schemas.openxmlformats.org/officeDocument/2006/relationships/tags" Target="../tags/tag51.xml"/><Relationship Id="rId34" Type="http://schemas.openxmlformats.org/officeDocument/2006/relationships/notesSlide" Target="../notesSlides/notesSlide5.xml"/><Relationship Id="rId7" Type="http://schemas.openxmlformats.org/officeDocument/2006/relationships/tags" Target="../tags/tag37.xml"/><Relationship Id="rId12" Type="http://schemas.openxmlformats.org/officeDocument/2006/relationships/tags" Target="../tags/tag42.xml"/><Relationship Id="rId17" Type="http://schemas.openxmlformats.org/officeDocument/2006/relationships/tags" Target="../tags/tag47.xml"/><Relationship Id="rId25" Type="http://schemas.openxmlformats.org/officeDocument/2006/relationships/tags" Target="../tags/tag55.xml"/><Relationship Id="rId33" Type="http://schemas.openxmlformats.org/officeDocument/2006/relationships/slideLayout" Target="../slideLayouts/slideLayout7.xml"/><Relationship Id="rId2" Type="http://schemas.openxmlformats.org/officeDocument/2006/relationships/tags" Target="../tags/tag32.xml"/><Relationship Id="rId16" Type="http://schemas.openxmlformats.org/officeDocument/2006/relationships/tags" Target="../tags/tag46.xml"/><Relationship Id="rId20" Type="http://schemas.openxmlformats.org/officeDocument/2006/relationships/tags" Target="../tags/tag50.xml"/><Relationship Id="rId29" Type="http://schemas.openxmlformats.org/officeDocument/2006/relationships/tags" Target="../tags/tag59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tags" Target="../tags/tag41.xml"/><Relationship Id="rId24" Type="http://schemas.openxmlformats.org/officeDocument/2006/relationships/tags" Target="../tags/tag54.xml"/><Relationship Id="rId32" Type="http://schemas.openxmlformats.org/officeDocument/2006/relationships/tags" Target="../tags/tag62.xml"/><Relationship Id="rId37" Type="http://schemas.openxmlformats.org/officeDocument/2006/relationships/image" Target="../media/image36.png"/><Relationship Id="rId5" Type="http://schemas.openxmlformats.org/officeDocument/2006/relationships/tags" Target="../tags/tag35.xml"/><Relationship Id="rId15" Type="http://schemas.openxmlformats.org/officeDocument/2006/relationships/tags" Target="../tags/tag45.xml"/><Relationship Id="rId23" Type="http://schemas.openxmlformats.org/officeDocument/2006/relationships/tags" Target="../tags/tag53.xml"/><Relationship Id="rId28" Type="http://schemas.openxmlformats.org/officeDocument/2006/relationships/tags" Target="../tags/tag58.xml"/><Relationship Id="rId36" Type="http://schemas.openxmlformats.org/officeDocument/2006/relationships/image" Target="../media/image37.png"/><Relationship Id="rId10" Type="http://schemas.openxmlformats.org/officeDocument/2006/relationships/tags" Target="../tags/tag40.xml"/><Relationship Id="rId19" Type="http://schemas.openxmlformats.org/officeDocument/2006/relationships/tags" Target="../tags/tag49.xml"/><Relationship Id="rId31" Type="http://schemas.openxmlformats.org/officeDocument/2006/relationships/tags" Target="../tags/tag61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tags" Target="../tags/tag44.xml"/><Relationship Id="rId22" Type="http://schemas.openxmlformats.org/officeDocument/2006/relationships/tags" Target="../tags/tag52.xml"/><Relationship Id="rId27" Type="http://schemas.openxmlformats.org/officeDocument/2006/relationships/tags" Target="../tags/tag57.xml"/><Relationship Id="rId30" Type="http://schemas.openxmlformats.org/officeDocument/2006/relationships/tags" Target="../tags/tag60.xml"/><Relationship Id="rId35" Type="http://schemas.openxmlformats.org/officeDocument/2006/relationships/image" Target="../media/image35.png"/><Relationship Id="rId8" Type="http://schemas.openxmlformats.org/officeDocument/2006/relationships/tags" Target="../tags/tag38.xml"/><Relationship Id="rId3" Type="http://schemas.openxmlformats.org/officeDocument/2006/relationships/tags" Target="../tags/tag33.xml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26" Type="http://schemas.openxmlformats.org/officeDocument/2006/relationships/tags" Target="../tags/tag88.xml"/><Relationship Id="rId39" Type="http://schemas.openxmlformats.org/officeDocument/2006/relationships/notesSlide" Target="../notesSlides/notesSlide6.xml"/><Relationship Id="rId21" Type="http://schemas.openxmlformats.org/officeDocument/2006/relationships/tags" Target="../tags/tag83.xml"/><Relationship Id="rId34" Type="http://schemas.openxmlformats.org/officeDocument/2006/relationships/tags" Target="../tags/tag96.xml"/><Relationship Id="rId42" Type="http://schemas.openxmlformats.org/officeDocument/2006/relationships/image" Target="../media/image38.png"/><Relationship Id="rId47" Type="http://schemas.openxmlformats.org/officeDocument/2006/relationships/image" Target="../media/image43.png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9" Type="http://schemas.openxmlformats.org/officeDocument/2006/relationships/tags" Target="../tags/tag91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tags" Target="../tags/tag86.xml"/><Relationship Id="rId32" Type="http://schemas.openxmlformats.org/officeDocument/2006/relationships/tags" Target="../tags/tag94.xml"/><Relationship Id="rId37" Type="http://schemas.openxmlformats.org/officeDocument/2006/relationships/tags" Target="../tags/tag99.xml"/><Relationship Id="rId40" Type="http://schemas.openxmlformats.org/officeDocument/2006/relationships/image" Target="../media/image35.png"/><Relationship Id="rId45" Type="http://schemas.openxmlformats.org/officeDocument/2006/relationships/image" Target="../media/image41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tags" Target="../tags/tag85.xml"/><Relationship Id="rId28" Type="http://schemas.openxmlformats.org/officeDocument/2006/relationships/tags" Target="../tags/tag90.xml"/><Relationship Id="rId36" Type="http://schemas.openxmlformats.org/officeDocument/2006/relationships/tags" Target="../tags/tag98.xml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31" Type="http://schemas.openxmlformats.org/officeDocument/2006/relationships/tags" Target="../tags/tag93.xml"/><Relationship Id="rId44" Type="http://schemas.openxmlformats.org/officeDocument/2006/relationships/image" Target="../media/image40.png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tags" Target="../tags/tag84.xml"/><Relationship Id="rId27" Type="http://schemas.openxmlformats.org/officeDocument/2006/relationships/tags" Target="../tags/tag89.xml"/><Relationship Id="rId30" Type="http://schemas.openxmlformats.org/officeDocument/2006/relationships/tags" Target="../tags/tag92.xml"/><Relationship Id="rId35" Type="http://schemas.openxmlformats.org/officeDocument/2006/relationships/tags" Target="../tags/tag97.xml"/><Relationship Id="rId43" Type="http://schemas.openxmlformats.org/officeDocument/2006/relationships/image" Target="../media/image39.png"/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tags" Target="../tags/tag87.xml"/><Relationship Id="rId33" Type="http://schemas.openxmlformats.org/officeDocument/2006/relationships/tags" Target="../tags/tag95.xml"/><Relationship Id="rId38" Type="http://schemas.openxmlformats.org/officeDocument/2006/relationships/slideLayout" Target="../slideLayouts/slideLayout7.xml"/><Relationship Id="rId46" Type="http://schemas.openxmlformats.org/officeDocument/2006/relationships/image" Target="../media/image42.png"/><Relationship Id="rId20" Type="http://schemas.openxmlformats.org/officeDocument/2006/relationships/tags" Target="../tags/tag82.xml"/><Relationship Id="rId4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0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13" Type="http://schemas.openxmlformats.org/officeDocument/2006/relationships/tags" Target="../tags/tag113.xml"/><Relationship Id="rId18" Type="http://schemas.openxmlformats.org/officeDocument/2006/relationships/tags" Target="../tags/tag118.xml"/><Relationship Id="rId26" Type="http://schemas.openxmlformats.org/officeDocument/2006/relationships/image" Target="../media/image47.png"/><Relationship Id="rId3" Type="http://schemas.openxmlformats.org/officeDocument/2006/relationships/tags" Target="../tags/tag103.xml"/><Relationship Id="rId21" Type="http://schemas.openxmlformats.org/officeDocument/2006/relationships/notesSlide" Target="../notesSlides/notesSlide7.xml"/><Relationship Id="rId7" Type="http://schemas.openxmlformats.org/officeDocument/2006/relationships/tags" Target="../tags/tag107.xml"/><Relationship Id="rId12" Type="http://schemas.openxmlformats.org/officeDocument/2006/relationships/tags" Target="../tags/tag112.xml"/><Relationship Id="rId17" Type="http://schemas.openxmlformats.org/officeDocument/2006/relationships/tags" Target="../tags/tag117.xml"/><Relationship Id="rId25" Type="http://schemas.openxmlformats.org/officeDocument/2006/relationships/image" Target="../media/image38.png"/><Relationship Id="rId2" Type="http://schemas.openxmlformats.org/officeDocument/2006/relationships/tags" Target="../tags/tag102.xml"/><Relationship Id="rId16" Type="http://schemas.openxmlformats.org/officeDocument/2006/relationships/tags" Target="../tags/tag116.xml"/><Relationship Id="rId20" Type="http://schemas.openxmlformats.org/officeDocument/2006/relationships/slideLayout" Target="../slideLayouts/slideLayout7.xml"/><Relationship Id="rId29" Type="http://schemas.openxmlformats.org/officeDocument/2006/relationships/image" Target="../media/image50.png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tags" Target="../tags/tag111.xml"/><Relationship Id="rId24" Type="http://schemas.openxmlformats.org/officeDocument/2006/relationships/image" Target="../media/image46.png"/><Relationship Id="rId5" Type="http://schemas.openxmlformats.org/officeDocument/2006/relationships/tags" Target="../tags/tag105.xml"/><Relationship Id="rId15" Type="http://schemas.openxmlformats.org/officeDocument/2006/relationships/tags" Target="../tags/tag115.xml"/><Relationship Id="rId23" Type="http://schemas.openxmlformats.org/officeDocument/2006/relationships/hyperlink" Target="http://en.wikipedia.org/wiki/Bilinear_interpolation" TargetMode="External"/><Relationship Id="rId28" Type="http://schemas.openxmlformats.org/officeDocument/2006/relationships/image" Target="../media/image49.png"/><Relationship Id="rId10" Type="http://schemas.openxmlformats.org/officeDocument/2006/relationships/tags" Target="../tags/tag110.xml"/><Relationship Id="rId19" Type="http://schemas.openxmlformats.org/officeDocument/2006/relationships/tags" Target="../tags/tag119.xml"/><Relationship Id="rId4" Type="http://schemas.openxmlformats.org/officeDocument/2006/relationships/tags" Target="../tags/tag104.xml"/><Relationship Id="rId9" Type="http://schemas.openxmlformats.org/officeDocument/2006/relationships/tags" Target="../tags/tag109.xml"/><Relationship Id="rId14" Type="http://schemas.openxmlformats.org/officeDocument/2006/relationships/tags" Target="../tags/tag114.xml"/><Relationship Id="rId22" Type="http://schemas.openxmlformats.org/officeDocument/2006/relationships/image" Target="../media/image45.png"/><Relationship Id="rId27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0.xml"/><Relationship Id="rId6" Type="http://schemas.openxmlformats.org/officeDocument/2006/relationships/image" Target="../media/image34.png"/><Relationship Id="rId5" Type="http://schemas.openxmlformats.org/officeDocument/2006/relationships/image" Target="../media/image52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Relationship Id="rId4" Type="http://schemas.openxmlformats.org/officeDocument/2006/relationships/image" Target="../media/image5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6.01299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i.googleblog.com/2018/10/see-better-and-further-with-super-res.html" TargetMode="External"/><Relationship Id="rId2" Type="http://schemas.openxmlformats.org/officeDocument/2006/relationships/image" Target="../media/image5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gi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26" Type="http://schemas.openxmlformats.org/officeDocument/2006/relationships/notesSlide" Target="../notesSlides/notesSlide8.xml"/><Relationship Id="rId3" Type="http://schemas.openxmlformats.org/officeDocument/2006/relationships/tags" Target="../tags/tag124.xml"/><Relationship Id="rId21" Type="http://schemas.openxmlformats.org/officeDocument/2006/relationships/tags" Target="../tags/tag142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17" Type="http://schemas.openxmlformats.org/officeDocument/2006/relationships/tags" Target="../tags/tag138.xml"/><Relationship Id="rId25" Type="http://schemas.openxmlformats.org/officeDocument/2006/relationships/slideLayout" Target="../slideLayouts/slideLayout7.xml"/><Relationship Id="rId2" Type="http://schemas.openxmlformats.org/officeDocument/2006/relationships/tags" Target="../tags/tag123.xml"/><Relationship Id="rId16" Type="http://schemas.openxmlformats.org/officeDocument/2006/relationships/tags" Target="../tags/tag137.xml"/><Relationship Id="rId20" Type="http://schemas.openxmlformats.org/officeDocument/2006/relationships/tags" Target="../tags/tag141.xml"/><Relationship Id="rId29" Type="http://schemas.openxmlformats.org/officeDocument/2006/relationships/image" Target="../media/image37.png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24" Type="http://schemas.openxmlformats.org/officeDocument/2006/relationships/tags" Target="../tags/tag145.xml"/><Relationship Id="rId5" Type="http://schemas.openxmlformats.org/officeDocument/2006/relationships/tags" Target="../tags/tag126.xml"/><Relationship Id="rId15" Type="http://schemas.openxmlformats.org/officeDocument/2006/relationships/tags" Target="../tags/tag136.xml"/><Relationship Id="rId23" Type="http://schemas.openxmlformats.org/officeDocument/2006/relationships/tags" Target="../tags/tag144.xml"/><Relationship Id="rId28" Type="http://schemas.openxmlformats.org/officeDocument/2006/relationships/image" Target="../media/image36.png"/><Relationship Id="rId10" Type="http://schemas.openxmlformats.org/officeDocument/2006/relationships/tags" Target="../tags/tag131.xml"/><Relationship Id="rId19" Type="http://schemas.openxmlformats.org/officeDocument/2006/relationships/tags" Target="../tags/tag140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tags" Target="../tags/tag135.xml"/><Relationship Id="rId22" Type="http://schemas.openxmlformats.org/officeDocument/2006/relationships/tags" Target="../tags/tag143.xml"/><Relationship Id="rId27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772350"/>
            <a:ext cx="8991600" cy="1066800"/>
          </a:xfrm>
        </p:spPr>
        <p:txBody>
          <a:bodyPr>
            <a:normAutofit/>
          </a:bodyPr>
          <a:lstStyle/>
          <a:p>
            <a:pPr algn="l"/>
            <a:r>
              <a:rPr lang="en-US" sz="3600" b="0" dirty="0"/>
              <a:t>Image Resampling , Interpolation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533400" y="-164275"/>
            <a:ext cx="866305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CS4186: Vision &amp;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-381000" y="1600200"/>
            <a:ext cx="129540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324EAF-63C9-4224-9C2E-F4DB0884DC3B}"/>
              </a:ext>
            </a:extLst>
          </p:cNvPr>
          <p:cNvGrpSpPr/>
          <p:nvPr/>
        </p:nvGrpSpPr>
        <p:grpSpPr>
          <a:xfrm>
            <a:off x="1127125" y="3048000"/>
            <a:ext cx="10013950" cy="2895600"/>
            <a:chOff x="2971800" y="3581400"/>
            <a:chExt cx="6324600" cy="1828800"/>
          </a:xfrm>
        </p:grpSpPr>
        <p:pic>
          <p:nvPicPr>
            <p:cNvPr id="191490" name="Picture 2" descr="http://upload.wikimedia.org/wikipedia/commons/c/cb/Test_nn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971800" y="4114800"/>
              <a:ext cx="1524000" cy="762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1492" name="Picture 4" descr="http://upload.wikimedia.org/wikipedia/commons/f/f5/Test_hq3x.pn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638800" y="3581400"/>
              <a:ext cx="3657600" cy="18288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Right Arrow 9"/>
            <p:cNvSpPr/>
            <p:nvPr/>
          </p:nvSpPr>
          <p:spPr>
            <a:xfrm>
              <a:off x="4876800" y="4223658"/>
              <a:ext cx="381000" cy="457200"/>
            </a:xfrm>
            <a:prstGeom prst="rightArrow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F76CA79E-CE14-DC1D-2C19-CA31C5B12F27}"/>
              </a:ext>
            </a:extLst>
          </p:cNvPr>
          <p:cNvSpPr txBox="1">
            <a:spLocks/>
          </p:cNvSpPr>
          <p:nvPr/>
        </p:nvSpPr>
        <p:spPr>
          <a:xfrm>
            <a:off x="8129650" y="984663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Prof. Zhu Zhiyu</a:t>
            </a:r>
          </a:p>
        </p:txBody>
      </p:sp>
    </p:spTree>
    <p:extLst>
      <p:ext uri="{BB962C8B-B14F-4D97-AF65-F5344CB8AC3E}">
        <p14:creationId xmlns:p14="http://schemas.microsoft.com/office/powerpoint/2010/main" val="136574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Image scaling</a:t>
            </a:r>
          </a:p>
        </p:txBody>
      </p:sp>
      <p:pic>
        <p:nvPicPr>
          <p:cNvPr id="48131" name="Picture 3" descr="van_Gogh_-_Self_Portrai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5650" y="-1371600"/>
            <a:ext cx="6280150" cy="825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2270126" y="1716089"/>
            <a:ext cx="334113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dirty="0">
                <a:cs typeface="Arial" charset="0"/>
              </a:rPr>
              <a:t>This image is too big to fit on the screen.  How can we generate a half-sized version?</a:t>
            </a:r>
          </a:p>
          <a:p>
            <a:pPr eaLnBrk="0" hangingPunct="0"/>
            <a:endParaRPr lang="en-US" dirty="0">
              <a:cs typeface="Arial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377196" y="6491289"/>
            <a:ext cx="19796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chemeClr val="bg2"/>
                </a:solidFill>
              </a:rPr>
              <a:t>Source: S. </a:t>
            </a:r>
            <a:r>
              <a:rPr lang="en-US" sz="1400" dirty="0">
                <a:solidFill>
                  <a:schemeClr val="bg2"/>
                </a:solidFill>
              </a:rPr>
              <a:t>Seitz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Image sub-sampling</a:t>
            </a:r>
          </a:p>
        </p:txBody>
      </p:sp>
      <p:pic>
        <p:nvPicPr>
          <p:cNvPr id="49155" name="Picture 3" descr="vg-nn-hal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360727"/>
            <a:ext cx="3181350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6" name="Picture 4" descr="vg-nn-quar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4950" y="2325926"/>
            <a:ext cx="1587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157" name="Picture 5" descr="vg-nn-eight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86800" y="2808526"/>
            <a:ext cx="8001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2438400" y="5599352"/>
            <a:ext cx="41465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dirty="0">
                <a:cs typeface="Arial" charset="0"/>
              </a:rPr>
              <a:t>Throw away every other row and column to create a </a:t>
            </a:r>
            <a:r>
              <a:rPr lang="en-US" dirty="0">
                <a:cs typeface="Arial" charset="0"/>
              </a:rPr>
              <a:t>1/2</a:t>
            </a:r>
            <a:r>
              <a:rPr lang="en-US" sz="2000" dirty="0">
                <a:cs typeface="Arial" charset="0"/>
              </a:rPr>
              <a:t> size image</a:t>
            </a:r>
          </a:p>
          <a:p>
            <a:pPr lvl="1" eaLnBrk="0" hangingPunct="0"/>
            <a:r>
              <a:rPr lang="en-US" sz="2000" dirty="0">
                <a:cs typeface="Arial" charset="0"/>
              </a:rPr>
              <a:t>- called</a:t>
            </a:r>
            <a:r>
              <a:rPr lang="en-US" sz="2000" i="1" dirty="0">
                <a:cs typeface="Arial" charset="0"/>
              </a:rPr>
              <a:t> image sub-sampling</a:t>
            </a: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7088189" y="44595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+mj-lt"/>
                <a:cs typeface="Arial" charset="0"/>
              </a:rPr>
              <a:t>1/4</a:t>
            </a:r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8764589" y="3862626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+mj-lt"/>
                <a:cs typeface="Arial" charset="0"/>
              </a:rPr>
              <a:t>1/8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8991601" y="6491289"/>
            <a:ext cx="19796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Source: S. </a:t>
            </a:r>
            <a:r>
              <a:rPr lang="en-US" sz="1400" dirty="0"/>
              <a:t>Seitz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vg-nn-hal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447815"/>
            <a:ext cx="3181350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79" name="Picture 3" descr="vg-nn-quar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1447815"/>
            <a:ext cx="31813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180" name="Picture 4" descr="vg-nn-eight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96201" y="1433527"/>
            <a:ext cx="3198813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Image sub-sampling</a:t>
            </a:r>
          </a:p>
        </p:txBody>
      </p:sp>
      <p:sp>
        <p:nvSpPr>
          <p:cNvPr id="50182" name="Text Box 6"/>
          <p:cNvSpPr txBox="1">
            <a:spLocks noChangeArrowheads="1"/>
          </p:cNvSpPr>
          <p:nvPr/>
        </p:nvSpPr>
        <p:spPr bwMode="auto">
          <a:xfrm>
            <a:off x="5257800" y="5638814"/>
            <a:ext cx="15838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cs typeface="Arial" charset="0"/>
              </a:rPr>
              <a:t>1/4  </a:t>
            </a:r>
            <a:r>
              <a:rPr lang="en-US">
                <a:cs typeface="Arial" charset="0"/>
              </a:rPr>
              <a:t>(2x zoom)</a:t>
            </a:r>
          </a:p>
        </p:txBody>
      </p:sp>
      <p:sp>
        <p:nvSpPr>
          <p:cNvPr id="50183" name="Text Box 7"/>
          <p:cNvSpPr txBox="1">
            <a:spLocks noChangeArrowheads="1"/>
          </p:cNvSpPr>
          <p:nvPr/>
        </p:nvSpPr>
        <p:spPr bwMode="auto">
          <a:xfrm>
            <a:off x="8458200" y="5638814"/>
            <a:ext cx="158383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cs typeface="Arial" charset="0"/>
              </a:rPr>
              <a:t>1/8  </a:t>
            </a:r>
            <a:r>
              <a:rPr lang="en-US">
                <a:cs typeface="Arial" charset="0"/>
              </a:rPr>
              <a:t>(4x zoom)</a:t>
            </a:r>
          </a:p>
        </p:txBody>
      </p:sp>
      <p:sp>
        <p:nvSpPr>
          <p:cNvPr id="50184" name="Text Box 8"/>
          <p:cNvSpPr txBox="1">
            <a:spLocks noChangeArrowheads="1"/>
          </p:cNvSpPr>
          <p:nvPr/>
        </p:nvSpPr>
        <p:spPr bwMode="auto">
          <a:xfrm>
            <a:off x="2133600" y="6248414"/>
            <a:ext cx="8305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>
                <a:cs typeface="Arial" charset="0"/>
              </a:rPr>
              <a:t>Why does this look so crufty?</a:t>
            </a: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2819401" y="5638814"/>
            <a:ext cx="5437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000">
                <a:cs typeface="Arial" charset="0"/>
              </a:rPr>
              <a:t>1/2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8991601" y="6491289"/>
            <a:ext cx="19796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/>
              <a:t>Source: S. </a:t>
            </a:r>
            <a:r>
              <a:rPr lang="en-US" sz="1400" dirty="0"/>
              <a:t>Seitz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99822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Image sub-sampling – another example</a:t>
            </a:r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1462670"/>
            <a:ext cx="6792686" cy="499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9154886" y="6491289"/>
            <a:ext cx="197031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F. Durand</a:t>
            </a:r>
          </a:p>
        </p:txBody>
      </p:sp>
    </p:spTree>
    <p:extLst>
      <p:ext uri="{BB962C8B-B14F-4D97-AF65-F5344CB8AC3E}">
        <p14:creationId xmlns:p14="http://schemas.microsoft.com/office/powerpoint/2010/main" val="677828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 l="7500" t="7025" r="7187" b="21312"/>
          <a:stretch>
            <a:fillRect/>
          </a:stretch>
        </p:blipFill>
        <p:spPr bwMode="auto">
          <a:xfrm>
            <a:off x="3200400" y="2286000"/>
            <a:ext cx="52006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Even worse for synthetic images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9209320" y="6491289"/>
            <a:ext cx="1687279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L. Zhang</a:t>
            </a:r>
          </a:p>
        </p:txBody>
      </p:sp>
    </p:spTree>
    <p:extLst>
      <p:ext uri="{BB962C8B-B14F-4D97-AF65-F5344CB8AC3E}">
        <p14:creationId xmlns:p14="http://schemas.microsoft.com/office/powerpoint/2010/main" val="884515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6918"/>
            <a:ext cx="10820400" cy="1143000"/>
          </a:xfrm>
        </p:spPr>
        <p:txBody>
          <a:bodyPr/>
          <a:lstStyle/>
          <a:p>
            <a:pPr eaLnBrk="1" hangingPunct="1"/>
            <a:r>
              <a:rPr lang="en-US" dirty="0"/>
              <a:t>Aliasing</a:t>
            </a:r>
          </a:p>
        </p:txBody>
      </p:sp>
      <p:sp>
        <p:nvSpPr>
          <p:cNvPr id="112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677934"/>
            <a:ext cx="10896600" cy="425631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Occurs when your sampling rate is not high enough to capture the amount of detail in your image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give you the wrong signal/image—an </a:t>
            </a:r>
            <a:r>
              <a:rPr lang="en-US" sz="2400" i="1" dirty="0"/>
              <a:t>alias</a:t>
            </a:r>
          </a:p>
          <a:p>
            <a:pPr lvl="1" eaLnBrk="1" hangingPunct="1">
              <a:lnSpc>
                <a:spcPct val="90000"/>
              </a:lnSpc>
              <a:buNone/>
            </a:pP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To do sampling right, need to understand the structure of your signal/image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FF0000"/>
                </a:solidFill>
              </a:rPr>
              <a:t>Enter Monsieur Fourier…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“But what is the Fourier Transform? A visual introduction.” 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/>
              <a:t>To avoid aliasing:</a:t>
            </a:r>
          </a:p>
          <a:p>
            <a:pPr lvl="1"/>
            <a:r>
              <a:rPr lang="en-US" sz="2000" dirty="0"/>
              <a:t>sampling rate </a:t>
            </a:r>
            <a:r>
              <a:rPr lang="en-US" sz="2000" dirty="0">
                <a:cs typeface="Arial" charset="0"/>
              </a:rPr>
              <a:t>≥</a:t>
            </a:r>
            <a:r>
              <a:rPr lang="en-US" sz="2000" dirty="0"/>
              <a:t> 2 * max frequency in the image</a:t>
            </a:r>
          </a:p>
          <a:p>
            <a:pPr lvl="2"/>
            <a:r>
              <a:rPr lang="en-US" sz="1800" dirty="0"/>
              <a:t>said another way: </a:t>
            </a:r>
            <a:r>
              <a:rPr lang="en-US" sz="1800" dirty="0">
                <a:cs typeface="Arial" charset="0"/>
              </a:rPr>
              <a:t>≥</a:t>
            </a:r>
            <a:r>
              <a:rPr lang="en-US" sz="1800" dirty="0"/>
              <a:t> two samples per cycle</a:t>
            </a:r>
          </a:p>
          <a:p>
            <a:pPr lvl="1"/>
            <a:r>
              <a:rPr lang="en-US" sz="2000" dirty="0"/>
              <a:t>This minimum sampling rate is called the </a:t>
            </a:r>
            <a:r>
              <a:rPr lang="en-US" sz="2000" b="1" dirty="0" err="1"/>
              <a:t>Nyquist</a:t>
            </a:r>
            <a:r>
              <a:rPr lang="en-US" sz="2000" b="1" dirty="0"/>
              <a:t> rate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4" name="Picture 5" descr="alias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70264" y="1088572"/>
            <a:ext cx="54514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363200" y="6493305"/>
            <a:ext cx="199207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L. Zhang</a:t>
            </a:r>
          </a:p>
        </p:txBody>
      </p:sp>
    </p:spTree>
    <p:extLst>
      <p:ext uri="{BB962C8B-B14F-4D97-AF65-F5344CB8AC3E}">
        <p14:creationId xmlns:p14="http://schemas.microsoft.com/office/powerpoint/2010/main" val="305300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5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537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Wagon-wheel effect</a:t>
            </a:r>
          </a:p>
        </p:txBody>
      </p:sp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 cstate="print"/>
          <a:srcRect l="8000" t="18286" r="9714" b="14667"/>
          <a:stretch>
            <a:fillRect/>
          </a:stretch>
        </p:blipFill>
        <p:spPr bwMode="auto">
          <a:xfrm>
            <a:off x="1981200" y="1317176"/>
            <a:ext cx="8229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1564316" y="6488668"/>
            <a:ext cx="84940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(See </a:t>
            </a:r>
            <a:r>
              <a:rPr lang="en-US" dirty="0">
                <a:hlinkClick r:id="rId3"/>
              </a:rPr>
              <a:t>http://www.michaelbach.de/ot/mot-wagonWheel/index.html</a:t>
            </a:r>
            <a:r>
              <a:rPr lang="en-US" dirty="0"/>
              <a:t>) 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0210800" y="6491289"/>
            <a:ext cx="217713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L. Zhang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E5878-4396-4BAF-8F67-0D2F0F840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Wagon-wheel effect</a:t>
            </a:r>
          </a:p>
        </p:txBody>
      </p:sp>
      <p:pic>
        <p:nvPicPr>
          <p:cNvPr id="4" name="The_wagon-wheel_effect.ogv.720p.vp9">
            <a:hlinkClick r:id="" action="ppaction://media"/>
            <a:extLst>
              <a:ext uri="{FF2B5EF4-FFF2-40B4-BE49-F238E27FC236}">
                <a16:creationId xmlns:a16="http://schemas.microsoft.com/office/drawing/2014/main" id="{C8C513C1-4A94-4C83-9A82-62F5EF60027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73867" y="1600200"/>
            <a:ext cx="7044266" cy="3962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3348EA-BDB3-41F3-8860-D543D74297AC}"/>
              </a:ext>
            </a:extLst>
          </p:cNvPr>
          <p:cNvSpPr/>
          <p:nvPr/>
        </p:nvSpPr>
        <p:spPr>
          <a:xfrm>
            <a:off x="3124200" y="5721278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https://en.wikipedia.org/wiki/Wagon-wheel_effect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32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98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C3E7-C3AB-4CDE-BBDF-FCC3691F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aliasing – helicopter blades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D229E5-935F-DE02-C942-8DA183C9F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819275"/>
            <a:ext cx="5715000" cy="3219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B22985-AEAC-4CDC-9F92-C9A32A06BE5D}"/>
              </a:ext>
            </a:extLst>
          </p:cNvPr>
          <p:cNvSpPr txBox="1"/>
          <p:nvPr/>
        </p:nvSpPr>
        <p:spPr>
          <a:xfrm>
            <a:off x="2857500" y="50710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https://www.youtube.com/watch?v=yr3ngmRuGUc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85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F6E84-7C67-4608-801B-CE619C5F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in practice</a:t>
            </a:r>
          </a:p>
        </p:txBody>
      </p:sp>
      <p:pic>
        <p:nvPicPr>
          <p:cNvPr id="5" name="Content Placeholder 4" descr="A picture containing outdoor, grass, ground, road&#10;&#10;Description automatically generated">
            <a:extLst>
              <a:ext uri="{FF2B5EF4-FFF2-40B4-BE49-F238E27FC236}">
                <a16:creationId xmlns:a16="http://schemas.microsoft.com/office/drawing/2014/main" id="{C400DC02-C0CA-439B-9978-F0F694E36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48733"/>
            <a:ext cx="3352800" cy="5960534"/>
          </a:xfrm>
        </p:spPr>
      </p:pic>
      <p:pic>
        <p:nvPicPr>
          <p:cNvPr id="7" name="Picture 6" descr="A baby playing with toys&#10;&#10;Description automatically generated with low confidence">
            <a:extLst>
              <a:ext uri="{FF2B5EF4-FFF2-40B4-BE49-F238E27FC236}">
                <a16:creationId xmlns:a16="http://schemas.microsoft.com/office/drawing/2014/main" id="{A75ABCD8-10E7-4BCC-9E0F-76764AA4E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05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75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</a:t>
            </a:r>
            <a:r>
              <a:rPr lang="en-US" dirty="0" err="1"/>
              <a:t>downsampling</a:t>
            </a:r>
            <a:r>
              <a:rPr lang="en-US" dirty="0"/>
              <a:t> by a factor of two</a:t>
            </a:r>
          </a:p>
          <a:p>
            <a:pPr lvl="1"/>
            <a:r>
              <a:rPr lang="en-US" dirty="0"/>
              <a:t>Original image has frequencies that are too high</a:t>
            </a:r>
          </a:p>
          <a:p>
            <a:endParaRPr lang="en-US" dirty="0"/>
          </a:p>
          <a:p>
            <a:r>
              <a:rPr lang="en-US" dirty="0"/>
              <a:t>How can we fix this?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vg-gauss-eight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6800" y="2617788"/>
            <a:ext cx="788988" cy="103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5" name="Picture 3" descr="vg-gauss-quar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126" y="2124076"/>
            <a:ext cx="15652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9396" name="Picture 4" descr="vg-gauss-hal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0" y="1143000"/>
            <a:ext cx="3132138" cy="412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9397" name="Rectangle 5"/>
          <p:cNvSpPr>
            <a:spLocks noGrp="1" noChangeArrowheads="1"/>
          </p:cNvSpPr>
          <p:nvPr>
            <p:ph type="title"/>
          </p:nvPr>
        </p:nvSpPr>
        <p:spPr>
          <a:xfrm>
            <a:off x="423069" y="152400"/>
            <a:ext cx="7924800" cy="838200"/>
          </a:xfrm>
        </p:spPr>
        <p:txBody>
          <a:bodyPr/>
          <a:lstStyle/>
          <a:p>
            <a:pPr eaLnBrk="1" hangingPunct="1"/>
            <a:r>
              <a:rPr lang="en-US" dirty="0"/>
              <a:t>Gaussian pre-filtering</a:t>
            </a:r>
          </a:p>
        </p:txBody>
      </p:sp>
      <p:sp>
        <p:nvSpPr>
          <p:cNvPr id="59398" name="Text Box 6"/>
          <p:cNvSpPr txBox="1">
            <a:spLocks noChangeArrowheads="1"/>
          </p:cNvSpPr>
          <p:nvPr/>
        </p:nvSpPr>
        <p:spPr bwMode="auto">
          <a:xfrm>
            <a:off x="6919914" y="4241800"/>
            <a:ext cx="6992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G 1/4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8596314" y="3644900"/>
            <a:ext cx="6992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G 1/8</a:t>
            </a:r>
          </a:p>
        </p:txBody>
      </p:sp>
      <p:sp>
        <p:nvSpPr>
          <p:cNvPr id="59400" name="Text Box 8"/>
          <p:cNvSpPr txBox="1">
            <a:spLocks noChangeArrowheads="1"/>
          </p:cNvSpPr>
          <p:nvPr/>
        </p:nvSpPr>
        <p:spPr bwMode="auto">
          <a:xfrm>
            <a:off x="3429000" y="5334000"/>
            <a:ext cx="141442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dirty="0">
                <a:latin typeface="+mj-lt"/>
                <a:cs typeface="Arial" charset="0"/>
              </a:rPr>
              <a:t>Gaussian 1/2</a:t>
            </a: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1828800" y="5867400"/>
            <a:ext cx="8839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/>
              <a:t>Solution: filter the image, </a:t>
            </a:r>
            <a:r>
              <a:rPr lang="en-US" sz="3200" i="1" dirty="0"/>
              <a:t>then</a:t>
            </a:r>
            <a:r>
              <a:rPr lang="en-US" sz="3200" dirty="0"/>
              <a:t> subsample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209321" y="6491289"/>
            <a:ext cx="137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S. Seitz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vg-gauss-eight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2401" y="914401"/>
            <a:ext cx="3154363" cy="415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19" name="Picture 3" descr="vg-gauss-quar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0414" y="914400"/>
            <a:ext cx="3125787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0" name="Picture 4" descr="vg-gauss-hal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914400"/>
            <a:ext cx="3132138" cy="412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0421" name="Rectangle 5"/>
          <p:cNvSpPr>
            <a:spLocks noGrp="1" noChangeArrowheads="1"/>
          </p:cNvSpPr>
          <p:nvPr>
            <p:ph type="title"/>
          </p:nvPr>
        </p:nvSpPr>
        <p:spPr>
          <a:xfrm>
            <a:off x="533400" y="76200"/>
            <a:ext cx="11277600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dirty="0"/>
              <a:t>Subsampling with Gaussian pre-filtering</a:t>
            </a:r>
          </a:p>
        </p:txBody>
      </p:sp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5823261" y="5105400"/>
            <a:ext cx="7489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G 1/4 </a:t>
            </a:r>
          </a:p>
        </p:txBody>
      </p:sp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8925961" y="5105400"/>
            <a:ext cx="6992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G 1/8</a:t>
            </a:r>
          </a:p>
        </p:txBody>
      </p:sp>
      <p:sp>
        <p:nvSpPr>
          <p:cNvPr id="60424" name="Text Box 8"/>
          <p:cNvSpPr txBox="1">
            <a:spLocks noChangeArrowheads="1"/>
          </p:cNvSpPr>
          <p:nvPr/>
        </p:nvSpPr>
        <p:spPr bwMode="auto">
          <a:xfrm>
            <a:off x="2122193" y="5105400"/>
            <a:ext cx="14144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Gaussian 1/2</a:t>
            </a: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1828800" y="5867400"/>
            <a:ext cx="8839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3200" dirty="0"/>
              <a:t>Solution: filter the image, </a:t>
            </a:r>
            <a:r>
              <a:rPr lang="en-US" sz="3200" i="1" dirty="0"/>
              <a:t>then</a:t>
            </a:r>
            <a:r>
              <a:rPr lang="en-US" sz="3200" dirty="0"/>
              <a:t> subsample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9209321" y="6491289"/>
            <a:ext cx="137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S. Seitz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vg-nn-hal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914401"/>
            <a:ext cx="3181350" cy="418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3" name="Picture 3" descr="vg-nn-quar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914401"/>
            <a:ext cx="31813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4" name="Picture 4" descr="vg-nn-eight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96201" y="900113"/>
            <a:ext cx="3198813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45" name="Rectangle 5"/>
          <p:cNvSpPr>
            <a:spLocks noGrp="1" noChangeArrowheads="1"/>
          </p:cNvSpPr>
          <p:nvPr>
            <p:ph type="title"/>
          </p:nvPr>
        </p:nvSpPr>
        <p:spPr>
          <a:xfrm>
            <a:off x="1981200" y="-117258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Compare with...</a:t>
            </a:r>
          </a:p>
        </p:txBody>
      </p:sp>
      <p:sp>
        <p:nvSpPr>
          <p:cNvPr id="61446" name="Text Box 6"/>
          <p:cNvSpPr txBox="1">
            <a:spLocks noChangeArrowheads="1"/>
          </p:cNvSpPr>
          <p:nvPr/>
        </p:nvSpPr>
        <p:spPr bwMode="auto">
          <a:xfrm>
            <a:off x="5310602" y="5105400"/>
            <a:ext cx="14416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1/4  </a:t>
            </a:r>
            <a:r>
              <a:rPr lang="en-US" sz="1600">
                <a:latin typeface="+mj-lt"/>
                <a:cs typeface="Arial" charset="0"/>
              </a:rPr>
              <a:t>(2x zoom)</a:t>
            </a:r>
          </a:p>
        </p:txBody>
      </p:sp>
      <p:sp>
        <p:nvSpPr>
          <p:cNvPr id="61447" name="Text Box 7"/>
          <p:cNvSpPr txBox="1">
            <a:spLocks noChangeArrowheads="1"/>
          </p:cNvSpPr>
          <p:nvPr/>
        </p:nvSpPr>
        <p:spPr bwMode="auto">
          <a:xfrm>
            <a:off x="8511002" y="5105400"/>
            <a:ext cx="144161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1/8  </a:t>
            </a:r>
            <a:r>
              <a:rPr lang="en-US" sz="1600">
                <a:latin typeface="+mj-lt"/>
                <a:cs typeface="Arial" charset="0"/>
              </a:rPr>
              <a:t>(4x zoom)</a:t>
            </a:r>
          </a:p>
        </p:txBody>
      </p:sp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2819401" y="5105400"/>
            <a:ext cx="50526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>
                <a:latin typeface="+mj-lt"/>
                <a:cs typeface="Arial" charset="0"/>
              </a:rPr>
              <a:t>1/2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9209321" y="6491289"/>
            <a:ext cx="137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S. Seitz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3544"/>
            <a:ext cx="3788228" cy="1785256"/>
          </a:xfrm>
        </p:spPr>
        <p:txBody>
          <a:bodyPr>
            <a:normAutofit/>
          </a:bodyPr>
          <a:lstStyle/>
          <a:p>
            <a:r>
              <a:rPr lang="en-US" dirty="0"/>
              <a:t>Gaussian pre-filtering</a:t>
            </a:r>
          </a:p>
        </p:txBody>
      </p:sp>
      <p:pic>
        <p:nvPicPr>
          <p:cNvPr id="104461" name="Picture 13" descr="C:\snavely\tmp\vg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95619" y="2753552"/>
            <a:ext cx="281295" cy="369199"/>
          </a:xfrm>
          <a:prstGeom prst="rect">
            <a:avLst/>
          </a:prstGeom>
          <a:noFill/>
        </p:spPr>
      </p:pic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662966" y="2658878"/>
            <a:ext cx="2656115" cy="145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/>
              <a:t>Solution: filter the image, </a:t>
            </a:r>
            <a:r>
              <a:rPr lang="en-US" sz="2400" i="1" dirty="0"/>
              <a:t>then</a:t>
            </a:r>
            <a:r>
              <a:rPr lang="en-US" sz="2400" dirty="0"/>
              <a:t> subsample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</p:txBody>
      </p:sp>
      <p:grpSp>
        <p:nvGrpSpPr>
          <p:cNvPr id="3" name="Group 46"/>
          <p:cNvGrpSpPr/>
          <p:nvPr/>
        </p:nvGrpSpPr>
        <p:grpSpPr>
          <a:xfrm>
            <a:off x="5265873" y="3261445"/>
            <a:ext cx="539142" cy="433080"/>
            <a:chOff x="1390497" y="3261445"/>
            <a:chExt cx="539142" cy="433080"/>
          </a:xfrm>
        </p:grpSpPr>
        <p:sp>
          <p:nvSpPr>
            <p:cNvPr id="19" name="Down Arrow 18"/>
            <p:cNvSpPr/>
            <p:nvPr/>
          </p:nvSpPr>
          <p:spPr>
            <a:xfrm>
              <a:off x="1390497" y="3261445"/>
              <a:ext cx="539142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04248" y="3320138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blur</a:t>
              </a:r>
            </a:p>
          </p:txBody>
        </p:sp>
      </p:grpSp>
      <p:grpSp>
        <p:nvGrpSpPr>
          <p:cNvPr id="4" name="Group 51"/>
          <p:cNvGrpSpPr/>
          <p:nvPr/>
        </p:nvGrpSpPr>
        <p:grpSpPr>
          <a:xfrm>
            <a:off x="4390407" y="3777332"/>
            <a:ext cx="2215195" cy="2993593"/>
            <a:chOff x="515031" y="3777331"/>
            <a:chExt cx="2215195" cy="2993593"/>
          </a:xfrm>
        </p:grpSpPr>
        <p:pic>
          <p:nvPicPr>
            <p:cNvPr id="104457" name="Picture 9" descr="C:\snavely\tmp\vg1b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5031" y="3861283"/>
              <a:ext cx="2215195" cy="2909641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549733" y="3777331"/>
              <a:ext cx="1051891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F</a:t>
              </a:r>
              <a:r>
                <a:rPr lang="en-US" sz="3200" b="1" baseline="-25000" dirty="0">
                  <a:solidFill>
                    <a:schemeClr val="bg1"/>
                  </a:solidFill>
                </a:rPr>
                <a:t>0</a:t>
              </a:r>
              <a:r>
                <a:rPr lang="en-US" sz="3200" b="1" dirty="0">
                  <a:solidFill>
                    <a:schemeClr val="bg1"/>
                  </a:solidFill>
                </a:rPr>
                <a:t>   H</a:t>
              </a:r>
              <a:endParaRPr lang="en-US" sz="32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887187" y="3864430"/>
              <a:ext cx="389850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*</a:t>
              </a:r>
            </a:p>
          </p:txBody>
        </p:sp>
      </p:grpSp>
      <p:grpSp>
        <p:nvGrpSpPr>
          <p:cNvPr id="5" name="Group 47"/>
          <p:cNvGrpSpPr/>
          <p:nvPr/>
        </p:nvGrpSpPr>
        <p:grpSpPr>
          <a:xfrm>
            <a:off x="6052506" y="3217903"/>
            <a:ext cx="1076513" cy="433080"/>
            <a:chOff x="2177129" y="3217903"/>
            <a:chExt cx="1076513" cy="433080"/>
          </a:xfrm>
        </p:grpSpPr>
        <p:sp>
          <p:nvSpPr>
            <p:cNvPr id="24" name="Down Arrow 23"/>
            <p:cNvSpPr/>
            <p:nvPr/>
          </p:nvSpPr>
          <p:spPr>
            <a:xfrm rot="13480851">
              <a:off x="2435525" y="3217903"/>
              <a:ext cx="539140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77129" y="3309249"/>
              <a:ext cx="1076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subsample</a:t>
              </a:r>
            </a:p>
          </p:txBody>
        </p:sp>
      </p:grpSp>
      <p:grpSp>
        <p:nvGrpSpPr>
          <p:cNvPr id="6" name="Group 48"/>
          <p:cNvGrpSpPr/>
          <p:nvPr/>
        </p:nvGrpSpPr>
        <p:grpSpPr>
          <a:xfrm>
            <a:off x="7247073" y="3261445"/>
            <a:ext cx="539142" cy="433080"/>
            <a:chOff x="3371697" y="3261445"/>
            <a:chExt cx="539142" cy="433080"/>
          </a:xfrm>
        </p:grpSpPr>
        <p:sp>
          <p:nvSpPr>
            <p:cNvPr id="26" name="Down Arrow 25"/>
            <p:cNvSpPr/>
            <p:nvPr/>
          </p:nvSpPr>
          <p:spPr>
            <a:xfrm>
              <a:off x="3371697" y="3261445"/>
              <a:ext cx="539142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85448" y="3320138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blur</a:t>
              </a:r>
            </a:p>
          </p:txBody>
        </p:sp>
      </p:grpSp>
      <p:grpSp>
        <p:nvGrpSpPr>
          <p:cNvPr id="7" name="Group 49"/>
          <p:cNvGrpSpPr/>
          <p:nvPr/>
        </p:nvGrpSpPr>
        <p:grpSpPr>
          <a:xfrm>
            <a:off x="7892236" y="3217899"/>
            <a:ext cx="1076513" cy="433080"/>
            <a:chOff x="4016859" y="3217899"/>
            <a:chExt cx="1076513" cy="433080"/>
          </a:xfrm>
        </p:grpSpPr>
        <p:sp>
          <p:nvSpPr>
            <p:cNvPr id="28" name="Down Arrow 27"/>
            <p:cNvSpPr/>
            <p:nvPr/>
          </p:nvSpPr>
          <p:spPr>
            <a:xfrm rot="13480851">
              <a:off x="4275255" y="3217899"/>
              <a:ext cx="539140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16859" y="3298359"/>
              <a:ext cx="1076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subsample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111401" y="296089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pic>
        <p:nvPicPr>
          <p:cNvPr id="104462" name="Picture 14" descr="C:\snavely\tmp\vg8b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95618" y="3844336"/>
            <a:ext cx="280416" cy="368046"/>
          </a:xfrm>
          <a:prstGeom prst="rect">
            <a:avLst/>
          </a:prstGeom>
          <a:noFill/>
        </p:spPr>
      </p:pic>
      <p:pic>
        <p:nvPicPr>
          <p:cNvPr id="104463" name="Picture 15" descr="C:\snavely\tmp\vg1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134208" y="2938728"/>
            <a:ext cx="140208" cy="184023"/>
          </a:xfrm>
          <a:prstGeom prst="rect">
            <a:avLst/>
          </a:prstGeom>
          <a:noFill/>
        </p:spPr>
      </p:pic>
      <p:pic>
        <p:nvPicPr>
          <p:cNvPr id="104464" name="Picture 16" descr="C:\snavely\tmp\vg16b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134208" y="3844337"/>
            <a:ext cx="140208" cy="184023"/>
          </a:xfrm>
          <a:prstGeom prst="rect">
            <a:avLst/>
          </a:prstGeom>
          <a:noFill/>
        </p:spPr>
      </p:pic>
      <p:pic>
        <p:nvPicPr>
          <p:cNvPr id="104465" name="Picture 17" descr="C:\snavely\tmp\vg3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542423" y="3026358"/>
            <a:ext cx="70104" cy="96393"/>
          </a:xfrm>
          <a:prstGeom prst="rect">
            <a:avLst/>
          </a:prstGeom>
          <a:noFill/>
        </p:spPr>
      </p:pic>
      <p:grpSp>
        <p:nvGrpSpPr>
          <p:cNvPr id="8" name="Group 52"/>
          <p:cNvGrpSpPr/>
          <p:nvPr/>
        </p:nvGrpSpPr>
        <p:grpSpPr>
          <a:xfrm>
            <a:off x="7011273" y="1655788"/>
            <a:ext cx="1169347" cy="1461986"/>
            <a:chOff x="3135896" y="1655788"/>
            <a:chExt cx="1169347" cy="1461986"/>
          </a:xfrm>
        </p:grpSpPr>
        <p:pic>
          <p:nvPicPr>
            <p:cNvPr id="104458" name="Picture 10" descr="C:\snavely\tmp\vg2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135896" y="1655788"/>
              <a:ext cx="1107598" cy="1459216"/>
            </a:xfrm>
            <a:prstGeom prst="rect">
              <a:avLst/>
            </a:prstGeom>
            <a:noFill/>
          </p:spPr>
        </p:pic>
        <p:sp>
          <p:nvSpPr>
            <p:cNvPr id="39" name="TextBox 38"/>
            <p:cNvSpPr txBox="1"/>
            <p:nvPr/>
          </p:nvSpPr>
          <p:spPr>
            <a:xfrm>
              <a:off x="3875317" y="2656109"/>
              <a:ext cx="429926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</a:t>
              </a:r>
              <a:r>
                <a:rPr lang="en-US" sz="2400" b="1" baseline="-250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9" name="Group 53"/>
          <p:cNvGrpSpPr/>
          <p:nvPr/>
        </p:nvGrpSpPr>
        <p:grpSpPr>
          <a:xfrm>
            <a:off x="7011273" y="3799099"/>
            <a:ext cx="1107598" cy="1521196"/>
            <a:chOff x="3135896" y="3799099"/>
            <a:chExt cx="1107598" cy="1521196"/>
          </a:xfrm>
        </p:grpSpPr>
        <p:pic>
          <p:nvPicPr>
            <p:cNvPr id="104459" name="Picture 11" descr="C:\snavely\tmp\vg2b.pn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135896" y="3861079"/>
              <a:ext cx="1107598" cy="1459216"/>
            </a:xfrm>
            <a:prstGeom prst="rect">
              <a:avLst/>
            </a:prstGeom>
            <a:noFill/>
          </p:spPr>
        </p:pic>
        <p:sp>
          <p:nvSpPr>
            <p:cNvPr id="40" name="TextBox 39"/>
            <p:cNvSpPr txBox="1"/>
            <p:nvPr/>
          </p:nvSpPr>
          <p:spPr>
            <a:xfrm>
              <a:off x="3357292" y="3799099"/>
              <a:ext cx="830677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</a:t>
              </a:r>
              <a:r>
                <a:rPr lang="en-US" sz="2400" b="1" baseline="-25000" dirty="0">
                  <a:solidFill>
                    <a:schemeClr val="bg1"/>
                  </a:solidFill>
                </a:rPr>
                <a:t>1</a:t>
              </a:r>
              <a:r>
                <a:rPr lang="en-US" sz="2400" b="1" dirty="0">
                  <a:solidFill>
                    <a:schemeClr val="bg1"/>
                  </a:solidFill>
                </a:rPr>
                <a:t>   H</a:t>
              </a:r>
              <a:endParaRPr lang="en-US" sz="24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618544" y="3886198"/>
              <a:ext cx="338554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*</a:t>
              </a:r>
            </a:p>
          </p:txBody>
        </p:sp>
      </p:grpSp>
      <p:grpSp>
        <p:nvGrpSpPr>
          <p:cNvPr id="10" name="Group 54"/>
          <p:cNvGrpSpPr/>
          <p:nvPr/>
        </p:nvGrpSpPr>
        <p:grpSpPr>
          <a:xfrm>
            <a:off x="8654558" y="2402354"/>
            <a:ext cx="619037" cy="753719"/>
            <a:chOff x="4779181" y="2402353"/>
            <a:chExt cx="619037" cy="753719"/>
          </a:xfrm>
        </p:grpSpPr>
        <p:pic>
          <p:nvPicPr>
            <p:cNvPr id="104455" name="Picture 7" descr="C:\snavely\tmp\vg4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779181" y="2402353"/>
              <a:ext cx="553799" cy="729608"/>
            </a:xfrm>
            <a:prstGeom prst="rect">
              <a:avLst/>
            </a:prstGeom>
            <a:noFill/>
          </p:spPr>
        </p:pic>
        <p:sp>
          <p:nvSpPr>
            <p:cNvPr id="44" name="TextBox 43"/>
            <p:cNvSpPr txBox="1"/>
            <p:nvPr/>
          </p:nvSpPr>
          <p:spPr>
            <a:xfrm>
              <a:off x="5029206" y="2786740"/>
              <a:ext cx="369012" cy="369332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F</a:t>
              </a:r>
              <a:r>
                <a:rPr lang="en-US" b="1" baseline="-250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pic>
        <p:nvPicPr>
          <p:cNvPr id="104460" name="Picture 12" descr="C:\snavely\tmp\vg4b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654558" y="3844336"/>
            <a:ext cx="553799" cy="729608"/>
          </a:xfrm>
          <a:prstGeom prst="rect">
            <a:avLst/>
          </a:prstGeom>
          <a:noFill/>
        </p:spPr>
      </p:pic>
      <p:grpSp>
        <p:nvGrpSpPr>
          <p:cNvPr id="11" name="Group 50"/>
          <p:cNvGrpSpPr/>
          <p:nvPr/>
        </p:nvGrpSpPr>
        <p:grpSpPr>
          <a:xfrm>
            <a:off x="4383289" y="190711"/>
            <a:ext cx="2236360" cy="2938315"/>
            <a:chOff x="507913" y="190710"/>
            <a:chExt cx="2236360" cy="2938315"/>
          </a:xfrm>
        </p:grpSpPr>
        <p:pic>
          <p:nvPicPr>
            <p:cNvPr id="104456" name="Picture 8" descr="C:\snavely\tmp\vg.pn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07913" y="190710"/>
              <a:ext cx="2236360" cy="2938315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2220686" y="2525477"/>
              <a:ext cx="513282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F</a:t>
              </a:r>
              <a:r>
                <a:rPr lang="en-US" sz="3200" b="1" baseline="-25000" dirty="0">
                  <a:solidFill>
                    <a:schemeClr val="bg1"/>
                  </a:solidFill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61" name="Picture 13" descr="C:\snavely\tmp\vg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95619" y="2753552"/>
            <a:ext cx="281295" cy="369199"/>
          </a:xfrm>
          <a:prstGeom prst="rect">
            <a:avLst/>
          </a:prstGeom>
          <a:noFill/>
        </p:spPr>
      </p:pic>
      <p:grpSp>
        <p:nvGrpSpPr>
          <p:cNvPr id="2" name="Group 46"/>
          <p:cNvGrpSpPr/>
          <p:nvPr/>
        </p:nvGrpSpPr>
        <p:grpSpPr>
          <a:xfrm>
            <a:off x="5265873" y="3261445"/>
            <a:ext cx="539142" cy="433080"/>
            <a:chOff x="1390497" y="3261445"/>
            <a:chExt cx="539142" cy="433080"/>
          </a:xfrm>
        </p:grpSpPr>
        <p:sp>
          <p:nvSpPr>
            <p:cNvPr id="19" name="Down Arrow 18"/>
            <p:cNvSpPr/>
            <p:nvPr/>
          </p:nvSpPr>
          <p:spPr>
            <a:xfrm>
              <a:off x="1390497" y="3261445"/>
              <a:ext cx="539142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04248" y="3320138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blur</a:t>
              </a:r>
            </a:p>
          </p:txBody>
        </p:sp>
      </p:grpSp>
      <p:grpSp>
        <p:nvGrpSpPr>
          <p:cNvPr id="3" name="Group 51"/>
          <p:cNvGrpSpPr/>
          <p:nvPr/>
        </p:nvGrpSpPr>
        <p:grpSpPr>
          <a:xfrm>
            <a:off x="4390407" y="3777332"/>
            <a:ext cx="2278578" cy="2993593"/>
            <a:chOff x="515031" y="3777331"/>
            <a:chExt cx="2278578" cy="2993593"/>
          </a:xfrm>
        </p:grpSpPr>
        <p:pic>
          <p:nvPicPr>
            <p:cNvPr id="104457" name="Picture 9" descr="C:\snavely\tmp\vg1b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5031" y="3861283"/>
              <a:ext cx="2215195" cy="2909641"/>
            </a:xfrm>
            <a:prstGeom prst="rect">
              <a:avLst/>
            </a:prstGeom>
            <a:noFill/>
          </p:spPr>
        </p:pic>
        <p:sp>
          <p:nvSpPr>
            <p:cNvPr id="22" name="TextBox 21"/>
            <p:cNvSpPr txBox="1"/>
            <p:nvPr/>
          </p:nvSpPr>
          <p:spPr>
            <a:xfrm>
              <a:off x="1741718" y="3777331"/>
              <a:ext cx="1051891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F</a:t>
              </a:r>
              <a:r>
                <a:rPr lang="en-US" sz="3200" b="1" baseline="-25000" dirty="0">
                  <a:solidFill>
                    <a:schemeClr val="bg1"/>
                  </a:solidFill>
                </a:rPr>
                <a:t>0</a:t>
              </a:r>
              <a:r>
                <a:rPr lang="en-US" sz="3200" b="1" dirty="0">
                  <a:solidFill>
                    <a:schemeClr val="bg1"/>
                  </a:solidFill>
                </a:rPr>
                <a:t>   H</a:t>
              </a:r>
              <a:endParaRPr lang="en-US" sz="32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79172" y="3864430"/>
              <a:ext cx="389850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*</a:t>
              </a:r>
            </a:p>
          </p:txBody>
        </p:sp>
      </p:grpSp>
      <p:grpSp>
        <p:nvGrpSpPr>
          <p:cNvPr id="4" name="Group 47"/>
          <p:cNvGrpSpPr/>
          <p:nvPr/>
        </p:nvGrpSpPr>
        <p:grpSpPr>
          <a:xfrm>
            <a:off x="6052506" y="3217903"/>
            <a:ext cx="1076513" cy="433080"/>
            <a:chOff x="2177129" y="3217903"/>
            <a:chExt cx="1076513" cy="433080"/>
          </a:xfrm>
        </p:grpSpPr>
        <p:sp>
          <p:nvSpPr>
            <p:cNvPr id="24" name="Down Arrow 23"/>
            <p:cNvSpPr/>
            <p:nvPr/>
          </p:nvSpPr>
          <p:spPr>
            <a:xfrm rot="13480851">
              <a:off x="2435525" y="3217903"/>
              <a:ext cx="539140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177129" y="3309249"/>
              <a:ext cx="1076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subsample</a:t>
              </a:r>
            </a:p>
          </p:txBody>
        </p:sp>
      </p:grpSp>
      <p:grpSp>
        <p:nvGrpSpPr>
          <p:cNvPr id="5" name="Group 48"/>
          <p:cNvGrpSpPr/>
          <p:nvPr/>
        </p:nvGrpSpPr>
        <p:grpSpPr>
          <a:xfrm>
            <a:off x="7247073" y="3261445"/>
            <a:ext cx="539142" cy="433080"/>
            <a:chOff x="3371697" y="3261445"/>
            <a:chExt cx="539142" cy="433080"/>
          </a:xfrm>
        </p:grpSpPr>
        <p:sp>
          <p:nvSpPr>
            <p:cNvPr id="26" name="Down Arrow 25"/>
            <p:cNvSpPr/>
            <p:nvPr/>
          </p:nvSpPr>
          <p:spPr>
            <a:xfrm>
              <a:off x="3371697" y="3261445"/>
              <a:ext cx="539142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85448" y="3320138"/>
              <a:ext cx="5180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blur</a:t>
              </a:r>
            </a:p>
          </p:txBody>
        </p:sp>
      </p:grpSp>
      <p:grpSp>
        <p:nvGrpSpPr>
          <p:cNvPr id="6" name="Group 49"/>
          <p:cNvGrpSpPr/>
          <p:nvPr/>
        </p:nvGrpSpPr>
        <p:grpSpPr>
          <a:xfrm>
            <a:off x="7892236" y="3217899"/>
            <a:ext cx="1076513" cy="433080"/>
            <a:chOff x="4016859" y="3217899"/>
            <a:chExt cx="1076513" cy="433080"/>
          </a:xfrm>
        </p:grpSpPr>
        <p:sp>
          <p:nvSpPr>
            <p:cNvPr id="28" name="Down Arrow 27"/>
            <p:cNvSpPr/>
            <p:nvPr/>
          </p:nvSpPr>
          <p:spPr>
            <a:xfrm rot="13480851">
              <a:off x="4275255" y="3217899"/>
              <a:ext cx="539140" cy="433080"/>
            </a:xfrm>
            <a:prstGeom prst="downArrow">
              <a:avLst>
                <a:gd name="adj1" fmla="val 50000"/>
                <a:gd name="adj2" fmla="val 58163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16859" y="3298359"/>
              <a:ext cx="107651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subsample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9111401" y="2960899"/>
            <a:ext cx="5389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…</a:t>
            </a:r>
          </a:p>
        </p:txBody>
      </p:sp>
      <p:pic>
        <p:nvPicPr>
          <p:cNvPr id="104462" name="Picture 14" descr="C:\snavely\tmp\vg8b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95618" y="3844336"/>
            <a:ext cx="280416" cy="368046"/>
          </a:xfrm>
          <a:prstGeom prst="rect">
            <a:avLst/>
          </a:prstGeom>
          <a:noFill/>
        </p:spPr>
      </p:pic>
      <p:pic>
        <p:nvPicPr>
          <p:cNvPr id="104463" name="Picture 15" descr="C:\snavely\tmp\vg1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134208" y="2938728"/>
            <a:ext cx="140208" cy="184023"/>
          </a:xfrm>
          <a:prstGeom prst="rect">
            <a:avLst/>
          </a:prstGeom>
          <a:noFill/>
        </p:spPr>
      </p:pic>
      <p:pic>
        <p:nvPicPr>
          <p:cNvPr id="104464" name="Picture 16" descr="C:\snavely\tmp\vg16b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0134208" y="3844337"/>
            <a:ext cx="140208" cy="184023"/>
          </a:xfrm>
          <a:prstGeom prst="rect">
            <a:avLst/>
          </a:prstGeom>
          <a:noFill/>
        </p:spPr>
      </p:pic>
      <p:pic>
        <p:nvPicPr>
          <p:cNvPr id="104465" name="Picture 17" descr="C:\snavely\tmp\vg32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542423" y="3026358"/>
            <a:ext cx="70104" cy="96393"/>
          </a:xfrm>
          <a:prstGeom prst="rect">
            <a:avLst/>
          </a:prstGeom>
          <a:noFill/>
        </p:spPr>
      </p:pic>
      <p:grpSp>
        <p:nvGrpSpPr>
          <p:cNvPr id="7" name="Group 52"/>
          <p:cNvGrpSpPr/>
          <p:nvPr/>
        </p:nvGrpSpPr>
        <p:grpSpPr>
          <a:xfrm>
            <a:off x="7011273" y="1655788"/>
            <a:ext cx="1169347" cy="1461986"/>
            <a:chOff x="3135896" y="1655788"/>
            <a:chExt cx="1169347" cy="1461986"/>
          </a:xfrm>
        </p:grpSpPr>
        <p:pic>
          <p:nvPicPr>
            <p:cNvPr id="104458" name="Picture 10" descr="C:\snavely\tmp\vg2.pn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135896" y="1655788"/>
              <a:ext cx="1107598" cy="1459216"/>
            </a:xfrm>
            <a:prstGeom prst="rect">
              <a:avLst/>
            </a:prstGeom>
            <a:noFill/>
          </p:spPr>
        </p:pic>
        <p:sp>
          <p:nvSpPr>
            <p:cNvPr id="39" name="TextBox 38"/>
            <p:cNvSpPr txBox="1"/>
            <p:nvPr/>
          </p:nvSpPr>
          <p:spPr>
            <a:xfrm>
              <a:off x="3875317" y="2656109"/>
              <a:ext cx="429926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</a:t>
              </a:r>
              <a:r>
                <a:rPr lang="en-US" sz="2400" b="1" baseline="-250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8" name="Group 53"/>
          <p:cNvGrpSpPr/>
          <p:nvPr/>
        </p:nvGrpSpPr>
        <p:grpSpPr>
          <a:xfrm>
            <a:off x="7011273" y="3799099"/>
            <a:ext cx="1210913" cy="1521196"/>
            <a:chOff x="3135896" y="3799099"/>
            <a:chExt cx="1210913" cy="1521196"/>
          </a:xfrm>
        </p:grpSpPr>
        <p:pic>
          <p:nvPicPr>
            <p:cNvPr id="104459" name="Picture 11" descr="C:\snavely\tmp\vg2b.png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135896" y="3861079"/>
              <a:ext cx="1107598" cy="1459216"/>
            </a:xfrm>
            <a:prstGeom prst="rect">
              <a:avLst/>
            </a:prstGeom>
            <a:noFill/>
          </p:spPr>
        </p:pic>
        <p:sp>
          <p:nvSpPr>
            <p:cNvPr id="40" name="TextBox 39"/>
            <p:cNvSpPr txBox="1"/>
            <p:nvPr/>
          </p:nvSpPr>
          <p:spPr>
            <a:xfrm>
              <a:off x="3516132" y="3799099"/>
              <a:ext cx="830677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F</a:t>
              </a:r>
              <a:r>
                <a:rPr lang="en-US" sz="2400" b="1" baseline="-25000" dirty="0">
                  <a:solidFill>
                    <a:schemeClr val="bg1"/>
                  </a:solidFill>
                </a:rPr>
                <a:t>1</a:t>
              </a:r>
              <a:r>
                <a:rPr lang="en-US" sz="2400" b="1" dirty="0">
                  <a:solidFill>
                    <a:schemeClr val="bg1"/>
                  </a:solidFill>
                </a:rPr>
                <a:t>   H</a:t>
              </a:r>
              <a:endParaRPr lang="en-US" sz="2400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777384" y="3886198"/>
              <a:ext cx="338554" cy="46166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*</a:t>
              </a:r>
            </a:p>
          </p:txBody>
        </p:sp>
      </p:grpSp>
      <p:grpSp>
        <p:nvGrpSpPr>
          <p:cNvPr id="9" name="Group 54"/>
          <p:cNvGrpSpPr/>
          <p:nvPr/>
        </p:nvGrpSpPr>
        <p:grpSpPr>
          <a:xfrm>
            <a:off x="8654558" y="2402354"/>
            <a:ext cx="619037" cy="753719"/>
            <a:chOff x="4779181" y="2402353"/>
            <a:chExt cx="619037" cy="753719"/>
          </a:xfrm>
        </p:grpSpPr>
        <p:pic>
          <p:nvPicPr>
            <p:cNvPr id="104455" name="Picture 7" descr="C:\snavely\tmp\vg4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4779181" y="2402353"/>
              <a:ext cx="553799" cy="729608"/>
            </a:xfrm>
            <a:prstGeom prst="rect">
              <a:avLst/>
            </a:prstGeom>
            <a:noFill/>
          </p:spPr>
        </p:pic>
        <p:sp>
          <p:nvSpPr>
            <p:cNvPr id="44" name="TextBox 43"/>
            <p:cNvSpPr txBox="1"/>
            <p:nvPr/>
          </p:nvSpPr>
          <p:spPr>
            <a:xfrm>
              <a:off x="5029206" y="2786740"/>
              <a:ext cx="369012" cy="369332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F</a:t>
              </a:r>
              <a:r>
                <a:rPr lang="en-US" b="1" baseline="-250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pic>
        <p:nvPicPr>
          <p:cNvPr id="104460" name="Picture 12" descr="C:\snavely\tmp\vg4b.pn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654558" y="3844336"/>
            <a:ext cx="553799" cy="729608"/>
          </a:xfrm>
          <a:prstGeom prst="rect">
            <a:avLst/>
          </a:prstGeom>
          <a:noFill/>
        </p:spPr>
      </p:pic>
      <p:grpSp>
        <p:nvGrpSpPr>
          <p:cNvPr id="10" name="Group 50"/>
          <p:cNvGrpSpPr/>
          <p:nvPr/>
        </p:nvGrpSpPr>
        <p:grpSpPr>
          <a:xfrm>
            <a:off x="4383289" y="190711"/>
            <a:ext cx="2236360" cy="2938315"/>
            <a:chOff x="507913" y="190710"/>
            <a:chExt cx="2236360" cy="2938315"/>
          </a:xfrm>
        </p:grpSpPr>
        <p:pic>
          <p:nvPicPr>
            <p:cNvPr id="104456" name="Picture 8" descr="C:\snavely\tmp\vg.png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07913" y="190710"/>
              <a:ext cx="2236360" cy="2938315"/>
            </a:xfrm>
            <a:prstGeom prst="rect">
              <a:avLst/>
            </a:prstGeom>
            <a:noFill/>
          </p:spPr>
        </p:pic>
        <p:sp>
          <p:nvSpPr>
            <p:cNvPr id="21" name="TextBox 20"/>
            <p:cNvSpPr txBox="1"/>
            <p:nvPr/>
          </p:nvSpPr>
          <p:spPr>
            <a:xfrm>
              <a:off x="2220686" y="2525477"/>
              <a:ext cx="513282" cy="584775"/>
            </a:xfrm>
            <a:prstGeom prst="rect">
              <a:avLst/>
            </a:prstGeom>
            <a:noFill/>
            <a:effectLst>
              <a:outerShdw blurRad="38100" dist="38100" dir="2700000" algn="tl" rotWithShape="0">
                <a:prstClr val="black"/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</a:rPr>
                <a:t>F</a:t>
              </a:r>
              <a:r>
                <a:rPr lang="en-US" sz="3200" b="1" baseline="-250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sp>
        <p:nvSpPr>
          <p:cNvPr id="57" name="Rectangle 56"/>
          <p:cNvSpPr/>
          <p:nvPr/>
        </p:nvSpPr>
        <p:spPr>
          <a:xfrm>
            <a:off x="4310744" y="3799118"/>
            <a:ext cx="6553255" cy="3298371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2898087" y="-616559"/>
            <a:ext cx="165622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dirty="0">
                <a:latin typeface="Times New Roman" pitchFamily="18" charset="0"/>
                <a:cs typeface="Times New Roman" pitchFamily="18" charset="0"/>
              </a:rPr>
              <a:t>{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7386" y="1200841"/>
            <a:ext cx="1872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/>
              <a:t>Gaussian pyramid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10" name="Picture 2" descr="https://upload.wikimedia.org/wikipedia/commons/thumb/4/43/Image_pyramid.svg/512px-Image_pyramid.svg.png">
            <a:extLst>
              <a:ext uri="{FF2B5EF4-FFF2-40B4-BE49-F238E27FC236}">
                <a16:creationId xmlns:a16="http://schemas.microsoft.com/office/drawing/2014/main" id="{A2B044E1-485B-46F2-8470-4C4D3609D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906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987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304800" y="239490"/>
            <a:ext cx="11582400" cy="838200"/>
          </a:xfrm>
        </p:spPr>
        <p:txBody>
          <a:bodyPr>
            <a:normAutofit/>
          </a:bodyPr>
          <a:lstStyle/>
          <a:p>
            <a:r>
              <a:rPr lang="en-US" b="1" dirty="0"/>
              <a:t>Gaussian pyramids </a:t>
            </a:r>
            <a:r>
              <a:rPr lang="en-US" dirty="0"/>
              <a:t>[Burt and Adelson, 1983]</a:t>
            </a:r>
          </a:p>
        </p:txBody>
      </p:sp>
      <p:sp>
        <p:nvSpPr>
          <p:cNvPr id="470020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00549" y="1752600"/>
            <a:ext cx="5181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/>
              <a:t>In computer graphics, a </a:t>
            </a:r>
            <a:r>
              <a:rPr lang="en-US" sz="2400" i="1" dirty="0" err="1"/>
              <a:t>mip</a:t>
            </a:r>
            <a:r>
              <a:rPr lang="en-US" sz="2400" i="1" dirty="0"/>
              <a:t> map </a:t>
            </a:r>
            <a:r>
              <a:rPr lang="en-US" sz="2400" dirty="0"/>
              <a:t>[Williams, 1983]</a:t>
            </a:r>
          </a:p>
          <a:p>
            <a:pPr marL="285750" indent="-28575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/>
              <a:t>A precursor to </a:t>
            </a:r>
            <a:r>
              <a:rPr lang="en-US" sz="2400" i="1" dirty="0"/>
              <a:t>wavelet transform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4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Gaussian Pyramids have all sorts of applications in computer vision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209321" y="6491289"/>
            <a:ext cx="137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S. Seitz</a:t>
            </a:r>
          </a:p>
        </p:txBody>
      </p:sp>
      <p:pic>
        <p:nvPicPr>
          <p:cNvPr id="2" name="Picture 2" descr="https://upload.wikimedia.org/wikipedia/commons/thumb/4/43/Image_pyramid.svg/512px-Image_pyramid.svg.png">
            <a:extLst>
              <a:ext uri="{FF2B5EF4-FFF2-40B4-BE49-F238E27FC236}">
                <a16:creationId xmlns:a16="http://schemas.microsoft.com/office/drawing/2014/main" id="{07B24D04-AD91-1A1F-AE76-FD8A33C74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20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91200" y="1524000"/>
            <a:ext cx="5867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3200" dirty="0"/>
              <a:t>Q: How much space does a Gaussian pyramid take compared to the original image?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9209321" y="6491289"/>
            <a:ext cx="13716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Source: S. Seitz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1CF3D86-28F7-4CA2-A4C3-9CE84CE639B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304800" y="239490"/>
            <a:ext cx="11582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Gaussian pyramids </a:t>
            </a:r>
            <a:r>
              <a:rPr lang="en-US"/>
              <a:t>[Burt and Adelson, 1983]</a:t>
            </a:r>
            <a:endParaRPr lang="en-US" dirty="0"/>
          </a:p>
        </p:txBody>
      </p:sp>
      <p:pic>
        <p:nvPicPr>
          <p:cNvPr id="2" name="Picture 2" descr="https://upload.wikimedia.org/wikipedia/commons/thumb/4/43/Image_pyramid.svg/512px-Image_pyramid.svg.png">
            <a:extLst>
              <a:ext uri="{FF2B5EF4-FFF2-40B4-BE49-F238E27FC236}">
                <a16:creationId xmlns:a16="http://schemas.microsoft.com/office/drawing/2014/main" id="{F81F9E1E-7634-E43B-A96D-EC34ED42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447800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pyramid</a:t>
            </a:r>
          </a:p>
        </p:txBody>
      </p:sp>
      <p:pic>
        <p:nvPicPr>
          <p:cNvPr id="1945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9889" y="1516063"/>
            <a:ext cx="64865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Gaussian pyramid</a:t>
            </a:r>
          </a:p>
        </p:txBody>
      </p:sp>
      <p:pic>
        <p:nvPicPr>
          <p:cNvPr id="1945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09889" y="1516063"/>
            <a:ext cx="64865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3242B6-1714-51B9-7116-8CF8731BFCFD}"/>
              </a:ext>
            </a:extLst>
          </p:cNvPr>
          <p:cNvSpPr txBox="1"/>
          <p:nvPr/>
        </p:nvSpPr>
        <p:spPr>
          <a:xfrm>
            <a:off x="3236446" y="6019800"/>
            <a:ext cx="5983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Answer: 4/3 the amount of space as the original image alone</a:t>
            </a:r>
          </a:p>
          <a:p>
            <a:r>
              <a:rPr lang="en-US" dirty="0"/>
              <a:t>See </a:t>
            </a:r>
            <a:r>
              <a:rPr lang="en-US" dirty="0">
                <a:hlinkClick r:id="rId3"/>
              </a:rPr>
              <a:t>https://en.wikipedia.org/wiki/Geometric_series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952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871A9-3593-4259-ACA4-6FBDDD94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checkerboard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7248-24AE-4523-8AE5-FB373B537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1219200"/>
          </a:xfrm>
        </p:spPr>
        <p:txBody>
          <a:bodyPr/>
          <a:lstStyle/>
          <a:p>
            <a:r>
              <a:rPr lang="en-US" dirty="0"/>
              <a:t>What should happen when you make the checkerboard smaller and smaller?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414CAC-994E-4BB5-B82F-931DE25C8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301" y="3255901"/>
            <a:ext cx="2387726" cy="2387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B804FD-3FD7-4D3D-9F40-92157435CFAA}"/>
              </a:ext>
            </a:extLst>
          </p:cNvPr>
          <p:cNvSpPr txBox="1"/>
          <p:nvPr/>
        </p:nvSpPr>
        <p:spPr>
          <a:xfrm>
            <a:off x="2487680" y="5726668"/>
            <a:ext cx="194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Naïve subsampling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6F438A3-8A2E-4682-8763-D957B92239DB}"/>
              </a:ext>
            </a:extLst>
          </p:cNvPr>
          <p:cNvGrpSpPr/>
          <p:nvPr/>
        </p:nvGrpSpPr>
        <p:grpSpPr>
          <a:xfrm>
            <a:off x="5486400" y="3255902"/>
            <a:ext cx="2387726" cy="3057689"/>
            <a:chOff x="3733800" y="3032128"/>
            <a:chExt cx="2835272" cy="3630810"/>
          </a:xfrm>
        </p:grpSpPr>
        <p:pic>
          <p:nvPicPr>
            <p:cNvPr id="5" name="Picture 4" descr="A close up of a logo&#10;&#10;Description automatically generated">
              <a:extLst>
                <a:ext uri="{FF2B5EF4-FFF2-40B4-BE49-F238E27FC236}">
                  <a16:creationId xmlns:a16="http://schemas.microsoft.com/office/drawing/2014/main" id="{D8FCC878-624B-40CB-A189-CC2F5D2266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3800" y="3032128"/>
              <a:ext cx="2835272" cy="283527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355E15-2FDF-48C9-8D69-37193A6D6C55}"/>
                </a:ext>
              </a:extLst>
            </p:cNvPr>
            <p:cNvSpPr txBox="1"/>
            <p:nvPr/>
          </p:nvSpPr>
          <p:spPr>
            <a:xfrm>
              <a:off x="3999048" y="5895461"/>
              <a:ext cx="2273041" cy="767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Proper prefiltering</a:t>
              </a:r>
            </a:p>
            <a:p>
              <a:pPr algn="ctr"/>
              <a:r>
                <a:rPr lang="en-US" dirty="0"/>
                <a:t>(“antialiasing”)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332135E-629B-4135-954D-D342C7757753}"/>
              </a:ext>
            </a:extLst>
          </p:cNvPr>
          <p:cNvGrpSpPr/>
          <p:nvPr/>
        </p:nvGrpSpPr>
        <p:grpSpPr>
          <a:xfrm>
            <a:off x="7010401" y="3247072"/>
            <a:ext cx="3505201" cy="1477328"/>
            <a:chOff x="5486400" y="3124200"/>
            <a:chExt cx="3505201" cy="1477328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C8A781-13B6-4F6C-8F8C-D82E373AE5C9}"/>
                </a:ext>
              </a:extLst>
            </p:cNvPr>
            <p:cNvSpPr txBox="1"/>
            <p:nvPr/>
          </p:nvSpPr>
          <p:spPr>
            <a:xfrm>
              <a:off x="6751093" y="3124200"/>
              <a:ext cx="224050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Image turns grey! (Average of black and white squares, because each pixel contains both.)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8057F9B-1517-4D80-ABFF-97C2764C36A2}"/>
                </a:ext>
              </a:extLst>
            </p:cNvPr>
            <p:cNvCxnSpPr>
              <a:stCxn id="11" idx="1"/>
            </p:cNvCxnSpPr>
            <p:nvPr/>
          </p:nvCxnSpPr>
          <p:spPr>
            <a:xfrm flipH="1" flipV="1">
              <a:off x="5486400" y="3429000"/>
              <a:ext cx="1264693" cy="43386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77816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855029"/>
          </a:xfrm>
        </p:spPr>
        <p:txBody>
          <a:bodyPr/>
          <a:lstStyle/>
          <a:p>
            <a:r>
              <a:rPr lang="en-US" dirty="0"/>
              <a:t>This image is too small for this screen:</a:t>
            </a:r>
          </a:p>
          <a:p>
            <a:r>
              <a:rPr lang="en-US" dirty="0"/>
              <a:t>How can we make it 10 times as big?</a:t>
            </a:r>
          </a:p>
          <a:p>
            <a:r>
              <a:rPr lang="en-US" dirty="0"/>
              <a:t>Simplest approach:</a:t>
            </a:r>
          </a:p>
          <a:p>
            <a:pPr>
              <a:buNone/>
            </a:pPr>
            <a:r>
              <a:rPr lang="en-US" dirty="0"/>
              <a:t>	 repeat each row</a:t>
            </a:r>
          </a:p>
          <a:p>
            <a:pPr>
              <a:buNone/>
            </a:pPr>
            <a:r>
              <a:rPr lang="en-US" dirty="0"/>
              <a:t>	 and column 10 times</a:t>
            </a:r>
          </a:p>
          <a:p>
            <a:r>
              <a:rPr lang="en-US" dirty="0"/>
              <a:t>(“Nearest neighbor</a:t>
            </a:r>
          </a:p>
          <a:p>
            <a:pPr>
              <a:buNone/>
            </a:pPr>
            <a:r>
              <a:rPr lang="en-US" dirty="0"/>
              <a:t>	  interpolation”)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214020" name="Picture 4" descr="C:\snavely\work\teaching\09Fa-CS6610\lectures\lec02\images\bee10x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8576" y="2916918"/>
            <a:ext cx="2678906" cy="2678906"/>
          </a:xfrm>
          <a:prstGeom prst="rect">
            <a:avLst/>
          </a:prstGeom>
          <a:noFill/>
        </p:spPr>
      </p:pic>
      <p:pic>
        <p:nvPicPr>
          <p:cNvPr id="214021" name="Picture 5" descr="C:\snavely\work\teaching\09Fa-CS6610\lectures\lec02\images\bee_smal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72600" y="1752600"/>
            <a:ext cx="267891" cy="26789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066" name="Picture 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3124200" y="1797489"/>
            <a:ext cx="6350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2067" name="Line 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191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68" name="Freeform 4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191000" y="2073714"/>
            <a:ext cx="3048000" cy="711200"/>
          </a:xfrm>
          <a:custGeom>
            <a:avLst/>
            <a:gdLst>
              <a:gd name="T0" fmla="*/ 0 w 1920"/>
              <a:gd name="T1" fmla="*/ 408 h 448"/>
              <a:gd name="T2" fmla="*/ 480 w 1920"/>
              <a:gd name="T3" fmla="*/ 24 h 448"/>
              <a:gd name="T4" fmla="*/ 960 w 1920"/>
              <a:gd name="T5" fmla="*/ 264 h 448"/>
              <a:gd name="T6" fmla="*/ 1440 w 1920"/>
              <a:gd name="T7" fmla="*/ 408 h 448"/>
              <a:gd name="T8" fmla="*/ 1920 w 1920"/>
              <a:gd name="T9" fmla="*/ 24 h 4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448"/>
              <a:gd name="T17" fmla="*/ 1920 w 1920"/>
              <a:gd name="T18" fmla="*/ 448 h 4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448">
                <a:moveTo>
                  <a:pt x="0" y="408"/>
                </a:moveTo>
                <a:cubicBezTo>
                  <a:pt x="160" y="228"/>
                  <a:pt x="320" y="48"/>
                  <a:pt x="480" y="24"/>
                </a:cubicBezTo>
                <a:cubicBezTo>
                  <a:pt x="640" y="0"/>
                  <a:pt x="800" y="200"/>
                  <a:pt x="960" y="264"/>
                </a:cubicBezTo>
                <a:cubicBezTo>
                  <a:pt x="1120" y="328"/>
                  <a:pt x="1280" y="448"/>
                  <a:pt x="1440" y="408"/>
                </a:cubicBezTo>
                <a:cubicBezTo>
                  <a:pt x="1600" y="368"/>
                  <a:pt x="1760" y="196"/>
                  <a:pt x="1920" y="24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6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4953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5715000" y="249281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6477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2" name="Rectangle 8"/>
          <p:cNvSpPr>
            <a:spLocks noGrp="1" noChangeArrowheads="1"/>
          </p:cNvSpPr>
          <p:nvPr>
            <p:ph type="title" idx="4294967295"/>
            <p:custDataLst>
              <p:tags r:id="rId7"/>
            </p:custDataLst>
          </p:nvPr>
        </p:nvSpPr>
        <p:spPr/>
        <p:txBody>
          <a:bodyPr/>
          <a:lstStyle/>
          <a:p>
            <a:pPr algn="l"/>
            <a:r>
              <a:rPr lang="en-US" b="1" dirty="0"/>
              <a:t>Image interpolation</a:t>
            </a:r>
          </a:p>
        </p:txBody>
      </p:sp>
      <p:sp>
        <p:nvSpPr>
          <p:cNvPr id="472074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152900" y="26833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5" name="Oval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76900" y="24547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6" name="Oval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14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7" name="Oval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38900" y="26737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8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962400" y="3407214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079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7239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80" name="Oval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200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81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3962400" y="1730814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082" name="Rectangle 18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220686" y="4082139"/>
            <a:ext cx="7772400" cy="224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Recall that a digital images is formed as follows:</a:t>
            </a:r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It is a discrete point-sampling of a continuous function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If we could somehow reconstruct the original function, any new image could be generated, at any resolution and scale </a:t>
            </a:r>
          </a:p>
        </p:txBody>
      </p:sp>
      <p:pic>
        <p:nvPicPr>
          <p:cNvPr id="472083" name="Picture 19" descr="Edittex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3437846" y="4673596"/>
            <a:ext cx="4343270" cy="322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2084" name="Text Box 20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060825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2085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819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472086" name="Text Box 2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81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472087" name="Text Box 23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343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472088" name="Text Box 24"/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105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5</a:t>
            </a:r>
          </a:p>
        </p:txBody>
      </p:sp>
      <p:pic>
        <p:nvPicPr>
          <p:cNvPr id="472089" name="Picture 25" descr="txp_fig"/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7543800" y="3332602"/>
            <a:ext cx="192088" cy="15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 Box 8"/>
          <p:cNvSpPr txBox="1">
            <a:spLocks noChangeArrowheads="1"/>
          </p:cNvSpPr>
          <p:nvPr/>
        </p:nvSpPr>
        <p:spPr bwMode="auto">
          <a:xfrm>
            <a:off x="8719458" y="6491289"/>
            <a:ext cx="22533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Adapted from: S. Seitz</a:t>
            </a:r>
          </a:p>
        </p:txBody>
      </p:sp>
      <p:sp>
        <p:nvSpPr>
          <p:cNvPr id="28" name="Text Box 34"/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8528050" y="2409581"/>
            <a:ext cx="14654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 = 1 in this </a:t>
            </a:r>
          </a:p>
          <a:p>
            <a:r>
              <a:rPr lang="en-US" dirty="0">
                <a:latin typeface="+mj-lt"/>
              </a:rPr>
              <a:t>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Line 2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 flipV="1">
            <a:off x="6096000" y="2673790"/>
            <a:ext cx="0" cy="733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1" name="Line 3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191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2" name="Freeform 4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191000" y="2073714"/>
            <a:ext cx="3048000" cy="711200"/>
          </a:xfrm>
          <a:custGeom>
            <a:avLst/>
            <a:gdLst>
              <a:gd name="T0" fmla="*/ 0 w 1920"/>
              <a:gd name="T1" fmla="*/ 408 h 448"/>
              <a:gd name="T2" fmla="*/ 480 w 1920"/>
              <a:gd name="T3" fmla="*/ 24 h 448"/>
              <a:gd name="T4" fmla="*/ 960 w 1920"/>
              <a:gd name="T5" fmla="*/ 264 h 448"/>
              <a:gd name="T6" fmla="*/ 1440 w 1920"/>
              <a:gd name="T7" fmla="*/ 408 h 448"/>
              <a:gd name="T8" fmla="*/ 1920 w 1920"/>
              <a:gd name="T9" fmla="*/ 24 h 4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448"/>
              <a:gd name="T17" fmla="*/ 1920 w 1920"/>
              <a:gd name="T18" fmla="*/ 448 h 4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448">
                <a:moveTo>
                  <a:pt x="0" y="408"/>
                </a:moveTo>
                <a:cubicBezTo>
                  <a:pt x="160" y="228"/>
                  <a:pt x="320" y="48"/>
                  <a:pt x="480" y="24"/>
                </a:cubicBezTo>
                <a:cubicBezTo>
                  <a:pt x="640" y="0"/>
                  <a:pt x="800" y="200"/>
                  <a:pt x="960" y="264"/>
                </a:cubicBezTo>
                <a:cubicBezTo>
                  <a:pt x="1120" y="328"/>
                  <a:pt x="1280" y="448"/>
                  <a:pt x="1440" y="408"/>
                </a:cubicBezTo>
                <a:cubicBezTo>
                  <a:pt x="1600" y="368"/>
                  <a:pt x="1760" y="196"/>
                  <a:pt x="1920" y="24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4953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4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5715000" y="249281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5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6477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096" name="Rectangle 8"/>
          <p:cNvSpPr>
            <a:spLocks noGrp="1" noChangeArrowheads="1"/>
          </p:cNvSpPr>
          <p:nvPr>
            <p:ph type="title" idx="4294967295"/>
            <p:custDataLst>
              <p:tags r:id="rId7"/>
            </p:custDataLst>
          </p:nvPr>
        </p:nvSpPr>
        <p:spPr/>
        <p:txBody>
          <a:bodyPr/>
          <a:lstStyle/>
          <a:p>
            <a:pPr algn="l"/>
            <a:r>
              <a:rPr lang="en-US" b="1" dirty="0"/>
              <a:t>Image interpolation</a:t>
            </a:r>
          </a:p>
        </p:txBody>
      </p:sp>
      <p:sp>
        <p:nvSpPr>
          <p:cNvPr id="473098" name="Oval 1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152900" y="268331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099" name="Oval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76900" y="245471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00" name="Oval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14900" y="2064189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01" name="Oval 1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38900" y="2673789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02" name="Line 14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962400" y="3407214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3103" name="Line 15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7239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04" name="Oval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200900" y="2064189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05" name="Line 17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3962400" y="1730814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3108" name="Text Box 2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060825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3109" name="Text Box 21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819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473110" name="Text Box 2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81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473111" name="Text Box 23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343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473112" name="Text Box 2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105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5</a:t>
            </a:r>
          </a:p>
        </p:txBody>
      </p:sp>
      <p:sp>
        <p:nvSpPr>
          <p:cNvPr id="473113" name="Oval 25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057900" y="2616639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14" name="Line 26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 flipV="1">
            <a:off x="4572000" y="2340414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15" name="Line 27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V="1">
            <a:off x="6858000" y="249281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16" name="Line 28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5334000" y="2264214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3117" name="Oval 29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295900" y="2216589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18" name="Oval 30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4533900" y="228326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3119" name="Oval 31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819900" y="243566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73120" name="Picture 32" descr="txp_fig"/>
          <p:cNvPicPr>
            <a:picLocks noChangeAspect="1" noChangeArrowheads="1"/>
          </p:cNvPicPr>
          <p:nvPr>
            <p:custDataLst>
              <p:tags r:id="rId28"/>
            </p:custDataLst>
          </p:nvPr>
        </p:nvPicPr>
        <p:blipFill>
          <a:blip r:embed="rId35" cstate="print"/>
          <a:srcRect/>
          <a:stretch>
            <a:fillRect/>
          </a:stretch>
        </p:blipFill>
        <p:spPr bwMode="auto">
          <a:xfrm>
            <a:off x="3124200" y="1797489"/>
            <a:ext cx="6350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3121" name="Picture 33" descr="txp_fig"/>
          <p:cNvPicPr>
            <a:picLocks noChangeAspect="1" noChangeArrowheads="1"/>
          </p:cNvPicPr>
          <p:nvPr>
            <p:custDataLst>
              <p:tags r:id="rId29"/>
            </p:custDataLst>
          </p:nvPr>
        </p:nvPicPr>
        <p:blipFill>
          <a:blip r:embed="rId36" cstate="print"/>
          <a:srcRect/>
          <a:stretch>
            <a:fillRect/>
          </a:stretch>
        </p:blipFill>
        <p:spPr bwMode="auto">
          <a:xfrm>
            <a:off x="7543800" y="3332602"/>
            <a:ext cx="192088" cy="15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3122" name="Text Box 34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8528050" y="2409581"/>
            <a:ext cx="14654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 = 1 in this </a:t>
            </a:r>
          </a:p>
          <a:p>
            <a:r>
              <a:rPr lang="en-US" dirty="0">
                <a:latin typeface="+mj-lt"/>
              </a:rPr>
              <a:t>example</a:t>
            </a:r>
          </a:p>
        </p:txBody>
      </p:sp>
      <p:sp>
        <p:nvSpPr>
          <p:cNvPr id="35" name="Rectangle 18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2220686" y="4082139"/>
            <a:ext cx="7772400" cy="224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Recall that a digital images is formed as follows:</a:t>
            </a:r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It is a discrete point-sampling of a continuous function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If we could somehow reconstruct the original function, any new image could be generated, at any resolution and scale </a:t>
            </a:r>
          </a:p>
        </p:txBody>
      </p:sp>
      <p:pic>
        <p:nvPicPr>
          <p:cNvPr id="36" name="Picture 19" descr="Edittex"/>
          <p:cNvPicPr>
            <a:picLocks noChangeAspect="1" noChangeArrowheads="1"/>
          </p:cNvPicPr>
          <p:nvPr>
            <p:custDataLst>
              <p:tags r:id="rId32"/>
            </p:custDataLst>
          </p:nvPr>
        </p:nvPicPr>
        <p:blipFill>
          <a:blip r:embed="rId37" cstate="print"/>
          <a:srcRect/>
          <a:stretch>
            <a:fillRect/>
          </a:stretch>
        </p:blipFill>
        <p:spPr bwMode="auto">
          <a:xfrm>
            <a:off x="3437846" y="4673596"/>
            <a:ext cx="4343270" cy="322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8719458" y="6491289"/>
            <a:ext cx="255814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Adapted from: S. Seitz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en-US" b="1" dirty="0"/>
              <a:t>Image interpolation</a:t>
            </a:r>
          </a:p>
        </p:txBody>
      </p:sp>
      <p:sp>
        <p:nvSpPr>
          <p:cNvPr id="474118" name="Line 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191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19" name="Line 7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V="1">
            <a:off x="4953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20" name="Line 8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5715000" y="249281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21" name="Line 9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6477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22" name="Oval 1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52900" y="26833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123" name="Oval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676900" y="24547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124" name="Oval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914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125" name="Oval 13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438900" y="26737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126" name="Line 14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>
            <a:off x="3962400" y="3407214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4127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7239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28" name="Oval 16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200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4129" name="Line 17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3962400" y="1730814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4130" name="Text Box 18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060825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4131" name="Text Box 19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819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474132" name="Text Box 20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81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474133" name="Text Box 21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343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474134" name="Text Box 22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105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5</a:t>
            </a:r>
          </a:p>
        </p:txBody>
      </p:sp>
      <p:pic>
        <p:nvPicPr>
          <p:cNvPr id="474135" name="Picture 23" descr="txp_fig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40" cstate="print"/>
          <a:srcRect/>
          <a:stretch>
            <a:fillRect/>
          </a:stretch>
        </p:blipFill>
        <p:spPr bwMode="auto">
          <a:xfrm>
            <a:off x="3124200" y="1797489"/>
            <a:ext cx="6350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4136" name="Text Box 24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124450" y="3341900"/>
            <a:ext cx="4443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2.5</a:t>
            </a:r>
          </a:p>
        </p:txBody>
      </p:sp>
      <p:sp>
        <p:nvSpPr>
          <p:cNvPr id="474137" name="Text Box 25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3752850" y="246106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pic>
        <p:nvPicPr>
          <p:cNvPr id="474138" name="Picture 26" descr="txp_fig"/>
          <p:cNvPicPr>
            <a:picLocks noChangeAspect="1" noChangeArrowheads="1"/>
          </p:cNvPicPr>
          <p:nvPr>
            <p:custDataLst>
              <p:tags r:id="rId22"/>
            </p:custDataLst>
          </p:nvPr>
        </p:nvPicPr>
        <p:blipFill>
          <a:blip r:embed="rId41" cstate="print"/>
          <a:srcRect/>
          <a:stretch>
            <a:fillRect/>
          </a:stretch>
        </p:blipFill>
        <p:spPr bwMode="auto">
          <a:xfrm>
            <a:off x="7532688" y="3334190"/>
            <a:ext cx="192088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4552950" y="2645214"/>
            <a:ext cx="1543050" cy="762000"/>
            <a:chOff x="1908" y="2016"/>
            <a:chExt cx="972" cy="480"/>
          </a:xfrm>
        </p:grpSpPr>
        <p:sp>
          <p:nvSpPr>
            <p:cNvPr id="474145" name="Freeform 33"/>
            <p:cNvSpPr>
              <a:spLocks/>
            </p:cNvSpPr>
            <p:nvPr>
              <p:custDataLst>
                <p:tags r:id="rId36"/>
              </p:custDataLst>
            </p:nvPr>
          </p:nvSpPr>
          <p:spPr bwMode="auto">
            <a:xfrm>
              <a:off x="1920" y="2016"/>
              <a:ext cx="960" cy="480"/>
            </a:xfrm>
            <a:custGeom>
              <a:avLst/>
              <a:gdLst>
                <a:gd name="T0" fmla="*/ 0 w 960"/>
                <a:gd name="T1" fmla="*/ 480 h 480"/>
                <a:gd name="T2" fmla="*/ 480 w 960"/>
                <a:gd name="T3" fmla="*/ 0 h 480"/>
                <a:gd name="T4" fmla="*/ 960 w 960"/>
                <a:gd name="T5" fmla="*/ 480 h 480"/>
                <a:gd name="T6" fmla="*/ 0 60000 65536"/>
                <a:gd name="T7" fmla="*/ 0 60000 65536"/>
                <a:gd name="T8" fmla="*/ 0 60000 65536"/>
                <a:gd name="T9" fmla="*/ 0 w 960"/>
                <a:gd name="T10" fmla="*/ 0 h 480"/>
                <a:gd name="T11" fmla="*/ 960 w 960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480">
                  <a:moveTo>
                    <a:pt x="0" y="480"/>
                  </a:moveTo>
                  <a:lnTo>
                    <a:pt x="480" y="0"/>
                  </a:lnTo>
                  <a:lnTo>
                    <a:pt x="960" y="4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74146" name="Picture 34" descr="txp_fig"/>
            <p:cNvPicPr>
              <a:picLocks noChangeAspect="1" noChangeArrowheads="1"/>
            </p:cNvPicPr>
            <p:nvPr>
              <p:custDataLst>
                <p:tags r:id="rId37"/>
              </p:custDataLst>
            </p:nvPr>
          </p:nvPicPr>
          <p:blipFill>
            <a:blip r:embed="rId42" cstate="print"/>
            <a:srcRect/>
            <a:stretch>
              <a:fillRect/>
            </a:stretch>
          </p:blipFill>
          <p:spPr bwMode="auto">
            <a:xfrm>
              <a:off x="1908" y="2165"/>
              <a:ext cx="10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oup 35"/>
          <p:cNvGrpSpPr>
            <a:grpSpLocks/>
          </p:cNvGrpSpPr>
          <p:nvPr>
            <p:custDataLst>
              <p:tags r:id="rId23"/>
            </p:custDataLst>
          </p:nvPr>
        </p:nvGrpSpPr>
        <p:grpSpPr bwMode="auto">
          <a:xfrm>
            <a:off x="4953000" y="2111814"/>
            <a:ext cx="762000" cy="1295400"/>
            <a:chOff x="2160" y="1680"/>
            <a:chExt cx="480" cy="816"/>
          </a:xfrm>
        </p:grpSpPr>
        <p:sp>
          <p:nvSpPr>
            <p:cNvPr id="474148" name="Line 36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V="1">
              <a:off x="2400" y="1824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4149" name="Line 37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2160" y="1680"/>
              <a:ext cx="48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4150" name="Oval 38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376" y="177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6023" name="Freeform 39"/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191000" y="2111814"/>
            <a:ext cx="3048000" cy="609600"/>
          </a:xfrm>
          <a:custGeom>
            <a:avLst/>
            <a:gdLst>
              <a:gd name="T0" fmla="*/ 0 w 1920"/>
              <a:gd name="T1" fmla="*/ 384 h 384"/>
              <a:gd name="T2" fmla="*/ 480 w 1920"/>
              <a:gd name="T3" fmla="*/ 0 h 384"/>
              <a:gd name="T4" fmla="*/ 960 w 1920"/>
              <a:gd name="T5" fmla="*/ 240 h 384"/>
              <a:gd name="T6" fmla="*/ 1440 w 1920"/>
              <a:gd name="T7" fmla="*/ 384 h 384"/>
              <a:gd name="T8" fmla="*/ 1920 w 1920"/>
              <a:gd name="T9" fmla="*/ 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384"/>
              <a:gd name="T17" fmla="*/ 1920 w 1920"/>
              <a:gd name="T18" fmla="*/ 384 h 3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384">
                <a:moveTo>
                  <a:pt x="0" y="384"/>
                </a:moveTo>
                <a:lnTo>
                  <a:pt x="480" y="0"/>
                </a:lnTo>
                <a:lnTo>
                  <a:pt x="960" y="240"/>
                </a:lnTo>
                <a:lnTo>
                  <a:pt x="1440" y="384"/>
                </a:lnTo>
                <a:lnTo>
                  <a:pt x="1920" y="0"/>
                </a:ln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4154" name="Rectangle 42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2209800" y="4495800"/>
            <a:ext cx="7772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Convert      to a continuous function: </a:t>
            </a:r>
          </a:p>
          <a:p>
            <a:pPr marL="742950" lvl="1" indent="-285750"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5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Reconstruct by convolution with a </a:t>
            </a:r>
            <a:r>
              <a:rPr lang="en-US" sz="2000" i="1" dirty="0"/>
              <a:t>reconstruction filter,</a:t>
            </a:r>
            <a:r>
              <a:rPr lang="en-US" sz="2000" dirty="0"/>
              <a:t> 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pic>
        <p:nvPicPr>
          <p:cNvPr id="474155" name="Picture 43" descr="Edittex"/>
          <p:cNvPicPr>
            <a:picLocks noChangeAspect="1" noChangeArrowheads="1"/>
          </p:cNvPicPr>
          <p:nvPr>
            <p:custDataLst>
              <p:tags r:id="rId26"/>
            </p:custDataLst>
          </p:nvPr>
        </p:nvPicPr>
        <p:blipFill>
          <a:blip r:embed="rId43" cstate="print"/>
          <a:srcRect/>
          <a:stretch>
            <a:fillRect/>
          </a:stretch>
        </p:blipFill>
        <p:spPr bwMode="auto">
          <a:xfrm>
            <a:off x="3962400" y="4955100"/>
            <a:ext cx="211692" cy="18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4156" name="Picture 44" descr="Edittex"/>
          <p:cNvPicPr>
            <a:picLocks noChangeAspect="1" noChangeArrowheads="1"/>
          </p:cNvPicPr>
          <p:nvPr>
            <p:custDataLst>
              <p:tags r:id="rId27"/>
            </p:custDataLst>
          </p:nvPr>
        </p:nvPicPr>
        <p:blipFill>
          <a:blip r:embed="rId44" cstate="print"/>
          <a:srcRect/>
          <a:stretch>
            <a:fillRect/>
          </a:stretch>
        </p:blipFill>
        <p:spPr bwMode="auto">
          <a:xfrm>
            <a:off x="3429454" y="5286831"/>
            <a:ext cx="6208713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Rectangle 3"/>
          <p:cNvSpPr txBox="1">
            <a:spLocks noChangeArrowheads="1"/>
          </p:cNvSpPr>
          <p:nvPr>
            <p:custDataLst>
              <p:tags r:id="rId28"/>
            </p:custDataLst>
          </p:nvPr>
        </p:nvSpPr>
        <p:spPr>
          <a:xfrm>
            <a:off x="2220686" y="3744760"/>
            <a:ext cx="77724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/>
              <a:t>What if we don’t know    ?</a:t>
            </a:r>
          </a:p>
        </p:txBody>
      </p:sp>
      <p:pic>
        <p:nvPicPr>
          <p:cNvPr id="47" name="Picture 4" descr="txp_fig"/>
          <p:cNvPicPr>
            <a:picLocks noChangeAspect="1" noChangeArrowheads="1"/>
          </p:cNvPicPr>
          <p:nvPr>
            <p:custDataLst>
              <p:tags r:id="rId29"/>
            </p:custDataLst>
          </p:nvPr>
        </p:nvPicPr>
        <p:blipFill>
          <a:blip r:embed="rId45" cstate="print"/>
          <a:srcRect/>
          <a:stretch>
            <a:fillRect/>
          </a:stretch>
        </p:blipFill>
        <p:spPr bwMode="auto">
          <a:xfrm>
            <a:off x="6009481" y="3842924"/>
            <a:ext cx="173038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209800" y="4212171"/>
            <a:ext cx="7772400" cy="762000"/>
            <a:chOff x="432" y="987"/>
            <a:chExt cx="4896" cy="480"/>
          </a:xfrm>
        </p:grpSpPr>
        <p:sp>
          <p:nvSpPr>
            <p:cNvPr id="49" name="Rectangle 30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432" y="987"/>
              <a:ext cx="489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 dirty="0"/>
                <a:t>Guess an approximation:</a:t>
              </a:r>
            </a:p>
            <a:p>
              <a:pPr marL="742950" lvl="1" indent="-285750">
                <a:lnSpc>
                  <a:spcPct val="90000"/>
                </a:lnSpc>
                <a:spcBef>
                  <a:spcPct val="20000"/>
                </a:spcBef>
                <a:buFontTx/>
                <a:buChar char="•"/>
              </a:pPr>
              <a:r>
                <a:rPr lang="en-US" sz="2000" dirty="0"/>
                <a:t>Can be done in a principled way: filtering</a:t>
              </a:r>
            </a:p>
          </p:txBody>
        </p:sp>
        <p:pic>
          <p:nvPicPr>
            <p:cNvPr id="50" name="Picture 31" descr="Edittex"/>
            <p:cNvPicPr>
              <a:picLocks noChangeAspect="1" noChangeArrowheads="1"/>
            </p:cNvPicPr>
            <p:nvPr>
              <p:custDataLst>
                <p:tags r:id="rId32"/>
              </p:custDataLst>
            </p:nvPr>
          </p:nvPicPr>
          <p:blipFill>
            <a:blip r:embed="rId46" cstate="print"/>
            <a:srcRect/>
            <a:stretch>
              <a:fillRect/>
            </a:stretch>
          </p:blipFill>
          <p:spPr bwMode="auto">
            <a:xfrm>
              <a:off x="2738" y="1006"/>
              <a:ext cx="105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1" name="Text Box 34"/>
          <p:cNvSpPr txBox="1"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8528050" y="2409581"/>
            <a:ext cx="153035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d = 1 in this example</a:t>
            </a:r>
          </a:p>
        </p:txBody>
      </p:sp>
      <p:pic>
        <p:nvPicPr>
          <p:cNvPr id="215042" name="Picture 2"/>
          <p:cNvPicPr>
            <a:picLocks noChangeAspect="1" noChangeArrowheads="1"/>
          </p:cNvPicPr>
          <p:nvPr/>
        </p:nvPicPr>
        <p:blipFill>
          <a:blip r:embed="rId47" cstate="print"/>
          <a:srcRect/>
          <a:stretch>
            <a:fillRect/>
          </a:stretch>
        </p:blipFill>
        <p:spPr bwMode="auto">
          <a:xfrm>
            <a:off x="4865918" y="6061315"/>
            <a:ext cx="1523996" cy="439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 Box 8"/>
          <p:cNvSpPr txBox="1">
            <a:spLocks noChangeArrowheads="1"/>
          </p:cNvSpPr>
          <p:nvPr/>
        </p:nvSpPr>
        <p:spPr bwMode="auto">
          <a:xfrm>
            <a:off x="9677400" y="6346914"/>
            <a:ext cx="24384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/>
              <a:t>Adapted from: S. Seitz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136" grpId="0"/>
      <p:bldP spid="4260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000" y="274638"/>
            <a:ext cx="10668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>
                <a:latin typeface="+mj-lt"/>
                <a:ea typeface="+mj-ea"/>
                <a:cs typeface="+mj-cs"/>
              </a:rPr>
              <a:t>Image interpolation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2160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1" y="1438537"/>
            <a:ext cx="6760027" cy="52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262253" y="1730825"/>
            <a:ext cx="2257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“Ideal</a:t>
            </a:r>
            <a:r>
              <a:rPr lang="en-US"/>
              <a:t>”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62253" y="3026232"/>
            <a:ext cx="2520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Nearest-neighbor interpolation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62253" y="4550237"/>
            <a:ext cx="252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Linear interpolation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262253" y="5943608"/>
            <a:ext cx="2520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Gaussian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800" y="6505523"/>
            <a:ext cx="1477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Source: B. Curless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/>
          <p:nvPr/>
        </p:nvGrpSpPr>
        <p:grpSpPr>
          <a:xfrm>
            <a:off x="6756614" y="1796521"/>
            <a:ext cx="2163763" cy="1543050"/>
            <a:chOff x="6433450" y="1994824"/>
            <a:chExt cx="2163763" cy="1543050"/>
          </a:xfrm>
        </p:grpSpPr>
        <p:pic>
          <p:nvPicPr>
            <p:cNvPr id="475152" name="Picture 60"/>
            <p:cNvPicPr>
              <a:picLocks noChangeAspect="1" noChangeArrowheads="1"/>
            </p:cNvPicPr>
            <p:nvPr>
              <p:custDataLst>
                <p:tags r:id="rId15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6433450" y="1994824"/>
              <a:ext cx="2163763" cy="1543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75153" name="Straight Connector 19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rot="16200000" flipH="1">
              <a:off x="7221644" y="2654431"/>
              <a:ext cx="901700" cy="2587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5154" name="Straight Connector 24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rot="5400000">
              <a:off x="6939863" y="2599661"/>
              <a:ext cx="869950" cy="33972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5155" name="Straight Connector 26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rot="16200000" flipH="1">
              <a:off x="7412144" y="2463930"/>
              <a:ext cx="527050" cy="2619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475156" name="Straight Connector 28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rot="16200000" flipH="1">
              <a:off x="7763775" y="2888587"/>
              <a:ext cx="147638" cy="7461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prstDash val="sysDot"/>
              <a:round/>
              <a:headEnd/>
              <a:tailEnd/>
            </a:ln>
          </p:spPr>
        </p:cxnSp>
      </p:grpSp>
      <p:sp>
        <p:nvSpPr>
          <p:cNvPr id="475138" name="Rectangle 2"/>
          <p:cNvSpPr>
            <a:spLocks noGrp="1" noChangeArrowheads="1"/>
          </p:cNvSpPr>
          <p:nvPr>
            <p:ph type="title" idx="4294967295"/>
            <p:custDataLst>
              <p:tags r:id="rId1"/>
            </p:custDataLst>
          </p:nvPr>
        </p:nvSpPr>
        <p:spPr/>
        <p:txBody>
          <a:bodyPr/>
          <a:lstStyle/>
          <a:p>
            <a:pPr algn="l"/>
            <a:r>
              <a:rPr lang="en-US" b="1" dirty="0"/>
              <a:t>Reconstruction filters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4294967295"/>
            <p:custDataLst>
              <p:tags r:id="rId2"/>
            </p:custDataLst>
          </p:nvPr>
        </p:nvSpPr>
        <p:spPr>
          <a:xfrm>
            <a:off x="2209800" y="1393384"/>
            <a:ext cx="7772400" cy="533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What does the 2D version of this hat function look like?</a:t>
            </a:r>
          </a:p>
        </p:txBody>
      </p:sp>
      <p:sp>
        <p:nvSpPr>
          <p:cNvPr id="397349" name="Rectangle 37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79291" y="4103932"/>
            <a:ext cx="7569507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 dirty="0"/>
              <a:t>Often implemented without cross-correlation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E.g., </a:t>
            </a:r>
            <a:r>
              <a:rPr lang="en-US" sz="2000" dirty="0">
                <a:hlinkClick r:id="rId23"/>
              </a:rPr>
              <a:t>http://en.wikipedia.org/wiki/Bilinear_interpolation</a:t>
            </a:r>
            <a:r>
              <a:rPr lang="en-US" sz="2000" dirty="0"/>
              <a:t> </a:t>
            </a:r>
            <a:endParaRPr lang="en-US" dirty="0"/>
          </a:p>
          <a:p>
            <a:pPr marL="342900" indent="-342900">
              <a:spcBef>
                <a:spcPct val="20000"/>
              </a:spcBef>
            </a:pPr>
            <a:r>
              <a:rPr lang="en-US" sz="2000" dirty="0"/>
              <a:t>Better filters give better </a:t>
            </a:r>
            <a:r>
              <a:rPr lang="en-US" sz="2000" dirty="0" err="1"/>
              <a:t>resampled</a:t>
            </a:r>
            <a:r>
              <a:rPr lang="en-US" sz="2000" dirty="0"/>
              <a:t> images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b="1" dirty="0" err="1"/>
              <a:t>Bicubic</a:t>
            </a:r>
            <a:r>
              <a:rPr lang="en-US" sz="2000" dirty="0"/>
              <a:t> is common choice</a:t>
            </a:r>
          </a:p>
        </p:txBody>
      </p:sp>
      <p:sp>
        <p:nvSpPr>
          <p:cNvPr id="475141" name="Rectangle 4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948794" y="4322057"/>
            <a:ext cx="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pic>
        <p:nvPicPr>
          <p:cNvPr id="475142" name="Picture 45" descr="s3img254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12415150" y="3537874"/>
            <a:ext cx="1463675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5143" name="Rectangle 4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664013" y="4289006"/>
            <a:ext cx="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75144" name="Rectangle 47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948794" y="4322057"/>
            <a:ext cx="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3" name="Group 52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3623231" y="2351725"/>
            <a:ext cx="1543050" cy="762000"/>
            <a:chOff x="1908" y="2016"/>
            <a:chExt cx="972" cy="480"/>
          </a:xfrm>
        </p:grpSpPr>
        <p:sp>
          <p:nvSpPr>
            <p:cNvPr id="475146" name="Freeform 53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1920" y="2016"/>
              <a:ext cx="960" cy="480"/>
            </a:xfrm>
            <a:custGeom>
              <a:avLst/>
              <a:gdLst>
                <a:gd name="T0" fmla="*/ 0 w 960"/>
                <a:gd name="T1" fmla="*/ 480 h 480"/>
                <a:gd name="T2" fmla="*/ 480 w 960"/>
                <a:gd name="T3" fmla="*/ 0 h 480"/>
                <a:gd name="T4" fmla="*/ 960 w 960"/>
                <a:gd name="T5" fmla="*/ 480 h 480"/>
                <a:gd name="T6" fmla="*/ 0 60000 65536"/>
                <a:gd name="T7" fmla="*/ 0 60000 65536"/>
                <a:gd name="T8" fmla="*/ 0 60000 65536"/>
                <a:gd name="T9" fmla="*/ 0 w 960"/>
                <a:gd name="T10" fmla="*/ 0 h 480"/>
                <a:gd name="T11" fmla="*/ 960 w 960"/>
                <a:gd name="T12" fmla="*/ 480 h 4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0" h="480">
                  <a:moveTo>
                    <a:pt x="0" y="480"/>
                  </a:moveTo>
                  <a:lnTo>
                    <a:pt x="480" y="0"/>
                  </a:lnTo>
                  <a:lnTo>
                    <a:pt x="960" y="4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75147" name="Picture 54" descr="txp_fig"/>
            <p:cNvPicPr>
              <a:picLocks noChangeAspect="1" noChangeArrowheads="1"/>
            </p:cNvPicPr>
            <p:nvPr>
              <p:custDataLst>
                <p:tags r:id="rId14"/>
              </p:custDataLst>
            </p:nvPr>
          </p:nvPicPr>
          <p:blipFill>
            <a:blip r:embed="rId25" cstate="print"/>
            <a:srcRect/>
            <a:stretch>
              <a:fillRect/>
            </a:stretch>
          </p:blipFill>
          <p:spPr bwMode="auto">
            <a:xfrm>
              <a:off x="1908" y="2165"/>
              <a:ext cx="10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475148" name="Picture 55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3166031" y="2532701"/>
            <a:ext cx="647700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5149" name="Picture 57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5680632" y="2499363"/>
            <a:ext cx="968375" cy="315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5150" name="Text Box 5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394631" y="3189925"/>
            <a:ext cx="20510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performs </a:t>
            </a:r>
          </a:p>
          <a:p>
            <a:pPr algn="ctr"/>
            <a:r>
              <a:rPr lang="en-US"/>
              <a:t>linear interpolation</a:t>
            </a:r>
          </a:p>
        </p:txBody>
      </p:sp>
      <p:sp>
        <p:nvSpPr>
          <p:cNvPr id="475151" name="Text Box 5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141006" y="3189925"/>
            <a:ext cx="26098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/>
              <a:t>(tent function) performs </a:t>
            </a:r>
          </a:p>
          <a:p>
            <a:pPr algn="ctr"/>
            <a:r>
              <a:rPr lang="en-US" b="1"/>
              <a:t>bilinear interpolation</a:t>
            </a:r>
          </a:p>
        </p:txBody>
      </p:sp>
      <p:pic>
        <p:nvPicPr>
          <p:cNvPr id="217091" name="Picture 3"/>
          <p:cNvPicPr>
            <a:picLocks noChangeAspect="1" noChangeArrowheads="1"/>
          </p:cNvPicPr>
          <p:nvPr/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7086600" y="5346415"/>
            <a:ext cx="1377372" cy="112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22"/>
          <p:cNvSpPr txBox="1"/>
          <p:nvPr/>
        </p:nvSpPr>
        <p:spPr>
          <a:xfrm>
            <a:off x="6690256" y="6413629"/>
            <a:ext cx="2082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Cubic reconstruction filter</a:t>
            </a:r>
          </a:p>
        </p:txBody>
      </p:sp>
      <p:pic>
        <p:nvPicPr>
          <p:cNvPr id="217092" name="Picture 4"/>
          <p:cNvPicPr>
            <a:picLocks noChangeAspect="1" noChangeArrowheads="1"/>
          </p:cNvPicPr>
          <p:nvPr/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8662275" y="5560915"/>
            <a:ext cx="3305061" cy="592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49" grpId="0" build="p" autoUpdateAnimBg="0"/>
      <p:bldP spid="2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Image interpolation</a:t>
            </a:r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7745" y="2721202"/>
            <a:ext cx="2678906" cy="2678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C:\snavely\work\teaching\09Fa-CS6610\lectures\lec02\images\bee10x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344" y="2721202"/>
            <a:ext cx="2678906" cy="2678906"/>
          </a:xfrm>
          <a:prstGeom prst="rect">
            <a:avLst/>
          </a:prstGeom>
          <a:noFill/>
        </p:spPr>
      </p:pic>
      <p:pic>
        <p:nvPicPr>
          <p:cNvPr id="21811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73045" y="2721202"/>
            <a:ext cx="2678906" cy="2678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807010" y="5410190"/>
            <a:ext cx="2778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Nearest-neighbor interpolation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334" y="5410190"/>
            <a:ext cx="1946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Bilinear interpolation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5154" y="5410190"/>
            <a:ext cx="19082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Bicubic</a:t>
            </a:r>
            <a:r>
              <a:rPr lang="en-US" sz="1600" dirty="0"/>
              <a:t> interpolation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8907" y="1750419"/>
            <a:ext cx="3570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Original image:          x 10</a:t>
            </a:r>
          </a:p>
        </p:txBody>
      </p:sp>
      <p:pic>
        <p:nvPicPr>
          <p:cNvPr id="5" name="Picture 5" descr="C:\snavely\work\teaching\09Fa-CS6610\lectures\lec02\images\bee_small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60277" y="1849761"/>
            <a:ext cx="267891" cy="2678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2" name="Picture 2" descr="C:\snavely\work\teaching\09Fa-CS6610\lectures\lec02\images\bee_persp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25721" y="1393146"/>
            <a:ext cx="3941536" cy="3941536"/>
          </a:xfrm>
          <a:prstGeom prst="rect">
            <a:avLst/>
          </a:prstGeom>
          <a:noFill/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0163" name="Picture 3" descr="C:\snavely\work\teaching\09Fa-CS6610\lectures\lec02\images\be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74207" y="2612347"/>
            <a:ext cx="2613025" cy="2613025"/>
          </a:xfrm>
          <a:prstGeom prst="rect">
            <a:avLst/>
          </a:prstGeom>
          <a:noFill/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ight Arrow 7"/>
          <p:cNvSpPr/>
          <p:nvPr/>
        </p:nvSpPr>
        <p:spPr>
          <a:xfrm>
            <a:off x="5453743" y="3418114"/>
            <a:ext cx="892629" cy="85997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169230" y="1567543"/>
            <a:ext cx="37822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Also used for </a:t>
            </a:r>
            <a:r>
              <a:rPr lang="en-US" sz="2800" i="1" dirty="0" err="1"/>
              <a:t>resampling</a:t>
            </a:r>
            <a:endParaRPr lang="en-US" sz="2800" i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72D6B6-A8F9-4AFE-8B09-A8745AEE54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Image interpolation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methods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219200"/>
            <a:ext cx="8229600" cy="49772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47800" y="6172201"/>
            <a:ext cx="8991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Myriad Pro" panose="020B0503030403020204" pitchFamily="34" charset="0"/>
              </a:rPr>
              <a:t>From Romano, et al: RAISR: Rapid and Accurate Image Super Resolution, </a:t>
            </a:r>
            <a:r>
              <a:rPr lang="en-US" dirty="0">
                <a:solidFill>
                  <a:srgbClr val="000000"/>
                </a:solidFill>
                <a:latin typeface="Myriad Pro" panose="020B0503030403020204" pitchFamily="34" charset="0"/>
                <a:hlinkClick r:id="rId3"/>
              </a:rPr>
              <a:t>https://arxiv.org/abs/1606.01299</a:t>
            </a:r>
            <a:endParaRPr lang="en-US" dirty="0">
              <a:solidFill>
                <a:srgbClr val="000000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7594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54EF-3545-46D7-97B2-B892CB35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Super-resolution with multiple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EC76B-13AA-45B4-8EF2-A7EDBBFC2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do better </a:t>
            </a:r>
            <a:r>
              <a:rPr lang="en-US" dirty="0" err="1"/>
              <a:t>upsampling</a:t>
            </a:r>
            <a:r>
              <a:rPr lang="en-US" dirty="0"/>
              <a:t> if you have multiple images of the scene taken with small (subpixel) shifts</a:t>
            </a:r>
          </a:p>
          <a:p>
            <a:r>
              <a:rPr lang="en-US" dirty="0"/>
              <a:t>Some cellphone cameras (like the Google Pixel line) capture a </a:t>
            </a:r>
            <a:r>
              <a:rPr lang="en-US" b="1" dirty="0"/>
              <a:t>burst</a:t>
            </a:r>
            <a:r>
              <a:rPr lang="en-US" dirty="0"/>
              <a:t> of photos</a:t>
            </a:r>
          </a:p>
          <a:p>
            <a:r>
              <a:rPr lang="en-US" dirty="0"/>
              <a:t>Can we use that burst for </a:t>
            </a:r>
            <a:r>
              <a:rPr lang="en-US" dirty="0" err="1"/>
              <a:t>upsampling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275383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4B4F-0145-4B4E-9FCF-1EC311C98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Pixel 3 Super Res Zoom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F4C0AF-BA9A-41C1-85D4-6D16F49D99E6}"/>
              </a:ext>
            </a:extLst>
          </p:cNvPr>
          <p:cNvSpPr/>
          <p:nvPr/>
        </p:nvSpPr>
        <p:spPr>
          <a:xfrm>
            <a:off x="1500116" y="556260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latin typeface="+mj-lt"/>
              </a:rPr>
              <a:t>Effect of hand tremor as seen in a cropped burst of photos, after global alignment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2E718-CC3C-4A59-A56B-30B5743BE4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752600"/>
            <a:ext cx="4073237" cy="3733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533E42-F9AE-4648-A60D-565CA1CD6687}"/>
              </a:ext>
            </a:extLst>
          </p:cNvPr>
          <p:cNvSpPr/>
          <p:nvPr/>
        </p:nvSpPr>
        <p:spPr>
          <a:xfrm>
            <a:off x="1600200" y="6398696"/>
            <a:ext cx="1005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https://ai.googleblog.com/2018/10/see-better-and-further-with-super-res.html</a:t>
            </a: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E18FA23-698C-45E5-AB48-EB234ED7568B}"/>
              </a:ext>
            </a:extLst>
          </p:cNvPr>
          <p:cNvGrpSpPr/>
          <p:nvPr/>
        </p:nvGrpSpPr>
        <p:grpSpPr>
          <a:xfrm>
            <a:off x="6019800" y="1376422"/>
            <a:ext cx="4572000" cy="4832508"/>
            <a:chOff x="4495800" y="1376422"/>
            <a:chExt cx="4572000" cy="4832508"/>
          </a:xfrm>
        </p:grpSpPr>
        <p:pic>
          <p:nvPicPr>
            <p:cNvPr id="9" name="Picture 8" descr="A sign on the side of a building&#10;&#10;Description automatically generated">
              <a:extLst>
                <a:ext uri="{FF2B5EF4-FFF2-40B4-BE49-F238E27FC236}">
                  <a16:creationId xmlns:a16="http://schemas.microsoft.com/office/drawing/2014/main" id="{99AB3422-0573-4540-A62D-ADCA2C4F0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99612" y="1376422"/>
              <a:ext cx="3354140" cy="4191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51A6D74-4C9D-4F1B-929E-563D8E39630A}"/>
                </a:ext>
              </a:extLst>
            </p:cNvPr>
            <p:cNvSpPr/>
            <p:nvPr/>
          </p:nvSpPr>
          <p:spPr>
            <a:xfrm>
              <a:off x="4495800" y="5562599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US" dirty="0">
                  <a:latin typeface="+mj-lt"/>
                </a:rPr>
                <a:t>Example photo with and without super res zoom (smart burst align and merge)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11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26A7-70B1-23B3-9C31-E4DB5D36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066" name="Picture 2" descr="txp_fig">
            <a:extLst>
              <a:ext uri="{FF2B5EF4-FFF2-40B4-BE49-F238E27FC236}">
                <a16:creationId xmlns:a16="http://schemas.microsoft.com/office/drawing/2014/main" id="{805445DE-B9C6-DEAB-EA04-7EF8092C888C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3124200" y="1797489"/>
            <a:ext cx="635000" cy="31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2067" name="Line 3">
            <a:extLst>
              <a:ext uri="{FF2B5EF4-FFF2-40B4-BE49-F238E27FC236}">
                <a16:creationId xmlns:a16="http://schemas.microsoft.com/office/drawing/2014/main" id="{0389DCE9-34DD-670B-8ACD-F88F1ECC352C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4191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68" name="Freeform 4">
            <a:extLst>
              <a:ext uri="{FF2B5EF4-FFF2-40B4-BE49-F238E27FC236}">
                <a16:creationId xmlns:a16="http://schemas.microsoft.com/office/drawing/2014/main" id="{4DE042C5-8457-1742-502B-6F09C06F6FA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191000" y="2073714"/>
            <a:ext cx="3048000" cy="711200"/>
          </a:xfrm>
          <a:custGeom>
            <a:avLst/>
            <a:gdLst>
              <a:gd name="T0" fmla="*/ 0 w 1920"/>
              <a:gd name="T1" fmla="*/ 408 h 448"/>
              <a:gd name="T2" fmla="*/ 480 w 1920"/>
              <a:gd name="T3" fmla="*/ 24 h 448"/>
              <a:gd name="T4" fmla="*/ 960 w 1920"/>
              <a:gd name="T5" fmla="*/ 264 h 448"/>
              <a:gd name="T6" fmla="*/ 1440 w 1920"/>
              <a:gd name="T7" fmla="*/ 408 h 448"/>
              <a:gd name="T8" fmla="*/ 1920 w 1920"/>
              <a:gd name="T9" fmla="*/ 24 h 4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448"/>
              <a:gd name="T17" fmla="*/ 1920 w 1920"/>
              <a:gd name="T18" fmla="*/ 448 h 4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448">
                <a:moveTo>
                  <a:pt x="0" y="408"/>
                </a:moveTo>
                <a:cubicBezTo>
                  <a:pt x="160" y="228"/>
                  <a:pt x="320" y="48"/>
                  <a:pt x="480" y="24"/>
                </a:cubicBezTo>
                <a:cubicBezTo>
                  <a:pt x="640" y="0"/>
                  <a:pt x="800" y="200"/>
                  <a:pt x="960" y="264"/>
                </a:cubicBezTo>
                <a:cubicBezTo>
                  <a:pt x="1120" y="328"/>
                  <a:pt x="1280" y="448"/>
                  <a:pt x="1440" y="408"/>
                </a:cubicBezTo>
                <a:cubicBezTo>
                  <a:pt x="1600" y="368"/>
                  <a:pt x="1760" y="196"/>
                  <a:pt x="1920" y="24"/>
                </a:cubicBezTo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69" name="Line 5">
            <a:extLst>
              <a:ext uri="{FF2B5EF4-FFF2-40B4-BE49-F238E27FC236}">
                <a16:creationId xmlns:a16="http://schemas.microsoft.com/office/drawing/2014/main" id="{0F7A71B4-3B32-F747-5613-FD09F96C2678}"/>
              </a:ext>
            </a:extLst>
          </p:cNvPr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 flipV="1">
            <a:off x="4953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0" name="Line 6">
            <a:extLst>
              <a:ext uri="{FF2B5EF4-FFF2-40B4-BE49-F238E27FC236}">
                <a16:creationId xmlns:a16="http://schemas.microsoft.com/office/drawing/2014/main" id="{A9B290BB-9324-085A-4EA4-E7D0E85F70FF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V="1">
            <a:off x="5715000" y="2492814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1" name="Line 7">
            <a:extLst>
              <a:ext uri="{FF2B5EF4-FFF2-40B4-BE49-F238E27FC236}">
                <a16:creationId xmlns:a16="http://schemas.microsoft.com/office/drawing/2014/main" id="{BAB59190-79AB-3386-F309-F82D890AEE77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V="1">
            <a:off x="6477000" y="272141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72" name="Rectangle 8">
            <a:extLst>
              <a:ext uri="{FF2B5EF4-FFF2-40B4-BE49-F238E27FC236}">
                <a16:creationId xmlns:a16="http://schemas.microsoft.com/office/drawing/2014/main" id="{D67B7329-37E6-7558-5A5F-6570256715EE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7"/>
            </p:custDataLst>
          </p:nvPr>
        </p:nvSpPr>
        <p:spPr/>
        <p:txBody>
          <a:bodyPr/>
          <a:lstStyle/>
          <a:p>
            <a:pPr algn="l"/>
            <a:r>
              <a:rPr lang="en-US" b="1" dirty="0"/>
              <a:t>Image interpolation</a:t>
            </a:r>
          </a:p>
        </p:txBody>
      </p:sp>
      <p:sp>
        <p:nvSpPr>
          <p:cNvPr id="472074" name="Oval 10">
            <a:extLst>
              <a:ext uri="{FF2B5EF4-FFF2-40B4-BE49-F238E27FC236}">
                <a16:creationId xmlns:a16="http://schemas.microsoft.com/office/drawing/2014/main" id="{00425635-80CE-D111-C67B-DFDEC7C35634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152900" y="26833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5" name="Oval 11">
            <a:extLst>
              <a:ext uri="{FF2B5EF4-FFF2-40B4-BE49-F238E27FC236}">
                <a16:creationId xmlns:a16="http://schemas.microsoft.com/office/drawing/2014/main" id="{F085BB96-C9AB-3E98-3BA9-968C2A3B29AA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76900" y="245471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6" name="Oval 12">
            <a:extLst>
              <a:ext uri="{FF2B5EF4-FFF2-40B4-BE49-F238E27FC236}">
                <a16:creationId xmlns:a16="http://schemas.microsoft.com/office/drawing/2014/main" id="{3C4479E1-2663-929E-3852-16DD7903C146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914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7" name="Oval 13">
            <a:extLst>
              <a:ext uri="{FF2B5EF4-FFF2-40B4-BE49-F238E27FC236}">
                <a16:creationId xmlns:a16="http://schemas.microsoft.com/office/drawing/2014/main" id="{C3E08359-41AD-662B-5CDD-D9381A5085C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38900" y="26737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78" name="Line 14">
            <a:extLst>
              <a:ext uri="{FF2B5EF4-FFF2-40B4-BE49-F238E27FC236}">
                <a16:creationId xmlns:a16="http://schemas.microsoft.com/office/drawing/2014/main" id="{239BFD4F-5721-2A92-24DB-9B2B57A97E9E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3962400" y="3407214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079" name="Line 15">
            <a:extLst>
              <a:ext uri="{FF2B5EF4-FFF2-40B4-BE49-F238E27FC236}">
                <a16:creationId xmlns:a16="http://schemas.microsoft.com/office/drawing/2014/main" id="{2F60BEE5-BFC0-71B2-E8D3-D49F5AA9C20E}"/>
              </a:ext>
            </a:extLst>
          </p:cNvPr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flipV="1">
            <a:off x="7239000" y="2111814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2080" name="Oval 16">
            <a:extLst>
              <a:ext uri="{FF2B5EF4-FFF2-40B4-BE49-F238E27FC236}">
                <a16:creationId xmlns:a16="http://schemas.microsoft.com/office/drawing/2014/main" id="{0AA5F39C-E812-2AAB-1DA2-F78B6BC19AA6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200900" y="2064189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2081" name="Line 17">
            <a:extLst>
              <a:ext uri="{FF2B5EF4-FFF2-40B4-BE49-F238E27FC236}">
                <a16:creationId xmlns:a16="http://schemas.microsoft.com/office/drawing/2014/main" id="{AF02195C-DC9D-A545-1DE1-93B6183E5707}"/>
              </a:ext>
            </a:extLst>
          </p:cNvPr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V="1">
            <a:off x="3962400" y="1730814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72082" name="Rectangle 18">
            <a:extLst>
              <a:ext uri="{FF2B5EF4-FFF2-40B4-BE49-F238E27FC236}">
                <a16:creationId xmlns:a16="http://schemas.microsoft.com/office/drawing/2014/main" id="{7FFB4546-8FF0-0006-3988-8DBA9875E811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220686" y="4082139"/>
            <a:ext cx="7772400" cy="224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Recall that a digital images is formed as follows:</a:t>
            </a:r>
          </a:p>
          <a:p>
            <a:pPr marL="342900" indent="-342900">
              <a:spcBef>
                <a:spcPct val="20000"/>
              </a:spcBef>
            </a:pPr>
            <a:endParaRPr lang="en-US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It is a discrete point-sampling of a continuous function</a:t>
            </a:r>
          </a:p>
          <a:p>
            <a:pPr marL="742950" lvl="1" indent="-285750">
              <a:spcBef>
                <a:spcPct val="20000"/>
              </a:spcBef>
              <a:buFontTx/>
              <a:buChar char="•"/>
            </a:pPr>
            <a:r>
              <a:rPr lang="en-US" sz="2000" dirty="0"/>
              <a:t>If we could somehow reconstruct the original function, any new image could be generated, at any resolution and scale </a:t>
            </a:r>
          </a:p>
        </p:txBody>
      </p:sp>
      <p:pic>
        <p:nvPicPr>
          <p:cNvPr id="472083" name="Picture 19" descr="Edittex">
            <a:extLst>
              <a:ext uri="{FF2B5EF4-FFF2-40B4-BE49-F238E27FC236}">
                <a16:creationId xmlns:a16="http://schemas.microsoft.com/office/drawing/2014/main" id="{88FCA48D-0567-452E-2605-BAD5B6189256}"/>
              </a:ext>
            </a:extLst>
          </p:cNvPr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8" cstate="print"/>
          <a:srcRect/>
          <a:stretch>
            <a:fillRect/>
          </a:stretch>
        </p:blipFill>
        <p:spPr bwMode="auto">
          <a:xfrm>
            <a:off x="3437846" y="4673596"/>
            <a:ext cx="4343270" cy="322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2084" name="Text Box 20">
            <a:extLst>
              <a:ext uri="{FF2B5EF4-FFF2-40B4-BE49-F238E27FC236}">
                <a16:creationId xmlns:a16="http://schemas.microsoft.com/office/drawing/2014/main" id="{1FF0D0D9-1EB3-2E7E-1F56-27243C88AB55}"/>
              </a:ext>
            </a:extLst>
          </p:cNvPr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060825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1</a:t>
            </a:r>
          </a:p>
        </p:txBody>
      </p:sp>
      <p:sp>
        <p:nvSpPr>
          <p:cNvPr id="472085" name="Text Box 21">
            <a:extLst>
              <a:ext uri="{FF2B5EF4-FFF2-40B4-BE49-F238E27FC236}">
                <a16:creationId xmlns:a16="http://schemas.microsoft.com/office/drawing/2014/main" id="{039F80BA-164C-ED59-A855-B035DE717DEA}"/>
              </a:ext>
            </a:extLst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819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2</a:t>
            </a:r>
          </a:p>
        </p:txBody>
      </p:sp>
      <p:sp>
        <p:nvSpPr>
          <p:cNvPr id="472086" name="Text Box 22">
            <a:extLst>
              <a:ext uri="{FF2B5EF4-FFF2-40B4-BE49-F238E27FC236}">
                <a16:creationId xmlns:a16="http://schemas.microsoft.com/office/drawing/2014/main" id="{B6020ACC-1CEB-DAB5-C416-139674B577A6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81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3</a:t>
            </a:r>
          </a:p>
        </p:txBody>
      </p:sp>
      <p:sp>
        <p:nvSpPr>
          <p:cNvPr id="472087" name="Text Box 23">
            <a:extLst>
              <a:ext uri="{FF2B5EF4-FFF2-40B4-BE49-F238E27FC236}">
                <a16:creationId xmlns:a16="http://schemas.microsoft.com/office/drawing/2014/main" id="{52F7DB5D-2975-9D34-17B1-0EE32B5278E2}"/>
              </a:ext>
            </a:extLst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343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4</a:t>
            </a:r>
          </a:p>
        </p:txBody>
      </p:sp>
      <p:sp>
        <p:nvSpPr>
          <p:cNvPr id="472088" name="Text Box 24">
            <a:extLst>
              <a:ext uri="{FF2B5EF4-FFF2-40B4-BE49-F238E27FC236}">
                <a16:creationId xmlns:a16="http://schemas.microsoft.com/office/drawing/2014/main" id="{DBAD2EFE-9136-A26A-C73E-199A14E8B753}"/>
              </a:ext>
            </a:extLst>
          </p:cNvPr>
          <p:cNvSpPr txBox="1"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105650" y="3331014"/>
            <a:ext cx="28886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5</a:t>
            </a:r>
          </a:p>
        </p:txBody>
      </p:sp>
      <p:pic>
        <p:nvPicPr>
          <p:cNvPr id="472089" name="Picture 25" descr="txp_fig">
            <a:extLst>
              <a:ext uri="{FF2B5EF4-FFF2-40B4-BE49-F238E27FC236}">
                <a16:creationId xmlns:a16="http://schemas.microsoft.com/office/drawing/2014/main" id="{F9BABAAA-2B61-BBE6-7253-8B55619790FD}"/>
              </a:ext>
            </a:extLst>
          </p:cNvPr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29" cstate="print"/>
          <a:srcRect/>
          <a:stretch>
            <a:fillRect/>
          </a:stretch>
        </p:blipFill>
        <p:spPr bwMode="auto">
          <a:xfrm>
            <a:off x="7543800" y="3332602"/>
            <a:ext cx="192088" cy="15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Text Box 34">
            <a:extLst>
              <a:ext uri="{FF2B5EF4-FFF2-40B4-BE49-F238E27FC236}">
                <a16:creationId xmlns:a16="http://schemas.microsoft.com/office/drawing/2014/main" id="{FC404BBB-3A04-4456-4D81-587CB1193E4B}"/>
              </a:ext>
            </a:extLst>
          </p:cNvPr>
          <p:cNvSpPr txBox="1"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8528050" y="2409581"/>
            <a:ext cx="146546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>
                <a:latin typeface="+mj-lt"/>
              </a:rPr>
              <a:t>d = 1 in this </a:t>
            </a:r>
          </a:p>
          <a:p>
            <a:r>
              <a:rPr lang="en-US" dirty="0">
                <a:latin typeface="+mj-lt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359628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2835-19DB-4169-B717-D921857DC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BB4-5A38-4FAB-8F81-6CBA17044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10668000" cy="4953000"/>
          </a:xfrm>
        </p:spPr>
        <p:txBody>
          <a:bodyPr>
            <a:normAutofit/>
          </a:bodyPr>
          <a:lstStyle/>
          <a:p>
            <a:r>
              <a:rPr lang="en-US" dirty="0"/>
              <a:t>Key points:</a:t>
            </a:r>
          </a:p>
          <a:p>
            <a:pPr lvl="1"/>
            <a:r>
              <a:rPr lang="en-US" b="1" dirty="0"/>
              <a:t>Subsampling an image</a:t>
            </a:r>
            <a:r>
              <a:rPr lang="en-US" dirty="0"/>
              <a:t> can cause aliasing. Better is to blur (“pre-filter”) to remove high frequencies then </a:t>
            </a:r>
            <a:r>
              <a:rPr lang="en-US" dirty="0" err="1"/>
              <a:t>downsample</a:t>
            </a:r>
            <a:endParaRPr lang="en-US" dirty="0"/>
          </a:p>
          <a:p>
            <a:pPr lvl="1"/>
            <a:r>
              <a:rPr lang="en-US" dirty="0"/>
              <a:t>If you repeatedly blur and </a:t>
            </a:r>
            <a:r>
              <a:rPr lang="en-US" dirty="0" err="1"/>
              <a:t>downsample</a:t>
            </a:r>
            <a:r>
              <a:rPr lang="en-US" dirty="0"/>
              <a:t> by 2x, you get a Gaussian pyramid</a:t>
            </a:r>
          </a:p>
          <a:p>
            <a:pPr lvl="1"/>
            <a:r>
              <a:rPr lang="en-US" b="1" dirty="0" err="1"/>
              <a:t>Upsampling</a:t>
            </a:r>
            <a:r>
              <a:rPr lang="en-US" b="1" dirty="0"/>
              <a:t> an image</a:t>
            </a:r>
            <a:r>
              <a:rPr lang="en-US" dirty="0"/>
              <a:t> requires interpolation. This can be posed as convolution with a “reconstruction kernel”</a:t>
            </a:r>
          </a:p>
        </p:txBody>
      </p:sp>
    </p:spTree>
    <p:extLst>
      <p:ext uri="{BB962C8B-B14F-4D97-AF65-F5344CB8AC3E}">
        <p14:creationId xmlns:p14="http://schemas.microsoft.com/office/powerpoint/2010/main" val="32636181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0.1412"/>
  <p:tag name="SLIDO_PRESENTATION_ID" val="00000000-0000-0000-0000-000000000000"/>
  <p:tag name="SLIDO_EVENT_UUID" val="1fb4eb8c-523e-4709-ac25-3a6664dfaa47"/>
  <p:tag name="SLIDO_EVENT_SECTION_UUID" val="4b1379f1-b0ad-45c4-8fba-bce733a827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49.375"/>
  <p:tag name="PICTUREFILESIZE" val="2054"/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,y] = \mbox{quantize} \{ f(xd,yd)\}$&#10;\end{document}&#10;"/>
  <p:tag name="EXTERNALNAME" val="Edittex"/>
  <p:tag name="BLEND" val="False"/>
  <p:tag name="TRANSPARENT" val="False"/>
  <p:tag name="BITMAPFORMAT" val="bmp16m"/>
  <p:tag name="DEBUGINTERACTIVE" val="True"/>
  <p:tag name="ORIGWIDTH" val="1061.125"/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390"/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49.375"/>
  <p:tag name="PICTUREFILESIZE" val="2054"/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390"/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,y] = \mbox{quantize} \{ f(xd,yd)\}$&#10;\end{document}&#10;"/>
  <p:tag name="EXTERNALNAME" val="Edittex"/>
  <p:tag name="BLEND" val="False"/>
  <p:tag name="TRANSPARENT" val="False"/>
  <p:tag name="BITMAPFORMAT" val="bmp16m"/>
  <p:tag name="DEBUGINTERACTIVE" val="True"/>
  <p:tag name="ORIGWIDTH" val="1061.125"/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49.375"/>
  <p:tag name="PICTUREFILESIZE" val="2054"/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390"/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F&#10;\]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59.375"/>
  <p:tag name="PICTUREFILESIZE" val="758"/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_F(x) = F(\frac{x}{d})$ when $\frac{x}{d}$ is an integer, $0$ otherwise   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746.875"/>
  <p:tag name="PICTUREFILESIZE" val="24462"/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0.5"/>
  <p:tag name="PICTUREFILESIZE" val="694"/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tilde{f}&#10;\]&#10;\end{document}&#10;"/>
  <p:tag name="EXTERNALNAME" val="Edittex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52.25"/>
  <p:tag name="PICTUREFILESIZE" val="790"/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0.5"/>
  <p:tag name="PICTUREFILESIZE" val="526"/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(x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53"/>
  <p:tag name="PICTUREFILESIZE" val="2054"/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(x,y)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228.625"/>
  <p:tag name="PICTUREFILESIZE" val="2718"/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0.5"/>
  <p:tag name="PICTUREFILESIZE" val="526"/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]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149.375"/>
  <p:tag name="PICTUREFILESIZE" val="2054"/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[x,y] = \mbox{quantize} \{ f(xd,yd)\}$&#10;\end{document}&#10;"/>
  <p:tag name="EXTERNALNAME" val="Edittex"/>
  <p:tag name="BLEND" val="False"/>
  <p:tag name="TRANSPARENT" val="False"/>
  <p:tag name="BITMAPFORMAT" val="bmp16m"/>
  <p:tag name="DEBUGINTERACTIVE" val="True"/>
  <p:tag name="ORIGWIDTH" val="1061.125"/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$&#10;\end{document}&#10;"/>
  <p:tag name="EXTERNALNAME" val="txp_fig"/>
  <p:tag name="BLEND" val="False"/>
  <p:tag name="TRANSPARENT" val="False"/>
  <p:tag name="KEEPFILES" val="False"/>
  <p:tag name="DEBUGPAUSE" val="False"/>
  <p:tag name="RESOLUTION" val="300"/>
  <p:tag name="BITMAPFORMAT" val="bmpmono"/>
  <p:tag name="DEBUGINTERACTIVE" val="True"/>
  <p:tag name="ORIGWIDTH" val="45"/>
  <p:tag name="PICTUREFILESIZE" val="390"/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24851</TotalTime>
  <Words>1088</Words>
  <Application>Microsoft Office PowerPoint</Application>
  <PresentationFormat>宽屏</PresentationFormat>
  <Paragraphs>228</Paragraphs>
  <Slides>38</Slides>
  <Notes>8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Myriad Pro</vt:lpstr>
      <vt:lpstr>Calibri</vt:lpstr>
      <vt:lpstr>Times New Roman</vt:lpstr>
      <vt:lpstr>Arial</vt:lpstr>
      <vt:lpstr>Office Theme</vt:lpstr>
      <vt:lpstr>Image Resampling , Interpolation</vt:lpstr>
      <vt:lpstr>Image scaling</vt:lpstr>
      <vt:lpstr>Image sub-sampling</vt:lpstr>
      <vt:lpstr>Image sub-sampling</vt:lpstr>
      <vt:lpstr>Image sub-sampling – another example</vt:lpstr>
      <vt:lpstr>Even worse for synthetic images</vt:lpstr>
      <vt:lpstr>Aliasing</vt:lpstr>
      <vt:lpstr>Wagon-wheel effect</vt:lpstr>
      <vt:lpstr>Wagon-wheel effect</vt:lpstr>
      <vt:lpstr>Temporal aliasing – helicopter blades</vt:lpstr>
      <vt:lpstr>Aliasing in practice</vt:lpstr>
      <vt:lpstr>Aliasing</vt:lpstr>
      <vt:lpstr>Gaussian pre-filtering</vt:lpstr>
      <vt:lpstr>Subsampling with Gaussian pre-filtering</vt:lpstr>
      <vt:lpstr>Compare with...</vt:lpstr>
      <vt:lpstr>Gaussian pre-filtering</vt:lpstr>
      <vt:lpstr>PowerPoint 演示文稿</vt:lpstr>
      <vt:lpstr>PowerPoint 演示文稿</vt:lpstr>
      <vt:lpstr>Gaussian pyramids [Burt and Adelson, 1983]</vt:lpstr>
      <vt:lpstr>PowerPoint 演示文稿</vt:lpstr>
      <vt:lpstr>Gaussian pyramid</vt:lpstr>
      <vt:lpstr>Gaussian pyramid</vt:lpstr>
      <vt:lpstr>Back to the checkerboard</vt:lpstr>
      <vt:lpstr>Questions?</vt:lpstr>
      <vt:lpstr>Upsampling</vt:lpstr>
      <vt:lpstr>Image interpolation</vt:lpstr>
      <vt:lpstr>Image interpolation</vt:lpstr>
      <vt:lpstr>Image interpolation</vt:lpstr>
      <vt:lpstr>PowerPoint 演示文稿</vt:lpstr>
      <vt:lpstr>Reconstruction filters</vt:lpstr>
      <vt:lpstr>PowerPoint 演示文稿</vt:lpstr>
      <vt:lpstr>PowerPoint 演示文稿</vt:lpstr>
      <vt:lpstr>Modern methods</vt:lpstr>
      <vt:lpstr>Super-resolution with multiple images</vt:lpstr>
      <vt:lpstr>Google Pixel 3 Super Res Zoom</vt:lpstr>
      <vt:lpstr>Image interpolation</vt:lpstr>
      <vt:lpstr>Summary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288</cp:revision>
  <dcterms:created xsi:type="dcterms:W3CDTF">2009-08-25T02:47:59Z</dcterms:created>
  <dcterms:modified xsi:type="dcterms:W3CDTF">2026-09-08T00:10:36Z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0.17.0.1412</vt:lpwstr>
  </property>
</Properties>
</file>