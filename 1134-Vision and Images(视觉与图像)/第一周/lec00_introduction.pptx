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5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6.xml" ContentType="application/vnd.openxmlformats-officedocument.presentationml.tags+xml"/>
  <Override PartName="/ppt/notesSlides/notesSlide2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5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98" r:id="rId1"/>
  </p:sldMasterIdLst>
  <p:notesMasterIdLst>
    <p:notesMasterId r:id="rId52"/>
  </p:notesMasterIdLst>
  <p:handoutMasterIdLst>
    <p:handoutMasterId r:id="rId53"/>
  </p:handoutMasterIdLst>
  <p:sldIdLst>
    <p:sldId id="751" r:id="rId2"/>
    <p:sldId id="668" r:id="rId3"/>
    <p:sldId id="789" r:id="rId4"/>
    <p:sldId id="876" r:id="rId5"/>
    <p:sldId id="883" r:id="rId6"/>
    <p:sldId id="666" r:id="rId7"/>
    <p:sldId id="753" r:id="rId8"/>
    <p:sldId id="752" r:id="rId9"/>
    <p:sldId id="754" r:id="rId10"/>
    <p:sldId id="755" r:id="rId11"/>
    <p:sldId id="760" r:id="rId12"/>
    <p:sldId id="819" r:id="rId13"/>
    <p:sldId id="812" r:id="rId14"/>
    <p:sldId id="764" r:id="rId15"/>
    <p:sldId id="759" r:id="rId16"/>
    <p:sldId id="758" r:id="rId17"/>
    <p:sldId id="885" r:id="rId18"/>
    <p:sldId id="783" r:id="rId19"/>
    <p:sldId id="765" r:id="rId20"/>
    <p:sldId id="766" r:id="rId21"/>
    <p:sldId id="825" r:id="rId22"/>
    <p:sldId id="769" r:id="rId23"/>
    <p:sldId id="770" r:id="rId24"/>
    <p:sldId id="771" r:id="rId25"/>
    <p:sldId id="776" r:id="rId26"/>
    <p:sldId id="846" r:id="rId27"/>
    <p:sldId id="869" r:id="rId28"/>
    <p:sldId id="872" r:id="rId29"/>
    <p:sldId id="777" r:id="rId30"/>
    <p:sldId id="778" r:id="rId31"/>
    <p:sldId id="828" r:id="rId32"/>
    <p:sldId id="781" r:id="rId33"/>
    <p:sldId id="784" r:id="rId34"/>
    <p:sldId id="845" r:id="rId35"/>
    <p:sldId id="782" r:id="rId36"/>
    <p:sldId id="792" r:id="rId37"/>
    <p:sldId id="794" r:id="rId38"/>
    <p:sldId id="689" r:id="rId39"/>
    <p:sldId id="705" r:id="rId40"/>
    <p:sldId id="843" r:id="rId41"/>
    <p:sldId id="842" r:id="rId42"/>
    <p:sldId id="703" r:id="rId43"/>
    <p:sldId id="884" r:id="rId44"/>
    <p:sldId id="670" r:id="rId45"/>
    <p:sldId id="697" r:id="rId46"/>
    <p:sldId id="864" r:id="rId47"/>
    <p:sldId id="874" r:id="rId48"/>
    <p:sldId id="702" r:id="rId49"/>
    <p:sldId id="839" r:id="rId50"/>
    <p:sldId id="811" r:id="rId51"/>
  </p:sldIdLst>
  <p:sldSz cx="12192000" cy="6858000"/>
  <p:notesSz cx="7010400" cy="9296400"/>
  <p:embeddedFontLst>
    <p:embeddedFont>
      <p:font typeface="Myriad Pro" panose="020B0503030403020204" charset="0"/>
      <p:regular r:id="rId54"/>
      <p:bold r:id="rId55"/>
      <p:italic r:id="rId56"/>
      <p:boldItalic r:id="rId57"/>
    </p:embeddedFont>
  </p:embeddedFontLst>
  <p:custDataLst>
    <p:tags r:id="rId58"/>
  </p:custDataLst>
  <p:defaultTextStyle>
    <a:defPPr>
      <a:defRPr lang="en-US"/>
    </a:defPPr>
    <a:lvl1pPr algn="ctr" rtl="0" fontAlgn="base">
      <a:spcBef>
        <a:spcPct val="50000"/>
      </a:spcBef>
      <a:spcAft>
        <a:spcPct val="0"/>
      </a:spcAft>
      <a:defRPr sz="1200" b="1" kern="1200">
        <a:solidFill>
          <a:srgbClr val="FFFF00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sz="1200" b="1" kern="1200">
        <a:solidFill>
          <a:srgbClr val="FFFF00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sz="1200" b="1" kern="1200">
        <a:solidFill>
          <a:srgbClr val="FFFF00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sz="1200" b="1" kern="1200">
        <a:solidFill>
          <a:srgbClr val="FFFF00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sz="1200" b="1" kern="1200">
        <a:solidFill>
          <a:srgbClr val="FFFF00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b="1" kern="1200">
        <a:solidFill>
          <a:srgbClr val="FFFF00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b="1" kern="1200">
        <a:solidFill>
          <a:srgbClr val="FFFF00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b="1" kern="1200">
        <a:solidFill>
          <a:srgbClr val="FFFF00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b="1" kern="1200">
        <a:solidFill>
          <a:srgbClr val="FFFF00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111111"/>
    <a:srgbClr val="D9D9D9"/>
    <a:srgbClr val="FF00FF"/>
    <a:srgbClr val="00FFFF"/>
    <a:srgbClr val="FFFF00"/>
    <a:srgbClr val="FF0000"/>
    <a:srgbClr val="00800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10" autoAdjust="0"/>
    <p:restoredTop sz="90000" autoAdjust="0"/>
  </p:normalViewPr>
  <p:slideViewPr>
    <p:cSldViewPr>
      <p:cViewPr varScale="1">
        <p:scale>
          <a:sx n="65" d="100"/>
          <a:sy n="65" d="100"/>
        </p:scale>
        <p:origin x="1032" y="60"/>
      </p:cViewPr>
      <p:guideLst>
        <p:guide orient="horz" pos="2160"/>
        <p:guide pos="3840"/>
      </p:guideLst>
    </p:cSldViewPr>
  </p:slideViewPr>
  <p:outlineViewPr>
    <p:cViewPr>
      <p:scale>
        <a:sx n="25" d="100"/>
        <a:sy n="25" d="100"/>
      </p:scale>
      <p:origin x="0" y="815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9" d="100"/>
          <a:sy n="119" d="100"/>
        </p:scale>
        <p:origin x="501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2B0C7A-5019-408E-AABC-62145126007F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057AEB-5644-47BC-A24E-225B9E9A63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7479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38145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l" defTabSz="931887">
              <a:spcBef>
                <a:spcPct val="0"/>
              </a:spcBef>
              <a:defRPr sz="13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257" y="1"/>
            <a:ext cx="3038144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87">
              <a:spcBef>
                <a:spcPct val="0"/>
              </a:spcBef>
              <a:defRPr sz="13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112" y="4416099"/>
            <a:ext cx="5142177" cy="4182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195"/>
            <a:ext cx="3038145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l" defTabSz="931887">
              <a:spcBef>
                <a:spcPct val="0"/>
              </a:spcBef>
              <a:defRPr sz="13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257" y="8832195"/>
            <a:ext cx="3038144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87">
              <a:spcBef>
                <a:spcPct val="0"/>
              </a:spcBef>
              <a:defRPr sz="1300" b="0">
                <a:solidFill>
                  <a:schemeClr val="bg1"/>
                </a:solidFill>
              </a:defRPr>
            </a:lvl1pPr>
          </a:lstStyle>
          <a:p>
            <a:fld id="{D50BD8BB-733A-4C3E-A556-733F0C693F1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254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8BA026-E42E-46CF-8C2B-7467AC3A8245}" type="slidenum">
              <a:rPr lang="en-US"/>
              <a:pPr/>
              <a:t>2</a:t>
            </a:fld>
            <a:endParaRPr lang="en-US"/>
          </a:p>
        </p:txBody>
      </p:sp>
      <p:sp>
        <p:nvSpPr>
          <p:cNvPr id="67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67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5C6E3B-ACBE-4D10-8F11-FC5630CB752D}" type="slidenum">
              <a:rPr lang="en-US"/>
              <a:pPr/>
              <a:t>3</a:t>
            </a:fld>
            <a:endParaRPr lang="en-US"/>
          </a:p>
        </p:txBody>
      </p:sp>
      <p:sp>
        <p:nvSpPr>
          <p:cNvPr id="828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828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738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54875-D435-CE11-7CF9-E35C79248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B959A81-1CDA-BA4D-FA14-6303F28CDD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5C6E3B-ACBE-4D10-8F11-FC5630CB752D}" type="slidenum">
              <a:rPr lang="en-US"/>
              <a:pPr/>
              <a:t>4</a:t>
            </a:fld>
            <a:endParaRPr lang="en-US"/>
          </a:p>
        </p:txBody>
      </p:sp>
      <p:sp>
        <p:nvSpPr>
          <p:cNvPr id="828418" name="Rectangle 2">
            <a:extLst>
              <a:ext uri="{FF2B5EF4-FFF2-40B4-BE49-F238E27FC236}">
                <a16:creationId xmlns:a16="http://schemas.microsoft.com/office/drawing/2014/main" id="{B3AD348B-99FF-9EC2-7739-5A3440A0F6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828419" name="Rectangle 3">
            <a:extLst>
              <a:ext uri="{FF2B5EF4-FFF2-40B4-BE49-F238E27FC236}">
                <a16:creationId xmlns:a16="http://schemas.microsoft.com/office/drawing/2014/main" id="{B2A9B074-BB65-2303-B124-A46256EF74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798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C7232-AEAE-36AA-E74B-5EC0A2097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01E3DB2-2425-DDF2-9B6D-4EAED2D074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5C6E3B-ACBE-4D10-8F11-FC5630CB752D}" type="slidenum">
              <a:rPr lang="en-US"/>
              <a:pPr/>
              <a:t>5</a:t>
            </a:fld>
            <a:endParaRPr lang="en-US"/>
          </a:p>
        </p:txBody>
      </p:sp>
      <p:sp>
        <p:nvSpPr>
          <p:cNvPr id="828418" name="Rectangle 2">
            <a:extLst>
              <a:ext uri="{FF2B5EF4-FFF2-40B4-BE49-F238E27FC236}">
                <a16:creationId xmlns:a16="http://schemas.microsoft.com/office/drawing/2014/main" id="{E28BEB08-4091-AB46-060D-1F4389144E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828419" name="Rectangle 3">
            <a:extLst>
              <a:ext uri="{FF2B5EF4-FFF2-40B4-BE49-F238E27FC236}">
                <a16:creationId xmlns:a16="http://schemas.microsoft.com/office/drawing/2014/main" id="{F4C97067-9CDE-9B2F-4DBC-02AB1DE989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889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A5B0D3-A6B3-4219-9062-FBE8E6C5DB5C}" type="slidenum">
              <a:rPr lang="en-US"/>
              <a:pPr/>
              <a:t>6</a:t>
            </a:fld>
            <a:endParaRPr lang="en-US"/>
          </a:p>
        </p:txBody>
      </p:sp>
      <p:sp>
        <p:nvSpPr>
          <p:cNvPr id="67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67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BD8BB-733A-4C3E-A556-733F0C693F1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527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2513ED-5D4A-4BC4-9F15-104C777208CC}" type="slidenum">
              <a:rPr lang="en-US"/>
              <a:pPr/>
              <a:t>19</a:t>
            </a:fld>
            <a:endParaRPr lang="en-US"/>
          </a:p>
        </p:txBody>
      </p:sp>
      <p:sp>
        <p:nvSpPr>
          <p:cNvPr id="890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4262" cy="3468688"/>
          </a:xfrm>
          <a:ln/>
        </p:spPr>
      </p:sp>
      <p:sp>
        <p:nvSpPr>
          <p:cNvPr id="890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770" y="4396116"/>
            <a:ext cx="5160433" cy="424086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F2083D-7E6F-4BA7-99CF-AAB4336652FB}" type="slidenum">
              <a:rPr lang="en-US"/>
              <a:pPr/>
              <a:t>20</a:t>
            </a:fld>
            <a:endParaRPr lang="en-US"/>
          </a:p>
        </p:txBody>
      </p:sp>
      <p:sp>
        <p:nvSpPr>
          <p:cNvPr id="892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4262" cy="3468688"/>
          </a:xfrm>
          <a:ln/>
        </p:spPr>
      </p:sp>
      <p:sp>
        <p:nvSpPr>
          <p:cNvPr id="892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770" y="4396116"/>
            <a:ext cx="5160433" cy="4240868"/>
          </a:xfrm>
        </p:spPr>
        <p:txBody>
          <a:bodyPr/>
          <a:lstStyle/>
          <a:p>
            <a:r>
              <a:rPr lang="en-US"/>
              <a:t>Why would this be useful?  Main reason is focus.  Also enables “smart” cropping.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5157A4-2D14-49F8-99F1-8BB97BCAEA85}" type="slidenum">
              <a:rPr lang="en-US"/>
              <a:pPr/>
              <a:t>22</a:t>
            </a:fld>
            <a:endParaRPr lang="en-US"/>
          </a:p>
        </p:txBody>
      </p:sp>
      <p:sp>
        <p:nvSpPr>
          <p:cNvPr id="899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4262" cy="3468688"/>
          </a:xfrm>
          <a:ln/>
        </p:spPr>
      </p:sp>
      <p:sp>
        <p:nvSpPr>
          <p:cNvPr id="899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770" y="4396116"/>
            <a:ext cx="5160433" cy="424086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B8B80A-74B7-476E-A94F-60A7396FE810}" type="slidenum">
              <a:rPr lang="en-US"/>
              <a:pPr/>
              <a:t>23</a:t>
            </a:fld>
            <a:endParaRPr lang="en-US"/>
          </a:p>
        </p:txBody>
      </p:sp>
      <p:sp>
        <p:nvSpPr>
          <p:cNvPr id="901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4262" cy="3468688"/>
          </a:xfrm>
          <a:ln/>
        </p:spPr>
      </p:sp>
      <p:sp>
        <p:nvSpPr>
          <p:cNvPr id="901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770" y="4396116"/>
            <a:ext cx="5160433" cy="424086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C44350-AB74-4678-A7E4-CDBC6C3C3FBF}" type="slidenum">
              <a:rPr lang="en-US"/>
              <a:pPr/>
              <a:t>24</a:t>
            </a:fld>
            <a:endParaRPr lang="en-US"/>
          </a:p>
        </p:txBody>
      </p:sp>
      <p:sp>
        <p:nvSpPr>
          <p:cNvPr id="903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4262" cy="3468688"/>
          </a:xfrm>
          <a:ln/>
        </p:spPr>
      </p:sp>
      <p:sp>
        <p:nvSpPr>
          <p:cNvPr id="903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770" y="4396116"/>
            <a:ext cx="5160433" cy="424086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A83151-3EB1-48A7-B909-AD3BDE53099C}" type="slidenum">
              <a:rPr lang="en-US"/>
              <a:pPr/>
              <a:t>25</a:t>
            </a:fld>
            <a:endParaRPr lang="en-US"/>
          </a:p>
        </p:txBody>
      </p:sp>
      <p:sp>
        <p:nvSpPr>
          <p:cNvPr id="90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4262" cy="3468688"/>
          </a:xfrm>
          <a:ln/>
        </p:spPr>
      </p:sp>
      <p:sp>
        <p:nvSpPr>
          <p:cNvPr id="909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770" y="4396116"/>
            <a:ext cx="5160433" cy="424086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6AD2C8-0894-4F69-A654-0CFC1A594337}" type="slidenum">
              <a:rPr lang="en-US"/>
              <a:pPr/>
              <a:t>29</a:t>
            </a:fld>
            <a:endParaRPr lang="en-US"/>
          </a:p>
        </p:txBody>
      </p:sp>
      <p:sp>
        <p:nvSpPr>
          <p:cNvPr id="911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4262" cy="3468688"/>
          </a:xfrm>
          <a:ln/>
        </p:spPr>
      </p:sp>
      <p:sp>
        <p:nvSpPr>
          <p:cNvPr id="911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770" y="4396116"/>
            <a:ext cx="5160433" cy="424086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C4DD22-87D4-470F-A90B-612FE7D0A490}" type="slidenum">
              <a:rPr lang="en-US"/>
              <a:pPr/>
              <a:t>30</a:t>
            </a:fld>
            <a:endParaRPr lang="en-US"/>
          </a:p>
        </p:txBody>
      </p:sp>
      <p:sp>
        <p:nvSpPr>
          <p:cNvPr id="91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4262" cy="3468688"/>
          </a:xfrm>
          <a:ln/>
        </p:spPr>
      </p:sp>
      <p:sp>
        <p:nvSpPr>
          <p:cNvPr id="913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770" y="4396116"/>
            <a:ext cx="5160433" cy="424086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B6FD4A-F5AC-423D-8F57-C6B004050CD0}" type="slidenum">
              <a:rPr lang="en-US"/>
              <a:pPr/>
              <a:t>32</a:t>
            </a:fld>
            <a:endParaRPr lang="en-US"/>
          </a:p>
        </p:txBody>
      </p:sp>
      <p:sp>
        <p:nvSpPr>
          <p:cNvPr id="91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4262" cy="3468688"/>
          </a:xfrm>
          <a:ln/>
        </p:spPr>
      </p:sp>
      <p:sp>
        <p:nvSpPr>
          <p:cNvPr id="919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770" y="4396116"/>
            <a:ext cx="5160433" cy="4240868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2AD5CF80-F3B5-463B-92CC-DA743C308056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441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441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5C6E3B-ACBE-4D10-8F11-FC5630CB752D}" type="slidenum">
              <a:rPr lang="en-US"/>
              <a:pPr/>
              <a:t>35</a:t>
            </a:fld>
            <a:endParaRPr lang="en-US"/>
          </a:p>
        </p:txBody>
      </p:sp>
      <p:sp>
        <p:nvSpPr>
          <p:cNvPr id="828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828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B2CE73-EF3E-40F6-809D-21219CA0368E}" type="slidenum">
              <a:rPr lang="en-US"/>
              <a:pPr/>
              <a:t>36</a:t>
            </a:fld>
            <a:endParaRPr lang="en-US"/>
          </a:p>
        </p:txBody>
      </p:sp>
      <p:sp>
        <p:nvSpPr>
          <p:cNvPr id="937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937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E030EF-5DBE-4A61-95FC-6577C96129FD}" type="slidenum">
              <a:rPr lang="en-US"/>
              <a:pPr/>
              <a:t>38</a:t>
            </a:fld>
            <a:endParaRPr lang="en-US"/>
          </a:p>
        </p:txBody>
      </p:sp>
      <p:sp>
        <p:nvSpPr>
          <p:cNvPr id="74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74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345" y="4416099"/>
            <a:ext cx="5607711" cy="4182457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F7752D-4CDC-4460-8B2F-2306D75CB913}" type="slidenum">
              <a:rPr lang="en-US"/>
              <a:pPr/>
              <a:t>39</a:t>
            </a:fld>
            <a:endParaRPr lang="en-US"/>
          </a:p>
        </p:txBody>
      </p:sp>
      <p:sp>
        <p:nvSpPr>
          <p:cNvPr id="79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790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BD8BB-733A-4C3E-A556-733F0C693F13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4284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99B631-F5F2-46C1-AE74-046CF2FE58AC}" type="slidenum">
              <a:rPr lang="en-US"/>
              <a:pPr/>
              <a:t>42</a:t>
            </a:fld>
            <a:endParaRPr lang="en-US"/>
          </a:p>
        </p:txBody>
      </p:sp>
      <p:sp>
        <p:nvSpPr>
          <p:cNvPr id="78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786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4BD6A-23D2-48EC-FB0E-1B7DEE88E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B4297C4-0488-A862-E245-2970BC7230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99B631-F5F2-46C1-AE74-046CF2FE58AC}" type="slidenum">
              <a:rPr lang="en-US"/>
              <a:pPr/>
              <a:t>43</a:t>
            </a:fld>
            <a:endParaRPr lang="en-US"/>
          </a:p>
        </p:txBody>
      </p:sp>
      <p:sp>
        <p:nvSpPr>
          <p:cNvPr id="786434" name="Rectangle 2">
            <a:extLst>
              <a:ext uri="{FF2B5EF4-FFF2-40B4-BE49-F238E27FC236}">
                <a16:creationId xmlns:a16="http://schemas.microsoft.com/office/drawing/2014/main" id="{FFFACFDD-F90E-2FE4-C5A3-FDFC73A1E6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786435" name="Rectangle 3">
            <a:extLst>
              <a:ext uri="{FF2B5EF4-FFF2-40B4-BE49-F238E27FC236}">
                <a16:creationId xmlns:a16="http://schemas.microsoft.com/office/drawing/2014/main" id="{D773AFF1-BCA9-A844-2EF1-2C392FB597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1130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C047F4-7705-4A15-9013-23F0BF43FB90}" type="slidenum">
              <a:rPr lang="en-US"/>
              <a:pPr/>
              <a:t>44</a:t>
            </a:fld>
            <a:endParaRPr lang="en-US"/>
          </a:p>
        </p:txBody>
      </p:sp>
      <p:sp>
        <p:nvSpPr>
          <p:cNvPr id="67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67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D0A1CB-5827-45E5-ACAD-138954887DA6}" type="slidenum">
              <a:rPr lang="en-US"/>
              <a:pPr/>
              <a:t>45</a:t>
            </a:fld>
            <a:endParaRPr lang="en-US"/>
          </a:p>
        </p:txBody>
      </p:sp>
      <p:sp>
        <p:nvSpPr>
          <p:cNvPr id="77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77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4D775A-E911-4CA9-8F0F-73C0D387AFF5}" type="slidenum">
              <a:rPr lang="en-US"/>
              <a:pPr/>
              <a:t>46</a:t>
            </a:fld>
            <a:endParaRPr lang="en-US"/>
          </a:p>
        </p:txBody>
      </p:sp>
      <p:sp>
        <p:nvSpPr>
          <p:cNvPr id="77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77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C5D440-115A-4F57-A3AC-A5D037A197E7}" type="slidenum">
              <a:rPr lang="en-US"/>
              <a:pPr/>
              <a:t>48</a:t>
            </a:fld>
            <a:endParaRPr lang="en-US"/>
          </a:p>
        </p:txBody>
      </p:sp>
      <p:sp>
        <p:nvSpPr>
          <p:cNvPr id="78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783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9B76C-1EE9-4FB0-A4F6-AD0E9825381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7CC40DC8-3F78-057F-7871-6BD1ED90C1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5967-0A4D-4B81-ACA3-870B92E25AC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21C62EDA-01A8-6817-E539-54FA4E5DD5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C8F0-04CE-422D-86C2-FEEA433FCB4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6714B5CA-9F81-6F1D-AA68-8F7815F68A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3D52E-D212-4708-A5C8-8924A8CA410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763DF185-1BBB-3F59-A1DB-9260599C42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415-FB52-46C2-8007-D452AA22007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C8152DB9-7140-D549-D0A2-7BD8E2A5D1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EE16C-538C-4179-B248-DB868A4F648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B43B71A9-FF99-5632-AC34-77D921F356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659EC-329D-43BA-95B1-B2934A3B83C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4A11519D-5490-DBD9-31B2-77C38F496C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EFD48-7217-4BF0-9D11-08055AB8308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9336ADE1-47E4-E9FB-60EB-FFD4E5EE9B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6E536-C955-4E3B-8F02-DA139273EC3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242DA282-F742-7907-78CA-1DE6C93D89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3287-1C01-4BF5-B8E3-AF6199221C7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6F7F9C38-604A-7737-918E-E7AF6489F8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2355C-310C-424C-94CC-8E0A94DEFB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934552C3-73AF-6A82-2058-0A0E941EEE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402D4-04EE-4539-8C84-FD4007F708E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gif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.gif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gif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gif"/><Relationship Id="rId3" Type="http://schemas.microsoft.com/office/2007/relationships/media" Target="../media/media3.mp4"/><Relationship Id="rId7" Type="http://schemas.openxmlformats.org/officeDocument/2006/relationships/image" Target="../media/image7.gif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notesSlide" Target="../notesSlides/notesSlide2.xml"/><Relationship Id="rId11" Type="http://schemas.openxmlformats.org/officeDocument/2006/relationships/image" Target="../media/image11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0.png"/><Relationship Id="rId4" Type="http://schemas.openxmlformats.org/officeDocument/2006/relationships/video" Target="../media/media3.mp4"/><Relationship Id="rId9" Type="http://schemas.openxmlformats.org/officeDocument/2006/relationships/image" Target="../media/image9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7" Type="http://schemas.openxmlformats.org/officeDocument/2006/relationships/image" Target="../media/image15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gif"/><Relationship Id="rId5" Type="http://schemas.openxmlformats.org/officeDocument/2006/relationships/image" Target="../media/image13.gif"/><Relationship Id="rId4" Type="http://schemas.openxmlformats.org/officeDocument/2006/relationships/image" Target="../media/image12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gif"/><Relationship Id="rId5" Type="http://schemas.openxmlformats.org/officeDocument/2006/relationships/image" Target="../media/image18.gif"/><Relationship Id="rId4" Type="http://schemas.openxmlformats.org/officeDocument/2006/relationships/image" Target="../media/image17.g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research.googleblog.com/2017/10/portrait-mode-on-pixel-2-and-pixel-2-xl.html" TargetMode="External"/><Relationship Id="rId3" Type="http://schemas.openxmlformats.org/officeDocument/2006/relationships/image" Target="../media/image30.png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graphics.stanford.edu/papers/hdrp/hasinoff-hdrplus-sigasia16-preprint.pdf" TargetMode="External"/><Relationship Id="rId5" Type="http://schemas.openxmlformats.org/officeDocument/2006/relationships/image" Target="../media/image32.png"/><Relationship Id="rId10" Type="http://schemas.openxmlformats.org/officeDocument/2006/relationships/hyperlink" Target="https://blog.google/products/photos/magic-eraser/" TargetMode="External"/><Relationship Id="rId4" Type="http://schemas.openxmlformats.org/officeDocument/2006/relationships/image" Target="../media/image31.png"/><Relationship Id="rId9" Type="http://schemas.openxmlformats.org/officeDocument/2006/relationships/image" Target="../media/image34.gi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e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8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video" Target="../media/media8.mp4"/><Relationship Id="rId13" Type="http://schemas.openxmlformats.org/officeDocument/2006/relationships/image" Target="../media/image45.png"/><Relationship Id="rId3" Type="http://schemas.microsoft.com/office/2007/relationships/media" Target="../media/media6.mp4"/><Relationship Id="rId7" Type="http://schemas.microsoft.com/office/2007/relationships/media" Target="../media/media8.mp4"/><Relationship Id="rId12" Type="http://schemas.openxmlformats.org/officeDocument/2006/relationships/image" Target="../media/image44.png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video" Target="../media/media7.mp4"/><Relationship Id="rId11" Type="http://schemas.openxmlformats.org/officeDocument/2006/relationships/image" Target="../media/image43.png"/><Relationship Id="rId5" Type="http://schemas.microsoft.com/office/2007/relationships/media" Target="../media/media7.mp4"/><Relationship Id="rId10" Type="http://schemas.openxmlformats.org/officeDocument/2006/relationships/image" Target="../media/image42.png"/><Relationship Id="rId4" Type="http://schemas.openxmlformats.org/officeDocument/2006/relationships/video" Target="../media/media6.mp4"/><Relationship Id="rId9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jpeg"/><Relationship Id="rId18" Type="http://schemas.openxmlformats.org/officeDocument/2006/relationships/image" Target="../media/image62.jpe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jpeg"/><Relationship Id="rId17" Type="http://schemas.openxmlformats.org/officeDocument/2006/relationships/image" Target="../media/image61.jpeg"/><Relationship Id="rId2" Type="http://schemas.openxmlformats.org/officeDocument/2006/relationships/image" Target="../media/image46.png"/><Relationship Id="rId16" Type="http://schemas.openxmlformats.org/officeDocument/2006/relationships/image" Target="../media/image60.jpeg"/><Relationship Id="rId20" Type="http://schemas.openxmlformats.org/officeDocument/2006/relationships/image" Target="../media/image6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jpeg"/><Relationship Id="rId5" Type="http://schemas.openxmlformats.org/officeDocument/2006/relationships/image" Target="../media/image49.png"/><Relationship Id="rId15" Type="http://schemas.openxmlformats.org/officeDocument/2006/relationships/image" Target="../media/image59.jpeg"/><Relationship Id="rId10" Type="http://schemas.openxmlformats.org/officeDocument/2006/relationships/image" Target="../media/image54.jpeg"/><Relationship Id="rId19" Type="http://schemas.openxmlformats.org/officeDocument/2006/relationships/image" Target="../media/image63.jpeg"/><Relationship Id="rId4" Type="http://schemas.openxmlformats.org/officeDocument/2006/relationships/image" Target="../media/image48.png"/><Relationship Id="rId9" Type="http://schemas.openxmlformats.org/officeDocument/2006/relationships/image" Target="../media/image53.jpeg"/><Relationship Id="rId14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5.gif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en.wikipedia.org/wiki/Automatic_number_plate_recognition" TargetMode="External"/><Relationship Id="rId5" Type="http://schemas.openxmlformats.org/officeDocument/2006/relationships/image" Target="../media/image66.png"/><Relationship Id="rId10" Type="http://schemas.openxmlformats.org/officeDocument/2006/relationships/image" Target="../media/image69.png"/><Relationship Id="rId4" Type="http://schemas.openxmlformats.org/officeDocument/2006/relationships/hyperlink" Target="http://yann.lecun.com/exdb/lenet/" TargetMode="External"/><Relationship Id="rId9" Type="http://schemas.openxmlformats.org/officeDocument/2006/relationships/hyperlink" Target="http://sudokugrab.blogspot.com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cl.cam.ac.uk/~jgd1000/afghan.html" TargetMode="External"/><Relationship Id="rId5" Type="http://schemas.openxmlformats.org/officeDocument/2006/relationships/image" Target="../media/image75.jpeg"/><Relationship Id="rId4" Type="http://schemas.openxmlformats.org/officeDocument/2006/relationships/image" Target="../media/image7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jpeg"/><Relationship Id="rId4" Type="http://schemas.openxmlformats.org/officeDocument/2006/relationships/hyperlink" Target="http://www.sensiblevision.com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graphics.stanford.edu/~niessner/thies2016face.html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hichfaceisreal.com/" TargetMode="External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jpeg"/><Relationship Id="rId4" Type="http://schemas.openxmlformats.org/officeDocument/2006/relationships/hyperlink" Target="http://www.howstuffworks.com/first-down-line.htm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obileye.com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jpeg"/><Relationship Id="rId3" Type="http://schemas.openxmlformats.org/officeDocument/2006/relationships/hyperlink" Target="https://en.wikipedia.org/wiki/Curiosity_(rover)" TargetMode="External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0.png"/><Relationship Id="rId5" Type="http://schemas.openxmlformats.org/officeDocument/2006/relationships/hyperlink" Target="http://www.robocup2016.org/en/events/amazon-picking-challenge/" TargetMode="External"/><Relationship Id="rId4" Type="http://schemas.openxmlformats.org/officeDocument/2006/relationships/image" Target="../media/image89.jpe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cs.stanford.edu/people/esteva/nature/" TargetMode="External"/><Relationship Id="rId3" Type="http://schemas.openxmlformats.org/officeDocument/2006/relationships/tags" Target="../tags/tag4.xml"/><Relationship Id="rId7" Type="http://schemas.openxmlformats.org/officeDocument/2006/relationships/image" Target="../media/image94.jpe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93.png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10" Type="http://schemas.openxmlformats.org/officeDocument/2006/relationships/hyperlink" Target="https://flic.kr/p/RnT3iG" TargetMode="External"/><Relationship Id="rId4" Type="http://schemas.openxmlformats.org/officeDocument/2006/relationships/image" Target="../media/image100.png"/><Relationship Id="rId9" Type="http://schemas.openxmlformats.org/officeDocument/2006/relationships/image" Target="../media/image105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jpe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15.png"/><Relationship Id="rId4" Type="http://schemas.openxmlformats.org/officeDocument/2006/relationships/image" Target="../media/image112.wmf"/><Relationship Id="rId9" Type="http://schemas.openxmlformats.org/officeDocument/2006/relationships/oleObject" Target="../embeddings/oleObject4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jp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12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23.jpeg"/><Relationship Id="rId11" Type="http://schemas.openxmlformats.org/officeDocument/2006/relationships/image" Target="../media/image128.jpeg"/><Relationship Id="rId5" Type="http://schemas.openxmlformats.org/officeDocument/2006/relationships/image" Target="../media/image122.jpeg"/><Relationship Id="rId10" Type="http://schemas.openxmlformats.org/officeDocument/2006/relationships/image" Target="../media/image127.png"/><Relationship Id="rId4" Type="http://schemas.openxmlformats.org/officeDocument/2006/relationships/image" Target="../media/image121.jpeg"/><Relationship Id="rId9" Type="http://schemas.openxmlformats.org/officeDocument/2006/relationships/image" Target="../media/image126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hyperlink" Target="https://www.ids-imaging.us/whitepaper-details/whitepaper-depth-information-3d-images.html" TargetMode="External"/><Relationship Id="rId3" Type="http://schemas.openxmlformats.org/officeDocument/2006/relationships/tags" Target="../tags/tag9.xml"/><Relationship Id="rId7" Type="http://schemas.openxmlformats.org/officeDocument/2006/relationships/notesSlide" Target="../notesSlides/notesSlide25.xml"/><Relationship Id="rId12" Type="http://schemas.openxmlformats.org/officeDocument/2006/relationships/image" Target="../media/image133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32.png"/><Relationship Id="rId5" Type="http://schemas.openxmlformats.org/officeDocument/2006/relationships/tags" Target="../tags/tag11.xml"/><Relationship Id="rId10" Type="http://schemas.openxmlformats.org/officeDocument/2006/relationships/image" Target="../media/image131.png"/><Relationship Id="rId4" Type="http://schemas.openxmlformats.org/officeDocument/2006/relationships/tags" Target="../tags/tag10.xml"/><Relationship Id="rId9" Type="http://schemas.openxmlformats.org/officeDocument/2006/relationships/image" Target="../media/image13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tags" Target="../tags/tag14.xml"/><Relationship Id="rId7" Type="http://schemas.openxmlformats.org/officeDocument/2006/relationships/image" Target="../media/image135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134.jpeg"/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76200" y="150875"/>
            <a:ext cx="12649200" cy="839726"/>
          </a:xfrm>
        </p:spPr>
        <p:txBody>
          <a:bodyPr>
            <a:noAutofit/>
          </a:bodyPr>
          <a:lstStyle/>
          <a:p>
            <a:r>
              <a:rPr lang="en-US" sz="4000" b="1" dirty="0"/>
              <a:t>CS5187: Vision &amp; Image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914400"/>
            <a:ext cx="6380335" cy="77387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Instructor: Zhu Zhiyu</a:t>
            </a:r>
          </a:p>
        </p:txBody>
      </p:sp>
      <p:sp>
        <p:nvSpPr>
          <p:cNvPr id="4" name="Rectangle 3"/>
          <p:cNvSpPr/>
          <p:nvPr/>
        </p:nvSpPr>
        <p:spPr>
          <a:xfrm>
            <a:off x="-76200" y="1600200"/>
            <a:ext cx="12344400" cy="4572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101600" dist="762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user-beIGlQui4GOQ99gcAA52SkYj_gen_01kezjxa8fe2htke8fgas6r0f6_watermarked_md">
            <a:hlinkClick r:id="" action="ppaction://media"/>
            <a:extLst>
              <a:ext uri="{FF2B5EF4-FFF2-40B4-BE49-F238E27FC236}">
                <a16:creationId xmlns:a16="http://schemas.microsoft.com/office/drawing/2014/main" id="{5F636531-547B-3BF5-BA55-3D978489A76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85800" y="1990083"/>
            <a:ext cx="2895600" cy="4688467"/>
          </a:xfrm>
          <a:prstGeom prst="rect">
            <a:avLst/>
          </a:prstGeom>
        </p:spPr>
      </p:pic>
      <p:sp>
        <p:nvSpPr>
          <p:cNvPr id="15" name="AutoShape 4">
            <a:extLst>
              <a:ext uri="{FF2B5EF4-FFF2-40B4-BE49-F238E27FC236}">
                <a16:creationId xmlns:a16="http://schemas.microsoft.com/office/drawing/2014/main" id="{04D6CFBD-B341-3BD3-E57B-E772FBB9C4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7" name="图片 16" descr="图片包含 室内, 桌子, 前, 木&#10;&#10;AI 生成的内容可能不正确。">
            <a:extLst>
              <a:ext uri="{FF2B5EF4-FFF2-40B4-BE49-F238E27FC236}">
                <a16:creationId xmlns:a16="http://schemas.microsoft.com/office/drawing/2014/main" id="{03BCFD46-E8F1-FC46-9587-F4E0454128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4392550"/>
            <a:ext cx="3810000" cy="2286000"/>
          </a:xfrm>
          <a:prstGeom prst="rect">
            <a:avLst/>
          </a:prstGeom>
        </p:spPr>
      </p:pic>
      <p:pic>
        <p:nvPicPr>
          <p:cNvPr id="19" name="图片 18" descr="卡车停在路边&#10;&#10;AI 生成的内容可能不正确。">
            <a:extLst>
              <a:ext uri="{FF2B5EF4-FFF2-40B4-BE49-F238E27FC236}">
                <a16:creationId xmlns:a16="http://schemas.microsoft.com/office/drawing/2014/main" id="{D8433293-FAD1-FB09-E97E-E2E1F00EE5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1990083"/>
            <a:ext cx="3810000" cy="2286000"/>
          </a:xfrm>
          <a:prstGeom prst="rect">
            <a:avLst/>
          </a:prstGeom>
        </p:spPr>
      </p:pic>
      <p:pic>
        <p:nvPicPr>
          <p:cNvPr id="23" name="图片 22" descr="地图上有字&#10;&#10;AI 生成的内容可能不正确。">
            <a:extLst>
              <a:ext uri="{FF2B5EF4-FFF2-40B4-BE49-F238E27FC236}">
                <a16:creationId xmlns:a16="http://schemas.microsoft.com/office/drawing/2014/main" id="{85DB2337-F5BD-7FFA-564C-A6A78287E7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84"/>
          <a:stretch>
            <a:fillRect/>
          </a:stretch>
        </p:blipFill>
        <p:spPr>
          <a:xfrm>
            <a:off x="9067800" y="5105400"/>
            <a:ext cx="1981200" cy="1524000"/>
          </a:xfrm>
          <a:prstGeom prst="rect">
            <a:avLst/>
          </a:prstGeom>
        </p:spPr>
      </p:pic>
      <p:pic>
        <p:nvPicPr>
          <p:cNvPr id="21" name="图片 20" descr="地图上有字&#10;&#10;AI 生成的内容可能不正确。">
            <a:extLst>
              <a:ext uri="{FF2B5EF4-FFF2-40B4-BE49-F238E27FC236}">
                <a16:creationId xmlns:a16="http://schemas.microsoft.com/office/drawing/2014/main" id="{7EB550D8-2165-FF48-9E9C-B1D0646042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984"/>
          <a:stretch>
            <a:fillRect/>
          </a:stretch>
        </p:blipFill>
        <p:spPr>
          <a:xfrm>
            <a:off x="7580588" y="4392550"/>
            <a:ext cx="2193373" cy="1687210"/>
          </a:xfrm>
          <a:prstGeom prst="rect">
            <a:avLst/>
          </a:prstGeom>
        </p:spPr>
      </p:pic>
      <p:sp>
        <p:nvSpPr>
          <p:cNvPr id="24" name="AutoShape 6" descr="Logo">
            <a:extLst>
              <a:ext uri="{FF2B5EF4-FFF2-40B4-BE49-F238E27FC236}">
                <a16:creationId xmlns:a16="http://schemas.microsoft.com/office/drawing/2014/main" id="{6F418880-0904-0221-6461-C1BBF75C50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7" name="Picture 2" descr="Logo">
            <a:extLst>
              <a:ext uri="{FF2B5EF4-FFF2-40B4-BE49-F238E27FC236}">
                <a16:creationId xmlns:a16="http://schemas.microsoft.com/office/drawing/2014/main" id="{F4D23012-0ADB-B980-FA9F-3B660DAC9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0588" y="1987859"/>
            <a:ext cx="3468412" cy="2313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1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Instructor</a:t>
            </a:r>
          </a:p>
        </p:txBody>
      </p:sp>
      <p:sp>
        <p:nvSpPr>
          <p:cNvPr id="67481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11277600" cy="5181600"/>
          </a:xfrm>
        </p:spPr>
        <p:txBody>
          <a:bodyPr>
            <a:normAutofit/>
          </a:bodyPr>
          <a:lstStyle/>
          <a:p>
            <a:r>
              <a:rPr lang="en-US" dirty="0"/>
              <a:t>Zhu Zhiyu (zhiyu.zhu@cityu.edu.hk)</a:t>
            </a:r>
            <a:br>
              <a:rPr lang="en-US" dirty="0"/>
            </a:br>
            <a:endParaRPr lang="en-US" dirty="0"/>
          </a:p>
          <a:p>
            <a:r>
              <a:rPr lang="en-US" dirty="0"/>
              <a:t>Research interests: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Computer vision and </a:t>
            </a:r>
            <a:r>
              <a:rPr lang="en-US" altLang="zh-CN" dirty="0"/>
              <a:t>computational imaging</a:t>
            </a:r>
          </a:p>
          <a:p>
            <a:pPr lvl="1"/>
            <a:endParaRPr lang="en-US" dirty="0"/>
          </a:p>
          <a:p>
            <a:pPr lvl="1"/>
            <a:r>
              <a:rPr lang="en-US" altLang="zh-CN" dirty="0"/>
              <a:t>Machine learning (Generative models)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research work</a:t>
            </a:r>
          </a:p>
        </p:txBody>
      </p:sp>
      <p:sp>
        <p:nvSpPr>
          <p:cNvPr id="827395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371600"/>
            <a:ext cx="10363200" cy="1219200"/>
          </a:xfrm>
        </p:spPr>
        <p:txBody>
          <a:bodyPr/>
          <a:lstStyle/>
          <a:p>
            <a:r>
              <a:rPr lang="en-US" altLang="zh-CN" dirty="0"/>
              <a:t>Novel view Synthesis from single static images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31622FB-8356-70D7-8F09-70F2ACE1A6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24600" y="3124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78FEADD-A89D-809B-DC64-A5786B519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987778"/>
            <a:ext cx="2895600" cy="1737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3FD2E42-0801-B86C-9745-10FBFB311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987778"/>
            <a:ext cx="2895600" cy="1737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8">
            <a:extLst>
              <a:ext uri="{FF2B5EF4-FFF2-40B4-BE49-F238E27FC236}">
                <a16:creationId xmlns:a16="http://schemas.microsoft.com/office/drawing/2014/main" id="{B601629E-07E9-0222-DC1C-F1147FEC5E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70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10">
            <a:extLst>
              <a:ext uri="{FF2B5EF4-FFF2-40B4-BE49-F238E27FC236}">
                <a16:creationId xmlns:a16="http://schemas.microsoft.com/office/drawing/2014/main" id="{86F6D92B-3691-2ACD-06C5-6351C69BD0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294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ED86C4F5-9A7C-E430-C9EC-8E9E8C09D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987778"/>
            <a:ext cx="2895600" cy="1737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46B7A9C2-4E26-1F74-9F9E-C0B15B44A721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3816578"/>
            <a:ext cx="10363200" cy="121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b="0" dirty="0"/>
              <a:t>3D content generation</a:t>
            </a:r>
            <a:endParaRPr lang="en-US" b="0" dirty="0">
              <a:solidFill>
                <a:srgbClr val="FFFF00"/>
              </a:solidFill>
            </a:endParaRPr>
          </a:p>
        </p:txBody>
      </p:sp>
      <p:pic>
        <p:nvPicPr>
          <p:cNvPr id="13" name="video1">
            <a:hlinkClick r:id="" action="ppaction://media"/>
            <a:extLst>
              <a:ext uri="{FF2B5EF4-FFF2-40B4-BE49-F238E27FC236}">
                <a16:creationId xmlns:a16="http://schemas.microsoft.com/office/drawing/2014/main" id="{4B3C95DB-0A07-DD4F-8E1D-2AE9AB348A8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287177" y="4380408"/>
            <a:ext cx="4365625" cy="2455664"/>
          </a:xfrm>
          <a:prstGeom prst="rect">
            <a:avLst/>
          </a:prstGeom>
        </p:spPr>
      </p:pic>
      <p:pic>
        <p:nvPicPr>
          <p:cNvPr id="14" name="video2">
            <a:hlinkClick r:id="" action="ppaction://media"/>
            <a:extLst>
              <a:ext uri="{FF2B5EF4-FFF2-40B4-BE49-F238E27FC236}">
                <a16:creationId xmlns:a16="http://schemas.microsoft.com/office/drawing/2014/main" id="{0393D436-8222-8986-5F52-4E6EDE5C1133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324600" y="4405077"/>
            <a:ext cx="4365625" cy="245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365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47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447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2447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remove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16" repeatCount="indefinite" fill="remove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3F885-C71E-815A-7718-56836A776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4" name="Rectangle 2">
            <a:extLst>
              <a:ext uri="{FF2B5EF4-FFF2-40B4-BE49-F238E27FC236}">
                <a16:creationId xmlns:a16="http://schemas.microsoft.com/office/drawing/2014/main" id="{D3FFB978-5F74-F7A5-D0A0-E818D4C807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research work</a:t>
            </a:r>
          </a:p>
        </p:txBody>
      </p:sp>
      <p:sp>
        <p:nvSpPr>
          <p:cNvPr id="827395" name="Rectangle 3">
            <a:extLst>
              <a:ext uri="{FF2B5EF4-FFF2-40B4-BE49-F238E27FC236}">
                <a16:creationId xmlns:a16="http://schemas.microsoft.com/office/drawing/2014/main" id="{E4729793-06C3-0F49-18B5-E7440A85C7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371600"/>
            <a:ext cx="10363200" cy="1219200"/>
          </a:xfrm>
        </p:spPr>
        <p:txBody>
          <a:bodyPr/>
          <a:lstStyle/>
          <a:p>
            <a:r>
              <a:rPr lang="en-US" altLang="zh-CN" dirty="0"/>
              <a:t>Object tracking &amp; detection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60A2A6B7-047C-74FA-ED7D-B22E5D1556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10955" y="302157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F38A26AE-0848-EB9A-709A-0D92010E7D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63355" y="317397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10">
            <a:extLst>
              <a:ext uri="{FF2B5EF4-FFF2-40B4-BE49-F238E27FC236}">
                <a16:creationId xmlns:a16="http://schemas.microsoft.com/office/drawing/2014/main" id="{38E85FBD-71F3-1F28-FE50-B21F7223C4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15755" y="332637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050" name="Picture 2" descr="Logo">
            <a:extLst>
              <a:ext uri="{FF2B5EF4-FFF2-40B4-BE49-F238E27FC236}">
                <a16:creationId xmlns:a16="http://schemas.microsoft.com/office/drawing/2014/main" id="{17BCDD00-5501-8420-A589-60C4B6D5F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992083"/>
            <a:ext cx="3073215" cy="2050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8E9CD63-DBC6-082D-F932-6C090157C2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708" y="2009843"/>
            <a:ext cx="3073215" cy="212267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82BF069-AE5B-3DDD-A45F-EA33AE29C6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5291" y="1992083"/>
            <a:ext cx="2572309" cy="2227899"/>
          </a:xfrm>
          <a:prstGeom prst="rect">
            <a:avLst/>
          </a:prstGeom>
        </p:spPr>
      </p:pic>
      <p:sp>
        <p:nvSpPr>
          <p:cNvPr id="9" name="AutoShape 4" descr="The Essentials of 3D vs 2D Object Detection | by Abirami Vina | Nerd For  Tech | Medium">
            <a:extLst>
              <a:ext uri="{FF2B5EF4-FFF2-40B4-BE49-F238E27FC236}">
                <a16:creationId xmlns:a16="http://schemas.microsoft.com/office/drawing/2014/main" id="{042AD534-D4A7-4EE9-FA64-926336BB74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AutoShape 6" descr="The Essentials of 3D vs 2D Object Detection | by Abirami Vina | Nerd For  Tech | Medium">
            <a:extLst>
              <a:ext uri="{FF2B5EF4-FFF2-40B4-BE49-F238E27FC236}">
                <a16:creationId xmlns:a16="http://schemas.microsoft.com/office/drawing/2014/main" id="{2E593A1A-FA5C-B7FF-3098-A29B418B29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6E2B1EC-BF10-3484-6FAA-C063FB9E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448582"/>
            <a:ext cx="48768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9C9B219-4510-58C0-9B58-A9672CCEC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6020" y="4454138"/>
            <a:ext cx="5143500" cy="128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3712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F06F7-E34E-D61B-48A8-69E8BD3E7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4" name="Rectangle 2">
            <a:extLst>
              <a:ext uri="{FF2B5EF4-FFF2-40B4-BE49-F238E27FC236}">
                <a16:creationId xmlns:a16="http://schemas.microsoft.com/office/drawing/2014/main" id="{A9A93064-BF59-65D8-739B-275A3E19BC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research work</a:t>
            </a:r>
          </a:p>
        </p:txBody>
      </p:sp>
      <p:sp>
        <p:nvSpPr>
          <p:cNvPr id="827395" name="Rectangle 3">
            <a:extLst>
              <a:ext uri="{FF2B5EF4-FFF2-40B4-BE49-F238E27FC236}">
                <a16:creationId xmlns:a16="http://schemas.microsoft.com/office/drawing/2014/main" id="{3BAC3BF2-8BCC-450E-6B5F-43454F5168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371600"/>
            <a:ext cx="10363200" cy="1219200"/>
          </a:xfrm>
        </p:spPr>
        <p:txBody>
          <a:bodyPr/>
          <a:lstStyle/>
          <a:p>
            <a:r>
              <a:rPr lang="en-US" altLang="zh-CN" dirty="0"/>
              <a:t>Generative models</a:t>
            </a:r>
            <a:r>
              <a:rPr lang="en-US" altLang="zh-CN" dirty="0">
                <a:solidFill>
                  <a:srgbClr val="FFFF00"/>
                </a:solidFill>
              </a:rPr>
              <a:t> </a:t>
            </a:r>
            <a:r>
              <a:rPr lang="en-US" altLang="zh-CN" dirty="0"/>
              <a:t>&amp; network learning theory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4751C94B-12B0-A5C9-AFE5-7656D505E4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10955" y="302157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A7526181-120C-A797-2284-101B4D6173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63355" y="317397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10">
            <a:extLst>
              <a:ext uri="{FF2B5EF4-FFF2-40B4-BE49-F238E27FC236}">
                <a16:creationId xmlns:a16="http://schemas.microsoft.com/office/drawing/2014/main" id="{17B2AADF-A20F-DC15-46CA-64BC67865D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15755" y="332637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4" descr="The Essentials of 3D vs 2D Object Detection | by Abirami Vina | Nerd For  Tech | Medium">
            <a:extLst>
              <a:ext uri="{FF2B5EF4-FFF2-40B4-BE49-F238E27FC236}">
                <a16:creationId xmlns:a16="http://schemas.microsoft.com/office/drawing/2014/main" id="{D4652D88-C030-00F6-8F30-04DE98A21E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AutoShape 6" descr="The Essentials of 3D vs 2D Object Detection | by Abirami Vina | Nerd For  Tech | Medium">
            <a:extLst>
              <a:ext uri="{FF2B5EF4-FFF2-40B4-BE49-F238E27FC236}">
                <a16:creationId xmlns:a16="http://schemas.microsoft.com/office/drawing/2014/main" id="{171E589B-9A1D-0CE9-95B9-F929D2743F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F0976663-2BD6-0023-089B-192B546BE4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70" b="2574"/>
          <a:stretch>
            <a:fillRect/>
          </a:stretch>
        </p:blipFill>
        <p:spPr>
          <a:xfrm>
            <a:off x="7597848" y="2003357"/>
            <a:ext cx="3373460" cy="2343814"/>
          </a:xfrm>
          <a:prstGeom prst="rect">
            <a:avLst/>
          </a:prstGeom>
        </p:spPr>
      </p:pic>
      <p:pic>
        <p:nvPicPr>
          <p:cNvPr id="11" name="Picture 2" descr="Interpolate start reference image.">
            <a:extLst>
              <a:ext uri="{FF2B5EF4-FFF2-40B4-BE49-F238E27FC236}">
                <a16:creationId xmlns:a16="http://schemas.microsoft.com/office/drawing/2014/main" id="{03147AF8-239F-F81B-4DC7-93540DB7C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03356"/>
            <a:ext cx="3121660" cy="2341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nterpolate start reference image.">
            <a:extLst>
              <a:ext uri="{FF2B5EF4-FFF2-40B4-BE49-F238E27FC236}">
                <a16:creationId xmlns:a16="http://schemas.microsoft.com/office/drawing/2014/main" id="{0CCA1C14-C7AD-2E29-86F4-5A569C9E0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124" y="2003355"/>
            <a:ext cx="3121660" cy="2341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 descriptive text for the GIF">
            <a:extLst>
              <a:ext uri="{FF2B5EF4-FFF2-40B4-BE49-F238E27FC236}">
                <a16:creationId xmlns:a16="http://schemas.microsoft.com/office/drawing/2014/main" id="{BD1A5A67-7DA6-49E0-296D-79BF1301B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20" y="4551218"/>
            <a:ext cx="7620000" cy="1870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9891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</a:t>
            </a:r>
          </a:p>
        </p:txBody>
      </p:sp>
      <p:sp>
        <p:nvSpPr>
          <p:cNvPr id="670723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600201"/>
            <a:ext cx="10515600" cy="4876799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3600" dirty="0"/>
              <a:t>What is computer vision?</a:t>
            </a:r>
          </a:p>
          <a:p>
            <a:pPr marL="514350" indent="-514350">
              <a:buAutoNum type="arabicPeriod"/>
            </a:pPr>
            <a:endParaRPr lang="en-US" sz="3600" dirty="0"/>
          </a:p>
          <a:p>
            <a:pPr marL="514350" indent="-514350">
              <a:buAutoNum type="arabicPeriod"/>
            </a:pPr>
            <a:r>
              <a:rPr lang="en-US" sz="3600" dirty="0"/>
              <a:t>Why study computer vision?</a:t>
            </a:r>
          </a:p>
          <a:p>
            <a:pPr marL="514350" indent="-514350">
              <a:buAutoNum type="arabicPeriod"/>
            </a:pPr>
            <a:endParaRPr lang="en-US" sz="3600" dirty="0"/>
          </a:p>
          <a:p>
            <a:pPr marL="514350" indent="-514350">
              <a:buAutoNum type="arabicPeriod"/>
            </a:pPr>
            <a:r>
              <a:rPr lang="en-US" sz="3600" dirty="0"/>
              <a:t>Course overview</a:t>
            </a:r>
          </a:p>
          <a:p>
            <a:pPr marL="514350" indent="-514350">
              <a:buAutoNum type="arabicPeriod"/>
            </a:pPr>
            <a:endParaRPr lang="en-US" sz="3600" dirty="0"/>
          </a:p>
          <a:p>
            <a:pPr marL="514350" indent="-514350">
              <a:buAutoNum type="arabicPeriod"/>
            </a:pPr>
            <a:r>
              <a:rPr lang="en-US" sz="3600" dirty="0"/>
              <a:t>Images &amp; image filtering [time permitting]</a:t>
            </a:r>
          </a:p>
          <a:p>
            <a:pPr marL="0" indent="0">
              <a:buNone/>
            </a:pP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/>
              <a:t>Every image tells a story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24400" y="1524000"/>
            <a:ext cx="5638800" cy="4648200"/>
          </a:xfrm>
        </p:spPr>
        <p:txBody>
          <a:bodyPr>
            <a:normAutofit/>
          </a:bodyPr>
          <a:lstStyle/>
          <a:p>
            <a:r>
              <a:rPr lang="en-US" dirty="0"/>
              <a:t>Goal of computer vision: perceive the “story” behind the picture</a:t>
            </a:r>
          </a:p>
          <a:p>
            <a:r>
              <a:rPr lang="en-US" dirty="0"/>
              <a:t>Compute properties of the world</a:t>
            </a:r>
          </a:p>
          <a:p>
            <a:pPr lvl="1"/>
            <a:r>
              <a:rPr lang="en-US" dirty="0"/>
              <a:t>3D shape</a:t>
            </a:r>
          </a:p>
          <a:p>
            <a:pPr lvl="1"/>
            <a:r>
              <a:rPr lang="en-US" dirty="0"/>
              <a:t> Names of people or objects</a:t>
            </a:r>
          </a:p>
          <a:p>
            <a:pPr lvl="1"/>
            <a:r>
              <a:rPr lang="en-US" dirty="0"/>
              <a:t>What happened?</a:t>
            </a:r>
          </a:p>
        </p:txBody>
      </p:sp>
      <p:pic>
        <p:nvPicPr>
          <p:cNvPr id="6" name="Picture 5" descr="U121">
            <a:extLst>
              <a:ext uri="{FF2B5EF4-FFF2-40B4-BE49-F238E27FC236}">
                <a16:creationId xmlns:a16="http://schemas.microsoft.com/office/drawing/2014/main" id="{B7F80E69-1325-4B1E-9ACD-7285B4A51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618686"/>
            <a:ext cx="341194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1600" dist="762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/>
              <a:t>The goal of computer vision</a:t>
            </a:r>
          </a:p>
        </p:txBody>
      </p:sp>
      <p:pic>
        <p:nvPicPr>
          <p:cNvPr id="19460" name="Picture 5" descr="U12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1600200"/>
            <a:ext cx="341194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1600" dist="762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1676400"/>
            <a:ext cx="4495800" cy="4528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/>
              <a:t>Can computers match human perception?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848464" y="1432718"/>
            <a:ext cx="5733936" cy="5196681"/>
          </a:xfrm>
        </p:spPr>
        <p:txBody>
          <a:bodyPr>
            <a:normAutofit/>
          </a:bodyPr>
          <a:lstStyle/>
          <a:p>
            <a:r>
              <a:rPr lang="en-US" dirty="0"/>
              <a:t>Yes and no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humans are better at “hard” things, are more robust, and make inferences quickly and cheaply</a:t>
            </a:r>
          </a:p>
          <a:p>
            <a:pPr lvl="1"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dirty="0"/>
              <a:t>But huge progress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Accelerating in the last 10 years due to deep learning, large vision-language models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What is considered “hard” keeps changing</a:t>
            </a:r>
          </a:p>
        </p:txBody>
      </p:sp>
      <p:pic>
        <p:nvPicPr>
          <p:cNvPr id="19460" name="Picture 5" descr="U12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1600200"/>
            <a:ext cx="341194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1600" dist="762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Human perception has its shortcomings</a:t>
            </a:r>
          </a:p>
        </p:txBody>
      </p:sp>
      <p:pic>
        <p:nvPicPr>
          <p:cNvPr id="4098" name="Picture 2" descr="Image">
            <a:extLst>
              <a:ext uri="{FF2B5EF4-FFF2-40B4-BE49-F238E27FC236}">
                <a16:creationId xmlns:a16="http://schemas.microsoft.com/office/drawing/2014/main" id="{8F09A4D2-5341-40EE-9402-55BEAA08F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447800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A3A99B-477B-4422-A7DD-E6CD0C8C0EFE}"/>
              </a:ext>
            </a:extLst>
          </p:cNvPr>
          <p:cNvSpPr txBox="1"/>
          <p:nvPr/>
        </p:nvSpPr>
        <p:spPr>
          <a:xfrm>
            <a:off x="3048733" y="6348900"/>
            <a:ext cx="60974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chemeClr val="accent1"/>
                </a:solidFill>
                <a:latin typeface="+mj-lt"/>
              </a:rPr>
              <a:t>https://twitter.com/pickover/status/1460275132958662657/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But humans can tell a lot about a scene from a little information…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828801"/>
            <a:ext cx="3848100" cy="3840215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1285552" y="5638801"/>
            <a:ext cx="3563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kern="0" dirty="0">
                <a:solidFill>
                  <a:sysClr val="windowText" lastClr="000000"/>
                </a:solidFill>
              </a:rPr>
              <a:t>Source: “80 million tiny images” by </a:t>
            </a:r>
            <a:r>
              <a:rPr lang="en-US" b="0" kern="0" dirty="0" err="1">
                <a:solidFill>
                  <a:sysClr val="windowText" lastClr="000000"/>
                </a:solidFill>
              </a:rPr>
              <a:t>Torralba</a:t>
            </a:r>
            <a:r>
              <a:rPr lang="en-US" b="0" kern="0" dirty="0">
                <a:solidFill>
                  <a:sysClr val="windowText" lastClr="000000"/>
                </a:solidFill>
              </a:rPr>
              <a:t>, et al.</a:t>
            </a:r>
          </a:p>
        </p:txBody>
      </p:sp>
      <p:pic>
        <p:nvPicPr>
          <p:cNvPr id="6" name="图片 5" descr="图片包含 游戏机&#10;&#10;AI 生成的内容可能不正确。">
            <a:extLst>
              <a:ext uri="{FF2B5EF4-FFF2-40B4-BE49-F238E27FC236}">
                <a16:creationId xmlns:a16="http://schemas.microsoft.com/office/drawing/2014/main" id="{558B136C-43CF-F5BC-DE26-2496F5F56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867369"/>
            <a:ext cx="4904762" cy="37428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goal of computer vision</a:t>
            </a:r>
          </a:p>
        </p:txBody>
      </p:sp>
      <p:pic>
        <p:nvPicPr>
          <p:cNvPr id="10936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1447800"/>
            <a:ext cx="771525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goal of computer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295400"/>
            <a:ext cx="8991600" cy="685800"/>
          </a:xfrm>
        </p:spPr>
        <p:txBody>
          <a:bodyPr/>
          <a:lstStyle/>
          <a:p>
            <a:r>
              <a:rPr lang="en-US" dirty="0"/>
              <a:t>“Enhance” images</a:t>
            </a:r>
          </a:p>
        </p:txBody>
      </p:sp>
      <p:pic>
        <p:nvPicPr>
          <p:cNvPr id="5" name="图片 4" descr="猫的照片上写着字&#10;&#10;AI 生成的内容可能不正确。">
            <a:extLst>
              <a:ext uri="{FF2B5EF4-FFF2-40B4-BE49-F238E27FC236}">
                <a16:creationId xmlns:a16="http://schemas.microsoft.com/office/drawing/2014/main" id="{BD429712-325D-A1A6-8C00-36CF19FC3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87" y="1943100"/>
            <a:ext cx="2800000" cy="4171429"/>
          </a:xfrm>
          <a:prstGeom prst="rect">
            <a:avLst/>
          </a:prstGeom>
        </p:spPr>
      </p:pic>
      <p:pic>
        <p:nvPicPr>
          <p:cNvPr id="7" name="图片 6" descr="电脑萤幕画面&#10;&#10;AI 生成的内容可能不正确。">
            <a:extLst>
              <a:ext uri="{FF2B5EF4-FFF2-40B4-BE49-F238E27FC236}">
                <a16:creationId xmlns:a16="http://schemas.microsoft.com/office/drawing/2014/main" id="{8B37B11C-CE16-D4E1-5BFC-C0919B68D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425" y="1933577"/>
            <a:ext cx="2752381" cy="4180952"/>
          </a:xfrm>
          <a:prstGeom prst="rect">
            <a:avLst/>
          </a:prstGeom>
        </p:spPr>
      </p:pic>
      <p:pic>
        <p:nvPicPr>
          <p:cNvPr id="9" name="图片 8" descr="人的照片上写着字&#10;&#10;AI 生成的内容可能不正确。">
            <a:extLst>
              <a:ext uri="{FF2B5EF4-FFF2-40B4-BE49-F238E27FC236}">
                <a16:creationId xmlns:a16="http://schemas.microsoft.com/office/drawing/2014/main" id="{95B03760-2E92-7E29-BD74-BBEE8318AB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933577"/>
            <a:ext cx="2638419" cy="4152563"/>
          </a:xfrm>
          <a:prstGeom prst="rect">
            <a:avLst/>
          </a:prstGeom>
        </p:spPr>
      </p:pic>
      <p:pic>
        <p:nvPicPr>
          <p:cNvPr id="11" name="图片 10" descr="人不同表情的照片&#10;&#10;AI 生成的内容可能不正确。">
            <a:extLst>
              <a:ext uri="{FF2B5EF4-FFF2-40B4-BE49-F238E27FC236}">
                <a16:creationId xmlns:a16="http://schemas.microsoft.com/office/drawing/2014/main" id="{D89B38CB-8FF2-EABD-F75B-BD8E16B33E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9403" y="1933577"/>
            <a:ext cx="2620285" cy="41525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goal of computer vision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299FB7-2E3D-4290-A43A-B4025F724773}"/>
              </a:ext>
            </a:extLst>
          </p:cNvPr>
          <p:cNvGrpSpPr/>
          <p:nvPr/>
        </p:nvGrpSpPr>
        <p:grpSpPr>
          <a:xfrm>
            <a:off x="533400" y="1944409"/>
            <a:ext cx="4062417" cy="2014771"/>
            <a:chOff x="254977" y="1957511"/>
            <a:chExt cx="4062417" cy="2014771"/>
          </a:xfrm>
        </p:grpSpPr>
        <p:sp>
          <p:nvSpPr>
            <p:cNvPr id="27" name="TextBox 26"/>
            <p:cNvSpPr txBox="1"/>
            <p:nvPr/>
          </p:nvSpPr>
          <p:spPr>
            <a:xfrm>
              <a:off x="757925" y="3633728"/>
              <a:ext cx="3048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0" dirty="0">
                  <a:solidFill>
                    <a:schemeClr val="tx1"/>
                  </a:solidFill>
                  <a:latin typeface="+mn-lt"/>
                </a:rPr>
                <a:t>Super-resolution (source: 2d3)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F0DD811-3DDC-40FC-9879-680C4D70933A}"/>
                </a:ext>
              </a:extLst>
            </p:cNvPr>
            <p:cNvGrpSpPr/>
            <p:nvPr/>
          </p:nvGrpSpPr>
          <p:grpSpPr>
            <a:xfrm>
              <a:off x="254977" y="1957511"/>
              <a:ext cx="4062417" cy="1648713"/>
              <a:chOff x="254977" y="1957512"/>
              <a:chExt cx="4149673" cy="1613310"/>
            </a:xfrm>
          </p:grpSpPr>
          <p:pic>
            <p:nvPicPr>
              <p:cNvPr id="1002497" name="Picture 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254977" y="2316162"/>
                <a:ext cx="773723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2" name="Picture 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04800" y="2362200"/>
                <a:ext cx="773723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3" name="Picture 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81000" y="2438400"/>
                <a:ext cx="773723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4" name="Picture 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57200" y="2514600"/>
                <a:ext cx="773723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5" name="Picture 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533400" y="2590800"/>
                <a:ext cx="773723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26" name="Right Arrow 25"/>
              <p:cNvSpPr/>
              <p:nvPr/>
            </p:nvSpPr>
            <p:spPr>
              <a:xfrm>
                <a:off x="1405545" y="2560638"/>
                <a:ext cx="367373" cy="304800"/>
              </a:xfrm>
              <a:prstGeom prst="rightArrow">
                <a:avLst>
                  <a:gd name="adj1" fmla="val 50000"/>
                  <a:gd name="adj2" fmla="val 79508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02499" name="Picture 3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890050" y="1957512"/>
                <a:ext cx="2514600" cy="16133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661DCF7-A8F8-470D-9351-0CF6262754EA}"/>
              </a:ext>
            </a:extLst>
          </p:cNvPr>
          <p:cNvGrpSpPr/>
          <p:nvPr/>
        </p:nvGrpSpPr>
        <p:grpSpPr>
          <a:xfrm>
            <a:off x="113193" y="4132764"/>
            <a:ext cx="4685940" cy="2522955"/>
            <a:chOff x="2988761" y="1828800"/>
            <a:chExt cx="6057540" cy="3144658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29000" y="1828800"/>
              <a:ext cx="5257800" cy="2381275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2988761" y="4244584"/>
              <a:ext cx="6057540" cy="7288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600" b="0" dirty="0">
                  <a:solidFill>
                    <a:schemeClr val="tx1"/>
                  </a:solidFill>
                  <a:latin typeface="+mn-lt"/>
                </a:rPr>
                <a:t>Low-light photography </a:t>
              </a:r>
            </a:p>
            <a:p>
              <a:pPr>
                <a:spcBef>
                  <a:spcPts val="0"/>
                </a:spcBef>
              </a:pPr>
              <a:r>
                <a:rPr lang="en-US" sz="1600" b="0" dirty="0">
                  <a:solidFill>
                    <a:schemeClr val="tx1"/>
                  </a:solidFill>
                  <a:latin typeface="+mn-lt"/>
                </a:rPr>
                <a:t>(credit: </a:t>
              </a:r>
              <a:r>
                <a:rPr lang="en-US" sz="1600" b="0" dirty="0" err="1">
                  <a:solidFill>
                    <a:schemeClr val="tx1"/>
                  </a:solidFill>
                  <a:latin typeface="+mn-lt"/>
                  <a:hlinkClick r:id="rId6"/>
                </a:rPr>
                <a:t>Hasinoff</a:t>
              </a:r>
              <a:r>
                <a:rPr lang="en-US" sz="1600" b="0" dirty="0">
                  <a:solidFill>
                    <a:schemeClr val="tx1"/>
                  </a:solidFill>
                  <a:latin typeface="+mn-lt"/>
                  <a:hlinkClick r:id="rId6"/>
                </a:rPr>
                <a:t> et al., SIGGRAPH ASIA 2016</a:t>
              </a:r>
              <a:r>
                <a:rPr lang="en-US" sz="1600" b="0" dirty="0">
                  <a:solidFill>
                    <a:schemeClr val="tx1"/>
                  </a:solidFill>
                  <a:latin typeface="+mn-lt"/>
                </a:rPr>
                <a:t>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398F68-4144-4C4F-8E6E-A7096B0F0899}"/>
              </a:ext>
            </a:extLst>
          </p:cNvPr>
          <p:cNvGrpSpPr/>
          <p:nvPr/>
        </p:nvGrpSpPr>
        <p:grpSpPr>
          <a:xfrm>
            <a:off x="5163369" y="2825210"/>
            <a:ext cx="3581400" cy="2819589"/>
            <a:chOff x="152400" y="4123013"/>
            <a:chExt cx="3809513" cy="2999179"/>
          </a:xfrm>
        </p:grpSpPr>
        <p:pic>
          <p:nvPicPr>
            <p:cNvPr id="982018" name="Picture 2" descr="https://4.bp.blogspot.com/-pQ1j2lyMvMw/WeUbl8BfPdI/AAAAAAAACDk/_nR4-zLdzIoaxOHhbb3AHPRSQRwhb8FfQCLcBGAs/s640/girl-with-the-orange-hat-s.jpg">
              <a:extLst>
                <a:ext uri="{FF2B5EF4-FFF2-40B4-BE49-F238E27FC236}">
                  <a16:creationId xmlns:a16="http://schemas.microsoft.com/office/drawing/2014/main" id="{E42275CC-0AC0-4955-8E8E-37ACD2149F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061" y="4123013"/>
              <a:ext cx="3658648" cy="2378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92A7B0F-2DA9-455F-A280-85F238F2837C}"/>
                </a:ext>
              </a:extLst>
            </p:cNvPr>
            <p:cNvSpPr txBox="1"/>
            <p:nvPr/>
          </p:nvSpPr>
          <p:spPr>
            <a:xfrm>
              <a:off x="152400" y="6500170"/>
              <a:ext cx="3809513" cy="622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 b="0">
                  <a:solidFill>
                    <a:schemeClr val="tx1"/>
                  </a:solidFill>
                  <a:latin typeface="+mn-lt"/>
                </a:defRPr>
              </a:lvl1pPr>
            </a:lstStyle>
            <a:p>
              <a:r>
                <a:rPr lang="en-US" dirty="0"/>
                <a:t>Depth of field on cell phone camera (source: </a:t>
              </a:r>
              <a:r>
                <a:rPr lang="en-US" dirty="0">
                  <a:hlinkClick r:id="rId8"/>
                </a:rPr>
                <a:t>Google Research Blog</a:t>
              </a:r>
              <a:r>
                <a:rPr lang="en-US" dirty="0"/>
                <a:t>)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867D7A-67C2-44E3-9575-EEF4A78593DE}"/>
              </a:ext>
            </a:extLst>
          </p:cNvPr>
          <p:cNvGrpSpPr/>
          <p:nvPr/>
        </p:nvGrpSpPr>
        <p:grpSpPr>
          <a:xfrm>
            <a:off x="8798495" y="2209340"/>
            <a:ext cx="3467460" cy="4020234"/>
            <a:chOff x="8798495" y="2209340"/>
            <a:chExt cx="3467460" cy="4020234"/>
          </a:xfrm>
        </p:grpSpPr>
        <p:pic>
          <p:nvPicPr>
            <p:cNvPr id="5122" name="Picture 2" descr="Gif showing Magic Eraser being used in Google Photos on Pixel 6 on a photo of a child on the beach with people in the background. Magic Eraser suggests to &quot;remove people in the background,&quot; then removes them, resulting in an image with just the child on the beach.">
              <a:extLst>
                <a:ext uri="{FF2B5EF4-FFF2-40B4-BE49-F238E27FC236}">
                  <a16:creationId xmlns:a16="http://schemas.microsoft.com/office/drawing/2014/main" id="{162BCB4D-6E0E-47B4-BCCD-C29A0B9F16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98495" y="2209340"/>
              <a:ext cx="3467460" cy="34674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E03A478-AF22-409E-AC2E-239CAAC552DF}"/>
                </a:ext>
              </a:extLst>
            </p:cNvPr>
            <p:cNvSpPr txBox="1"/>
            <p:nvPr/>
          </p:nvSpPr>
          <p:spPr>
            <a:xfrm>
              <a:off x="9427325" y="5644799"/>
              <a:ext cx="2209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 b="0">
                  <a:solidFill>
                    <a:schemeClr val="tx1"/>
                  </a:solidFill>
                  <a:latin typeface="+mn-lt"/>
                </a:defRPr>
              </a:lvl1pPr>
            </a:lstStyle>
            <a:p>
              <a:r>
                <a:rPr lang="en-US" dirty="0"/>
                <a:t>Removing objects (</a:t>
              </a:r>
              <a:r>
                <a:rPr lang="en-US" dirty="0">
                  <a:hlinkClick r:id="rId10"/>
                </a:rPr>
                <a:t>Google Magic Eraser</a:t>
              </a:r>
              <a:r>
                <a:rPr lang="en-US" dirty="0"/>
                <a:t>)</a:t>
              </a:r>
            </a:p>
          </p:txBody>
        </p:sp>
      </p:grp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7A0B0C2-010D-9923-8219-8A3C987E481D}"/>
              </a:ext>
            </a:extLst>
          </p:cNvPr>
          <p:cNvSpPr txBox="1">
            <a:spLocks/>
          </p:cNvSpPr>
          <p:nvPr/>
        </p:nvSpPr>
        <p:spPr>
          <a:xfrm>
            <a:off x="1219200" y="1295400"/>
            <a:ext cx="89916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b="0"/>
              <a:t>“Enhance” images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62404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goal of computer vision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EE4FCA0-9202-4A6A-88B0-0FF5DF40F6DF}"/>
              </a:ext>
            </a:extLst>
          </p:cNvPr>
          <p:cNvGrpSpPr/>
          <p:nvPr/>
        </p:nvGrpSpPr>
        <p:grpSpPr>
          <a:xfrm>
            <a:off x="6553200" y="1828800"/>
            <a:ext cx="3733800" cy="2590800"/>
            <a:chOff x="6553200" y="1828800"/>
            <a:chExt cx="3733800" cy="2590800"/>
          </a:xfrm>
        </p:grpSpPr>
        <p:pic>
          <p:nvPicPr>
            <p:cNvPr id="13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553200" y="2057400"/>
              <a:ext cx="3529724" cy="2362200"/>
            </a:xfrm>
            <a:prstGeom prst="rect">
              <a:avLst/>
            </a:prstGeom>
            <a:noFill/>
            <a:ln w="19050" cap="flat" cmpd="sng">
              <a:noFill/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4" name="Picture 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9220200" y="1828800"/>
              <a:ext cx="1066800" cy="2245614"/>
            </a:xfrm>
            <a:prstGeom prst="rect">
              <a:avLst/>
            </a:prstGeom>
            <a:noFill/>
            <a:ln w="19050" cap="flat" cmpd="sng">
              <a:noFill/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7834FB9-04D1-4E9F-AE63-00B42B6B4C54}"/>
              </a:ext>
            </a:extLst>
          </p:cNvPr>
          <p:cNvGrpSpPr/>
          <p:nvPr/>
        </p:nvGrpSpPr>
        <p:grpSpPr>
          <a:xfrm>
            <a:off x="6450054" y="4800600"/>
            <a:ext cx="3997814" cy="1690688"/>
            <a:chOff x="6450054" y="4800600"/>
            <a:chExt cx="3997814" cy="1690688"/>
          </a:xfrm>
        </p:grpSpPr>
        <p:pic>
          <p:nvPicPr>
            <p:cNvPr id="16" name="Picture 2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6450054" y="4800601"/>
              <a:ext cx="2236747" cy="16906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76901" name="Picture 5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9144001" y="4800600"/>
              <a:ext cx="1303867" cy="1676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" name="Right Arrow 17"/>
            <p:cNvSpPr/>
            <p:nvPr/>
          </p:nvSpPr>
          <p:spPr>
            <a:xfrm>
              <a:off x="8751426" y="5527875"/>
              <a:ext cx="367373" cy="304800"/>
            </a:xfrm>
            <a:prstGeom prst="rightArrow">
              <a:avLst>
                <a:gd name="adj1" fmla="val 50000"/>
                <a:gd name="adj2" fmla="val 79508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098" name="Picture 2">
            <a:extLst>
              <a:ext uri="{FF2B5EF4-FFF2-40B4-BE49-F238E27FC236}">
                <a16:creationId xmlns:a16="http://schemas.microsoft.com/office/drawing/2014/main" id="{F56C7066-4D69-4755-B910-40FD8F8AE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703" y="2213419"/>
            <a:ext cx="3338658" cy="1704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zed-spatial-mapping-point-cloud">
            <a:hlinkClick r:id="" action="ppaction://media"/>
            <a:extLst>
              <a:ext uri="{FF2B5EF4-FFF2-40B4-BE49-F238E27FC236}">
                <a16:creationId xmlns:a16="http://schemas.microsoft.com/office/drawing/2014/main" id="{E1900F7B-9117-4EE5-9A12-C0CFC29DFD2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09600" y="3695700"/>
            <a:ext cx="4944534" cy="27813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F85947E-892C-41B0-AC95-341C645FB7C2}"/>
              </a:ext>
            </a:extLst>
          </p:cNvPr>
          <p:cNvSpPr txBox="1"/>
          <p:nvPr/>
        </p:nvSpPr>
        <p:spPr>
          <a:xfrm>
            <a:off x="1999129" y="3338882"/>
            <a:ext cx="1455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tx1"/>
                </a:solidFill>
                <a:effectLst/>
                <a:latin typeface="+mj-lt"/>
              </a:rPr>
              <a:t>ZED 2i Camera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55DE9B0-7449-6482-E800-3D9451E35E4F}"/>
              </a:ext>
            </a:extLst>
          </p:cNvPr>
          <p:cNvSpPr txBox="1">
            <a:spLocks/>
          </p:cNvSpPr>
          <p:nvPr/>
        </p:nvSpPr>
        <p:spPr>
          <a:xfrm>
            <a:off x="1219200" y="1295400"/>
            <a:ext cx="89916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b="0" dirty="0"/>
              <a:t>Compute the 3D shape of the world</a:t>
            </a:r>
          </a:p>
          <a:p>
            <a:pPr fontAlgn="auto">
              <a:spcAft>
                <a:spcPts val="0"/>
              </a:spcAft>
            </a:pPr>
            <a:endParaRPr lang="en-US" b="0" dirty="0"/>
          </a:p>
          <a:p>
            <a:pPr fontAlgn="auto">
              <a:spcAft>
                <a:spcPts val="0"/>
              </a:spcAft>
            </a:pPr>
            <a:endParaRPr lang="en-US" b="0" dirty="0"/>
          </a:p>
          <a:p>
            <a:pPr fontAlgn="auto">
              <a:spcAft>
                <a:spcPts val="0"/>
              </a:spcAft>
            </a:pPr>
            <a:endParaRPr lang="en-US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2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goal of computer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2743200"/>
            <a:ext cx="9906000" cy="8382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9748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2579724"/>
            <a:ext cx="5791200" cy="2449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4668700" y="5105401"/>
            <a:ext cx="25498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0" i="1" dirty="0">
                <a:solidFill>
                  <a:schemeClr val="tx1"/>
                </a:solidFill>
                <a:latin typeface="+mj-lt"/>
              </a:rPr>
              <a:t>Terminator 2</a:t>
            </a:r>
            <a:r>
              <a:rPr lang="en-US" sz="2400" b="0" dirty="0">
                <a:solidFill>
                  <a:schemeClr val="tx1"/>
                </a:solidFill>
                <a:latin typeface="+mj-lt"/>
              </a:rPr>
              <a:t>, 1991</a:t>
            </a:r>
            <a:endParaRPr lang="en-US" sz="2400" b="0" i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0E517EB-5C72-0E35-7330-E6C294EAC9AD}"/>
              </a:ext>
            </a:extLst>
          </p:cNvPr>
          <p:cNvSpPr txBox="1">
            <a:spLocks/>
          </p:cNvSpPr>
          <p:nvPr/>
        </p:nvSpPr>
        <p:spPr>
          <a:xfrm>
            <a:off x="1219200" y="1295400"/>
            <a:ext cx="89916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b="0" dirty="0"/>
              <a:t>Recognize objects and people</a:t>
            </a:r>
          </a:p>
          <a:p>
            <a:pPr fontAlgn="auto">
              <a:spcAft>
                <a:spcPts val="0"/>
              </a:spcAft>
            </a:pPr>
            <a:endParaRPr lang="en-US" b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D8466-6E61-F30A-6132-35B278F85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7EEE1-B7A0-C336-B1EF-2996C5F7D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goal of computer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7B2A3-906B-F84A-91F8-CE8F9F3A5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2743200"/>
            <a:ext cx="9906000" cy="8382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3C6B09B-2D53-12CB-023D-8690770CC637}"/>
              </a:ext>
            </a:extLst>
          </p:cNvPr>
          <p:cNvSpPr txBox="1">
            <a:spLocks/>
          </p:cNvSpPr>
          <p:nvPr/>
        </p:nvSpPr>
        <p:spPr>
          <a:xfrm>
            <a:off x="1219200" y="1295400"/>
            <a:ext cx="89916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b="0" dirty="0"/>
              <a:t>Visual content generation.</a:t>
            </a:r>
          </a:p>
        </p:txBody>
      </p:sp>
      <p:pic>
        <p:nvPicPr>
          <p:cNvPr id="4" name="user-RCfpOH0uSujoNbpoRjLOfegY_gen_01kf2zcwy6fzabyt292pn5m9ek_watermarked_md">
            <a:hlinkClick r:id="" action="ppaction://media"/>
            <a:extLst>
              <a:ext uri="{FF2B5EF4-FFF2-40B4-BE49-F238E27FC236}">
                <a16:creationId xmlns:a16="http://schemas.microsoft.com/office/drawing/2014/main" id="{679A576D-D675-7E91-ACC1-1B750D0AFE6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35915" y="1839948"/>
            <a:ext cx="2762252" cy="5018052"/>
          </a:xfrm>
          <a:prstGeom prst="rect">
            <a:avLst/>
          </a:prstGeom>
        </p:spPr>
      </p:pic>
      <p:pic>
        <p:nvPicPr>
          <p:cNvPr id="7" name="user-zIGaH0LHAgdiblIy9yOiIazT_gen_01kevygtn6fywr7r3090e3w13q_watermarked_md">
            <a:hlinkClick r:id="" action="ppaction://media"/>
            <a:extLst>
              <a:ext uri="{FF2B5EF4-FFF2-40B4-BE49-F238E27FC236}">
                <a16:creationId xmlns:a16="http://schemas.microsoft.com/office/drawing/2014/main" id="{82F51131-7737-4C7C-7053-DBE028FBF20A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3224529" y="1839950"/>
            <a:ext cx="2762251" cy="5018051"/>
          </a:xfrm>
          <a:prstGeom prst="rect">
            <a:avLst/>
          </a:prstGeom>
        </p:spPr>
      </p:pic>
      <p:pic>
        <p:nvPicPr>
          <p:cNvPr id="8" name="user-k8bctKsL9gIH40G59LemeNex_gen_01kf0pg41vfwrrwcdwa3shpmer_watermarked_md">
            <a:hlinkClick r:id="" action="ppaction://media"/>
            <a:extLst>
              <a:ext uri="{FF2B5EF4-FFF2-40B4-BE49-F238E27FC236}">
                <a16:creationId xmlns:a16="http://schemas.microsoft.com/office/drawing/2014/main" id="{80B4B8E3-75BA-2D9A-9706-1DFEE54B7117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108065" y="1839951"/>
            <a:ext cx="2762250" cy="5018049"/>
          </a:xfrm>
          <a:prstGeom prst="rect">
            <a:avLst/>
          </a:prstGeom>
        </p:spPr>
      </p:pic>
      <p:pic>
        <p:nvPicPr>
          <p:cNvPr id="9" name="user-7PaqgdMoFbWVbcJfsNUd7JEO_gen_01kf38tr97enh8x0xx883pz2sh_watermarked_md">
            <a:hlinkClick r:id="" action="ppaction://media"/>
            <a:extLst>
              <a:ext uri="{FF2B5EF4-FFF2-40B4-BE49-F238E27FC236}">
                <a16:creationId xmlns:a16="http://schemas.microsoft.com/office/drawing/2014/main" id="{D690B18C-BC5E-78F8-7C1C-CC9F30E18434}"/>
              </a:ext>
            </a:extLst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8991600" y="1839950"/>
            <a:ext cx="2762251" cy="501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250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1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10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51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20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5300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1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6" repeatCount="indefinite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 mute="1">
                <p:cTn id="22" repeatCount="indefinite" fill="remove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 mute="1">
                <p:cTn id="28" repeatCount="indefinite" fill="remove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 mute="1">
                <p:cTn id="34" repeatCount="indefinite" fill="remove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9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662AE67-04C1-42FC-8097-C3322B1720FF}"/>
              </a:ext>
            </a:extLst>
          </p:cNvPr>
          <p:cNvGrpSpPr/>
          <p:nvPr/>
        </p:nvGrpSpPr>
        <p:grpSpPr>
          <a:xfrm>
            <a:off x="1512664" y="2906742"/>
            <a:ext cx="9187581" cy="1440812"/>
            <a:chOff x="2057400" y="3174007"/>
            <a:chExt cx="9187581" cy="1440812"/>
          </a:xfrm>
        </p:grpSpPr>
        <p:grpSp>
          <p:nvGrpSpPr>
            <p:cNvPr id="31" name="Group 30"/>
            <p:cNvGrpSpPr/>
            <p:nvPr/>
          </p:nvGrpSpPr>
          <p:grpSpPr>
            <a:xfrm>
              <a:off x="2057400" y="3174007"/>
              <a:ext cx="9187581" cy="1440812"/>
              <a:chOff x="304800" y="2754434"/>
              <a:chExt cx="9688721" cy="1519402"/>
            </a:xfrm>
          </p:grpSpPr>
          <p:pic>
            <p:nvPicPr>
              <p:cNvPr id="22" name="Picture 2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77942" y="2947358"/>
                <a:ext cx="1295491" cy="1133554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21921" y="2754434"/>
                <a:ext cx="1371600" cy="1519402"/>
              </a:xfrm>
              <a:prstGeom prst="rect">
                <a:avLst/>
              </a:prstGeom>
            </p:spPr>
          </p:pic>
          <p:pic>
            <p:nvPicPr>
              <p:cNvPr id="15" name="Picture 36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304800" y="3352801"/>
                <a:ext cx="1371600" cy="457199"/>
              </a:xfrm>
              <a:prstGeom prst="rect">
                <a:avLst/>
              </a:prstGeom>
              <a:noFill/>
            </p:spPr>
          </p:pic>
          <p:pic>
            <p:nvPicPr>
              <p:cNvPr id="27" name="Picture 9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1930754" y="3054916"/>
                <a:ext cx="1068306" cy="10683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980994" name="Picture 2" descr="https://img.buzzfeed.com/buzzfeed-static/static/2015-10/22/13/enhanced/webdr15/enhanced-1331-1445534657-2.png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96347" y="3036946"/>
                <a:ext cx="954916" cy="9549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5122" name="Picture 2" descr="The YouTube logo is made of a red round-rectangular box with a white &quot;play&quot; button inside and the word &quot;YouTube&quot; written in black.">
              <a:extLst>
                <a:ext uri="{FF2B5EF4-FFF2-40B4-BE49-F238E27FC236}">
                  <a16:creationId xmlns:a16="http://schemas.microsoft.com/office/drawing/2014/main" id="{CC07D923-4401-4930-8208-F5F14976E4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25387" y="3703573"/>
              <a:ext cx="1377647" cy="307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4" name="Picture 4" descr="Tiktok Logo">
              <a:extLst>
                <a:ext uri="{FF2B5EF4-FFF2-40B4-BE49-F238E27FC236}">
                  <a16:creationId xmlns:a16="http://schemas.microsoft.com/office/drawing/2014/main" id="{D6CAE40C-D32F-413E-85CC-3FF4E3F76F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5835" y="3371118"/>
              <a:ext cx="1738653" cy="10883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study computer vision?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49668"/>
            <a:ext cx="10972800" cy="786742"/>
          </a:xfrm>
        </p:spPr>
        <p:txBody>
          <a:bodyPr>
            <a:normAutofit/>
          </a:bodyPr>
          <a:lstStyle/>
          <a:p>
            <a:r>
              <a:rPr lang="en-US" dirty="0"/>
              <a:t>Billions of images/videos captured per day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1904015" y="1981200"/>
            <a:ext cx="8345870" cy="1088396"/>
            <a:chOff x="152400" y="1900237"/>
            <a:chExt cx="8801100" cy="1147763"/>
          </a:xfrm>
        </p:grpSpPr>
        <p:pic>
          <p:nvPicPr>
            <p:cNvPr id="4" name="Picture 7" descr="album5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1614805" y="1900237"/>
              <a:ext cx="1457325" cy="1147763"/>
            </a:xfrm>
            <a:prstGeom prst="rect">
              <a:avLst/>
            </a:prstGeom>
            <a:noFill/>
          </p:spPr>
        </p:pic>
        <p:pic>
          <p:nvPicPr>
            <p:cNvPr id="5" name="Picture 8" descr="album7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152400" y="1955006"/>
              <a:ext cx="1468438" cy="1038225"/>
            </a:xfrm>
            <a:prstGeom prst="rect">
              <a:avLst/>
            </a:prstGeom>
            <a:noFill/>
          </p:spPr>
        </p:pic>
        <p:pic>
          <p:nvPicPr>
            <p:cNvPr id="11" name="Picture 22" descr="movie7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4584064" y="1966912"/>
              <a:ext cx="1600200" cy="1014413"/>
            </a:xfrm>
            <a:prstGeom prst="rect">
              <a:avLst/>
            </a:prstGeom>
            <a:noFill/>
          </p:spPr>
        </p:pic>
        <p:pic>
          <p:nvPicPr>
            <p:cNvPr id="12" name="Picture 24" descr="sports2"/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7467600" y="1980406"/>
              <a:ext cx="1485900" cy="987425"/>
            </a:xfrm>
            <a:prstGeom prst="rect">
              <a:avLst/>
            </a:prstGeom>
            <a:noFill/>
          </p:spPr>
        </p:pic>
        <p:pic>
          <p:nvPicPr>
            <p:cNvPr id="13" name="Picture 25" descr="movie8"/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3066097" y="1983581"/>
              <a:ext cx="1524000" cy="981075"/>
            </a:xfrm>
            <a:prstGeom prst="rect">
              <a:avLst/>
            </a:prstGeom>
            <a:noFill/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007673" y="2015128"/>
              <a:ext cx="1626103" cy="913119"/>
            </a:xfrm>
            <a:prstGeom prst="rect">
              <a:avLst/>
            </a:prstGeom>
          </p:spPr>
        </p:pic>
      </p:grpSp>
      <p:sp>
        <p:nvSpPr>
          <p:cNvPr id="980996" name="Rectangle 980995"/>
          <p:cNvSpPr/>
          <p:nvPr/>
        </p:nvSpPr>
        <p:spPr>
          <a:xfrm>
            <a:off x="587957" y="5529894"/>
            <a:ext cx="9220200" cy="117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sz="3200" b="0" dirty="0">
                <a:solidFill>
                  <a:prstClr val="black"/>
                </a:solidFill>
                <a:latin typeface="+mj-lt"/>
              </a:rPr>
              <a:t>Huge number of potential applications</a:t>
            </a:r>
          </a:p>
          <a:p>
            <a:pPr marL="342900" indent="-342900" algn="l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sz="3200" b="0" dirty="0">
                <a:solidFill>
                  <a:prstClr val="black"/>
                </a:solidFill>
                <a:latin typeface="+mj-lt"/>
              </a:rPr>
              <a:t>The next slides show the current state of the art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560EEFA-2393-4D8A-835A-4507BCE0CD4C}"/>
              </a:ext>
            </a:extLst>
          </p:cNvPr>
          <p:cNvGrpSpPr/>
          <p:nvPr/>
        </p:nvGrpSpPr>
        <p:grpSpPr>
          <a:xfrm>
            <a:off x="2889043" y="4305408"/>
            <a:ext cx="6309964" cy="1224136"/>
            <a:chOff x="1939874" y="4518761"/>
            <a:chExt cx="6309964" cy="1224136"/>
          </a:xfrm>
        </p:grpSpPr>
        <p:grpSp>
          <p:nvGrpSpPr>
            <p:cNvPr id="980992" name="Group 980991"/>
            <p:cNvGrpSpPr/>
            <p:nvPr/>
          </p:nvGrpSpPr>
          <p:grpSpPr>
            <a:xfrm>
              <a:off x="1939874" y="4518761"/>
              <a:ext cx="4998552" cy="1224136"/>
              <a:chOff x="3390900" y="3962400"/>
              <a:chExt cx="5600700" cy="1371600"/>
            </a:xfrm>
          </p:grpSpPr>
          <p:pic>
            <p:nvPicPr>
              <p:cNvPr id="17" name="Picture 45" descr="vessels"/>
              <p:cNvPicPr>
                <a:picLocks noChangeAspect="1" noChangeArrowheads="1"/>
              </p:cNvPicPr>
              <p:nvPr/>
            </p:nvPicPr>
            <p:blipFill>
              <a:blip r:embed="rId15" cstate="print"/>
              <a:srcRect/>
              <a:stretch>
                <a:fillRect/>
              </a:stretch>
            </p:blipFill>
            <p:spPr bwMode="auto">
              <a:xfrm>
                <a:off x="3390900" y="4114800"/>
                <a:ext cx="838200" cy="1066800"/>
              </a:xfrm>
              <a:prstGeom prst="rect">
                <a:avLst/>
              </a:prstGeom>
              <a:noFill/>
            </p:spPr>
          </p:pic>
          <p:pic>
            <p:nvPicPr>
              <p:cNvPr id="18" name="Picture 46" descr="spine"/>
              <p:cNvPicPr>
                <a:picLocks noChangeAspect="1" noChangeArrowheads="1"/>
              </p:cNvPicPr>
              <p:nvPr/>
            </p:nvPicPr>
            <p:blipFill>
              <a:blip r:embed="rId16" cstate="print"/>
              <a:srcRect/>
              <a:stretch>
                <a:fillRect/>
              </a:stretch>
            </p:blipFill>
            <p:spPr bwMode="auto">
              <a:xfrm>
                <a:off x="4311650" y="4038600"/>
                <a:ext cx="825500" cy="1219200"/>
              </a:xfrm>
              <a:prstGeom prst="rect">
                <a:avLst/>
              </a:prstGeom>
              <a:noFill/>
            </p:spPr>
          </p:pic>
          <p:pic>
            <p:nvPicPr>
              <p:cNvPr id="19" name="Picture 47" descr="hubble4"/>
              <p:cNvPicPr>
                <a:picLocks noChangeAspect="1" noChangeArrowheads="1"/>
              </p:cNvPicPr>
              <p:nvPr/>
            </p:nvPicPr>
            <p:blipFill>
              <a:blip r:embed="rId17" cstate="print"/>
              <a:srcRect/>
              <a:stretch>
                <a:fillRect/>
              </a:stretch>
            </p:blipFill>
            <p:spPr bwMode="auto">
              <a:xfrm>
                <a:off x="7823200" y="4180681"/>
                <a:ext cx="1168400" cy="935038"/>
              </a:xfrm>
              <a:prstGeom prst="rect">
                <a:avLst/>
              </a:prstGeom>
              <a:noFill/>
            </p:spPr>
          </p:pic>
          <p:pic>
            <p:nvPicPr>
              <p:cNvPr id="24" name="Picture 43" descr="Hawaii_IR_loop"/>
              <p:cNvPicPr>
                <a:picLocks noChangeAspect="1" noChangeArrowheads="1"/>
              </p:cNvPicPr>
              <p:nvPr/>
            </p:nvPicPr>
            <p:blipFill>
              <a:blip r:embed="rId18" cstate="print"/>
              <a:srcRect/>
              <a:stretch>
                <a:fillRect/>
              </a:stretch>
            </p:blipFill>
            <p:spPr bwMode="auto">
              <a:xfrm>
                <a:off x="6445250" y="3962400"/>
                <a:ext cx="1295400" cy="1371600"/>
              </a:xfrm>
              <a:prstGeom prst="rect">
                <a:avLst/>
              </a:prstGeom>
              <a:noFill/>
            </p:spPr>
          </p:pic>
          <p:pic>
            <p:nvPicPr>
              <p:cNvPr id="25" name="Picture 44" descr="aerial"/>
              <p:cNvPicPr>
                <a:picLocks noChangeAspect="1" noChangeArrowheads="1"/>
              </p:cNvPicPr>
              <p:nvPr/>
            </p:nvPicPr>
            <p:blipFill>
              <a:blip r:embed="rId19" cstate="print"/>
              <a:srcRect/>
              <a:stretch>
                <a:fillRect/>
              </a:stretch>
            </p:blipFill>
            <p:spPr bwMode="auto">
              <a:xfrm>
                <a:off x="5219700" y="4041775"/>
                <a:ext cx="1143000" cy="1212850"/>
              </a:xfrm>
              <a:prstGeom prst="rect">
                <a:avLst/>
              </a:prstGeom>
              <a:noFill/>
            </p:spPr>
          </p:pic>
        </p:grpSp>
        <p:pic>
          <p:nvPicPr>
            <p:cNvPr id="5126" name="Picture 6" descr="Scanning electron microscope - Wikipedia">
              <a:extLst>
                <a:ext uri="{FF2B5EF4-FFF2-40B4-BE49-F238E27FC236}">
                  <a16:creationId xmlns:a16="http://schemas.microsoft.com/office/drawing/2014/main" id="{3F6B9C0C-0035-4BCC-8A96-01BF369731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22122" y="4663457"/>
              <a:ext cx="1227716" cy="9347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099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Optical character recognition (OCR)</a:t>
            </a:r>
          </a:p>
        </p:txBody>
      </p:sp>
      <p:pic>
        <p:nvPicPr>
          <p:cNvPr id="889859" name="Picture 3" descr="asamples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1676400"/>
            <a:ext cx="3657600" cy="2286000"/>
          </a:xfrm>
          <a:prstGeom prst="rect">
            <a:avLst/>
          </a:prstGeom>
          <a:noFill/>
        </p:spPr>
      </p:pic>
      <p:sp>
        <p:nvSpPr>
          <p:cNvPr id="889860" name="Text Box 4"/>
          <p:cNvSpPr txBox="1">
            <a:spLocks noChangeArrowheads="1"/>
          </p:cNvSpPr>
          <p:nvPr/>
        </p:nvSpPr>
        <p:spPr bwMode="auto">
          <a:xfrm>
            <a:off x="2306309" y="3914776"/>
            <a:ext cx="318677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sz="1600" b="0" dirty="0">
                <a:solidFill>
                  <a:schemeClr val="tx1"/>
                </a:solidFill>
                <a:latin typeface="+mn-lt"/>
              </a:rPr>
              <a:t>Digit recognition, AT&amp;T labs (1990’s)</a:t>
            </a:r>
          </a:p>
          <a:p>
            <a:pPr eaLnBrk="0" hangingPunct="0">
              <a:spcBef>
                <a:spcPct val="0"/>
              </a:spcBef>
            </a:pPr>
            <a:r>
              <a:rPr lang="en-US" sz="1600" b="0" dirty="0">
                <a:solidFill>
                  <a:schemeClr val="tx1"/>
                </a:solidFill>
                <a:latin typeface="+mn-lt"/>
                <a:hlinkClick r:id="rId4"/>
              </a:rPr>
              <a:t>http://yann.lecun.com/exdb/lenet/</a:t>
            </a:r>
            <a:r>
              <a:rPr lang="en-US" sz="1600" b="0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889861" name="Rectangle 5"/>
          <p:cNvSpPr>
            <a:spLocks noChangeArrowheads="1"/>
          </p:cNvSpPr>
          <p:nvPr/>
        </p:nvSpPr>
        <p:spPr bwMode="auto">
          <a:xfrm>
            <a:off x="2133600" y="1219200"/>
            <a:ext cx="777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 algn="l" eaLnBrk="0" hangingPunct="0">
              <a:spcBef>
                <a:spcPct val="20000"/>
              </a:spcBef>
              <a:buFontTx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If you have a scanner, it probably came with OCR software</a:t>
            </a:r>
          </a:p>
          <a:p>
            <a:pPr marL="342900" indent="-342900" algn="l" eaLnBrk="0" hangingPunct="0">
              <a:spcBef>
                <a:spcPct val="20000"/>
              </a:spcBef>
            </a:pPr>
            <a:endParaRPr lang="en-US" sz="28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889862" name="Picture 6" descr="California_license_plate_ANPR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58001" y="1676400"/>
            <a:ext cx="2766323" cy="2133600"/>
          </a:xfrm>
          <a:prstGeom prst="rect">
            <a:avLst/>
          </a:prstGeom>
          <a:noFill/>
        </p:spPr>
      </p:pic>
      <p:sp>
        <p:nvSpPr>
          <p:cNvPr id="889863" name="Text Box 7"/>
          <p:cNvSpPr txBox="1">
            <a:spLocks noChangeArrowheads="1"/>
          </p:cNvSpPr>
          <p:nvPr/>
        </p:nvSpPr>
        <p:spPr bwMode="auto">
          <a:xfrm>
            <a:off x="6035676" y="3870326"/>
            <a:ext cx="451326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sz="1600" b="0" dirty="0">
                <a:solidFill>
                  <a:schemeClr val="tx1"/>
                </a:solidFill>
                <a:latin typeface="+mn-lt"/>
              </a:rPr>
              <a:t>License plate readers</a:t>
            </a:r>
          </a:p>
          <a:p>
            <a:pPr eaLnBrk="0" hangingPunct="0">
              <a:spcBef>
                <a:spcPct val="0"/>
              </a:spcBef>
            </a:pPr>
            <a:r>
              <a:rPr lang="en-US" b="0" dirty="0">
                <a:solidFill>
                  <a:schemeClr val="tx1"/>
                </a:solidFill>
                <a:latin typeface="+mn-lt"/>
                <a:hlinkClick r:id="rId6"/>
              </a:rPr>
              <a:t>http://en.wikipedia.org/wiki/Automatic_number_plate_recognition</a:t>
            </a:r>
            <a:endParaRPr lang="en-US" b="0" dirty="0">
              <a:solidFill>
                <a:schemeClr val="tx1"/>
              </a:solidFill>
              <a:latin typeface="+mn-lt"/>
            </a:endParaRPr>
          </a:p>
          <a:p>
            <a:pPr eaLnBrk="0" hangingPunct="0">
              <a:spcBef>
                <a:spcPct val="0"/>
              </a:spcBef>
            </a:pPr>
            <a:endParaRPr lang="en-US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983042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743200" y="4724400"/>
            <a:ext cx="244221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2731626" y="6519446"/>
            <a:ext cx="2501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sz="1600" b="0" dirty="0">
                <a:solidFill>
                  <a:schemeClr val="tx1"/>
                </a:solidFill>
                <a:latin typeface="+mn-lt"/>
              </a:rPr>
              <a:t>Automatic check processing</a:t>
            </a:r>
            <a:endParaRPr lang="en-US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983043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400800" y="4572000"/>
            <a:ext cx="165735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8153401" y="5562600"/>
            <a:ext cx="227812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sz="1600" b="0" dirty="0">
                <a:solidFill>
                  <a:schemeClr val="tx1"/>
                </a:solidFill>
                <a:latin typeface="+mn-lt"/>
              </a:rPr>
              <a:t>Sudoku grabber</a:t>
            </a:r>
          </a:p>
          <a:p>
            <a:pPr eaLnBrk="0" hangingPunct="0">
              <a:spcBef>
                <a:spcPct val="0"/>
              </a:spcBef>
            </a:pPr>
            <a:r>
              <a:rPr lang="en-US" b="0" dirty="0">
                <a:solidFill>
                  <a:schemeClr val="tx1"/>
                </a:solidFill>
                <a:latin typeface="+mn-lt"/>
                <a:hlinkClick r:id="rId9"/>
              </a:rPr>
              <a:t>http://sudokugrab.blogspot.com/</a:t>
            </a:r>
            <a:endParaRPr lang="en-US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996353" name="Picture 1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057401" y="1676400"/>
            <a:ext cx="3655279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9863" grpId="0"/>
      <p:bldP spid="11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Face detection</a:t>
            </a:r>
          </a:p>
        </p:txBody>
      </p:sp>
      <p:sp>
        <p:nvSpPr>
          <p:cNvPr id="891907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4876800"/>
            <a:ext cx="7772400" cy="1295400"/>
          </a:xfrm>
        </p:spPr>
        <p:txBody>
          <a:bodyPr>
            <a:normAutofit/>
          </a:bodyPr>
          <a:lstStyle/>
          <a:p>
            <a:r>
              <a:rPr lang="en-US" dirty="0"/>
              <a:t>Nearly all cameras detect faces in real time</a:t>
            </a:r>
          </a:p>
          <a:p>
            <a:pPr lvl="1"/>
            <a:r>
              <a:rPr lang="en-US" dirty="0"/>
              <a:t>(Why?)</a:t>
            </a:r>
          </a:p>
        </p:txBody>
      </p:sp>
      <p:pic>
        <p:nvPicPr>
          <p:cNvPr id="982018" name="Picture 2" descr="http://www.theiphonemom.com/wp-content/uploads/2015/01/Screenshot-2015-01-03-06.37.0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515679"/>
            <a:ext cx="6781800" cy="331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Face analysis and recognition</a:t>
            </a:r>
          </a:p>
        </p:txBody>
      </p:sp>
      <p:pic>
        <p:nvPicPr>
          <p:cNvPr id="980996" name="Picture 4" descr="http://www.etechmag.com/wp-content/uploads/2012/06/Face-dot-co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447800"/>
            <a:ext cx="5638800" cy="561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53762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8051" name="Picture 3" descr="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05288" y="1219200"/>
            <a:ext cx="3517900" cy="5105400"/>
          </a:xfrm>
          <a:prstGeom prst="rect">
            <a:avLst/>
          </a:prstGeom>
          <a:noFill/>
        </p:spPr>
      </p:pic>
      <p:sp>
        <p:nvSpPr>
          <p:cNvPr id="898052" name="Rectangle 4"/>
          <p:cNvSpPr>
            <a:spLocks noChangeArrowheads="1"/>
          </p:cNvSpPr>
          <p:nvPr/>
        </p:nvSpPr>
        <p:spPr bwMode="auto">
          <a:xfrm>
            <a:off x="2590800" y="6400800"/>
            <a:ext cx="673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sz="2400" b="0" dirty="0">
                <a:solidFill>
                  <a:schemeClr val="tx1"/>
                </a:solidFill>
                <a:latin typeface="+mj-lt"/>
              </a:rPr>
              <a:t>Who is she? </a:t>
            </a:r>
          </a:p>
        </p:txBody>
      </p:sp>
      <p:sp>
        <p:nvSpPr>
          <p:cNvPr id="898053" name="Text Box 5"/>
          <p:cNvSpPr txBox="1">
            <a:spLocks noChangeArrowheads="1"/>
          </p:cNvSpPr>
          <p:nvPr/>
        </p:nvSpPr>
        <p:spPr bwMode="auto">
          <a:xfrm>
            <a:off x="9281994" y="6434139"/>
            <a:ext cx="1213088" cy="27699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Source: S. Seitz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4A45F2C-F4F7-4954-95B9-FF114A113C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Vision-based biometrics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Vision-based biometrics</a:t>
            </a:r>
          </a:p>
        </p:txBody>
      </p:sp>
      <p:pic>
        <p:nvPicPr>
          <p:cNvPr id="900099" name="Picture 3" descr="youngProcessed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400" y="4362450"/>
            <a:ext cx="3124200" cy="2343150"/>
          </a:xfrm>
          <a:prstGeom prst="rect">
            <a:avLst/>
          </a:prstGeom>
          <a:noFill/>
        </p:spPr>
      </p:pic>
      <p:pic>
        <p:nvPicPr>
          <p:cNvPr id="900100" name="Picture 4" descr="matched2002_R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9800" y="4362450"/>
            <a:ext cx="3124200" cy="2343150"/>
          </a:xfrm>
          <a:prstGeom prst="rect">
            <a:avLst/>
          </a:prstGeom>
          <a:noFill/>
        </p:spPr>
      </p:pic>
      <p:pic>
        <p:nvPicPr>
          <p:cNvPr id="900101" name="Picture 5" descr="afghanportrait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95800" y="1367722"/>
            <a:ext cx="3200400" cy="2392298"/>
          </a:xfrm>
          <a:prstGeom prst="rect">
            <a:avLst/>
          </a:prstGeom>
          <a:noFill/>
        </p:spPr>
      </p:pic>
      <p:sp>
        <p:nvSpPr>
          <p:cNvPr id="900102" name="Rectangle 6"/>
          <p:cNvSpPr>
            <a:spLocks noChangeArrowheads="1"/>
          </p:cNvSpPr>
          <p:nvPr/>
        </p:nvSpPr>
        <p:spPr bwMode="auto">
          <a:xfrm>
            <a:off x="3016250" y="3886200"/>
            <a:ext cx="67373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sz="1600" b="0" dirty="0">
                <a:solidFill>
                  <a:schemeClr val="tx1"/>
                </a:solidFill>
                <a:latin typeface="+mj-lt"/>
              </a:rPr>
              <a:t>“</a:t>
            </a:r>
            <a:r>
              <a:rPr lang="en-US" sz="1600" b="0" i="1" dirty="0">
                <a:solidFill>
                  <a:schemeClr val="tx1"/>
                </a:solidFill>
                <a:latin typeface="+mj-lt"/>
              </a:rPr>
              <a:t>How the Afghan Girl was Identified by Her Iris Patterns</a:t>
            </a:r>
            <a:r>
              <a:rPr lang="en-US" sz="1600" b="0" dirty="0">
                <a:solidFill>
                  <a:schemeClr val="tx1"/>
                </a:solidFill>
                <a:latin typeface="+mj-lt"/>
              </a:rPr>
              <a:t>”  Read the </a:t>
            </a:r>
            <a:r>
              <a:rPr lang="en-US" sz="1600" b="0" dirty="0">
                <a:solidFill>
                  <a:schemeClr val="tx1"/>
                </a:solidFill>
                <a:latin typeface="+mj-lt"/>
                <a:hlinkClick r:id="rId6"/>
              </a:rPr>
              <a:t>story </a:t>
            </a:r>
            <a:endParaRPr lang="en-US" sz="1600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00103" name="Text Box 7"/>
          <p:cNvSpPr txBox="1">
            <a:spLocks noChangeArrowheads="1"/>
          </p:cNvSpPr>
          <p:nvPr/>
        </p:nvSpPr>
        <p:spPr bwMode="auto">
          <a:xfrm>
            <a:off x="9250671" y="6434139"/>
            <a:ext cx="1275734" cy="27699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Source: S. Seitz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 without a password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81D71F5-7DC2-425D-AA92-E6BDE1C978C5}"/>
              </a:ext>
            </a:extLst>
          </p:cNvPr>
          <p:cNvGrpSpPr/>
          <p:nvPr/>
        </p:nvGrpSpPr>
        <p:grpSpPr>
          <a:xfrm>
            <a:off x="2133600" y="2057400"/>
            <a:ext cx="3505200" cy="3495424"/>
            <a:chOff x="685800" y="2364773"/>
            <a:chExt cx="3505200" cy="3495424"/>
          </a:xfrm>
        </p:grpSpPr>
        <p:sp>
          <p:nvSpPr>
            <p:cNvPr id="902149" name="Rectangle 5"/>
            <p:cNvSpPr>
              <a:spLocks noChangeArrowheads="1"/>
            </p:cNvSpPr>
            <p:nvPr/>
          </p:nvSpPr>
          <p:spPr bwMode="auto">
            <a:xfrm>
              <a:off x="1181100" y="5029200"/>
              <a:ext cx="2514600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sz="1600" b="0" dirty="0">
                  <a:solidFill>
                    <a:schemeClr val="tx1"/>
                  </a:solidFill>
                  <a:latin typeface="+mj-lt"/>
                </a:rPr>
                <a:t>Fingerprint scanners on many new smartphones and other devices</a:t>
              </a:r>
            </a:p>
          </p:txBody>
        </p:sp>
        <p:pic>
          <p:nvPicPr>
            <p:cNvPr id="983042" name="Picture 2" descr="Image result for fingerprint scanner apple">
              <a:extLst>
                <a:ext uri="{FF2B5EF4-FFF2-40B4-BE49-F238E27FC236}">
                  <a16:creationId xmlns:a16="http://schemas.microsoft.com/office/drawing/2014/main" id="{7EA1CBCE-B9A7-4312-9068-C3307D31C3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2364773"/>
              <a:ext cx="3505200" cy="2628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DAF7DEA-EE92-4B8B-B002-9A85E680BAA5}"/>
              </a:ext>
            </a:extLst>
          </p:cNvPr>
          <p:cNvGrpSpPr/>
          <p:nvPr/>
        </p:nvGrpSpPr>
        <p:grpSpPr>
          <a:xfrm>
            <a:off x="6203307" y="2057400"/>
            <a:ext cx="3991096" cy="3460950"/>
            <a:chOff x="4619504" y="2368469"/>
            <a:chExt cx="3991096" cy="3460950"/>
          </a:xfrm>
        </p:grpSpPr>
        <p:sp>
          <p:nvSpPr>
            <p:cNvPr id="902152" name="Rectangle 8"/>
            <p:cNvSpPr>
              <a:spLocks noChangeArrowheads="1"/>
            </p:cNvSpPr>
            <p:nvPr/>
          </p:nvSpPr>
          <p:spPr bwMode="auto">
            <a:xfrm>
              <a:off x="4953000" y="5029200"/>
              <a:ext cx="3581400" cy="800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sz="1600" b="0" dirty="0">
                  <a:solidFill>
                    <a:schemeClr val="tx1"/>
                  </a:solidFill>
                  <a:latin typeface="+mj-lt"/>
                </a:rPr>
                <a:t>Face unlock on Apple iPhone X</a:t>
              </a:r>
              <a:br>
                <a:rPr lang="en-US" sz="1600" b="0" dirty="0">
                  <a:solidFill>
                    <a:schemeClr val="tx1"/>
                  </a:solidFill>
                  <a:latin typeface="+mj-lt"/>
                </a:rPr>
              </a:br>
              <a:r>
                <a:rPr lang="en-US" sz="1600" b="0" dirty="0">
                  <a:solidFill>
                    <a:schemeClr val="tx1"/>
                  </a:solidFill>
                  <a:latin typeface="+mj-lt"/>
                </a:rPr>
                <a:t>See also </a:t>
              </a:r>
              <a:r>
                <a:rPr lang="en-US" sz="1400" b="0" dirty="0">
                  <a:solidFill>
                    <a:schemeClr val="tx1"/>
                  </a:solidFill>
                  <a:latin typeface="+mj-lt"/>
                  <a:hlinkClick r:id="rId4"/>
                </a:rPr>
                <a:t>http://www.sensiblevision.com/</a:t>
              </a:r>
              <a:endParaRPr lang="en-US" sz="1400" b="0" dirty="0">
                <a:solidFill>
                  <a:schemeClr val="tx1"/>
                </a:solidFill>
                <a:latin typeface="+mj-lt"/>
              </a:endParaRPr>
            </a:p>
            <a:p>
              <a:pPr eaLnBrk="0" hangingPunct="0">
                <a:spcBef>
                  <a:spcPct val="0"/>
                </a:spcBef>
              </a:pPr>
              <a:endParaRPr lang="en-US" sz="1400" b="0" dirty="0">
                <a:solidFill>
                  <a:schemeClr val="tx1"/>
                </a:solidFill>
                <a:latin typeface="+mj-lt"/>
              </a:endParaRPr>
            </a:p>
          </p:txBody>
        </p:sp>
        <p:pic>
          <p:nvPicPr>
            <p:cNvPr id="983044" name="Picture 4" descr="Image result for iphone x face unlock">
              <a:extLst>
                <a:ext uri="{FF2B5EF4-FFF2-40B4-BE49-F238E27FC236}">
                  <a16:creationId xmlns:a16="http://schemas.microsoft.com/office/drawing/2014/main" id="{52EFBF5D-3570-4544-92A9-E5120B34B2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9504" y="2368469"/>
              <a:ext cx="3991096" cy="2660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0" name="Text Box 2"/>
          <p:cNvSpPr txBox="1">
            <a:spLocks noChangeArrowheads="1"/>
          </p:cNvSpPr>
          <p:nvPr/>
        </p:nvSpPr>
        <p:spPr bwMode="auto">
          <a:xfrm>
            <a:off x="3698876" y="6369050"/>
            <a:ext cx="47593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0" i="1">
                <a:solidFill>
                  <a:schemeClr val="tx1"/>
                </a:solidFill>
                <a:latin typeface="+mj-lt"/>
              </a:rPr>
              <a:t>Pirates of the </a:t>
            </a:r>
            <a:r>
              <a:rPr lang="en-US" sz="1600" b="0" i="1" dirty="0" err="1">
                <a:solidFill>
                  <a:schemeClr val="tx1"/>
                </a:solidFill>
                <a:latin typeface="+mj-lt"/>
              </a:rPr>
              <a:t>Carribean</a:t>
            </a:r>
            <a:r>
              <a:rPr lang="en-US" sz="1600" b="0" dirty="0">
                <a:solidFill>
                  <a:schemeClr val="tx1"/>
                </a:solidFill>
                <a:latin typeface="+mj-lt"/>
              </a:rPr>
              <a:t>, Industrial Light and Magic</a:t>
            </a:r>
          </a:p>
        </p:txBody>
      </p:sp>
      <p:sp>
        <p:nvSpPr>
          <p:cNvPr id="908291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Special effects: motion capture</a:t>
            </a:r>
          </a:p>
        </p:txBody>
      </p:sp>
      <p:pic>
        <p:nvPicPr>
          <p:cNvPr id="90829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57575" y="1400176"/>
            <a:ext cx="5276850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0829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62339" y="3854450"/>
            <a:ext cx="5267325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08294" name="Text Box 6"/>
          <p:cNvSpPr txBox="1">
            <a:spLocks noChangeArrowheads="1"/>
          </p:cNvSpPr>
          <p:nvPr/>
        </p:nvSpPr>
        <p:spPr bwMode="auto">
          <a:xfrm>
            <a:off x="9281994" y="6434139"/>
            <a:ext cx="1213088" cy="27699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Source: S. Seitz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4638"/>
            <a:ext cx="11125200" cy="1143000"/>
          </a:xfrm>
        </p:spPr>
        <p:txBody>
          <a:bodyPr>
            <a:normAutofit/>
          </a:bodyPr>
          <a:lstStyle/>
          <a:p>
            <a:r>
              <a:rPr lang="en-US" dirty="0"/>
              <a:t>3D face tracking w/ consumer cameras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076700" y="1417638"/>
            <a:ext cx="4038600" cy="2883932"/>
            <a:chOff x="1371600" y="1600200"/>
            <a:chExt cx="6400800" cy="457076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1600" y="1600200"/>
              <a:ext cx="6400800" cy="3949032"/>
            </a:xfrm>
            <a:prstGeom prst="rect">
              <a:avLst/>
            </a:prstGeom>
          </p:spPr>
        </p:pic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2940352" y="5585605"/>
              <a:ext cx="3624350" cy="5853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 b="0" dirty="0">
                  <a:solidFill>
                    <a:schemeClr val="tx1"/>
                  </a:solidFill>
                  <a:latin typeface="+mn-lt"/>
                </a:rPr>
                <a:t>Snapchat Lenses</a:t>
              </a: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104" y="4419600"/>
            <a:ext cx="6705600" cy="1900648"/>
          </a:xfrm>
          <a:prstGeom prst="rect">
            <a:avLst/>
          </a:prstGeom>
        </p:spPr>
      </p:pic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4533108" y="6320248"/>
            <a:ext cx="369649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 b="0" dirty="0">
                <a:solidFill>
                  <a:schemeClr val="tx1"/>
                </a:solidFill>
                <a:latin typeface="+mn-lt"/>
                <a:hlinkClick r:id="rId4"/>
              </a:rPr>
              <a:t>Face2Face system</a:t>
            </a:r>
            <a:r>
              <a:rPr lang="en-US" sz="1800" b="0" dirty="0">
                <a:solidFill>
                  <a:schemeClr val="tx1"/>
                </a:solidFill>
                <a:latin typeface="+mn-lt"/>
              </a:rPr>
              <a:t> (</a:t>
            </a:r>
            <a:r>
              <a:rPr lang="en-US" sz="1800" b="0" dirty="0" err="1">
                <a:solidFill>
                  <a:schemeClr val="tx1"/>
                </a:solidFill>
                <a:latin typeface="+mn-lt"/>
              </a:rPr>
              <a:t>Thies</a:t>
            </a:r>
            <a:r>
              <a:rPr lang="en-US" sz="1800" b="0" dirty="0">
                <a:solidFill>
                  <a:schemeClr val="tx1"/>
                </a:solidFill>
                <a:latin typeface="+mn-lt"/>
              </a:rPr>
              <a:t> et al.)</a:t>
            </a:r>
          </a:p>
        </p:txBody>
      </p:sp>
    </p:spTree>
    <p:extLst>
      <p:ext uri="{BB962C8B-B14F-4D97-AF65-F5344CB8AC3E}">
        <p14:creationId xmlns:p14="http://schemas.microsoft.com/office/powerpoint/2010/main" val="28052011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A698C-BCD6-4C59-B88A-47C32624C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face is real?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DEC4C2-33BD-47C7-99B7-680BEF32E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999" y="1417638"/>
            <a:ext cx="8382002" cy="4884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AA5261-2A34-4566-8BD9-9F66CF7F0378}"/>
              </a:ext>
            </a:extLst>
          </p:cNvPr>
          <p:cNvSpPr txBox="1"/>
          <p:nvPr/>
        </p:nvSpPr>
        <p:spPr>
          <a:xfrm>
            <a:off x="3048000" y="612380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chemeClr val="tx1"/>
                </a:solidFill>
                <a:latin typeface="+mj-lt"/>
                <a:hlinkClick r:id="rId3"/>
              </a:rPr>
              <a:t>https://www.whichfaceisreal.com/</a:t>
            </a:r>
            <a:endParaRPr lang="en-US" sz="1600" b="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385560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8F8D-0B7B-FBD7-D1F2-EF7B6205F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synthesis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9CA02AA-FDDA-6C97-9A4E-ABAE55260481}"/>
              </a:ext>
            </a:extLst>
          </p:cNvPr>
          <p:cNvGrpSpPr/>
          <p:nvPr/>
        </p:nvGrpSpPr>
        <p:grpSpPr>
          <a:xfrm>
            <a:off x="1510748" y="1412668"/>
            <a:ext cx="4267200" cy="4851975"/>
            <a:chOff x="2209800" y="1417638"/>
            <a:chExt cx="4267200" cy="4851975"/>
          </a:xfrm>
        </p:grpSpPr>
        <p:pic>
          <p:nvPicPr>
            <p:cNvPr id="5122" name="Picture 2" descr="unknown">
              <a:extLst>
                <a:ext uri="{FF2B5EF4-FFF2-40B4-BE49-F238E27FC236}">
                  <a16:creationId xmlns:a16="http://schemas.microsoft.com/office/drawing/2014/main" id="{6DA430ED-9C98-D847-68CF-19C35A464E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9800" y="1417638"/>
              <a:ext cx="4267200" cy="426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0F35D36-BA80-2214-BC30-4BC0BC056EC5}"/>
                </a:ext>
              </a:extLst>
            </p:cNvPr>
            <p:cNvSpPr txBox="1"/>
            <p:nvPr/>
          </p:nvSpPr>
          <p:spPr>
            <a:xfrm>
              <a:off x="2438400" y="5684838"/>
              <a:ext cx="3810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0" dirty="0">
                  <a:solidFill>
                    <a:schemeClr val="tx1"/>
                  </a:solidFill>
                  <a:latin typeface="+mj-lt"/>
                </a:rPr>
                <a:t>“An astronaut riding a horse in a photorealistic style” – DALL-E 2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64704E5-0C9E-595F-0611-1424B339FAE0}"/>
              </a:ext>
            </a:extLst>
          </p:cNvPr>
          <p:cNvGrpSpPr/>
          <p:nvPr/>
        </p:nvGrpSpPr>
        <p:grpSpPr>
          <a:xfrm>
            <a:off x="6006548" y="1412668"/>
            <a:ext cx="4724396" cy="4869467"/>
            <a:chOff x="5943604" y="1417638"/>
            <a:chExt cx="4724396" cy="4869467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B86F651-8158-DA1A-9A4D-78BC91D15B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2202" y="1417638"/>
              <a:ext cx="4267200" cy="426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86925B9-9F0F-6642-4937-60382B7213D7}"/>
                </a:ext>
              </a:extLst>
            </p:cNvPr>
            <p:cNvSpPr txBox="1"/>
            <p:nvPr/>
          </p:nvSpPr>
          <p:spPr>
            <a:xfrm>
              <a:off x="5943604" y="5702330"/>
              <a:ext cx="47243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 b="0">
                  <a:solidFill>
                    <a:schemeClr val="tx1"/>
                  </a:solidFill>
                  <a:latin typeface="+mj-lt"/>
                </a:defRPr>
              </a:lvl1pPr>
            </a:lstStyle>
            <a:p>
              <a:r>
                <a:rPr lang="en-US" dirty="0"/>
                <a:t>“A photo of a Corgi dog riding a bike in Times Square. It is wearing sunglasses and a beach hat” – Imagen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7012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Sports</a:t>
            </a:r>
          </a:p>
        </p:txBody>
      </p:sp>
      <p:pic>
        <p:nvPicPr>
          <p:cNvPr id="910340" name="Picture 4" descr="first-down-lin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1981200"/>
            <a:ext cx="3810000" cy="2857500"/>
          </a:xfrm>
          <a:prstGeom prst="rect">
            <a:avLst/>
          </a:prstGeom>
          <a:noFill/>
        </p:spPr>
      </p:pic>
      <p:sp>
        <p:nvSpPr>
          <p:cNvPr id="910341" name="Text Box 5"/>
          <p:cNvSpPr txBox="1">
            <a:spLocks noChangeArrowheads="1"/>
          </p:cNvSpPr>
          <p:nvPr/>
        </p:nvSpPr>
        <p:spPr bwMode="auto">
          <a:xfrm>
            <a:off x="1789445" y="4924426"/>
            <a:ext cx="426456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 b="0" i="1" dirty="0" err="1">
                <a:solidFill>
                  <a:schemeClr val="tx1"/>
                </a:solidFill>
                <a:latin typeface="+mn-lt"/>
              </a:rPr>
              <a:t>Sportvision</a:t>
            </a:r>
            <a:r>
              <a:rPr lang="en-US" sz="1800" b="0" dirty="0">
                <a:solidFill>
                  <a:schemeClr val="tx1"/>
                </a:solidFill>
                <a:latin typeface="+mn-lt"/>
              </a:rPr>
              <a:t> first down line</a:t>
            </a:r>
          </a:p>
          <a:p>
            <a:pPr>
              <a:spcBef>
                <a:spcPct val="0"/>
              </a:spcBef>
            </a:pPr>
            <a:r>
              <a:rPr lang="en-US" sz="1800" b="0" dirty="0">
                <a:solidFill>
                  <a:schemeClr val="tx1"/>
                </a:solidFill>
                <a:latin typeface="+mn-lt"/>
                <a:hlinkClick r:id="rId4"/>
              </a:rPr>
              <a:t>Explanation</a:t>
            </a:r>
            <a:r>
              <a:rPr lang="en-US" sz="1800" b="0" dirty="0">
                <a:solidFill>
                  <a:schemeClr val="tx1"/>
                </a:solidFill>
                <a:latin typeface="+mn-lt"/>
              </a:rPr>
              <a:t> on www.howstuffworks.com</a:t>
            </a:r>
          </a:p>
        </p:txBody>
      </p:sp>
      <p:sp>
        <p:nvSpPr>
          <p:cNvPr id="910342" name="Text Box 6"/>
          <p:cNvSpPr txBox="1">
            <a:spLocks noChangeArrowheads="1"/>
          </p:cNvSpPr>
          <p:nvPr/>
        </p:nvSpPr>
        <p:spPr bwMode="auto">
          <a:xfrm>
            <a:off x="9250671" y="6434139"/>
            <a:ext cx="1275734" cy="27699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Source: S. Seitz</a:t>
            </a:r>
          </a:p>
        </p:txBody>
      </p:sp>
      <p:pic>
        <p:nvPicPr>
          <p:cNvPr id="983044" name="Picture 4" descr="http://www.halobattleguide.com/images/blog/writing/arbook/OlympicAR2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236" y="1831542"/>
            <a:ext cx="4112354" cy="3156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cars</a:t>
            </a:r>
          </a:p>
        </p:txBody>
      </p:sp>
      <p:sp>
        <p:nvSpPr>
          <p:cNvPr id="91238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5105400"/>
            <a:ext cx="5334000" cy="163195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hlinkClick r:id="rId3"/>
              </a:rPr>
              <a:t>Mobileye</a:t>
            </a:r>
            <a:endParaRPr lang="en-US" dirty="0"/>
          </a:p>
          <a:p>
            <a:r>
              <a:rPr lang="en-US" dirty="0"/>
              <a:t>Tesla Autopilot</a:t>
            </a:r>
          </a:p>
          <a:p>
            <a:r>
              <a:rPr lang="en-US" dirty="0"/>
              <a:t>Safety features in many cars</a:t>
            </a:r>
          </a:p>
        </p:txBody>
      </p:sp>
      <p:pic>
        <p:nvPicPr>
          <p:cNvPr id="91238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4600" y="1417638"/>
            <a:ext cx="7781925" cy="400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Self-driving cars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88DEE2-4DC4-444A-AAE9-3A911CB5C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2" descr="Image result for waymo">
            <a:extLst>
              <a:ext uri="{FF2B5EF4-FFF2-40B4-BE49-F238E27FC236}">
                <a16:creationId xmlns:a16="http://schemas.microsoft.com/office/drawing/2014/main" id="{24F41B59-02FB-4593-AD5E-E943A1289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676400"/>
            <a:ext cx="57912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45C4BD6A-C06A-421B-A285-A5AFDAD410D3}"/>
              </a:ext>
            </a:extLst>
          </p:cNvPr>
          <p:cNvSpPr txBox="1">
            <a:spLocks noChangeArrowheads="1"/>
          </p:cNvSpPr>
          <p:nvPr/>
        </p:nvSpPr>
        <p:spPr>
          <a:xfrm>
            <a:off x="4419600" y="6096000"/>
            <a:ext cx="33528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itchFamily="34" charset="0"/>
              <a:buNone/>
            </a:pPr>
            <a:r>
              <a:rPr lang="en-US" b="0"/>
              <a:t>Waymo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9681047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Robotics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854692" y="1219201"/>
            <a:ext cx="3712904" cy="3193993"/>
            <a:chOff x="838200" y="2352174"/>
            <a:chExt cx="3787437" cy="3258108"/>
          </a:xfrm>
        </p:grpSpPr>
        <p:sp>
          <p:nvSpPr>
            <p:cNvPr id="918536" name="Rectangle 8"/>
            <p:cNvSpPr>
              <a:spLocks noChangeArrowheads="1"/>
            </p:cNvSpPr>
            <p:nvPr/>
          </p:nvSpPr>
          <p:spPr bwMode="auto">
            <a:xfrm>
              <a:off x="1078277" y="5076559"/>
              <a:ext cx="3178401" cy="5337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sz="1600" b="0" dirty="0">
                  <a:solidFill>
                    <a:schemeClr val="tx1"/>
                  </a:solidFill>
                  <a:latin typeface="+mn-lt"/>
                </a:rPr>
                <a:t>NASA’s Mars Curiosity Rover</a:t>
              </a:r>
            </a:p>
            <a:p>
              <a:pPr eaLnBrk="0" hangingPunct="0">
                <a:spcBef>
                  <a:spcPct val="0"/>
                </a:spcBef>
              </a:pPr>
              <a:r>
                <a:rPr lang="en-US" b="0" dirty="0">
                  <a:solidFill>
                    <a:schemeClr val="tx1"/>
                  </a:solidFill>
                  <a:latin typeface="+mn-lt"/>
                  <a:hlinkClick r:id="rId3"/>
                </a:rPr>
                <a:t>https://en.wikipedia.org/wiki/Curiosity_(rover)</a:t>
              </a:r>
              <a:endParaRPr lang="en-US" b="0" dirty="0">
                <a:solidFill>
                  <a:schemeClr val="tx1"/>
                </a:solidFill>
                <a:latin typeface="+mn-lt"/>
              </a:endParaRPr>
            </a:p>
          </p:txBody>
        </p:sp>
        <p:pic>
          <p:nvPicPr>
            <p:cNvPr id="986114" name="Picture 2" descr="File:Mars Science Laboratory Curiosity rover.jpg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0980"/>
            <a:stretch/>
          </p:blipFill>
          <p:spPr bwMode="auto">
            <a:xfrm>
              <a:off x="838200" y="2352174"/>
              <a:ext cx="3787437" cy="26960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Group 3"/>
          <p:cNvGrpSpPr/>
          <p:nvPr/>
        </p:nvGrpSpPr>
        <p:grpSpPr>
          <a:xfrm>
            <a:off x="5780343" y="1311389"/>
            <a:ext cx="4811458" cy="3056422"/>
            <a:chOff x="4206207" y="2177240"/>
            <a:chExt cx="5174583" cy="3287093"/>
          </a:xfrm>
        </p:grpSpPr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4206207" y="4901625"/>
              <a:ext cx="5174583" cy="5627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sz="1600" b="0" dirty="0">
                  <a:solidFill>
                    <a:schemeClr val="tx1"/>
                  </a:solidFill>
                  <a:latin typeface="+mn-lt"/>
                </a:rPr>
                <a:t>Amazon Picking Challenge</a:t>
              </a:r>
            </a:p>
            <a:p>
              <a:pPr eaLnBrk="0" hangingPunct="0">
                <a:spcBef>
                  <a:spcPct val="0"/>
                </a:spcBef>
              </a:pPr>
              <a:r>
                <a:rPr lang="en-US" b="0" dirty="0">
                  <a:solidFill>
                    <a:schemeClr val="tx1"/>
                  </a:solidFill>
                  <a:latin typeface="+mn-lt"/>
                  <a:hlinkClick r:id="rId5"/>
                </a:rPr>
                <a:t>http://www.robocup2016.org/en/events/amazon-picking-challenge/</a:t>
              </a:r>
              <a:endParaRPr lang="en-US" b="0" dirty="0">
                <a:solidFill>
                  <a:schemeClr val="tx1"/>
                </a:solidFill>
                <a:latin typeface="+mn-lt"/>
              </a:endParaRPr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6"/>
            <a:srcRect r="9381"/>
            <a:stretch/>
          </p:blipFill>
          <p:spPr>
            <a:xfrm>
              <a:off x="4545686" y="2177240"/>
              <a:ext cx="4343399" cy="26960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6" name="Group 5"/>
          <p:cNvGrpSpPr/>
          <p:nvPr/>
        </p:nvGrpSpPr>
        <p:grpSpPr>
          <a:xfrm>
            <a:off x="1675020" y="4683390"/>
            <a:ext cx="4191000" cy="2174611"/>
            <a:chOff x="2400299" y="4724400"/>
            <a:chExt cx="4191000" cy="2174611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7"/>
            <a:srcRect t="25077" r="12500" b="7483"/>
            <a:stretch/>
          </p:blipFill>
          <p:spPr>
            <a:xfrm>
              <a:off x="2400299" y="4724400"/>
              <a:ext cx="4191000" cy="1836057"/>
            </a:xfrm>
            <a:prstGeom prst="rect">
              <a:avLst/>
            </a:prstGeom>
          </p:spPr>
        </p:pic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3732506" y="6560457"/>
              <a:ext cx="1678986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sz="1600" b="0" dirty="0">
                  <a:solidFill>
                    <a:schemeClr val="tx1"/>
                  </a:solidFill>
                  <a:latin typeface="+mn-lt"/>
                </a:rPr>
                <a:t>Amazon Prime Air</a:t>
              </a:r>
            </a:p>
          </p:txBody>
        </p:sp>
      </p:grpSp>
      <p:pic>
        <p:nvPicPr>
          <p:cNvPr id="983042" name="Picture 2" descr="Image result for amazon scout">
            <a:extLst>
              <a:ext uri="{FF2B5EF4-FFF2-40B4-BE49-F238E27FC236}">
                <a16:creationId xmlns:a16="http://schemas.microsoft.com/office/drawing/2014/main" id="{93D2BBE2-C906-423B-99C7-994F544A3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772" y="4679873"/>
            <a:ext cx="3282028" cy="1846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8">
            <a:extLst>
              <a:ext uri="{FF2B5EF4-FFF2-40B4-BE49-F238E27FC236}">
                <a16:creationId xmlns:a16="http://schemas.microsoft.com/office/drawing/2014/main" id="{FA101404-B092-4075-9417-F8DA75F27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1333" y="6499521"/>
            <a:ext cx="136947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sz="1600" b="0" dirty="0">
                <a:solidFill>
                  <a:schemeClr val="tx1"/>
                </a:solidFill>
                <a:latin typeface="+mn-lt"/>
              </a:rPr>
              <a:t>Amazon Scout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Medical imaging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F605D9D-5941-4506-BF9C-1609E5241FDA}"/>
              </a:ext>
            </a:extLst>
          </p:cNvPr>
          <p:cNvGrpSpPr/>
          <p:nvPr/>
        </p:nvGrpSpPr>
        <p:grpSpPr>
          <a:xfrm>
            <a:off x="838200" y="1728215"/>
            <a:ext cx="2091295" cy="2729110"/>
            <a:chOff x="457200" y="1616075"/>
            <a:chExt cx="3505200" cy="4574236"/>
          </a:xfrm>
        </p:grpSpPr>
        <p:pic>
          <p:nvPicPr>
            <p:cNvPr id="340996" name="Picture 4" descr="mybrain"/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57200" y="1616075"/>
              <a:ext cx="3505200" cy="3505200"/>
            </a:xfrm>
            <a:prstGeom prst="rect">
              <a:avLst/>
            </a:prstGeom>
            <a:noFill/>
          </p:spPr>
        </p:pic>
        <p:sp>
          <p:nvSpPr>
            <p:cNvPr id="340999" name="Rectangle 7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932078" y="5210175"/>
              <a:ext cx="2496923" cy="980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0" dirty="0">
                  <a:solidFill>
                    <a:srgbClr val="000000"/>
                  </a:solidFill>
                  <a:latin typeface="+mj-lt"/>
                </a:rPr>
                <a:t>3D imaging (MRI, CT)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879F24D-023F-439D-9C0A-316CC0F0BBE1}"/>
              </a:ext>
            </a:extLst>
          </p:cNvPr>
          <p:cNvGrpSpPr/>
          <p:nvPr/>
        </p:nvGrpSpPr>
        <p:grpSpPr>
          <a:xfrm>
            <a:off x="3352800" y="1728215"/>
            <a:ext cx="8374284" cy="2898707"/>
            <a:chOff x="1908858" y="3796316"/>
            <a:chExt cx="8374284" cy="2898707"/>
          </a:xfrm>
        </p:grpSpPr>
        <p:pic>
          <p:nvPicPr>
            <p:cNvPr id="984066" name="Picture 2" descr="Figure 1">
              <a:extLst>
                <a:ext uri="{FF2B5EF4-FFF2-40B4-BE49-F238E27FC236}">
                  <a16:creationId xmlns:a16="http://schemas.microsoft.com/office/drawing/2014/main" id="{96A4A93F-1AED-44ED-AF3A-FECB8138A0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8858" y="3796316"/>
              <a:ext cx="8374284" cy="22840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D4FC63E-B886-4FD6-91AD-951193FB14A9}"/>
                </a:ext>
              </a:extLst>
            </p:cNvPr>
            <p:cNvSpPr/>
            <p:nvPr/>
          </p:nvSpPr>
          <p:spPr>
            <a:xfrm>
              <a:off x="2697004" y="6110248"/>
              <a:ext cx="6755654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sz="1600" b="0" dirty="0">
                  <a:solidFill>
                    <a:srgbClr val="000000"/>
                  </a:solidFill>
                  <a:latin typeface="+mj-lt"/>
                </a:rPr>
                <a:t>Skin cancer classification with deep learning </a:t>
              </a:r>
              <a:r>
                <a:rPr lang="en-US" sz="1600" b="0" dirty="0">
                  <a:solidFill>
                    <a:srgbClr val="000000"/>
                  </a:solidFill>
                  <a:latin typeface="+mj-lt"/>
                  <a:hlinkClick r:id="rId8"/>
                </a:rPr>
                <a:t>https://cs.stanford.edu/people/esteva/nature/</a:t>
              </a:r>
              <a:endParaRPr lang="en-US" sz="1600" b="0" dirty="0">
                <a:solidFill>
                  <a:srgbClr val="000000"/>
                </a:solidFill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&amp; Augmented Reality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514600" y="1061283"/>
            <a:ext cx="2895600" cy="2838510"/>
            <a:chOff x="609600" y="1371600"/>
            <a:chExt cx="2895600" cy="2838510"/>
          </a:xfrm>
        </p:grpSpPr>
        <p:pic>
          <p:nvPicPr>
            <p:cNvPr id="1000450" name="Picture 2" descr="http://onlinecmag.com/wp-content/uploads/2016/11/dsky.co_.jpg?x5957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1371600"/>
              <a:ext cx="2895600" cy="23260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951665" y="3810000"/>
              <a:ext cx="219598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sz="2000" b="0" dirty="0">
                  <a:solidFill>
                    <a:schemeClr val="tx1"/>
                  </a:solidFill>
                  <a:latin typeface="+mn-lt"/>
                </a:rPr>
                <a:t>6DoF head tracking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867400" y="1608423"/>
            <a:ext cx="3358858" cy="2290822"/>
            <a:chOff x="3352800" y="1600200"/>
            <a:chExt cx="3358858" cy="2290822"/>
          </a:xfrm>
        </p:grpSpPr>
        <p:pic>
          <p:nvPicPr>
            <p:cNvPr id="1000452" name="Picture 4" descr="http://media.gizmodo.co.uk/wp-content/uploads/2015/07/oculus-rift-final-620x349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2800" y="1600200"/>
              <a:ext cx="3358858" cy="18907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3884957" y="3490912"/>
              <a:ext cx="243964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sz="2000" b="0" dirty="0">
                  <a:solidFill>
                    <a:schemeClr val="tx1"/>
                  </a:solidFill>
                  <a:latin typeface="+mn-lt"/>
                </a:rPr>
                <a:t>Hand &amp; body tracking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556230" y="4267200"/>
            <a:ext cx="3197371" cy="2377708"/>
            <a:chOff x="5032229" y="4219441"/>
            <a:chExt cx="3197371" cy="2377708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32229" y="4219441"/>
              <a:ext cx="3197371" cy="1945254"/>
            </a:xfrm>
            <a:prstGeom prst="rect">
              <a:avLst/>
            </a:prstGeom>
          </p:spPr>
        </p:pic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5417410" y="6197039"/>
              <a:ext cx="242701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sz="2000" b="0" dirty="0">
                  <a:solidFill>
                    <a:schemeClr val="tx1"/>
                  </a:solidFill>
                  <a:latin typeface="+mn-lt"/>
                </a:rPr>
                <a:t>3D-360 video capture</a:t>
              </a:r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4226369"/>
            <a:ext cx="3674986" cy="1993213"/>
          </a:xfrm>
          <a:prstGeom prst="rect">
            <a:avLst/>
          </a:prstGeom>
        </p:spPr>
      </p:pic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2776398" y="6229449"/>
            <a:ext cx="269419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3D scene understanding</a:t>
            </a:r>
          </a:p>
        </p:txBody>
      </p:sp>
    </p:spTree>
    <p:extLst>
      <p:ext uri="{BB962C8B-B14F-4D97-AF65-F5344CB8AC3E}">
        <p14:creationId xmlns:p14="http://schemas.microsoft.com/office/powerpoint/2010/main" val="8906496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state of the art</a:t>
            </a:r>
          </a:p>
        </p:txBody>
      </p:sp>
      <p:sp>
        <p:nvSpPr>
          <p:cNvPr id="827395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371600"/>
            <a:ext cx="10668000" cy="5257800"/>
          </a:xfrm>
        </p:spPr>
        <p:txBody>
          <a:bodyPr>
            <a:normAutofit/>
          </a:bodyPr>
          <a:lstStyle/>
          <a:p>
            <a:r>
              <a:rPr lang="en-US" sz="2800" dirty="0"/>
              <a:t>You just saw many examples of current systems.</a:t>
            </a:r>
          </a:p>
          <a:p>
            <a:pPr lvl="1"/>
            <a:r>
              <a:rPr lang="en-US" sz="2400" dirty="0"/>
              <a:t>Many of these are less than 10 years old</a:t>
            </a:r>
          </a:p>
          <a:p>
            <a:pPr lvl="1"/>
            <a:endParaRPr lang="en-US" sz="1600" dirty="0"/>
          </a:p>
          <a:p>
            <a:r>
              <a:rPr lang="en-US" sz="2800" dirty="0"/>
              <a:t>Computer vision is an active research area, and rapidly changing</a:t>
            </a:r>
            <a:endParaRPr lang="en-US" sz="2400" dirty="0"/>
          </a:p>
          <a:p>
            <a:pPr lvl="1"/>
            <a:r>
              <a:rPr lang="en-US" sz="2400" dirty="0"/>
              <a:t>Many new apps in the next 5 years</a:t>
            </a:r>
          </a:p>
          <a:p>
            <a:pPr lvl="1"/>
            <a:r>
              <a:rPr lang="en-US" sz="2400" dirty="0"/>
              <a:t>Deep learning and generative methods powering many modern applications</a:t>
            </a:r>
          </a:p>
          <a:p>
            <a:pPr lvl="1"/>
            <a:endParaRPr lang="en-US" sz="1400" dirty="0"/>
          </a:p>
          <a:p>
            <a:r>
              <a:rPr lang="en-US" sz="2800" dirty="0"/>
              <a:t>Many startups across a dizzying array of areas</a:t>
            </a:r>
          </a:p>
          <a:p>
            <a:pPr lvl="1"/>
            <a:r>
              <a:rPr lang="en-US" sz="2400" dirty="0"/>
              <a:t>Generative AI, robotics, autonomous vehicles, medical imaging, construction, inspection, VR/AR,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978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67200" y="1524000"/>
            <a:ext cx="19431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36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is computer vision difficult?</a:t>
            </a:r>
          </a:p>
        </p:txBody>
      </p:sp>
      <p:pic>
        <p:nvPicPr>
          <p:cNvPr id="109977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95600" y="2286000"/>
            <a:ext cx="2286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99778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57401" y="1447800"/>
            <a:ext cx="2043953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3008262" y="3821668"/>
            <a:ext cx="2088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chemeClr val="tx1"/>
                </a:solidFill>
                <a:latin typeface="+mn-lt"/>
              </a:rPr>
              <a:t>Viewpoint variation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1" y="6248400"/>
            <a:ext cx="13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chemeClr val="tx1"/>
                </a:solidFill>
                <a:latin typeface="+mn-lt"/>
              </a:rPr>
              <a:t>Illumination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2823" y="6107668"/>
            <a:ext cx="66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chemeClr val="tx1"/>
                </a:solidFill>
                <a:latin typeface="+mn-lt"/>
              </a:rPr>
              <a:t>Scale</a:t>
            </a:r>
          </a:p>
        </p:txBody>
      </p:sp>
      <p:pic>
        <p:nvPicPr>
          <p:cNvPr id="1076225" name="Picture 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981200" y="4343400"/>
            <a:ext cx="1968012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76226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276600" y="4572001"/>
            <a:ext cx="1981200" cy="1304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76228" name="Picture 4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419600" y="4800601"/>
            <a:ext cx="1981200" cy="1304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 descr="A picture containing outdoor, person, young, boy&#10;&#10;Description automatically generated">
            <a:extLst>
              <a:ext uri="{FF2B5EF4-FFF2-40B4-BE49-F238E27FC236}">
                <a16:creationId xmlns:a16="http://schemas.microsoft.com/office/drawing/2014/main" id="{6130EBEC-3807-4F1F-A322-5BEABAE9E1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2" y="1371600"/>
            <a:ext cx="3147848" cy="4718820"/>
          </a:xfrm>
          <a:prstGeom prst="rect">
            <a:avLst/>
          </a:prstGeom>
        </p:spPr>
      </p:pic>
      <p:sp>
        <p:nvSpPr>
          <p:cNvPr id="4" name="Rectangle 3">
            <a:hlinkClick r:id="rId10"/>
            <a:extLst>
              <a:ext uri="{FF2B5EF4-FFF2-40B4-BE49-F238E27FC236}">
                <a16:creationId xmlns:a16="http://schemas.microsoft.com/office/drawing/2014/main" id="{AED27E65-B332-4F44-9491-5D6B60797FEA}"/>
              </a:ext>
            </a:extLst>
          </p:cNvPr>
          <p:cNvSpPr/>
          <p:nvPr/>
        </p:nvSpPr>
        <p:spPr>
          <a:xfrm>
            <a:off x="7898695" y="5803686"/>
            <a:ext cx="22477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dirty="0">
                <a:solidFill>
                  <a:schemeClr val="bg1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Credit: Flickr user </a:t>
            </a:r>
            <a:r>
              <a:rPr lang="en-US" b="0" dirty="0" err="1">
                <a:solidFill>
                  <a:schemeClr val="bg1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michaelpaul</a:t>
            </a:r>
            <a:endParaRPr lang="en-US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computer vision difficult?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981200" y="1295401"/>
            <a:ext cx="4038600" cy="2366367"/>
            <a:chOff x="304800" y="1600200"/>
            <a:chExt cx="4876800" cy="2857500"/>
          </a:xfrm>
        </p:grpSpPr>
        <p:pic>
          <p:nvPicPr>
            <p:cNvPr id="1100804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04800" y="1676400"/>
              <a:ext cx="2286000" cy="1466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00805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676400" y="2743200"/>
              <a:ext cx="2286000" cy="1714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00806" name="Picture 6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895600" y="1600200"/>
              <a:ext cx="2286000" cy="1714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1" name="TextBox 10"/>
          <p:cNvSpPr txBox="1"/>
          <p:nvPr/>
        </p:nvSpPr>
        <p:spPr>
          <a:xfrm>
            <a:off x="2976572" y="3745468"/>
            <a:ext cx="2158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chemeClr val="tx1"/>
                </a:solidFill>
                <a:latin typeface="+mj-lt"/>
              </a:rPr>
              <a:t>Intra-class variation</a:t>
            </a:r>
          </a:p>
        </p:txBody>
      </p:sp>
      <p:pic>
        <p:nvPicPr>
          <p:cNvPr id="1100807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90800" y="4191000"/>
            <a:ext cx="2781300" cy="222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2916707" y="6424043"/>
            <a:ext cx="2108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chemeClr val="tx1"/>
                </a:solidFill>
                <a:latin typeface="+mj-lt"/>
              </a:rPr>
              <a:t>Background clutter</a:t>
            </a:r>
          </a:p>
        </p:txBody>
      </p:sp>
      <p:pic>
        <p:nvPicPr>
          <p:cNvPr id="14" name="Picture 6" descr="bird_head_motion_blur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086600" y="1524000"/>
            <a:ext cx="2667000" cy="174141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6909828" y="3352800"/>
            <a:ext cx="3054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chemeClr val="tx1"/>
                </a:solidFill>
                <a:latin typeface="+mj-lt"/>
              </a:rPr>
              <a:t>Motion (Source: S. Lazebnik)</a:t>
            </a:r>
          </a:p>
        </p:txBody>
      </p:sp>
      <p:pic>
        <p:nvPicPr>
          <p:cNvPr id="1074177" name="Picture 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934200" y="4114800"/>
            <a:ext cx="289560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7855552" y="6336268"/>
            <a:ext cx="1178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chemeClr val="tx1"/>
                </a:solidFill>
                <a:latin typeface="+mj-lt"/>
              </a:rPr>
              <a:t>Occlusion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491" name="Group 19"/>
          <p:cNvGrpSpPr>
            <a:grpSpLocks/>
          </p:cNvGrpSpPr>
          <p:nvPr/>
        </p:nvGrpSpPr>
        <p:grpSpPr bwMode="auto">
          <a:xfrm>
            <a:off x="2057400" y="762000"/>
            <a:ext cx="5715000" cy="5715000"/>
            <a:chOff x="1776" y="480"/>
            <a:chExt cx="3600" cy="3600"/>
          </a:xfrm>
        </p:grpSpPr>
        <p:graphicFrame>
          <p:nvGraphicFramePr>
            <p:cNvPr id="745475" name="Object 3"/>
            <p:cNvGraphicFramePr>
              <a:graphicFrameLocks noChangeAspect="1"/>
            </p:cNvGraphicFramePr>
            <p:nvPr/>
          </p:nvGraphicFramePr>
          <p:xfrm>
            <a:off x="1776" y="2352"/>
            <a:ext cx="1728" cy="17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Image File" r:id="rId3" imgW="3251160" imgH="3251160" progId="">
                    <p:embed/>
                  </p:oleObj>
                </mc:Choice>
                <mc:Fallback>
                  <p:oleObj name="Image File" r:id="rId3" imgW="3251160" imgH="3251160" progId="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2352"/>
                          <a:ext cx="1728" cy="17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5476" name="Object 4"/>
            <p:cNvGraphicFramePr>
              <a:graphicFrameLocks noChangeAspect="1"/>
            </p:cNvGraphicFramePr>
            <p:nvPr/>
          </p:nvGraphicFramePr>
          <p:xfrm>
            <a:off x="1776" y="480"/>
            <a:ext cx="1728" cy="17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Image File" r:id="rId5" imgW="3251160" imgH="3251160" progId="">
                    <p:embed/>
                  </p:oleObj>
                </mc:Choice>
                <mc:Fallback>
                  <p:oleObj name="Image File" r:id="rId5" imgW="3251160" imgH="3251160" progId="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480"/>
                          <a:ext cx="1728" cy="17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5477" name="Object 5"/>
            <p:cNvGraphicFramePr>
              <a:graphicFrameLocks noChangeAspect="1"/>
            </p:cNvGraphicFramePr>
            <p:nvPr/>
          </p:nvGraphicFramePr>
          <p:xfrm>
            <a:off x="3648" y="2352"/>
            <a:ext cx="1728" cy="17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Image" r:id="rId7" imgW="3250794" imgH="3250794" progId="">
                    <p:embed/>
                  </p:oleObj>
                </mc:Choice>
                <mc:Fallback>
                  <p:oleObj name="Image" r:id="rId7" imgW="3250794" imgH="3250794" progId="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2352"/>
                          <a:ext cx="1728" cy="17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5478" name="Object 6"/>
            <p:cNvGraphicFramePr>
              <a:graphicFrameLocks noChangeAspect="1"/>
            </p:cNvGraphicFramePr>
            <p:nvPr/>
          </p:nvGraphicFramePr>
          <p:xfrm>
            <a:off x="3648" y="480"/>
            <a:ext cx="1728" cy="17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Image" r:id="rId9" imgW="3250794" imgH="3250794" progId="">
                    <p:embed/>
                  </p:oleObj>
                </mc:Choice>
                <mc:Fallback>
                  <p:oleObj name="Image" r:id="rId9" imgW="3250794" imgH="3250794" progId="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480"/>
                          <a:ext cx="1728" cy="17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45492" name="Group 20"/>
          <p:cNvGrpSpPr>
            <a:grpSpLocks/>
          </p:cNvGrpSpPr>
          <p:nvPr/>
        </p:nvGrpSpPr>
        <p:grpSpPr bwMode="auto">
          <a:xfrm>
            <a:off x="2209800" y="1219200"/>
            <a:ext cx="4495800" cy="5257800"/>
            <a:chOff x="1872" y="768"/>
            <a:chExt cx="2832" cy="3312"/>
          </a:xfrm>
        </p:grpSpPr>
        <p:sp>
          <p:nvSpPr>
            <p:cNvPr id="745479" name="Oval 7"/>
            <p:cNvSpPr>
              <a:spLocks noChangeArrowheads="1"/>
            </p:cNvSpPr>
            <p:nvPr/>
          </p:nvSpPr>
          <p:spPr bwMode="auto">
            <a:xfrm>
              <a:off x="2304" y="1824"/>
              <a:ext cx="480" cy="480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5480" name="Oval 8"/>
            <p:cNvSpPr>
              <a:spLocks noChangeArrowheads="1"/>
            </p:cNvSpPr>
            <p:nvPr/>
          </p:nvSpPr>
          <p:spPr bwMode="auto">
            <a:xfrm>
              <a:off x="2688" y="1632"/>
              <a:ext cx="480" cy="480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5481" name="Oval 9"/>
            <p:cNvSpPr>
              <a:spLocks noChangeArrowheads="1"/>
            </p:cNvSpPr>
            <p:nvPr/>
          </p:nvSpPr>
          <p:spPr bwMode="auto">
            <a:xfrm>
              <a:off x="3888" y="768"/>
              <a:ext cx="480" cy="480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5482" name="Oval 10"/>
            <p:cNvSpPr>
              <a:spLocks noChangeArrowheads="1"/>
            </p:cNvSpPr>
            <p:nvPr/>
          </p:nvSpPr>
          <p:spPr bwMode="auto">
            <a:xfrm>
              <a:off x="1872" y="3264"/>
              <a:ext cx="480" cy="480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5483" name="Oval 11"/>
            <p:cNvSpPr>
              <a:spLocks noChangeArrowheads="1"/>
            </p:cNvSpPr>
            <p:nvPr/>
          </p:nvSpPr>
          <p:spPr bwMode="auto">
            <a:xfrm>
              <a:off x="2640" y="3456"/>
              <a:ext cx="480" cy="480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5484" name="Oval 12"/>
            <p:cNvSpPr>
              <a:spLocks noChangeArrowheads="1"/>
            </p:cNvSpPr>
            <p:nvPr/>
          </p:nvSpPr>
          <p:spPr bwMode="auto">
            <a:xfrm>
              <a:off x="2736" y="2976"/>
              <a:ext cx="480" cy="480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5485" name="Oval 13"/>
            <p:cNvSpPr>
              <a:spLocks noChangeArrowheads="1"/>
            </p:cNvSpPr>
            <p:nvPr/>
          </p:nvSpPr>
          <p:spPr bwMode="auto">
            <a:xfrm>
              <a:off x="3792" y="3600"/>
              <a:ext cx="480" cy="480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5486" name="Oval 14"/>
            <p:cNvSpPr>
              <a:spLocks noChangeArrowheads="1"/>
            </p:cNvSpPr>
            <p:nvPr/>
          </p:nvSpPr>
          <p:spPr bwMode="auto">
            <a:xfrm>
              <a:off x="4224" y="3600"/>
              <a:ext cx="480" cy="480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745487" name="Object 15"/>
          <p:cNvGraphicFramePr>
            <a:graphicFrameLocks noChangeAspect="1"/>
          </p:cNvGraphicFramePr>
          <p:nvPr/>
        </p:nvGraphicFramePr>
        <p:xfrm>
          <a:off x="8763000" y="3200401"/>
          <a:ext cx="7572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File" r:id="rId11" imgW="3251160" imgH="3251160" progId="">
                  <p:embed/>
                </p:oleObj>
              </mc:Choice>
              <mc:Fallback>
                <p:oleObj name="Image File" r:id="rId11" imgW="3251160" imgH="325116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1035" t="82759" r="41379"/>
                      <a:stretch>
                        <a:fillRect/>
                      </a:stretch>
                    </p:blipFill>
                    <p:spPr bwMode="auto">
                      <a:xfrm>
                        <a:off x="8763000" y="3200401"/>
                        <a:ext cx="757238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5488" name="Rectangle 16"/>
          <p:cNvSpPr>
            <a:spLocks noGrp="1" noChangeArrowheads="1"/>
          </p:cNvSpPr>
          <p:nvPr>
            <p:ph type="title"/>
          </p:nvPr>
        </p:nvSpPr>
        <p:spPr>
          <a:xfrm>
            <a:off x="304800" y="136192"/>
            <a:ext cx="8229600" cy="563563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dirty="0"/>
              <a:t>Challenges:  local ambiguity</a:t>
            </a:r>
          </a:p>
        </p:txBody>
      </p:sp>
      <p:sp>
        <p:nvSpPr>
          <p:cNvPr id="745490" name="Text Box 18"/>
          <p:cNvSpPr txBox="1">
            <a:spLocks noChangeArrowheads="1"/>
          </p:cNvSpPr>
          <p:nvPr/>
        </p:nvSpPr>
        <p:spPr bwMode="auto">
          <a:xfrm>
            <a:off x="7777164" y="6575425"/>
            <a:ext cx="28225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lang="en-US" b="0" dirty="0">
                <a:solidFill>
                  <a:schemeClr val="tx1"/>
                </a:solidFill>
                <a:latin typeface="+mj-lt"/>
                <a:cs typeface="Arial" charset="0"/>
              </a:rPr>
              <a:t>slide credit: Fei-Fei, Fergus &amp; Torralba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-152400"/>
            <a:ext cx="10515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But there are lots of visual cues we can use…</a:t>
            </a:r>
          </a:p>
        </p:txBody>
      </p:sp>
      <p:pic>
        <p:nvPicPr>
          <p:cNvPr id="789514" name="Picture 10" descr="brunei"/>
          <p:cNvPicPr>
            <a:picLocks noChangeAspect="1" noChangeArrowheads="1"/>
          </p:cNvPicPr>
          <p:nvPr/>
        </p:nvPicPr>
        <p:blipFill>
          <a:blip r:embed="rId3" cstate="print"/>
          <a:srcRect t="6250"/>
          <a:stretch>
            <a:fillRect/>
          </a:stretch>
        </p:blipFill>
        <p:spPr bwMode="auto">
          <a:xfrm>
            <a:off x="2209800" y="876962"/>
            <a:ext cx="7820152" cy="550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8991600" y="6458502"/>
            <a:ext cx="1648208" cy="27699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Source: S. Lazebnik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CS5187</a:t>
            </a:r>
            <a:r>
              <a:rPr lang="en-US" dirty="0"/>
              <a:t>: Vision and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Project-based course whose goal is to teach you the fundamentals of computer vision – image processing, geometry, recognition – in a hands-on way</a:t>
            </a:r>
          </a:p>
          <a:p>
            <a:endParaRPr lang="en-US" dirty="0"/>
          </a:p>
          <a:p>
            <a:r>
              <a:rPr lang="en-US" dirty="0"/>
              <a:t>This course covers </a:t>
            </a:r>
            <a:r>
              <a:rPr lang="en-US" b="1" dirty="0"/>
              <a:t>fundamentals</a:t>
            </a:r>
            <a:r>
              <a:rPr lang="en-US" dirty="0"/>
              <a:t>, </a:t>
            </a:r>
            <a:r>
              <a:rPr lang="en-US" b="1" dirty="0"/>
              <a:t>including mathematical fundamentals</a:t>
            </a:r>
            <a:r>
              <a:rPr lang="en-US" dirty="0"/>
              <a:t>. It is not a course specifically on deep learning or generative AI, though those topics will be covered.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150459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requirements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762000" y="1371601"/>
            <a:ext cx="10820400" cy="5105399"/>
          </a:xfrm>
        </p:spPr>
        <p:txBody>
          <a:bodyPr>
            <a:normAutofit/>
          </a:bodyPr>
          <a:lstStyle/>
          <a:p>
            <a:r>
              <a:rPr lang="en-US" dirty="0"/>
              <a:t>Prerequisites</a:t>
            </a:r>
          </a:p>
          <a:p>
            <a:pPr lvl="1"/>
            <a:r>
              <a:rPr lang="en-US" dirty="0"/>
              <a:t>Data structures</a:t>
            </a:r>
          </a:p>
          <a:p>
            <a:pPr lvl="1"/>
            <a:r>
              <a:rPr lang="en-US" dirty="0"/>
              <a:t>Good working knowledge of Python programming</a:t>
            </a:r>
          </a:p>
          <a:p>
            <a:pPr lvl="1"/>
            <a:r>
              <a:rPr lang="en-US" dirty="0"/>
              <a:t>Linear algebra</a:t>
            </a:r>
          </a:p>
          <a:p>
            <a:pPr lvl="1"/>
            <a:r>
              <a:rPr lang="en-US" dirty="0"/>
              <a:t>Vector calculus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Course does </a:t>
            </a:r>
            <a:r>
              <a:rPr lang="en-US" b="1" i="1" dirty="0"/>
              <a:t>not</a:t>
            </a:r>
            <a:r>
              <a:rPr lang="en-US" dirty="0"/>
              <a:t> assume prior imaging experience</a:t>
            </a:r>
          </a:p>
          <a:p>
            <a:pPr lvl="1"/>
            <a:r>
              <a:rPr lang="en-US" dirty="0"/>
              <a:t>computer vision, image processing, graphics, etc.</a:t>
            </a:r>
          </a:p>
          <a:p>
            <a:pPr marL="0" indent="0">
              <a:buNone/>
            </a:pPr>
            <a:endParaRPr lang="en-US" sz="2600" dirty="0"/>
          </a:p>
          <a:p>
            <a:pPr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080798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dirty="0"/>
              <a:t>Course overview (tentative)</a:t>
            </a:r>
          </a:p>
        </p:txBody>
      </p:sp>
      <p:sp>
        <p:nvSpPr>
          <p:cNvPr id="785411" name="Rectangle 3"/>
          <p:cNvSpPr>
            <a:spLocks noGrp="1" noChangeArrowheads="1"/>
          </p:cNvSpPr>
          <p:nvPr>
            <p:ph idx="1"/>
          </p:nvPr>
        </p:nvSpPr>
        <p:spPr>
          <a:xfrm>
            <a:off x="4933950" y="1371600"/>
            <a:ext cx="7334250" cy="5562600"/>
          </a:xfrm>
        </p:spPr>
        <p:txBody>
          <a:bodyPr>
            <a:normAutofit/>
          </a:bodyPr>
          <a:lstStyle/>
          <a:p>
            <a:pPr marL="609600" indent="-609600">
              <a:buAutoNum type="arabicPeriod"/>
            </a:pPr>
            <a:r>
              <a:rPr lang="en-US" dirty="0"/>
              <a:t>Low-level vision (2-3 classes)</a:t>
            </a:r>
          </a:p>
          <a:p>
            <a:pPr marL="1009650" lvl="1" indent="-609600"/>
            <a:r>
              <a:rPr lang="en-US" sz="2400" dirty="0"/>
              <a:t>image processing, edge detection, feature detection, cameras, image formation</a:t>
            </a:r>
          </a:p>
          <a:p>
            <a:pPr marL="400050" lvl="1" indent="0">
              <a:buNone/>
            </a:pPr>
            <a:endParaRPr lang="en-US" sz="2400" dirty="0"/>
          </a:p>
          <a:p>
            <a:pPr marL="609600" indent="-609600">
              <a:buFont typeface="Arial" pitchFamily="34" charset="0"/>
              <a:buAutoNum type="arabicPeriod"/>
            </a:pPr>
            <a:r>
              <a:rPr lang="en-US" dirty="0"/>
              <a:t>Geometry &amp; appearance</a:t>
            </a:r>
            <a:r>
              <a:rPr lang="en-US" altLang="zh-CN" dirty="0"/>
              <a:t> (3-4 classes)</a:t>
            </a:r>
            <a:endParaRPr lang="en-US" dirty="0"/>
          </a:p>
          <a:p>
            <a:pPr marL="1009650" lvl="1" indent="-609600"/>
            <a:r>
              <a:rPr lang="en-US" sz="2400" dirty="0"/>
              <a:t>projective geometry, stereo, structure from motion, optimization, lighting &amp; materials</a:t>
            </a:r>
          </a:p>
          <a:p>
            <a:pPr marL="400050" lvl="1" indent="0">
              <a:buNone/>
            </a:pPr>
            <a:endParaRPr lang="en-US" sz="2400" dirty="0"/>
          </a:p>
          <a:p>
            <a:pPr marL="609600" indent="-609600">
              <a:buFont typeface="Arial" pitchFamily="34" charset="0"/>
              <a:buAutoNum type="arabicPeriod"/>
            </a:pPr>
            <a:r>
              <a:rPr lang="en-US" dirty="0"/>
              <a:t>Recognition &amp; generative models (6-8 classes)</a:t>
            </a:r>
          </a:p>
          <a:p>
            <a:pPr marL="1009650" lvl="1" indent="-609600"/>
            <a:r>
              <a:rPr lang="en-US" sz="2400" dirty="0"/>
              <a:t>object classification, deep learning, diffusion models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803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6600" y="1600200"/>
            <a:ext cx="1600200" cy="1004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80325" name="Picture 5" descr="C:\snavely\work\teaching\09Fa-CS6610\material\Epipolar_geometry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43866" y="3124200"/>
            <a:ext cx="1709134" cy="105273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80326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352800" y="4953000"/>
            <a:ext cx="1600200" cy="1060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DF4C09E2-CA2D-4FD8-87C9-AEAB1BEF264F}"/>
              </a:ext>
            </a:extLst>
          </p:cNvPr>
          <p:cNvSpPr txBox="1">
            <a:spLocks noChangeArrowheads="1"/>
          </p:cNvSpPr>
          <p:nvPr/>
        </p:nvSpPr>
        <p:spPr>
          <a:xfrm>
            <a:off x="76200" y="1390650"/>
            <a:ext cx="3200400" cy="3650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2000" dirty="0"/>
              <a:t>We generally have 13 classes.</a:t>
            </a:r>
          </a:p>
          <a:p>
            <a:pPr fontAlgn="auto">
              <a:spcAft>
                <a:spcPts val="0"/>
              </a:spcAft>
            </a:pPr>
            <a:endParaRPr lang="en-US" altLang="zh-CN" sz="2000" dirty="0"/>
          </a:p>
          <a:p>
            <a:pPr fontAlgn="auto">
              <a:spcAft>
                <a:spcPts val="0"/>
              </a:spcAft>
            </a:pPr>
            <a:r>
              <a:rPr lang="en-US" altLang="zh-CN" sz="2000" dirty="0"/>
              <a:t>3 </a:t>
            </a:r>
            <a:r>
              <a:rPr lang="zh-CN" altLang="en-US" sz="2000" dirty="0"/>
              <a:t> </a:t>
            </a:r>
            <a:r>
              <a:rPr lang="en-US" altLang="zh-CN" sz="2000" dirty="0"/>
              <a:t>Classes</a:t>
            </a:r>
            <a:endParaRPr lang="en-US" sz="2000" dirty="0"/>
          </a:p>
          <a:p>
            <a:pPr fontAlgn="auto">
              <a:spcAft>
                <a:spcPts val="0"/>
              </a:spcAft>
            </a:pPr>
            <a:r>
              <a:rPr lang="en-US" sz="2000" dirty="0"/>
              <a:t>20/01/2026 - 03/02/2026</a:t>
            </a:r>
          </a:p>
          <a:p>
            <a:pPr fontAlgn="auto">
              <a:spcAft>
                <a:spcPts val="0"/>
              </a:spcAft>
            </a:pPr>
            <a:endParaRPr lang="en-US" sz="2000" dirty="0"/>
          </a:p>
          <a:p>
            <a:pPr fontAlgn="auto">
              <a:spcAft>
                <a:spcPts val="0"/>
              </a:spcAft>
            </a:pPr>
            <a:endParaRPr lang="en-US" sz="2000" dirty="0"/>
          </a:p>
          <a:p>
            <a:pPr fontAlgn="auto">
              <a:spcAft>
                <a:spcPts val="0"/>
              </a:spcAft>
            </a:pPr>
            <a:r>
              <a:rPr lang="en-US" sz="2000" dirty="0"/>
              <a:t>10 classes</a:t>
            </a:r>
          </a:p>
          <a:p>
            <a:pPr fontAlgn="auto">
              <a:spcAft>
                <a:spcPts val="0"/>
              </a:spcAft>
            </a:pPr>
            <a:r>
              <a:rPr lang="en-US" altLang="zh-CN" sz="2000" dirty="0"/>
              <a:t>03/03/2026 - 09/05/2026</a:t>
            </a:r>
          </a:p>
          <a:p>
            <a:pPr fontAlgn="auto">
              <a:spcAft>
                <a:spcPts val="0"/>
              </a:spcAft>
            </a:pPr>
            <a:endParaRPr lang="en-US" sz="2000" dirty="0"/>
          </a:p>
        </p:txBody>
      </p:sp>
      <p:pic>
        <p:nvPicPr>
          <p:cNvPr id="4" name="图片 3" descr="图形用户界面, 表格&#10;&#10;AI 生成的内容可能不正确。">
            <a:extLst>
              <a:ext uri="{FF2B5EF4-FFF2-40B4-BE49-F238E27FC236}">
                <a16:creationId xmlns:a16="http://schemas.microsoft.com/office/drawing/2014/main" id="{4C2E43F9-120B-0F8E-BFC4-46420722F8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500"/>
          <a:stretch>
            <a:fillRect/>
          </a:stretch>
        </p:blipFill>
        <p:spPr>
          <a:xfrm>
            <a:off x="3124200" y="1143000"/>
            <a:ext cx="8839200" cy="5715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5411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31D1C-C487-8D0C-457F-727191BEA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410" name="Rectangle 2">
            <a:extLst>
              <a:ext uri="{FF2B5EF4-FFF2-40B4-BE49-F238E27FC236}">
                <a16:creationId xmlns:a16="http://schemas.microsoft.com/office/drawing/2014/main" id="{6A31ECBC-FAD8-A288-7BDF-6C42AB69AF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dirty="0"/>
              <a:t>Course overview (tentative)</a:t>
            </a:r>
          </a:p>
        </p:txBody>
      </p:sp>
      <p:sp>
        <p:nvSpPr>
          <p:cNvPr id="785411" name="Rectangle 3">
            <a:extLst>
              <a:ext uri="{FF2B5EF4-FFF2-40B4-BE49-F238E27FC236}">
                <a16:creationId xmlns:a16="http://schemas.microsoft.com/office/drawing/2014/main" id="{B89C58FF-8516-BC3A-6BE0-84C7499CCB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933950" y="1371600"/>
            <a:ext cx="7334250" cy="5562600"/>
          </a:xfrm>
        </p:spPr>
        <p:txBody>
          <a:bodyPr>
            <a:normAutofit/>
          </a:bodyPr>
          <a:lstStyle/>
          <a:p>
            <a:pPr marL="609600" indent="-609600">
              <a:buAutoNum type="arabicPeriod"/>
            </a:pPr>
            <a:r>
              <a:rPr lang="en-US" dirty="0"/>
              <a:t>Low-level vision (2-3 classes)</a:t>
            </a:r>
          </a:p>
          <a:p>
            <a:pPr marL="1009650" lvl="1" indent="-609600"/>
            <a:r>
              <a:rPr lang="en-US" sz="2400" dirty="0"/>
              <a:t>image processing, edge detection, feature detection, cameras, image formation</a:t>
            </a:r>
          </a:p>
          <a:p>
            <a:pPr marL="400050" lvl="1" indent="0">
              <a:buNone/>
            </a:pPr>
            <a:endParaRPr lang="en-US" sz="2400" dirty="0"/>
          </a:p>
          <a:p>
            <a:pPr marL="609600" indent="-609600">
              <a:buFont typeface="Arial" pitchFamily="34" charset="0"/>
              <a:buAutoNum type="arabicPeriod"/>
            </a:pPr>
            <a:r>
              <a:rPr lang="en-US" dirty="0"/>
              <a:t>Geometry &amp; appearance</a:t>
            </a:r>
            <a:r>
              <a:rPr lang="en-US" altLang="zh-CN" dirty="0"/>
              <a:t> (3-4 classes)</a:t>
            </a:r>
            <a:endParaRPr lang="en-US" dirty="0"/>
          </a:p>
          <a:p>
            <a:pPr marL="1009650" lvl="1" indent="-609600"/>
            <a:r>
              <a:rPr lang="en-US" sz="2400" dirty="0"/>
              <a:t>projective geometry, stereo, structure from motion, optimization, lighting &amp; materials</a:t>
            </a:r>
          </a:p>
          <a:p>
            <a:pPr marL="400050" lvl="1" indent="0">
              <a:buNone/>
            </a:pPr>
            <a:endParaRPr lang="en-US" sz="2400" dirty="0"/>
          </a:p>
          <a:p>
            <a:pPr marL="609600" indent="-609600">
              <a:buFont typeface="Arial" pitchFamily="34" charset="0"/>
              <a:buAutoNum type="arabicPeriod"/>
            </a:pPr>
            <a:r>
              <a:rPr lang="en-US" dirty="0"/>
              <a:t>Recognition &amp; generative models (6-8 classes)</a:t>
            </a:r>
          </a:p>
          <a:p>
            <a:pPr marL="1009650" lvl="1" indent="-609600"/>
            <a:r>
              <a:rPr lang="en-US" sz="2400" dirty="0"/>
              <a:t>object classification, deep learning, diffusion models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80322" name="Picture 2">
            <a:extLst>
              <a:ext uri="{FF2B5EF4-FFF2-40B4-BE49-F238E27FC236}">
                <a16:creationId xmlns:a16="http://schemas.microsoft.com/office/drawing/2014/main" id="{8CBF1ED4-533C-0EF5-9B05-2D5BA642C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6600" y="1600200"/>
            <a:ext cx="1600200" cy="1004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80325" name="Picture 5" descr="C:\snavely\work\teaching\09Fa-CS6610\material\Epipolar_geometry.png">
            <a:extLst>
              <a:ext uri="{FF2B5EF4-FFF2-40B4-BE49-F238E27FC236}">
                <a16:creationId xmlns:a16="http://schemas.microsoft.com/office/drawing/2014/main" id="{B724C6F9-A37B-B6D3-FDDB-CB8E0FE36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43866" y="3124200"/>
            <a:ext cx="1709134" cy="105273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80326" name="Picture 6">
            <a:extLst>
              <a:ext uri="{FF2B5EF4-FFF2-40B4-BE49-F238E27FC236}">
                <a16:creationId xmlns:a16="http://schemas.microsoft.com/office/drawing/2014/main" id="{293955EC-31CA-73AE-5E47-B24D7FF4D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352800" y="4953000"/>
            <a:ext cx="1600200" cy="1060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8A8AE877-5123-ADBE-B7C6-C419F1BB1A59}"/>
              </a:ext>
            </a:extLst>
          </p:cNvPr>
          <p:cNvSpPr txBox="1">
            <a:spLocks noChangeArrowheads="1"/>
          </p:cNvSpPr>
          <p:nvPr/>
        </p:nvSpPr>
        <p:spPr>
          <a:xfrm>
            <a:off x="76200" y="1390650"/>
            <a:ext cx="3200400" cy="3650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2000" dirty="0"/>
              <a:t>We generally have 13 classes.</a:t>
            </a:r>
          </a:p>
          <a:p>
            <a:pPr fontAlgn="auto">
              <a:spcAft>
                <a:spcPts val="0"/>
              </a:spcAft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75063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5411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 Low-level vision</a:t>
            </a:r>
          </a:p>
        </p:txBody>
      </p:sp>
      <p:sp>
        <p:nvSpPr>
          <p:cNvPr id="678929" name="Rectangle 1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image processing and image formation</a:t>
            </a:r>
          </a:p>
        </p:txBody>
      </p:sp>
      <p:grpSp>
        <p:nvGrpSpPr>
          <p:cNvPr id="678931" name="Group 19"/>
          <p:cNvGrpSpPr>
            <a:grpSpLocks/>
          </p:cNvGrpSpPr>
          <p:nvPr/>
        </p:nvGrpSpPr>
        <p:grpSpPr bwMode="auto">
          <a:xfrm>
            <a:off x="2006600" y="2438400"/>
            <a:ext cx="4267200" cy="1397000"/>
            <a:chOff x="2880" y="1234"/>
            <a:chExt cx="2688" cy="880"/>
          </a:xfrm>
        </p:grpSpPr>
        <p:pic>
          <p:nvPicPr>
            <p:cNvPr id="678918" name="Picture 6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032" y="1378"/>
              <a:ext cx="248" cy="248"/>
            </a:xfrm>
            <a:prstGeom prst="rect">
              <a:avLst/>
            </a:prstGeom>
            <a:noFill/>
          </p:spPr>
        </p:pic>
        <p:pic>
          <p:nvPicPr>
            <p:cNvPr id="678919" name="Picture 7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880" y="1234"/>
              <a:ext cx="892" cy="613"/>
            </a:xfrm>
            <a:prstGeom prst="rect">
              <a:avLst/>
            </a:prstGeom>
            <a:noFill/>
          </p:spPr>
        </p:pic>
        <p:pic>
          <p:nvPicPr>
            <p:cNvPr id="678920" name="Picture 8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656" y="1234"/>
              <a:ext cx="912" cy="619"/>
            </a:xfrm>
            <a:prstGeom prst="rect">
              <a:avLst/>
            </a:prstGeom>
            <a:noFill/>
          </p:spPr>
        </p:pic>
        <p:sp>
          <p:nvSpPr>
            <p:cNvPr id="678925" name="Text Box 13"/>
            <p:cNvSpPr txBox="1">
              <a:spLocks noChangeArrowheads="1"/>
            </p:cNvSpPr>
            <p:nvPr/>
          </p:nvSpPr>
          <p:spPr bwMode="auto">
            <a:xfrm>
              <a:off x="3312" y="1881"/>
              <a:ext cx="1558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0" dirty="0">
                  <a:solidFill>
                    <a:schemeClr val="tx1"/>
                  </a:solidFill>
                  <a:latin typeface="+mn-lt"/>
                </a:rPr>
                <a:t>Filtering, edge detection</a:t>
              </a:r>
            </a:p>
          </p:txBody>
        </p:sp>
        <p:sp>
          <p:nvSpPr>
            <p:cNvPr id="678926" name="Text Box 14"/>
            <p:cNvSpPr txBox="1">
              <a:spLocks noChangeArrowheads="1"/>
            </p:cNvSpPr>
            <p:nvPr/>
          </p:nvSpPr>
          <p:spPr bwMode="auto">
            <a:xfrm>
              <a:off x="3792" y="1378"/>
              <a:ext cx="216" cy="36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>
                  <a:solidFill>
                    <a:schemeClr val="bg1"/>
                  </a:solidFill>
                </a:rPr>
                <a:t>*</a:t>
              </a:r>
            </a:p>
          </p:txBody>
        </p:sp>
        <p:sp>
          <p:nvSpPr>
            <p:cNvPr id="678927" name="Text Box 15"/>
            <p:cNvSpPr txBox="1">
              <a:spLocks noChangeArrowheads="1"/>
            </p:cNvSpPr>
            <p:nvPr/>
          </p:nvSpPr>
          <p:spPr bwMode="auto">
            <a:xfrm>
              <a:off x="4342" y="1330"/>
              <a:ext cx="266" cy="36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>
                  <a:solidFill>
                    <a:schemeClr val="bg1"/>
                  </a:solidFill>
                </a:rPr>
                <a:t>=</a:t>
              </a:r>
            </a:p>
          </p:txBody>
        </p:sp>
      </p:grpSp>
      <p:grpSp>
        <p:nvGrpSpPr>
          <p:cNvPr id="678932" name="Group 20"/>
          <p:cNvGrpSpPr>
            <a:grpSpLocks/>
          </p:cNvGrpSpPr>
          <p:nvPr/>
        </p:nvGrpSpPr>
        <p:grpSpPr bwMode="auto">
          <a:xfrm>
            <a:off x="1905000" y="4160840"/>
            <a:ext cx="4267200" cy="2457450"/>
            <a:chOff x="1680" y="2669"/>
            <a:chExt cx="2688" cy="1548"/>
          </a:xfrm>
        </p:grpSpPr>
        <p:pic>
          <p:nvPicPr>
            <p:cNvPr id="678921" name="Picture 9" descr="Sunflowers2_circles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072" y="2669"/>
              <a:ext cx="1296" cy="1296"/>
            </a:xfrm>
            <a:prstGeom prst="rect">
              <a:avLst/>
            </a:prstGeom>
            <a:noFill/>
            <a:ln w="6350">
              <a:solidFill>
                <a:schemeClr val="bg1"/>
              </a:solidFill>
              <a:miter lim="800000"/>
              <a:headEnd/>
              <a:tailEnd/>
            </a:ln>
          </p:spPr>
        </p:pic>
        <p:pic>
          <p:nvPicPr>
            <p:cNvPr id="678922" name="Picture 10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680" y="2669"/>
              <a:ext cx="1281" cy="131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</p:pic>
        <p:sp>
          <p:nvSpPr>
            <p:cNvPr id="678928" name="Text Box 16"/>
            <p:cNvSpPr txBox="1">
              <a:spLocks noChangeArrowheads="1"/>
            </p:cNvSpPr>
            <p:nvPr/>
          </p:nvSpPr>
          <p:spPr bwMode="auto">
            <a:xfrm>
              <a:off x="2418" y="3984"/>
              <a:ext cx="1198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0" dirty="0">
                  <a:solidFill>
                    <a:schemeClr val="tx1"/>
                  </a:solidFill>
                  <a:latin typeface="+mn-lt"/>
                </a:rPr>
                <a:t>Feature extraction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822580" y="2286000"/>
            <a:ext cx="3388221" cy="4255532"/>
            <a:chOff x="457200" y="2438400"/>
            <a:chExt cx="3388221" cy="4255532"/>
          </a:xfrm>
        </p:grpSpPr>
        <p:grpSp>
          <p:nvGrpSpPr>
            <p:cNvPr id="21" name="Group 20"/>
            <p:cNvGrpSpPr/>
            <p:nvPr/>
          </p:nvGrpSpPr>
          <p:grpSpPr>
            <a:xfrm>
              <a:off x="457200" y="2438400"/>
              <a:ext cx="3388221" cy="4255532"/>
              <a:chOff x="457200" y="2438400"/>
              <a:chExt cx="3388221" cy="4255532"/>
            </a:xfrm>
          </p:grpSpPr>
          <p:pic>
            <p:nvPicPr>
              <p:cNvPr id="18" name="Picture 4" descr="CAM_OBS_LOUVAIN_1544_s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457200" y="2438400"/>
                <a:ext cx="3388221" cy="2373312"/>
              </a:xfrm>
              <a:prstGeom prst="rect">
                <a:avLst/>
              </a:prstGeom>
              <a:noFill/>
            </p:spPr>
          </p:pic>
          <p:sp>
            <p:nvSpPr>
              <p:cNvPr id="20" name="Rectangle 7"/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1227850" y="6324600"/>
                <a:ext cx="1881798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0" dirty="0">
                    <a:solidFill>
                      <a:srgbClr val="000000"/>
                    </a:solidFill>
                    <a:latin typeface="+mj-lt"/>
                  </a:rPr>
                  <a:t>Image formation</a:t>
                </a:r>
              </a:p>
            </p:txBody>
          </p:sp>
        </p:grpSp>
        <p:pic>
          <p:nvPicPr>
            <p:cNvPr id="22" name="Picture 4" descr="neweye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592666" y="4953000"/>
              <a:ext cx="1388534" cy="12149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3" name="Picture 6" descr="mosquito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2362200" y="4953000"/>
              <a:ext cx="1074561" cy="1143000"/>
            </a:xfrm>
            <a:prstGeom prst="rect">
              <a:avLst/>
            </a:prstGeom>
            <a:noFill/>
            <a:ln w="9525">
              <a:solidFill>
                <a:srgbClr val="292929"/>
              </a:solidFill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Geometry &amp; appearance</a:t>
            </a:r>
          </a:p>
        </p:txBody>
      </p:sp>
      <p:pic>
        <p:nvPicPr>
          <p:cNvPr id="27" name="Picture 5" descr="perspective_2_lg"/>
          <p:cNvPicPr>
            <a:picLocks noGrp="1" noChangeAspect="1" noChangeArrowheads="1"/>
          </p:cNvPicPr>
          <p:nvPr>
            <p:ph idx="1"/>
          </p:nvPr>
        </p:nvPicPr>
        <p:blipFill>
          <a:blip r:embed="rId8" cstate="print"/>
          <a:srcRect/>
          <a:stretch>
            <a:fillRect/>
          </a:stretch>
        </p:blipFill>
        <p:spPr>
          <a:xfrm>
            <a:off x="2286000" y="1524001"/>
            <a:ext cx="3048000" cy="2346755"/>
          </a:xfrm>
          <a:noFill/>
        </p:spPr>
      </p:pic>
      <p:sp>
        <p:nvSpPr>
          <p:cNvPr id="15" name="Rectangle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89863" y="3886200"/>
            <a:ext cx="20003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0" dirty="0">
                <a:solidFill>
                  <a:srgbClr val="000000"/>
                </a:solidFill>
                <a:latin typeface="+mj-lt"/>
              </a:rPr>
              <a:t>Projective geometry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2209800" y="4419601"/>
            <a:ext cx="3048000" cy="2155597"/>
            <a:chOff x="2819400" y="4473803"/>
            <a:chExt cx="3048000" cy="2155597"/>
          </a:xfrm>
        </p:grpSpPr>
        <p:pic>
          <p:nvPicPr>
            <p:cNvPr id="1081347" name="Picture 3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2819400" y="4473803"/>
              <a:ext cx="3048000" cy="17745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7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532156" y="6290846"/>
              <a:ext cx="1752916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0" dirty="0">
                  <a:solidFill>
                    <a:srgbClr val="000000"/>
                  </a:solidFill>
                  <a:latin typeface="+mj-lt"/>
                </a:rPr>
                <a:t>Multi-view stereo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096000" y="4800601"/>
            <a:ext cx="4114800" cy="1390381"/>
            <a:chOff x="1" y="2895600"/>
            <a:chExt cx="5943599" cy="2008329"/>
          </a:xfrm>
        </p:grpSpPr>
        <p:pic>
          <p:nvPicPr>
            <p:cNvPr id="22" name="Picture 4" descr="C:\snavely\thesis\Colosseum1.png"/>
            <p:cNvPicPr>
              <a:picLocks noChangeAspect="1" noChangeArrowheads="1"/>
            </p:cNvPicPr>
            <p:nvPr/>
          </p:nvPicPr>
          <p:blipFill>
            <a:blip r:embed="rId10" cstate="print"/>
            <a:srcRect l="2835" r="2835"/>
            <a:stretch>
              <a:fillRect/>
            </a:stretch>
          </p:blipFill>
          <p:spPr bwMode="auto">
            <a:xfrm>
              <a:off x="3313727" y="2895600"/>
              <a:ext cx="2629873" cy="19812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3" name="Picture 2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1" y="2895600"/>
              <a:ext cx="2743200" cy="2008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4" name="Right Arrow 23"/>
            <p:cNvSpPr/>
            <p:nvPr/>
          </p:nvSpPr>
          <p:spPr>
            <a:xfrm>
              <a:off x="2819400" y="3657600"/>
              <a:ext cx="367373" cy="304800"/>
            </a:xfrm>
            <a:prstGeom prst="rightArrow">
              <a:avLst>
                <a:gd name="adj1" fmla="val 50000"/>
                <a:gd name="adj2" fmla="val 79508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</p:grpSp>
      <p:sp>
        <p:nvSpPr>
          <p:cNvPr id="26" name="Rectangle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92085" y="6248400"/>
            <a:ext cx="219246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0" dirty="0">
                <a:solidFill>
                  <a:srgbClr val="000000"/>
                </a:solidFill>
                <a:latin typeface="+mj-lt"/>
              </a:rPr>
              <a:t>Structure from motion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93F438E-9C2B-4EFC-8525-72DB0A07E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514" y="1422120"/>
            <a:ext cx="2381250" cy="233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7">
            <a:extLst>
              <a:ext uri="{FF2B5EF4-FFF2-40B4-BE49-F238E27FC236}">
                <a16:creationId xmlns:a16="http://schemas.microsoft.com/office/drawing/2014/main" id="{8A81BCFB-00B7-445C-BBB2-38EDDA312440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422368" y="3885148"/>
            <a:ext cx="133434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0" dirty="0">
                <a:solidFill>
                  <a:srgbClr val="000000"/>
                </a:solidFill>
                <a:latin typeface="+mj-lt"/>
              </a:rPr>
              <a:t>Stereo vision</a:t>
            </a:r>
          </a:p>
        </p:txBody>
      </p:sp>
      <p:sp>
        <p:nvSpPr>
          <p:cNvPr id="29" name="Rectangle 7">
            <a:extLst>
              <a:ext uri="{FF2B5EF4-FFF2-40B4-BE49-F238E27FC236}">
                <a16:creationId xmlns:a16="http://schemas.microsoft.com/office/drawing/2014/main" id="{E8BCDBFE-A0F2-4020-8529-45DD3E67F7B6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630294" y="3532235"/>
            <a:ext cx="179568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b="0" dirty="0">
                <a:solidFill>
                  <a:srgbClr val="000000"/>
                </a:solidFill>
                <a:latin typeface="+mj-lt"/>
              </a:rPr>
              <a:t>Image credit: </a:t>
            </a:r>
            <a:r>
              <a:rPr lang="en-US" sz="1100" b="0" dirty="0">
                <a:solidFill>
                  <a:srgbClr val="000000"/>
                </a:solidFill>
                <a:latin typeface="+mj-lt"/>
                <a:hlinkClick r:id="rId13"/>
              </a:rPr>
              <a:t>IDS Imaging</a:t>
            </a:r>
            <a:endParaRPr lang="en-US" sz="1100" b="0" dirty="0">
              <a:solidFill>
                <a:srgbClr val="000000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 Recognition &amp; Generative Models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A4F7F4E-AFF0-47E4-877F-400F5B6C957C}"/>
              </a:ext>
            </a:extLst>
          </p:cNvPr>
          <p:cNvGrpSpPr/>
          <p:nvPr/>
        </p:nvGrpSpPr>
        <p:grpSpPr>
          <a:xfrm>
            <a:off x="990600" y="2038138"/>
            <a:ext cx="3390899" cy="1816295"/>
            <a:chOff x="647701" y="2438400"/>
            <a:chExt cx="3390899" cy="181629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4D4EC34-8C33-4C18-AF0F-DA6B47E85375}"/>
                </a:ext>
              </a:extLst>
            </p:cNvPr>
            <p:cNvGrpSpPr/>
            <p:nvPr/>
          </p:nvGrpSpPr>
          <p:grpSpPr>
            <a:xfrm>
              <a:off x="647701" y="2438400"/>
              <a:ext cx="3390899" cy="1371600"/>
              <a:chOff x="76200" y="2438400"/>
              <a:chExt cx="3390899" cy="1371600"/>
            </a:xfrm>
          </p:grpSpPr>
          <p:pic>
            <p:nvPicPr>
              <p:cNvPr id="1026" name="Picture 2" descr="Image result for dog">
                <a:extLst>
                  <a:ext uri="{FF2B5EF4-FFF2-40B4-BE49-F238E27FC236}">
                    <a16:creationId xmlns:a16="http://schemas.microsoft.com/office/drawing/2014/main" id="{AEAD0C69-D6B0-421F-ACD2-7D6AAE762F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200" y="2438400"/>
                <a:ext cx="1828800" cy="1371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" name="Arrow: Right 1">
                <a:extLst>
                  <a:ext uri="{FF2B5EF4-FFF2-40B4-BE49-F238E27FC236}">
                    <a16:creationId xmlns:a16="http://schemas.microsoft.com/office/drawing/2014/main" id="{451BFCE3-758A-43FD-A5F1-348A052A834D}"/>
                  </a:ext>
                </a:extLst>
              </p:cNvPr>
              <p:cNvSpPr/>
              <p:nvPr/>
            </p:nvSpPr>
            <p:spPr>
              <a:xfrm>
                <a:off x="2039120" y="2856290"/>
                <a:ext cx="457200" cy="533400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2B4C7A-C08C-4A8B-B687-582DA7B122CE}"/>
                  </a:ext>
                </a:extLst>
              </p:cNvPr>
              <p:cNvSpPr txBox="1"/>
              <p:nvPr/>
            </p:nvSpPr>
            <p:spPr>
              <a:xfrm>
                <a:off x="2496320" y="2884463"/>
                <a:ext cx="970779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b="0" dirty="0">
                    <a:solidFill>
                      <a:schemeClr val="tx1"/>
                    </a:solidFill>
                    <a:latin typeface="+mj-lt"/>
                  </a:rPr>
                  <a:t>“dog”</a:t>
                </a:r>
              </a:p>
            </p:txBody>
          </p:sp>
        </p:grp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21721626-75B0-4C98-9477-54B094F2F390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052732" y="3854585"/>
              <a:ext cx="238879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0" dirty="0">
                  <a:solidFill>
                    <a:srgbClr val="000000"/>
                  </a:solidFill>
                  <a:latin typeface="+mj-lt"/>
                </a:rPr>
                <a:t>Image classification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6C27F9E-10FE-CA24-5755-351CFFE8A960}"/>
              </a:ext>
            </a:extLst>
          </p:cNvPr>
          <p:cNvGrpSpPr/>
          <p:nvPr/>
        </p:nvGrpSpPr>
        <p:grpSpPr>
          <a:xfrm>
            <a:off x="4803804" y="1295400"/>
            <a:ext cx="6778596" cy="2457510"/>
            <a:chOff x="4803804" y="1295400"/>
            <a:chExt cx="6778596" cy="2457510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83BC8082-56BF-45E5-B6B4-64D1B54374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3804" y="1295400"/>
              <a:ext cx="6778596" cy="20844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Rectangle 7">
              <a:extLst>
                <a:ext uri="{FF2B5EF4-FFF2-40B4-BE49-F238E27FC236}">
                  <a16:creationId xmlns:a16="http://schemas.microsoft.com/office/drawing/2014/main" id="{D2912F17-B3E5-43BF-8AA6-232F1D7AFF96}"/>
                </a:ext>
              </a:extLst>
            </p:cNvPr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6327374" y="3352800"/>
              <a:ext cx="373147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0" dirty="0">
                  <a:solidFill>
                    <a:srgbClr val="000000"/>
                  </a:solidFill>
                  <a:latin typeface="+mj-lt"/>
                </a:rPr>
                <a:t>Convolutional Neural Networks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4FE6B94E-C6F7-80BB-244C-8800C3FABCA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648200" y="6339203"/>
            <a:ext cx="208448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0" dirty="0">
                <a:solidFill>
                  <a:srgbClr val="000000"/>
                </a:solidFill>
                <a:latin typeface="+mj-lt"/>
              </a:rPr>
              <a:t>Image generation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DB9EEB0-9428-EA89-4A34-3CBAE4EA2957}"/>
              </a:ext>
            </a:extLst>
          </p:cNvPr>
          <p:cNvGrpSpPr/>
          <p:nvPr/>
        </p:nvGrpSpPr>
        <p:grpSpPr>
          <a:xfrm>
            <a:off x="2669317" y="4025286"/>
            <a:ext cx="6096912" cy="2313917"/>
            <a:chOff x="2669317" y="4025286"/>
            <a:chExt cx="6096912" cy="231391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CB0956F-09D0-077D-5E36-7DACDF1602DF}"/>
                </a:ext>
              </a:extLst>
            </p:cNvPr>
            <p:cNvSpPr txBox="1"/>
            <p:nvPr/>
          </p:nvSpPr>
          <p:spPr>
            <a:xfrm>
              <a:off x="2669317" y="6031426"/>
              <a:ext cx="609691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0" i="1" dirty="0">
                  <a:solidFill>
                    <a:schemeClr val="tx1"/>
                  </a:solidFill>
                  <a:latin typeface="+mj-lt"/>
                </a:rPr>
                <a:t>“a class watching a computer vision lecture”</a:t>
              </a:r>
            </a:p>
          </p:txBody>
        </p:sp>
        <p:pic>
          <p:nvPicPr>
            <p:cNvPr id="17" name="Picture 16" descr="A group of people in a room with computers&#10;&#10;Description automatically generated">
              <a:extLst>
                <a:ext uri="{FF2B5EF4-FFF2-40B4-BE49-F238E27FC236}">
                  <a16:creationId xmlns:a16="http://schemas.microsoft.com/office/drawing/2014/main" id="{3991F725-F653-DA6C-111E-B128EEA1D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2400" y="4025286"/>
              <a:ext cx="3510746" cy="20061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A5B69-F3FB-4B8F-C140-85A1120A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5FA61-B257-BE22-5404-0C8B70FCE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Lectures will be held in person in </a:t>
            </a:r>
            <a:r>
              <a:rPr lang="en-US" altLang="zh-CN" dirty="0"/>
              <a:t>AC5-514</a:t>
            </a:r>
            <a:endParaRPr lang="en-US" dirty="0"/>
          </a:p>
          <a:p>
            <a:r>
              <a:rPr lang="en-US" dirty="0"/>
              <a:t>If there is an instance where you cannot attend the class, please reach out to the instructor for approval</a:t>
            </a:r>
          </a:p>
          <a:p>
            <a:r>
              <a:rPr lang="en-US" dirty="0"/>
              <a:t>No conversations during class, please!</a:t>
            </a:r>
          </a:p>
        </p:txBody>
      </p:sp>
    </p:spTree>
    <p:extLst>
      <p:ext uri="{BB962C8B-B14F-4D97-AF65-F5344CB8AC3E}">
        <p14:creationId xmlns:p14="http://schemas.microsoft.com/office/powerpoint/2010/main" val="7704239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</a:t>
            </a:r>
          </a:p>
        </p:txBody>
      </p:sp>
      <p:sp>
        <p:nvSpPr>
          <p:cNvPr id="782339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1447800"/>
            <a:ext cx="10363200" cy="513556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One midterm (between the 2</a:t>
            </a:r>
            <a:r>
              <a:rPr lang="en-US" baseline="30000" dirty="0"/>
              <a:t>nd</a:t>
            </a:r>
            <a:r>
              <a:rPr lang="en-US" dirty="0"/>
              <a:t> and 3</a:t>
            </a:r>
            <a:r>
              <a:rPr lang="en-US" baseline="30000" dirty="0"/>
              <a:t>rd</a:t>
            </a:r>
            <a:r>
              <a:rPr lang="en-US" dirty="0"/>
              <a:t> sections), and one final exam (in class)</a:t>
            </a:r>
          </a:p>
          <a:p>
            <a:endParaRPr lang="en-US" dirty="0"/>
          </a:p>
          <a:p>
            <a:r>
              <a:rPr lang="en-US" dirty="0"/>
              <a:t>Grade breakdown (subject to minor tweaks):</a:t>
            </a:r>
            <a:endParaRPr lang="en-US" altLang="en-US" dirty="0"/>
          </a:p>
          <a:p>
            <a:pPr lvl="1"/>
            <a:r>
              <a:rPr lang="en-US" altLang="zh-CN" dirty="0"/>
              <a:t>Assignment : 40%  = (</a:t>
            </a:r>
            <a:r>
              <a:rPr lang="en-US" altLang="en-US" dirty="0"/>
              <a:t>Midterm: 30% + In-</a:t>
            </a:r>
            <a:r>
              <a:rPr lang="en-US" altLang="zh-CN" dirty="0"/>
              <a:t>Class Quiz 10%)</a:t>
            </a:r>
          </a:p>
          <a:p>
            <a:pPr lvl="1"/>
            <a:r>
              <a:rPr lang="en-US" altLang="en-US" dirty="0"/>
              <a:t>Programming projects (2 projects): 10%</a:t>
            </a:r>
          </a:p>
          <a:p>
            <a:pPr lvl="1"/>
            <a:r>
              <a:rPr lang="en-US" altLang="en-US" dirty="0"/>
              <a:t>Final exam: 50%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105399"/>
          </a:xfrm>
        </p:spPr>
        <p:txBody>
          <a:bodyPr>
            <a:normAutofit/>
          </a:bodyPr>
          <a:lstStyle/>
          <a:p>
            <a:r>
              <a:rPr lang="en-US" altLang="en-US" dirty="0"/>
              <a:t>Assignments will be done in pairs </a:t>
            </a:r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/>
              <a:t>Please do not leave any code public on GitHub (or the like) at the end of the semester!</a:t>
            </a:r>
          </a:p>
          <a:p>
            <a:endParaRPr lang="en-US" altLang="en-US" dirty="0"/>
          </a:p>
          <a:p>
            <a:r>
              <a:rPr lang="en-US" altLang="en-US" dirty="0"/>
              <a:t>If you use ChatGPT (or CoPilot, or similar) on coding assignments, you must disclose that with your submission</a:t>
            </a:r>
          </a:p>
          <a:p>
            <a:pPr lvl="1"/>
            <a:r>
              <a:rPr lang="en-US" altLang="en-US" b="1" dirty="0"/>
              <a:t>BUT</a:t>
            </a:r>
            <a:r>
              <a:rPr lang="en-US" altLang="en-US" dirty="0"/>
              <a:t>: We advise you to do all coding yourself.</a:t>
            </a:r>
          </a:p>
        </p:txBody>
      </p:sp>
    </p:spTree>
    <p:extLst>
      <p:ext uri="{BB962C8B-B14F-4D97-AF65-F5344CB8AC3E}">
        <p14:creationId xmlns:p14="http://schemas.microsoft.com/office/powerpoint/2010/main" val="815777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0.1.2417"/>
  <p:tag name="SLIDO_PRESENTATION_ID" val="00000000-0000-0000-0000-000000000000"/>
  <p:tag name="SLIDO_EVENT_UUID" val="f6c2a710-1c8b-40db-a7af-1f9857076e4e"/>
  <p:tag name="SLIDO_EVENT_SECTION_UUID" val="730f02d7-bcb0-4b4f-8e5d-3b95d31752c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yriad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92051</TotalTime>
  <Words>1352</Words>
  <Application>Microsoft Office PowerPoint</Application>
  <PresentationFormat>Widescreen</PresentationFormat>
  <Paragraphs>254</Paragraphs>
  <Slides>50</Slides>
  <Notes>27</Notes>
  <HiddenSlides>0</HiddenSlides>
  <MMClips>8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Myriad Pro</vt:lpstr>
      <vt:lpstr>Times New Roman</vt:lpstr>
      <vt:lpstr>Arial</vt:lpstr>
      <vt:lpstr>Office Theme</vt:lpstr>
      <vt:lpstr>Image File</vt:lpstr>
      <vt:lpstr>Image</vt:lpstr>
      <vt:lpstr>CS5187: Vision &amp; Image</vt:lpstr>
      <vt:lpstr>Instructor</vt:lpstr>
      <vt:lpstr>My research work</vt:lpstr>
      <vt:lpstr>My research work</vt:lpstr>
      <vt:lpstr>My research work</vt:lpstr>
      <vt:lpstr>Today</vt:lpstr>
      <vt:lpstr>Every image tells a story</vt:lpstr>
      <vt:lpstr>The goal of computer vision</vt:lpstr>
      <vt:lpstr>Can computers match human perception?</vt:lpstr>
      <vt:lpstr>Human perception has its shortcomings</vt:lpstr>
      <vt:lpstr>But humans can tell a lot about a scene from a little information…</vt:lpstr>
      <vt:lpstr>The goal of computer vision</vt:lpstr>
      <vt:lpstr>The goal of computer vision</vt:lpstr>
      <vt:lpstr>The goal of computer vision</vt:lpstr>
      <vt:lpstr>The goal of computer vision</vt:lpstr>
      <vt:lpstr>The goal of computer vision</vt:lpstr>
      <vt:lpstr>The goal of computer vision</vt:lpstr>
      <vt:lpstr>Why study computer vision?</vt:lpstr>
      <vt:lpstr>Optical character recognition (OCR)</vt:lpstr>
      <vt:lpstr>Face detection</vt:lpstr>
      <vt:lpstr>Face analysis and recognition</vt:lpstr>
      <vt:lpstr>Vision-based biometrics</vt:lpstr>
      <vt:lpstr>Vision-based biometrics</vt:lpstr>
      <vt:lpstr>Login without a password</vt:lpstr>
      <vt:lpstr>Special effects: motion capture</vt:lpstr>
      <vt:lpstr>3D face tracking w/ consumer cameras</vt:lpstr>
      <vt:lpstr>Which face is real?</vt:lpstr>
      <vt:lpstr>Image synthesis</vt:lpstr>
      <vt:lpstr>Sports</vt:lpstr>
      <vt:lpstr>Smart cars</vt:lpstr>
      <vt:lpstr>Self-driving cars</vt:lpstr>
      <vt:lpstr>Robotics</vt:lpstr>
      <vt:lpstr>Medical imaging</vt:lpstr>
      <vt:lpstr>Virtual &amp; Augmented Reality</vt:lpstr>
      <vt:lpstr>Current state of the art</vt:lpstr>
      <vt:lpstr>Why is computer vision difficult?</vt:lpstr>
      <vt:lpstr>Why is computer vision difficult?</vt:lpstr>
      <vt:lpstr>Challenges:  local ambiguity</vt:lpstr>
      <vt:lpstr>But there are lots of visual cues we can use…</vt:lpstr>
      <vt:lpstr>CS5187: Vision and Image</vt:lpstr>
      <vt:lpstr>Course requirements</vt:lpstr>
      <vt:lpstr>Course overview (tentative)</vt:lpstr>
      <vt:lpstr>Course overview (tentative)</vt:lpstr>
      <vt:lpstr>1. Low-level vision</vt:lpstr>
      <vt:lpstr>2. Geometry &amp; appearance</vt:lpstr>
      <vt:lpstr>3. Recognition &amp; Generative Models</vt:lpstr>
      <vt:lpstr>Lectures</vt:lpstr>
      <vt:lpstr>Grading</vt:lpstr>
      <vt:lpstr>Academic Integrity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CS6670: Computer Vision</dc:title>
  <dc:creator>Noah Snavely</dc:creator>
  <cp:lastModifiedBy>Zhiyu ZHU 朱智宇</cp:lastModifiedBy>
  <cp:revision>458</cp:revision>
  <dcterms:created xsi:type="dcterms:W3CDTF">2003-06-12T19:48:44Z</dcterms:created>
  <dcterms:modified xsi:type="dcterms:W3CDTF">2026-09-01T07:57:34Z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1.0.1.2417</vt:lpwstr>
  </property>
</Properties>
</file>