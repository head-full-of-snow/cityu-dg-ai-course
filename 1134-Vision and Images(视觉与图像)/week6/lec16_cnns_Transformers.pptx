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1212" y="9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503825"/>
            <a:ext cx="825055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183300"/>
            <a:ext cx="8046720" cy="8807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8375" y="1083638"/>
            <a:ext cx="8060055" cy="317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proceedings.mlr.press/v37/jozefowicz15.pdf" TargetMode="External"/><Relationship Id="rId2" Type="http://schemas.openxmlformats.org/officeDocument/2006/relationships/hyperlink" Target="https://colah.github.io/posts/2015-08-Understanding-LSTM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6niqTuYFZLQ" TargetMode="External"/><Relationship Id="rId4" Type="http://schemas.openxmlformats.org/officeDocument/2006/relationships/hyperlink" Target="http://www.wildml.com/2015/10/recurrent-neural-network-tutorial-part-4-implementing-a-grulstm-rnn-with-python-and-theano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towardsdatascience.com/intuitively-understanding-convolutions-for-deep-learning-1f6f42faee1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hyperlink" Target="https://github.com/vdumoulin/conv_arithmetic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a-comprehensive-guide-to-convolutional-neural-networks-the-eli5-way-3bd2b1164a53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hyperlink" Target="https://towardsdatascience.com/a-comprehensive-guide-to-convolutional-neural-networks-the-eli5-way-3bd2b1164a53" TargetMode="Externa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sarahwie.github.io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sarahwie.github.io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664B07A-6B17-1075-8C7D-CEB377B14B64}"/>
              </a:ext>
            </a:extLst>
          </p:cNvPr>
          <p:cNvSpPr>
            <a:spLocks noGrp="1"/>
          </p:cNvSpPr>
          <p:nvPr/>
        </p:nvSpPr>
        <p:spPr>
          <a:xfrm>
            <a:off x="-43230" y="-467638"/>
            <a:ext cx="7913928" cy="10667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 b="0" dirty="0"/>
              <a:t>CS5187 Vision and Image: Neural Network</a:t>
            </a:r>
            <a:endParaRPr lang="en-US" sz="3200" b="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6754CA3-1D98-CE98-1353-B76E81CC4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00150"/>
            <a:ext cx="6858000" cy="38576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1977389" cy="2424382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Deep</a:t>
            </a:r>
            <a:r>
              <a:rPr sz="1800" b="1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Learning</a:t>
            </a:r>
            <a:endParaRPr sz="1800" dirty="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</a:tabLst>
            </a:pPr>
            <a:r>
              <a:rPr sz="1400" b="1" spc="-25" dirty="0">
                <a:solidFill>
                  <a:srgbClr val="595959"/>
                </a:solidFill>
                <a:latin typeface="Arial"/>
                <a:cs typeface="Arial"/>
              </a:rPr>
              <a:t>RNN</a:t>
            </a: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35"/>
              </a:spcBef>
              <a:buClr>
                <a:srgbClr val="595959"/>
              </a:buClr>
              <a:buFont typeface="Arial"/>
              <a:buChar char="○"/>
            </a:pPr>
            <a:endParaRPr sz="1400" dirty="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buChar char="○"/>
              <a:tabLst>
                <a:tab pos="836294" algn="l"/>
              </a:tabLst>
            </a:pPr>
            <a:r>
              <a:rPr sz="1400" b="1" spc="-25" dirty="0">
                <a:solidFill>
                  <a:srgbClr val="595959"/>
                </a:solidFill>
                <a:latin typeface="Arial"/>
                <a:cs typeface="Arial"/>
              </a:rPr>
              <a:t>CNN</a:t>
            </a: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35"/>
              </a:spcBef>
              <a:buClr>
                <a:srgbClr val="595959"/>
              </a:buClr>
              <a:buFont typeface="Arial"/>
              <a:buChar char="○"/>
            </a:pPr>
            <a:endParaRPr sz="1400" dirty="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buChar char="○"/>
              <a:tabLst>
                <a:tab pos="836294" algn="l"/>
              </a:tabLst>
            </a:pPr>
            <a:r>
              <a:rPr sz="1400" b="1" spc="-10" dirty="0">
                <a:solidFill>
                  <a:srgbClr val="595959"/>
                </a:solidFill>
                <a:latin typeface="Arial"/>
                <a:cs typeface="Arial"/>
              </a:rPr>
              <a:t>Attention</a:t>
            </a: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35"/>
              </a:spcBef>
              <a:buClr>
                <a:srgbClr val="595959"/>
              </a:buClr>
              <a:buFont typeface="Arial"/>
              <a:buChar char="○"/>
            </a:pPr>
            <a:endParaRPr sz="1400" dirty="0">
              <a:latin typeface="Arial"/>
              <a:cs typeface="Arial"/>
            </a:endParaRPr>
          </a:p>
          <a:p>
            <a:pPr marL="836294" lvl="1" indent="-335915">
              <a:lnSpc>
                <a:spcPct val="100000"/>
              </a:lnSpc>
              <a:buChar char="○"/>
              <a:tabLst>
                <a:tab pos="836294" algn="l"/>
              </a:tabLst>
            </a:pPr>
            <a:r>
              <a:rPr sz="1400" b="1" spc="-10" dirty="0">
                <a:solidFill>
                  <a:srgbClr val="595959"/>
                </a:solidFill>
                <a:latin typeface="Arial"/>
                <a:cs typeface="Arial"/>
              </a:rPr>
              <a:t>Transformer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400" dirty="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9737" y="2264536"/>
            <a:ext cx="1244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RNNs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240173" y="4465138"/>
            <a:ext cx="366014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673100" marR="5080" indent="-66040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Some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slides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borrowed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Fei-</a:t>
            </a:r>
            <a:r>
              <a:rPr sz="1400" dirty="0">
                <a:latin typeface="Arial MT"/>
                <a:cs typeface="Arial MT"/>
              </a:rPr>
              <a:t>Fei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10" dirty="0">
                <a:latin typeface="Arial MT"/>
                <a:cs typeface="Arial MT"/>
              </a:rPr>
              <a:t> Justin </a:t>
            </a:r>
            <a:r>
              <a:rPr sz="1400" dirty="0">
                <a:latin typeface="Arial MT"/>
                <a:cs typeface="Arial MT"/>
              </a:rPr>
              <a:t>Johnson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Serena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Yeung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Stanford.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Vanilla</a:t>
            </a:r>
            <a:r>
              <a:rPr spc="-125" dirty="0"/>
              <a:t> </a:t>
            </a:r>
            <a:r>
              <a:rPr dirty="0"/>
              <a:t>Neural</a:t>
            </a:r>
            <a:r>
              <a:rPr spc="-120" dirty="0"/>
              <a:t> </a:t>
            </a:r>
            <a:r>
              <a:rPr spc="-10" dirty="0"/>
              <a:t>Networks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9916" y="2490575"/>
            <a:ext cx="4448761" cy="19574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58025" y="1425175"/>
            <a:ext cx="845774" cy="27518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33874" y="1948287"/>
            <a:ext cx="4203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Input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08625" y="2996563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95075" y="2128838"/>
            <a:ext cx="58928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Arial MT"/>
                <a:cs typeface="Arial MT"/>
              </a:rPr>
              <a:t>Hidden Layers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55499" y="3040813"/>
            <a:ext cx="4203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Input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1199" y="1834513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75500" y="2377638"/>
            <a:ext cx="58928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Arial MT"/>
                <a:cs typeface="Arial MT"/>
              </a:rPr>
              <a:t>Hidden Layers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02625" y="1443721"/>
            <a:ext cx="209168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House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Price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Prediction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-7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model</a:t>
            </a:r>
            <a:r>
              <a:rPr spc="-70" dirty="0"/>
              <a:t> </a:t>
            </a:r>
            <a:r>
              <a:rPr spc="-10" dirty="0"/>
              <a:t>sequences?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5615305" cy="1557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Text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Classification: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Sequence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&gt;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label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595959"/>
              </a:buClr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Translation: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Sequence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&gt;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Sequence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595959"/>
              </a:buClr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Image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Captioning: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image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&gt;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Sequence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RNN-</a:t>
            </a:r>
            <a:r>
              <a:rPr spc="-120" dirty="0"/>
              <a:t> </a:t>
            </a:r>
            <a:r>
              <a:rPr dirty="0"/>
              <a:t>Recurrent</a:t>
            </a:r>
            <a:r>
              <a:rPr spc="-120" dirty="0"/>
              <a:t> </a:t>
            </a:r>
            <a:r>
              <a:rPr dirty="0"/>
              <a:t>Neural</a:t>
            </a:r>
            <a:r>
              <a:rPr spc="-120" dirty="0"/>
              <a:t> </a:t>
            </a:r>
            <a:r>
              <a:rPr spc="-10" dirty="0"/>
              <a:t>Networks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065026"/>
            <a:ext cx="8832488" cy="275690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9167" y="3902038"/>
            <a:ext cx="76644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-635" algn="ctr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Arial MT"/>
                <a:cs typeface="Arial MT"/>
              </a:rPr>
              <a:t>Vanilla Neural Networks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2010" y="3902038"/>
            <a:ext cx="92456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6830" marR="5080" indent="-2476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e.g.-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Image Captioning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8197" y="3902038"/>
            <a:ext cx="107251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5938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e.g.-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Text </a:t>
            </a:r>
            <a:r>
              <a:rPr sz="1400" spc="-10" dirty="0">
                <a:latin typeface="Arial MT"/>
                <a:cs typeface="Arial MT"/>
              </a:rPr>
              <a:t>Classification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95651" y="3902038"/>
            <a:ext cx="89852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257810">
              <a:lnSpc>
                <a:spcPts val="1650"/>
              </a:lnSpc>
              <a:spcBef>
                <a:spcPts val="180"/>
              </a:spcBef>
            </a:pPr>
            <a:r>
              <a:rPr sz="1400" spc="-20" dirty="0">
                <a:latin typeface="Arial MT"/>
                <a:cs typeface="Arial MT"/>
              </a:rPr>
              <a:t>e.g.- </a:t>
            </a:r>
            <a:r>
              <a:rPr sz="1400" spc="-10" dirty="0">
                <a:latin typeface="Arial MT"/>
                <a:cs typeface="Arial MT"/>
              </a:rPr>
              <a:t>Translation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99891" y="3902038"/>
            <a:ext cx="805815" cy="448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e.g.-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POS</a:t>
            </a:r>
            <a:endParaRPr sz="1400">
              <a:latin typeface="Arial MT"/>
              <a:cs typeface="Arial MT"/>
            </a:endParaRPr>
          </a:p>
          <a:p>
            <a:pPr marL="111125">
              <a:lnSpc>
                <a:spcPts val="1664"/>
              </a:lnSpc>
            </a:pPr>
            <a:r>
              <a:rPr sz="1400" spc="-10" dirty="0">
                <a:latin typeface="Arial MT"/>
                <a:cs typeface="Arial MT"/>
              </a:rPr>
              <a:t>tagging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RNN-</a:t>
            </a:r>
            <a:r>
              <a:rPr spc="-80" dirty="0"/>
              <a:t> </a:t>
            </a:r>
            <a:r>
              <a:rPr spc="-10" dirty="0"/>
              <a:t>Representation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7681" y="1230370"/>
            <a:ext cx="1764050" cy="3568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98025" y="3986213"/>
            <a:ext cx="973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Input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Vector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4425" y="1562462"/>
            <a:ext cx="11118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Output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Vector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95563" y="2774325"/>
            <a:ext cx="174498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05104" marR="5080" indent="-19304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Hidden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state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fed</a:t>
            </a:r>
            <a:r>
              <a:rPr sz="1400" spc="-20" dirty="0">
                <a:latin typeface="Arial MT"/>
                <a:cs typeface="Arial MT"/>
              </a:rPr>
              <a:t> back </a:t>
            </a:r>
            <a:r>
              <a:rPr sz="1400" dirty="0">
                <a:latin typeface="Arial MT"/>
                <a:cs typeface="Arial MT"/>
              </a:rPr>
              <a:t>into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RNN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cell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RNN-</a:t>
            </a:r>
            <a:r>
              <a:rPr spc="-90" dirty="0"/>
              <a:t> </a:t>
            </a:r>
            <a:r>
              <a:rPr spc="-10" dirty="0"/>
              <a:t>Recurrence</a:t>
            </a:r>
            <a:r>
              <a:rPr spc="-85" dirty="0"/>
              <a:t> </a:t>
            </a:r>
            <a:r>
              <a:rPr spc="-10" dirty="0"/>
              <a:t>Relation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99881" y="1230370"/>
            <a:ext cx="1764050" cy="356896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60225" y="3986213"/>
            <a:ext cx="9734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Input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Vector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76625" y="1562462"/>
            <a:ext cx="11118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Output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Vector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57763" y="2774325"/>
            <a:ext cx="174498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05104" marR="5080" indent="-19304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Hidden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state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fed</a:t>
            </a:r>
            <a:r>
              <a:rPr sz="1400" spc="-20" dirty="0">
                <a:latin typeface="Arial MT"/>
                <a:cs typeface="Arial MT"/>
              </a:rPr>
              <a:t> back </a:t>
            </a:r>
            <a:r>
              <a:rPr sz="1400" dirty="0">
                <a:latin typeface="Arial MT"/>
                <a:cs typeface="Arial MT"/>
              </a:rPr>
              <a:t>into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RNN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cell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448" y="2446061"/>
            <a:ext cx="4398826" cy="16413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98475" y="1327087"/>
            <a:ext cx="4351655" cy="6578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RNN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cell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consists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hidden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state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that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updated </a:t>
            </a:r>
            <a:r>
              <a:rPr sz="1400" dirty="0">
                <a:latin typeface="Arial MT"/>
                <a:cs typeface="Arial MT"/>
              </a:rPr>
              <a:t>whenever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new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input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received.</a:t>
            </a:r>
            <a:r>
              <a:rPr sz="1400" spc="-8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At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every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time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step, </a:t>
            </a:r>
            <a:r>
              <a:rPr sz="1400" dirty="0">
                <a:latin typeface="Arial MT"/>
                <a:cs typeface="Arial MT"/>
              </a:rPr>
              <a:t>this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hidden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state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is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back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RNN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cell.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RNN-</a:t>
            </a:r>
            <a:r>
              <a:rPr spc="-80" dirty="0"/>
              <a:t> </a:t>
            </a:r>
            <a:r>
              <a:rPr dirty="0"/>
              <a:t>Rolled</a:t>
            </a:r>
            <a:r>
              <a:rPr spc="-80" dirty="0"/>
              <a:t> </a:t>
            </a:r>
            <a:r>
              <a:rPr dirty="0"/>
              <a:t>out</a:t>
            </a:r>
            <a:r>
              <a:rPr spc="-80" dirty="0"/>
              <a:t> </a:t>
            </a:r>
            <a:r>
              <a:rPr spc="-10" dirty="0"/>
              <a:t>representation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285" y="1285678"/>
            <a:ext cx="8196606" cy="34666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9841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RNN-</a:t>
            </a:r>
            <a:r>
              <a:rPr spc="-80" dirty="0"/>
              <a:t> </a:t>
            </a:r>
            <a:r>
              <a:rPr dirty="0"/>
              <a:t>Rolled</a:t>
            </a:r>
            <a:r>
              <a:rPr spc="-80" dirty="0"/>
              <a:t> </a:t>
            </a:r>
            <a:r>
              <a:rPr dirty="0"/>
              <a:t>out</a:t>
            </a:r>
            <a:r>
              <a:rPr spc="-80" dirty="0"/>
              <a:t> </a:t>
            </a:r>
            <a:r>
              <a:rPr spc="-10" dirty="0"/>
              <a:t>representation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460" y="1266777"/>
            <a:ext cx="8428052" cy="36663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713225" y="4244513"/>
            <a:ext cx="108839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Same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Weight </a:t>
            </a:r>
            <a:r>
              <a:rPr sz="1400" dirty="0">
                <a:latin typeface="Arial MT"/>
                <a:cs typeface="Arial MT"/>
              </a:rPr>
              <a:t>matrix-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W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71800" y="840938"/>
            <a:ext cx="15652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Individual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Losses</a:t>
            </a:r>
            <a:r>
              <a:rPr sz="1400" spc="-25" dirty="0">
                <a:latin typeface="Arial MT"/>
                <a:cs typeface="Arial MT"/>
              </a:rPr>
              <a:t> L</a:t>
            </a:r>
            <a:r>
              <a:rPr sz="1000" spc="-25" dirty="0">
                <a:latin typeface="Arial MT"/>
                <a:cs typeface="Arial MT"/>
              </a:rPr>
              <a:t>i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RNN-</a:t>
            </a:r>
            <a:r>
              <a:rPr spc="-70" dirty="0"/>
              <a:t> </a:t>
            </a:r>
            <a:r>
              <a:rPr spc="-20" dirty="0"/>
              <a:t>Backpropagation</a:t>
            </a:r>
            <a:r>
              <a:rPr spc="-114" dirty="0"/>
              <a:t> </a:t>
            </a:r>
            <a:r>
              <a:rPr dirty="0"/>
              <a:t>Through</a:t>
            </a:r>
            <a:r>
              <a:rPr spc="-120" dirty="0"/>
              <a:t> </a:t>
            </a:r>
            <a:r>
              <a:rPr spc="-20" dirty="0"/>
              <a:t>Time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0663" y="1143625"/>
            <a:ext cx="5916393" cy="27420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5477" y="4137813"/>
            <a:ext cx="835215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52220" marR="5080" indent="-1240155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Forward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pass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through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entire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sequence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produce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intermediate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hidden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states,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output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sequence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finally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loss.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Backward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pass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through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entire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sequence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compute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gradient.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RNN-</a:t>
            </a:r>
            <a:r>
              <a:rPr spc="-70" dirty="0"/>
              <a:t> </a:t>
            </a:r>
            <a:r>
              <a:rPr spc="-20" dirty="0"/>
              <a:t>Backpropagation</a:t>
            </a:r>
            <a:r>
              <a:rPr spc="-114" dirty="0"/>
              <a:t> </a:t>
            </a:r>
            <a:r>
              <a:rPr dirty="0"/>
              <a:t>Through</a:t>
            </a:r>
            <a:r>
              <a:rPr spc="-120" dirty="0"/>
              <a:t> </a:t>
            </a:r>
            <a:r>
              <a:rPr spc="-20" dirty="0"/>
              <a:t>Time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0663" y="1143625"/>
            <a:ext cx="5916393" cy="27420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0665" y="4137813"/>
            <a:ext cx="832294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501265" marR="5080" indent="-248920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Running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Backpropagation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through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time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entire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text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would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very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slow.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Switch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approximation- </a:t>
            </a:r>
            <a:r>
              <a:rPr sz="1400" dirty="0">
                <a:latin typeface="Arial MT"/>
                <a:cs typeface="Arial MT"/>
              </a:rPr>
              <a:t>Truncated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Backpropagation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Through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Time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RNN-</a:t>
            </a:r>
            <a:r>
              <a:rPr spc="-125" dirty="0"/>
              <a:t> </a:t>
            </a:r>
            <a:r>
              <a:rPr spc="-20" dirty="0"/>
              <a:t>Truncated</a:t>
            </a:r>
            <a:r>
              <a:rPr spc="-80" dirty="0"/>
              <a:t> </a:t>
            </a:r>
            <a:r>
              <a:rPr spc="-20" dirty="0"/>
              <a:t>Backpropagation</a:t>
            </a:r>
            <a:r>
              <a:rPr spc="-120" dirty="0"/>
              <a:t> </a:t>
            </a:r>
            <a:r>
              <a:rPr dirty="0"/>
              <a:t>Through</a:t>
            </a:r>
            <a:r>
              <a:rPr spc="-125" dirty="0"/>
              <a:t> </a:t>
            </a:r>
            <a:r>
              <a:rPr spc="-20" dirty="0"/>
              <a:t>Time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5777" y="2242025"/>
            <a:ext cx="2149475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Run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forward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backward </a:t>
            </a:r>
            <a:r>
              <a:rPr sz="1400" dirty="0">
                <a:latin typeface="Arial MT"/>
                <a:cs typeface="Arial MT"/>
              </a:rPr>
              <a:t>through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chunks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the </a:t>
            </a:r>
            <a:r>
              <a:rPr sz="1400" dirty="0">
                <a:latin typeface="Arial MT"/>
                <a:cs typeface="Arial MT"/>
              </a:rPr>
              <a:t>sequence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instead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whole sequence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568" y="1360050"/>
            <a:ext cx="2176023" cy="27493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RNN-</a:t>
            </a:r>
            <a:r>
              <a:rPr spc="-125" dirty="0"/>
              <a:t> </a:t>
            </a:r>
            <a:r>
              <a:rPr spc="-20" dirty="0"/>
              <a:t>Truncated</a:t>
            </a:r>
            <a:r>
              <a:rPr spc="-80" dirty="0"/>
              <a:t> </a:t>
            </a:r>
            <a:r>
              <a:rPr spc="-20" dirty="0"/>
              <a:t>Backpropagation</a:t>
            </a:r>
            <a:r>
              <a:rPr spc="-120" dirty="0"/>
              <a:t> </a:t>
            </a:r>
            <a:r>
              <a:rPr dirty="0"/>
              <a:t>Through</a:t>
            </a:r>
            <a:r>
              <a:rPr spc="-125" dirty="0"/>
              <a:t> </a:t>
            </a:r>
            <a:r>
              <a:rPr spc="-20" dirty="0"/>
              <a:t>Time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84257" y="2181250"/>
            <a:ext cx="2209165" cy="8674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Carry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hidden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states</a:t>
            </a:r>
            <a:r>
              <a:rPr sz="1400" spc="-10" dirty="0">
                <a:latin typeface="Arial MT"/>
                <a:cs typeface="Arial MT"/>
              </a:rPr>
              <a:t> forward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time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forever,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but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only </a:t>
            </a:r>
            <a:r>
              <a:rPr sz="1400" dirty="0">
                <a:latin typeface="Arial MT"/>
                <a:cs typeface="Arial MT"/>
              </a:rPr>
              <a:t>backpropagate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some </a:t>
            </a:r>
            <a:r>
              <a:rPr sz="1400" dirty="0">
                <a:latin typeface="Arial MT"/>
                <a:cs typeface="Arial MT"/>
              </a:rPr>
              <a:t>smaller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number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steps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743" y="1360049"/>
            <a:ext cx="4483171" cy="29579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RNN-</a:t>
            </a:r>
            <a:r>
              <a:rPr spc="-130" dirty="0"/>
              <a:t> </a:t>
            </a:r>
            <a:r>
              <a:rPr spc="-20" dirty="0"/>
              <a:t>Types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30" dirty="0"/>
              <a:t> </a:t>
            </a:r>
            <a:r>
              <a:rPr dirty="0"/>
              <a:t>3</a:t>
            </a:r>
            <a:r>
              <a:rPr spc="-20" dirty="0"/>
              <a:t> </a:t>
            </a:r>
            <a:r>
              <a:rPr dirty="0"/>
              <a:t>most</a:t>
            </a:r>
            <a:r>
              <a:rPr spc="-15" dirty="0"/>
              <a:t> </a:t>
            </a:r>
            <a:r>
              <a:rPr dirty="0"/>
              <a:t>common</a:t>
            </a:r>
            <a:r>
              <a:rPr spc="-20" dirty="0"/>
              <a:t> </a:t>
            </a:r>
            <a:r>
              <a:rPr dirty="0"/>
              <a:t>types</a:t>
            </a:r>
            <a:r>
              <a:rPr spc="-2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Recurrent</a:t>
            </a:r>
            <a:r>
              <a:rPr spc="-20" dirty="0"/>
              <a:t> </a:t>
            </a:r>
            <a:r>
              <a:rPr dirty="0"/>
              <a:t>Neural</a:t>
            </a:r>
            <a:r>
              <a:rPr spc="-20" dirty="0"/>
              <a:t> </a:t>
            </a:r>
            <a:r>
              <a:rPr dirty="0"/>
              <a:t>Networks</a:t>
            </a:r>
            <a:r>
              <a:rPr spc="-15" dirty="0"/>
              <a:t> </a:t>
            </a:r>
            <a:r>
              <a:rPr spc="-20" dirty="0"/>
              <a:t>are-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pc="-20" dirty="0"/>
          </a:p>
          <a:p>
            <a:pPr marL="469265" indent="-376555">
              <a:lnSpc>
                <a:spcPts val="1664"/>
              </a:lnSpc>
              <a:buAutoNum type="arabicPeriod"/>
              <a:tabLst>
                <a:tab pos="469265" algn="l"/>
              </a:tabLst>
            </a:pPr>
            <a:r>
              <a:rPr spc="-10" dirty="0"/>
              <a:t>Vanilla</a:t>
            </a:r>
            <a:r>
              <a:rPr spc="-75" dirty="0"/>
              <a:t> </a:t>
            </a:r>
            <a:r>
              <a:rPr spc="-25" dirty="0"/>
              <a:t>RNN</a:t>
            </a:r>
          </a:p>
          <a:p>
            <a:pPr marL="469265" indent="-376555">
              <a:lnSpc>
                <a:spcPts val="1650"/>
              </a:lnSpc>
              <a:buAutoNum type="arabicPeriod"/>
              <a:tabLst>
                <a:tab pos="469265" algn="l"/>
              </a:tabLst>
            </a:pPr>
            <a:r>
              <a:rPr dirty="0"/>
              <a:t>LSTM</a:t>
            </a:r>
            <a:r>
              <a:rPr spc="-25" dirty="0"/>
              <a:t> </a:t>
            </a:r>
            <a:r>
              <a:rPr dirty="0"/>
              <a:t>(Long</a:t>
            </a:r>
            <a:r>
              <a:rPr spc="-20" dirty="0"/>
              <a:t> </a:t>
            </a:r>
            <a:r>
              <a:rPr spc="-10" dirty="0"/>
              <a:t>Short-</a:t>
            </a:r>
            <a:r>
              <a:rPr spc="-25" dirty="0"/>
              <a:t>Term</a:t>
            </a:r>
            <a:r>
              <a:rPr spc="-20" dirty="0"/>
              <a:t> </a:t>
            </a:r>
            <a:r>
              <a:rPr spc="-10" dirty="0"/>
              <a:t>Memory)</a:t>
            </a:r>
          </a:p>
          <a:p>
            <a:pPr marL="469265" indent="-376555">
              <a:lnSpc>
                <a:spcPts val="1664"/>
              </a:lnSpc>
              <a:buAutoNum type="arabicPeriod"/>
              <a:tabLst>
                <a:tab pos="469265" algn="l"/>
              </a:tabLst>
            </a:pPr>
            <a:r>
              <a:rPr dirty="0"/>
              <a:t>GRU</a:t>
            </a:r>
            <a:r>
              <a:rPr spc="-45" dirty="0"/>
              <a:t> </a:t>
            </a:r>
            <a:r>
              <a:rPr dirty="0"/>
              <a:t>(Gated</a:t>
            </a:r>
            <a:r>
              <a:rPr spc="-40" dirty="0"/>
              <a:t> </a:t>
            </a:r>
            <a:r>
              <a:rPr dirty="0"/>
              <a:t>Recurrent</a:t>
            </a:r>
            <a:r>
              <a:rPr spc="-40" dirty="0"/>
              <a:t> </a:t>
            </a:r>
            <a:r>
              <a:rPr spc="-10" dirty="0"/>
              <a:t>Units)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pc="-10" dirty="0"/>
          </a:p>
          <a:p>
            <a:pPr marL="12700" marR="5568950">
              <a:lnSpc>
                <a:spcPts val="1650"/>
              </a:lnSpc>
            </a:pPr>
            <a:r>
              <a:rPr dirty="0"/>
              <a:t>Some</a:t>
            </a:r>
            <a:r>
              <a:rPr spc="-20" dirty="0"/>
              <a:t> </a:t>
            </a:r>
            <a:r>
              <a:rPr dirty="0"/>
              <a:t>good</a:t>
            </a:r>
            <a:r>
              <a:rPr spc="-20" dirty="0"/>
              <a:t> </a:t>
            </a:r>
            <a:r>
              <a:rPr spc="-10" dirty="0"/>
              <a:t>resources-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Understanding</a:t>
            </a:r>
            <a:r>
              <a:rPr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LSTM</a:t>
            </a:r>
            <a:r>
              <a:rPr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 </a:t>
            </a:r>
            <a:r>
              <a:rPr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2"/>
              </a:rPr>
              <a:t>Networks</a:t>
            </a:r>
          </a:p>
          <a:p>
            <a:pPr marL="12700">
              <a:lnSpc>
                <a:spcPct val="100000"/>
              </a:lnSpc>
              <a:spcBef>
                <a:spcPts val="1570"/>
              </a:spcBef>
            </a:pP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An</a:t>
            </a:r>
            <a:r>
              <a:rPr u="heavy" spc="-4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Empirical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Exploration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of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Recurrent</a:t>
            </a:r>
            <a:r>
              <a:rPr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Network</a:t>
            </a:r>
            <a:r>
              <a:rPr u="heavy" spc="-9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 </a:t>
            </a:r>
            <a:r>
              <a:rPr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3"/>
              </a:rPr>
              <a:t>Architectures</a:t>
            </a:r>
          </a:p>
          <a:p>
            <a:pPr marL="12700" marR="5080">
              <a:lnSpc>
                <a:spcPct val="196400"/>
              </a:lnSpc>
            </a:pP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Recurrent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Neural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Network</a:t>
            </a:r>
            <a:r>
              <a:rPr u="heavy" spc="-5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Tutorial,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Part</a:t>
            </a:r>
            <a:r>
              <a:rPr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4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–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Implementing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a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GRU/LSTM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RNN</a:t>
            </a:r>
            <a:r>
              <a:rPr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with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Python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and</a:t>
            </a:r>
            <a:r>
              <a:rPr u="heavy" spc="-5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 </a:t>
            </a:r>
            <a:r>
              <a:rPr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4"/>
              </a:rPr>
              <a:t>Theano</a:t>
            </a:r>
            <a:r>
              <a:rPr spc="-10" dirty="0">
                <a:solidFill>
                  <a:srgbClr val="0097A7"/>
                </a:solidFill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Stanford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CS231n: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Lecture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10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|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Recurrent</a:t>
            </a:r>
            <a:r>
              <a:rPr u="heavy" spc="-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 </a:t>
            </a:r>
            <a:r>
              <a:rPr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Neural</a:t>
            </a:r>
            <a:r>
              <a:rPr u="heavy" spc="-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 </a:t>
            </a:r>
            <a:r>
              <a:rPr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hlinkClick r:id="rId5"/>
              </a:rPr>
              <a:t>Networks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9737" y="2264536"/>
            <a:ext cx="1244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CNNs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240173" y="4465138"/>
            <a:ext cx="366014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673100" marR="5080" indent="-66040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Some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slides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borrowed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Fei-</a:t>
            </a:r>
            <a:r>
              <a:rPr sz="1400" dirty="0">
                <a:latin typeface="Arial MT"/>
                <a:cs typeface="Arial MT"/>
              </a:rPr>
              <a:t>Fei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10" dirty="0">
                <a:latin typeface="Arial MT"/>
                <a:cs typeface="Arial MT"/>
              </a:rPr>
              <a:t> Justin </a:t>
            </a:r>
            <a:r>
              <a:rPr sz="1400" dirty="0">
                <a:latin typeface="Arial MT"/>
                <a:cs typeface="Arial MT"/>
              </a:rPr>
              <a:t>Johnson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Serena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Yeung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Stanford.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Fully</a:t>
            </a:r>
            <a:r>
              <a:rPr spc="-125" dirty="0"/>
              <a:t> </a:t>
            </a:r>
            <a:r>
              <a:rPr dirty="0"/>
              <a:t>Connected</a:t>
            </a:r>
            <a:r>
              <a:rPr spc="-120" dirty="0"/>
              <a:t> </a:t>
            </a:r>
            <a:r>
              <a:rPr spc="-10" dirty="0"/>
              <a:t>Layer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14919" y="1684230"/>
            <a:ext cx="1973580" cy="2477135"/>
            <a:chOff x="714919" y="1684230"/>
            <a:chExt cx="1973580" cy="2477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919" y="1684230"/>
              <a:ext cx="1713825" cy="247689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028749" y="2940900"/>
              <a:ext cx="612140" cy="0"/>
            </a:xfrm>
            <a:custGeom>
              <a:avLst/>
              <a:gdLst/>
              <a:ahLst/>
              <a:cxnLst/>
              <a:rect l="l" t="t" r="r" b="b"/>
              <a:pathLst>
                <a:path w="612139">
                  <a:moveTo>
                    <a:pt x="0" y="0"/>
                  </a:moveTo>
                  <a:lnTo>
                    <a:pt x="61154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0300" y="292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0" y="0"/>
                  </a:lnTo>
                  <a:lnTo>
                    <a:pt x="43225" y="15732"/>
                  </a:lnTo>
                  <a:lnTo>
                    <a:pt x="0" y="3146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40300" y="2925167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5"/>
                  </a:moveTo>
                  <a:lnTo>
                    <a:pt x="43225" y="15732"/>
                  </a:lnTo>
                  <a:lnTo>
                    <a:pt x="0" y="0"/>
                  </a:lnTo>
                  <a:lnTo>
                    <a:pt x="0" y="3146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57465" y="2527850"/>
            <a:ext cx="5572560" cy="8259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61346" y="1212538"/>
            <a:ext cx="123126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40449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Arial MT"/>
                <a:cs typeface="Arial MT"/>
              </a:rPr>
              <a:t>Input </a:t>
            </a:r>
            <a:r>
              <a:rPr sz="1400" dirty="0">
                <a:latin typeface="Arial MT"/>
                <a:cs typeface="Arial MT"/>
              </a:rPr>
              <a:t>32x32x3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image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47000" y="2042362"/>
            <a:ext cx="1300480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Flattened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image </a:t>
            </a:r>
            <a:r>
              <a:rPr sz="1400" dirty="0">
                <a:latin typeface="Arial MT"/>
                <a:cs typeface="Arial MT"/>
              </a:rPr>
              <a:t>32*32*3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=</a:t>
            </a:r>
            <a:r>
              <a:rPr sz="1400" spc="-20" dirty="0">
                <a:latin typeface="Arial MT"/>
                <a:cs typeface="Arial MT"/>
              </a:rPr>
              <a:t> 3072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2349" y="2133987"/>
            <a:ext cx="110807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Weight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Matrix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45375" y="2111337"/>
            <a:ext cx="5588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 MT"/>
                <a:cs typeface="Arial MT"/>
              </a:rPr>
              <a:t>Output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Convolutional</a:t>
            </a:r>
            <a:r>
              <a:rPr spc="-110" dirty="0"/>
              <a:t> </a:t>
            </a:r>
            <a:r>
              <a:rPr spc="-1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707" y="1987455"/>
            <a:ext cx="1713825" cy="247689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31959" y="1372087"/>
            <a:ext cx="123126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40449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Arial MT"/>
                <a:cs typeface="Arial MT"/>
              </a:rPr>
              <a:t>Input </a:t>
            </a:r>
            <a:r>
              <a:rPr sz="1400" dirty="0">
                <a:latin typeface="Arial MT"/>
                <a:cs typeface="Arial MT"/>
              </a:rPr>
              <a:t>32x32x3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image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54281" y="2704066"/>
            <a:ext cx="296185" cy="73137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646544" y="2064962"/>
            <a:ext cx="49974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3937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Arial MT"/>
                <a:cs typeface="Arial MT"/>
              </a:rPr>
              <a:t>Filter 5x5x3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87374" y="1371072"/>
            <a:ext cx="3411220" cy="7645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b="1" dirty="0">
                <a:latin typeface="Arial"/>
                <a:cs typeface="Arial"/>
              </a:rPr>
              <a:t>Convolve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filter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image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i.e. </a:t>
            </a:r>
            <a:r>
              <a:rPr sz="1600" dirty="0">
                <a:latin typeface="Arial MT"/>
                <a:cs typeface="Arial MT"/>
              </a:rPr>
              <a:t>“slide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over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image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spatially, </a:t>
            </a:r>
            <a:r>
              <a:rPr sz="1600" dirty="0">
                <a:latin typeface="Arial MT"/>
                <a:cs typeface="Arial MT"/>
              </a:rPr>
              <a:t>computing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products”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87374" y="2335872"/>
            <a:ext cx="3366770" cy="5168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dirty="0">
                <a:latin typeface="Arial MT"/>
                <a:cs typeface="Arial MT"/>
              </a:rPr>
              <a:t>Filters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always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extend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full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depth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of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input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volume.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1680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Convolutional</a:t>
            </a:r>
            <a:r>
              <a:rPr spc="-110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94975" y="625531"/>
            <a:ext cx="3354070" cy="41668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248285">
              <a:lnSpc>
                <a:spcPct val="100699"/>
              </a:lnSpc>
              <a:spcBef>
                <a:spcPts val="85"/>
              </a:spcBef>
            </a:pPr>
            <a:r>
              <a:rPr sz="1800" dirty="0">
                <a:latin typeface="Arial MT"/>
                <a:cs typeface="Arial MT"/>
              </a:rPr>
              <a:t>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step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during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convolution,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filter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a </a:t>
            </a:r>
            <a:r>
              <a:rPr sz="1800" dirty="0">
                <a:latin typeface="Arial MT"/>
                <a:cs typeface="Arial MT"/>
              </a:rPr>
              <a:t>region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input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image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results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single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number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as </a:t>
            </a:r>
            <a:r>
              <a:rPr sz="1800" spc="-10" dirty="0">
                <a:latin typeface="Arial MT"/>
                <a:cs typeface="Arial MT"/>
              </a:rPr>
              <a:t>output.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800">
              <a:latin typeface="Arial MT"/>
              <a:cs typeface="Arial MT"/>
            </a:endParaRPr>
          </a:p>
          <a:p>
            <a:pPr marL="12700" marR="106680">
              <a:lnSpc>
                <a:spcPct val="100699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number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result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dot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values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5x5x3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chunk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image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that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acts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699"/>
              </a:lnSpc>
            </a:pPr>
            <a:r>
              <a:rPr sz="1800" dirty="0">
                <a:latin typeface="Arial MT"/>
                <a:cs typeface="Arial MT"/>
              </a:rPr>
              <a:t>Combining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together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entire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image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results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activation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map.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100" y="1739900"/>
            <a:ext cx="4563799" cy="214981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Convolutional</a:t>
            </a:r>
            <a:r>
              <a:rPr spc="-110" dirty="0"/>
              <a:t> </a:t>
            </a:r>
            <a:r>
              <a:rPr spc="-1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956" y="1468575"/>
            <a:ext cx="4690981" cy="23907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43075" y="1298430"/>
            <a:ext cx="3201035" cy="2233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Filters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stacked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together.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Arial MT"/>
              <a:cs typeface="Arial MT"/>
            </a:endParaRPr>
          </a:p>
          <a:p>
            <a:pPr marL="12700" marR="171450">
              <a:lnSpc>
                <a:spcPct val="100699"/>
              </a:lnSpc>
            </a:pPr>
            <a:r>
              <a:rPr sz="1800" dirty="0">
                <a:latin typeface="Arial MT"/>
                <a:cs typeface="Arial MT"/>
              </a:rPr>
              <a:t>Example-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6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filters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of </a:t>
            </a:r>
            <a:r>
              <a:rPr sz="1800" dirty="0">
                <a:latin typeface="Arial MT"/>
                <a:cs typeface="Arial MT"/>
              </a:rPr>
              <a:t>shape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5x5,</a:t>
            </a:r>
            <a:endParaRPr sz="1800">
              <a:latin typeface="Arial MT"/>
              <a:cs typeface="Arial MT"/>
            </a:endParaRPr>
          </a:p>
          <a:p>
            <a:pPr marL="12700" marR="81280">
              <a:lnSpc>
                <a:spcPct val="100699"/>
              </a:lnSpc>
            </a:pP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would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produce</a:t>
            </a:r>
            <a:r>
              <a:rPr sz="1800" spc="-25" dirty="0">
                <a:latin typeface="Arial MT"/>
                <a:cs typeface="Arial MT"/>
              </a:rPr>
              <a:t> an </a:t>
            </a:r>
            <a:r>
              <a:rPr sz="1800" dirty="0">
                <a:latin typeface="Arial MT"/>
                <a:cs typeface="Arial MT"/>
              </a:rPr>
              <a:t>activation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map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28x28x1</a:t>
            </a:r>
            <a:r>
              <a:rPr sz="1800" spc="-25" dirty="0">
                <a:latin typeface="Arial MT"/>
                <a:cs typeface="Arial MT"/>
              </a:rPr>
              <a:t> and </a:t>
            </a:r>
            <a:r>
              <a:rPr sz="1800" dirty="0">
                <a:latin typeface="Arial MT"/>
                <a:cs typeface="Arial MT"/>
              </a:rPr>
              <a:t>our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output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would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“new </a:t>
            </a:r>
            <a:r>
              <a:rPr sz="1800" dirty="0">
                <a:latin typeface="Arial MT"/>
                <a:cs typeface="Arial MT"/>
              </a:rPr>
              <a:t>image”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shape</a:t>
            </a:r>
            <a:r>
              <a:rPr sz="1800" spc="-10" dirty="0">
                <a:latin typeface="Arial MT"/>
                <a:cs typeface="Arial MT"/>
              </a:rPr>
              <a:t> 28x28x6.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Convolutional</a:t>
            </a:r>
            <a:r>
              <a:rPr spc="-110" dirty="0"/>
              <a:t> </a:t>
            </a:r>
            <a:r>
              <a:rPr spc="-1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346" y="1890829"/>
            <a:ext cx="3206148" cy="18206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1425" y="1732350"/>
            <a:ext cx="3602249" cy="20132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47119" y="4648204"/>
            <a:ext cx="34505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Visualizations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borrowed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Irhum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Shafkat’s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4"/>
              </a:rPr>
              <a:t>blog</a:t>
            </a:r>
            <a:r>
              <a:rPr sz="1200" spc="-1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Convolutional</a:t>
            </a:r>
            <a:r>
              <a:rPr spc="-110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26704" y="4648204"/>
            <a:ext cx="3670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Visualizations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borrowed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vdumoulin’s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u="heavy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github</a:t>
            </a:r>
            <a:r>
              <a:rPr sz="1200" u="heavy" spc="-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repo</a:t>
            </a:r>
            <a:r>
              <a:rPr sz="1200" spc="-1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121" y="1584395"/>
            <a:ext cx="1593906" cy="17235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5126" y="1251595"/>
            <a:ext cx="1998729" cy="226487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65571" y="3963413"/>
            <a:ext cx="96456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08585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Arial MT"/>
                <a:cs typeface="Arial MT"/>
              </a:rPr>
              <a:t>Standard Convolution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9436" y="3895288"/>
            <a:ext cx="104330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3937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Arial MT"/>
                <a:cs typeface="Arial MT"/>
              </a:rPr>
              <a:t>Convolution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Padding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49412" y="1217685"/>
            <a:ext cx="2040432" cy="199407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079946" y="3895288"/>
            <a:ext cx="964565" cy="44830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7465" marR="5080" indent="-25400">
              <a:lnSpc>
                <a:spcPts val="1650"/>
              </a:lnSpc>
              <a:spcBef>
                <a:spcPts val="180"/>
              </a:spcBef>
            </a:pPr>
            <a:r>
              <a:rPr sz="1400" spc="-10" dirty="0">
                <a:latin typeface="Arial MT"/>
                <a:cs typeface="Arial MT"/>
              </a:rPr>
              <a:t>Convolution </a:t>
            </a:r>
            <a:r>
              <a:rPr sz="1400" dirty="0">
                <a:latin typeface="Arial MT"/>
                <a:cs typeface="Arial MT"/>
              </a:rPr>
              <a:t>with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strides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Convolutional</a:t>
            </a:r>
            <a:r>
              <a:rPr spc="-110" dirty="0"/>
              <a:t> </a:t>
            </a:r>
            <a:r>
              <a:rPr spc="-1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824" y="1245222"/>
            <a:ext cx="2923876" cy="29303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02574" y="1750768"/>
            <a:ext cx="2550160" cy="2233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Output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Size: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Arial"/>
                <a:cs typeface="Arial"/>
              </a:rPr>
              <a:t>(N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-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F)/stride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+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e.g.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7,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stride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 MT"/>
                <a:cs typeface="Arial MT"/>
              </a:rPr>
              <a:t>=&gt;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(7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-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3)/1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5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e.g.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7,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stride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latin typeface="Arial MT"/>
                <a:cs typeface="Arial MT"/>
              </a:rPr>
              <a:t>=&gt;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(7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-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3)/2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+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1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Pooling</a:t>
            </a:r>
            <a:r>
              <a:rPr spc="-130" dirty="0"/>
              <a:t> </a:t>
            </a:r>
            <a:r>
              <a:rPr spc="-1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150" y="1462954"/>
            <a:ext cx="3761361" cy="296839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10949" y="1484731"/>
            <a:ext cx="2767965" cy="19570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79095" marR="5080" indent="-367030">
              <a:lnSpc>
                <a:spcPct val="100699"/>
              </a:lnSpc>
              <a:spcBef>
                <a:spcPts val="85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makes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representations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smaller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manageable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379095" marR="424180" indent="-367030">
              <a:lnSpc>
                <a:spcPct val="100699"/>
              </a:lnSpc>
              <a:spcBef>
                <a:spcPts val="5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operates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over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each </a:t>
            </a:r>
            <a:r>
              <a:rPr sz="1800" dirty="0">
                <a:latin typeface="Arial MT"/>
                <a:cs typeface="Arial MT"/>
              </a:rPr>
              <a:t>activation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map </a:t>
            </a:r>
            <a:r>
              <a:rPr sz="1800" spc="-10" dirty="0">
                <a:latin typeface="Arial MT"/>
                <a:cs typeface="Arial MT"/>
              </a:rPr>
              <a:t>independently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Max</a:t>
            </a:r>
            <a:r>
              <a:rPr spc="-60" dirty="0"/>
              <a:t> </a:t>
            </a:r>
            <a:r>
              <a:rPr spc="-10" dirty="0"/>
              <a:t>Pooling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200" y="1313171"/>
            <a:ext cx="6822267" cy="315393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ConvNet</a:t>
            </a:r>
            <a:r>
              <a:rPr spc="-145" dirty="0"/>
              <a:t> </a:t>
            </a:r>
            <a:r>
              <a:rPr spc="-10" dirty="0"/>
              <a:t>Layer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300" y="903975"/>
            <a:ext cx="7138276" cy="38209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61869" y="4724404"/>
            <a:ext cx="18694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Image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credits-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Saha’s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3"/>
              </a:rPr>
              <a:t>blog</a:t>
            </a:r>
            <a:r>
              <a:rPr sz="1200" spc="-1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ConvNet</a:t>
            </a:r>
            <a:r>
              <a:rPr spc="-145" dirty="0"/>
              <a:t> </a:t>
            </a:r>
            <a:r>
              <a:rPr spc="-10" dirty="0"/>
              <a:t>Layer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61869" y="4724404"/>
            <a:ext cx="186943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Image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credits-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Saha’s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u="heavy" spc="-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 MT"/>
                <a:cs typeface="Arial MT"/>
                <a:hlinkClick r:id="rId2"/>
              </a:rPr>
              <a:t>blog</a:t>
            </a:r>
            <a:r>
              <a:rPr sz="1200" spc="-10" dirty="0">
                <a:latin typeface="Arial MT"/>
                <a:cs typeface="Arial MT"/>
              </a:rPr>
              <a:t>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1170124"/>
            <a:ext cx="8839199" cy="298631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6955" y="2264536"/>
            <a:ext cx="1830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Attention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45025" y="4345521"/>
            <a:ext cx="4017645" cy="5168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68580" marR="5080" indent="-56515">
              <a:lnSpc>
                <a:spcPct val="101600"/>
              </a:lnSpc>
              <a:spcBef>
                <a:spcPts val="70"/>
              </a:spcBef>
            </a:pPr>
            <a:r>
              <a:rPr sz="1600" dirty="0">
                <a:latin typeface="Arial MT"/>
                <a:cs typeface="Arial MT"/>
              </a:rPr>
              <a:t>Some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slides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borrowed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  <a:hlinkClick r:id="rId2"/>
              </a:rPr>
              <a:t>Sarah</a:t>
            </a:r>
            <a:r>
              <a:rPr sz="1600" spc="-25" dirty="0">
                <a:latin typeface="Arial MT"/>
                <a:cs typeface="Arial MT"/>
                <a:hlinkClick r:id="rId2"/>
              </a:rPr>
              <a:t> </a:t>
            </a:r>
            <a:r>
              <a:rPr sz="1600" spc="-10" dirty="0">
                <a:latin typeface="Arial MT"/>
                <a:cs typeface="Arial MT"/>
                <a:hlinkClick r:id="rId2"/>
              </a:rPr>
              <a:t>Wiegreffe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Georgia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Tech.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3825"/>
            <a:ext cx="7956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Arial MT"/>
                <a:cs typeface="Arial MT"/>
              </a:rPr>
              <a:t>RNN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4735" y="1133186"/>
            <a:ext cx="7336276" cy="37509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55" dirty="0"/>
              <a:t> </a:t>
            </a:r>
            <a:r>
              <a:rPr dirty="0"/>
              <a:t>-</a:t>
            </a:r>
            <a:r>
              <a:rPr spc="-195" dirty="0"/>
              <a:t> 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4703" y="981900"/>
            <a:ext cx="6722574" cy="388720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55" dirty="0"/>
              <a:t> </a:t>
            </a:r>
            <a:r>
              <a:rPr dirty="0"/>
              <a:t>-</a:t>
            </a:r>
            <a:r>
              <a:rPr spc="-195" dirty="0"/>
              <a:t> 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3267" y="1136283"/>
            <a:ext cx="6942367" cy="378721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55" dirty="0"/>
              <a:t> </a:t>
            </a:r>
            <a:r>
              <a:rPr dirty="0"/>
              <a:t>-</a:t>
            </a:r>
            <a:r>
              <a:rPr spc="-195" dirty="0"/>
              <a:t> 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054" y="1017725"/>
            <a:ext cx="7162741" cy="404926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55" dirty="0"/>
              <a:t> </a:t>
            </a:r>
            <a:r>
              <a:rPr dirty="0"/>
              <a:t>-</a:t>
            </a:r>
            <a:r>
              <a:rPr spc="-195" dirty="0"/>
              <a:t> 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2451" y="1103505"/>
            <a:ext cx="6647952" cy="398877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55" dirty="0"/>
              <a:t> </a:t>
            </a:r>
            <a:r>
              <a:rPr dirty="0"/>
              <a:t>-</a:t>
            </a:r>
            <a:r>
              <a:rPr spc="-195" dirty="0"/>
              <a:t> 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3250" y="897700"/>
            <a:ext cx="6642273" cy="4245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55" dirty="0"/>
              <a:t> </a:t>
            </a:r>
            <a:r>
              <a:rPr dirty="0"/>
              <a:t>-</a:t>
            </a:r>
            <a:r>
              <a:rPr spc="-195" dirty="0"/>
              <a:t> 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0000" y="1058699"/>
            <a:ext cx="6456126" cy="407949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55" dirty="0"/>
              <a:t> </a:t>
            </a:r>
            <a:r>
              <a:rPr dirty="0"/>
              <a:t>-</a:t>
            </a:r>
            <a:r>
              <a:rPr spc="-195" dirty="0"/>
              <a:t> 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2375" y="937300"/>
            <a:ext cx="6604150" cy="417557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55" dirty="0"/>
              <a:t> </a:t>
            </a:r>
            <a:r>
              <a:rPr dirty="0"/>
              <a:t>-</a:t>
            </a:r>
            <a:r>
              <a:rPr spc="-195" dirty="0"/>
              <a:t> 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5450" y="1109777"/>
            <a:ext cx="5818891" cy="403372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RNN</a:t>
            </a:r>
            <a:r>
              <a:rPr spc="-55" dirty="0"/>
              <a:t> </a:t>
            </a:r>
            <a:r>
              <a:rPr dirty="0"/>
              <a:t>-</a:t>
            </a:r>
            <a:r>
              <a:rPr spc="-195" dirty="0"/>
              <a:t> 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225" y="1017724"/>
            <a:ext cx="6592574" cy="412577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89" y="1062753"/>
            <a:ext cx="6576798" cy="391751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121" y="408241"/>
            <a:ext cx="8070058" cy="413055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Drawbacks</a:t>
            </a:r>
            <a:r>
              <a:rPr spc="-9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25" dirty="0"/>
              <a:t>RNN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079" y="1566505"/>
            <a:ext cx="6954161" cy="28060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2985" y="2264536"/>
            <a:ext cx="2498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Transformer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645025" y="4345521"/>
            <a:ext cx="4017645" cy="5168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68580" marR="5080" indent="-56515">
              <a:lnSpc>
                <a:spcPct val="101600"/>
              </a:lnSpc>
              <a:spcBef>
                <a:spcPts val="70"/>
              </a:spcBef>
            </a:pPr>
            <a:r>
              <a:rPr sz="1600" dirty="0">
                <a:latin typeface="Arial MT"/>
                <a:cs typeface="Arial MT"/>
              </a:rPr>
              <a:t>Some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slides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borrowed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  <a:hlinkClick r:id="rId2"/>
              </a:rPr>
              <a:t>Sarah</a:t>
            </a:r>
            <a:r>
              <a:rPr sz="1600" spc="-25" dirty="0">
                <a:latin typeface="Arial MT"/>
                <a:cs typeface="Arial MT"/>
                <a:hlinkClick r:id="rId2"/>
              </a:rPr>
              <a:t> </a:t>
            </a:r>
            <a:r>
              <a:rPr sz="1600" spc="-10" dirty="0">
                <a:latin typeface="Arial MT"/>
                <a:cs typeface="Arial MT"/>
                <a:hlinkClick r:id="rId2"/>
              </a:rPr>
              <a:t>Wiegreffe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Georgia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Tech.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94881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Transformer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7636" y="236020"/>
            <a:ext cx="5658500" cy="481825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Self-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6806" y="1885279"/>
            <a:ext cx="7377028" cy="243310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Self-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8959" y="1273143"/>
            <a:ext cx="5822440" cy="352664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Self-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9877" y="986350"/>
            <a:ext cx="3951748" cy="414736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Self-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7746" y="1311073"/>
            <a:ext cx="6677943" cy="323088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Multi-</a:t>
            </a:r>
            <a:r>
              <a:rPr dirty="0"/>
              <a:t>Head</a:t>
            </a:r>
            <a:r>
              <a:rPr spc="5" dirty="0"/>
              <a:t> </a:t>
            </a:r>
            <a:r>
              <a:rPr spc="-25" dirty="0"/>
              <a:t>Self-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6925" y="1110475"/>
            <a:ext cx="7896257" cy="366203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Retaining</a:t>
            </a:r>
            <a:r>
              <a:rPr spc="-105" dirty="0"/>
              <a:t> </a:t>
            </a:r>
            <a:r>
              <a:rPr dirty="0"/>
              <a:t>Hidden</a:t>
            </a:r>
            <a:r>
              <a:rPr spc="-105" dirty="0"/>
              <a:t> </a:t>
            </a:r>
            <a:r>
              <a:rPr dirty="0"/>
              <a:t>State</a:t>
            </a:r>
            <a:r>
              <a:rPr spc="-100" dirty="0"/>
              <a:t> </a:t>
            </a:r>
            <a:r>
              <a:rPr spc="-20" dirty="0"/>
              <a:t>Size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4268" y="1770552"/>
            <a:ext cx="5855855" cy="232089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dirty="0"/>
              <a:t>Details</a:t>
            </a:r>
            <a:r>
              <a:rPr spc="-10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20" dirty="0"/>
              <a:t>Each</a:t>
            </a:r>
            <a:r>
              <a:rPr spc="-175" dirty="0"/>
              <a:t> </a:t>
            </a:r>
            <a:r>
              <a:rPr dirty="0"/>
              <a:t>Attention</a:t>
            </a:r>
            <a:r>
              <a:rPr spc="-65" dirty="0"/>
              <a:t> </a:t>
            </a:r>
            <a:r>
              <a:rPr spc="-20" dirty="0"/>
              <a:t>Sub-</a:t>
            </a:r>
            <a:r>
              <a:rPr dirty="0"/>
              <a:t>Layer</a:t>
            </a:r>
            <a:r>
              <a:rPr spc="-65" dirty="0"/>
              <a:t> </a:t>
            </a:r>
            <a:r>
              <a:rPr dirty="0"/>
              <a:t>of</a:t>
            </a:r>
            <a:r>
              <a:rPr spc="-114" dirty="0"/>
              <a:t> </a:t>
            </a:r>
            <a:r>
              <a:rPr spc="-10" dirty="0"/>
              <a:t>Transformer Encoder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7554" y="1147095"/>
            <a:ext cx="6739010" cy="374389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Each</a:t>
            </a:r>
            <a:r>
              <a:rPr spc="-90" dirty="0"/>
              <a:t> </a:t>
            </a:r>
            <a:r>
              <a:rPr dirty="0"/>
              <a:t>Layer</a:t>
            </a:r>
            <a:r>
              <a:rPr spc="-90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spc="-10" dirty="0"/>
              <a:t>Transformer</a:t>
            </a:r>
            <a:r>
              <a:rPr spc="-90" dirty="0"/>
              <a:t> </a:t>
            </a:r>
            <a:r>
              <a:rPr spc="-10" dirty="0"/>
              <a:t>Encoder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6964" y="1068491"/>
            <a:ext cx="5155920" cy="391100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Positional</a:t>
            </a:r>
            <a:r>
              <a:rPr spc="-175" dirty="0"/>
              <a:t> </a:t>
            </a:r>
            <a:r>
              <a:rPr spc="-10" dirty="0"/>
              <a:t>Encoding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939" y="1202577"/>
            <a:ext cx="6779888" cy="363145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3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Each</a:t>
            </a:r>
            <a:r>
              <a:rPr spc="-90" dirty="0"/>
              <a:t> </a:t>
            </a:r>
            <a:r>
              <a:rPr dirty="0"/>
              <a:t>Layer</a:t>
            </a:r>
            <a:r>
              <a:rPr spc="-90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spc="-10" dirty="0"/>
              <a:t>Transformer</a:t>
            </a:r>
            <a:r>
              <a:rPr spc="-90" dirty="0"/>
              <a:t> </a:t>
            </a:r>
            <a:r>
              <a:rPr spc="-10" dirty="0"/>
              <a:t>Decoder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2092" y="1559591"/>
            <a:ext cx="4759058" cy="311169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Transformer</a:t>
            </a:r>
            <a:r>
              <a:rPr spc="-120" dirty="0"/>
              <a:t> </a:t>
            </a:r>
            <a:r>
              <a:rPr dirty="0"/>
              <a:t>Decoder</a:t>
            </a:r>
            <a:r>
              <a:rPr spc="-80" dirty="0"/>
              <a:t> </a:t>
            </a:r>
            <a:r>
              <a:rPr dirty="0"/>
              <a:t>-</a:t>
            </a:r>
            <a:r>
              <a:rPr spc="-75" dirty="0"/>
              <a:t> </a:t>
            </a:r>
            <a:r>
              <a:rPr dirty="0"/>
              <a:t>Masked</a:t>
            </a:r>
            <a:r>
              <a:rPr spc="-75" dirty="0"/>
              <a:t> </a:t>
            </a:r>
            <a:r>
              <a:rPr spc="-25" dirty="0"/>
              <a:t>Multi-</a:t>
            </a:r>
            <a:r>
              <a:rPr spc="-20" dirty="0"/>
              <a:t>Head</a:t>
            </a:r>
            <a:r>
              <a:rPr spc="-175" dirty="0"/>
              <a:t> </a:t>
            </a:r>
            <a:r>
              <a:rPr spc="-10" dirty="0"/>
              <a:t>Attention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7619" y="1827278"/>
            <a:ext cx="7261863" cy="29537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70225" y="1236262"/>
            <a:ext cx="46462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Problem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Encoder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self-</a:t>
            </a:r>
            <a:r>
              <a:rPr sz="1400" dirty="0">
                <a:latin typeface="Arial MT"/>
                <a:cs typeface="Arial MT"/>
              </a:rPr>
              <a:t>attention: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can’t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future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50" dirty="0">
                <a:latin typeface="Arial MT"/>
                <a:cs typeface="Arial MT"/>
              </a:rPr>
              <a:t>!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94881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Transformer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7636" y="236020"/>
            <a:ext cx="5658500" cy="48182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747</Words>
  <Application>Microsoft Office PowerPoint</Application>
  <PresentationFormat>全屏显示(16:9)</PresentationFormat>
  <Paragraphs>143</Paragraphs>
  <Slides>55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58" baseType="lpstr">
      <vt:lpstr>Arial MT</vt:lpstr>
      <vt:lpstr>Arial</vt:lpstr>
      <vt:lpstr>Office Theme</vt:lpstr>
      <vt:lpstr>PowerPoint 演示文稿</vt:lpstr>
      <vt:lpstr>Outline</vt:lpstr>
      <vt:lpstr>RNNs</vt:lpstr>
      <vt:lpstr>Vanilla Neural Networks</vt:lpstr>
      <vt:lpstr>How to model sequences?</vt:lpstr>
      <vt:lpstr>RNN- Recurrent Neural Networks</vt:lpstr>
      <vt:lpstr>RNN- Representation</vt:lpstr>
      <vt:lpstr>RNN- Recurrence Relation</vt:lpstr>
      <vt:lpstr>RNN- Rolled out representation</vt:lpstr>
      <vt:lpstr>RNN- Rolled out representation</vt:lpstr>
      <vt:lpstr>RNN- Backpropagation Through Time</vt:lpstr>
      <vt:lpstr>RNN- Backpropagation Through Time</vt:lpstr>
      <vt:lpstr>RNN- Truncated Backpropagation Through Time</vt:lpstr>
      <vt:lpstr>RNN- Truncated Backpropagation Through Time</vt:lpstr>
      <vt:lpstr>RNN- Types</vt:lpstr>
      <vt:lpstr>CNNs</vt:lpstr>
      <vt:lpstr>Fully Connected Layer</vt:lpstr>
      <vt:lpstr>Convolutional Layer</vt:lpstr>
      <vt:lpstr>Convolutional Layer</vt:lpstr>
      <vt:lpstr>Convolutional Layer</vt:lpstr>
      <vt:lpstr>Convolutional Layer</vt:lpstr>
      <vt:lpstr>Convolutional Layer</vt:lpstr>
      <vt:lpstr>Convolutional Layer</vt:lpstr>
      <vt:lpstr>Pooling Layer</vt:lpstr>
      <vt:lpstr>Max Pooling</vt:lpstr>
      <vt:lpstr>ConvNet Layer</vt:lpstr>
      <vt:lpstr>ConvNet Layer</vt:lpstr>
      <vt:lpstr>Attention</vt:lpstr>
      <vt:lpstr>PowerPoint 演示文稿</vt:lpstr>
      <vt:lpstr>RNN - Attention</vt:lpstr>
      <vt:lpstr>RNN - Attention</vt:lpstr>
      <vt:lpstr>RNN - Attention</vt:lpstr>
      <vt:lpstr>RNN - Attention</vt:lpstr>
      <vt:lpstr>RNN - Attention</vt:lpstr>
      <vt:lpstr>RNN - Attention</vt:lpstr>
      <vt:lpstr>RNN - Attention</vt:lpstr>
      <vt:lpstr>RNN - Attention</vt:lpstr>
      <vt:lpstr>RNN - Attention</vt:lpstr>
      <vt:lpstr>Attention</vt:lpstr>
      <vt:lpstr>PowerPoint 演示文稿</vt:lpstr>
      <vt:lpstr>Drawbacks of RNN</vt:lpstr>
      <vt:lpstr>Transformer</vt:lpstr>
      <vt:lpstr>Transformer</vt:lpstr>
      <vt:lpstr>Self-Attention</vt:lpstr>
      <vt:lpstr>Self-Attention</vt:lpstr>
      <vt:lpstr>Self-Attention</vt:lpstr>
      <vt:lpstr>Self-Attention</vt:lpstr>
      <vt:lpstr>Multi-Head Self-Attention</vt:lpstr>
      <vt:lpstr>Retaining Hidden State Size</vt:lpstr>
      <vt:lpstr>Details of Each Attention Sub-Layer of Transformer Encoder</vt:lpstr>
      <vt:lpstr>Each Layer of Transformer Encoder</vt:lpstr>
      <vt:lpstr>Positional Encoding</vt:lpstr>
      <vt:lpstr>Each Layer of Transformer Decoder</vt:lpstr>
      <vt:lpstr>Transformer Decoder - Masked Multi-Head Attention</vt:lpstr>
      <vt:lpstr>Transformer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Zhiyu ZHU 朱智宇</cp:lastModifiedBy>
  <cp:revision>1</cp:revision>
  <dcterms:created xsi:type="dcterms:W3CDTF">2026-03-16T14:20:04Z</dcterms:created>
  <dcterms:modified xsi:type="dcterms:W3CDTF">2026-03-16T14:24:17Z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2026-03-16T00:00:00Z</vt:filetime>
  </property>
</Properties>
</file>