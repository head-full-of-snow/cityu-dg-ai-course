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0"/>
  </p:notesMasterIdLst>
  <p:sldIdLst>
    <p:sldId id="257" r:id="rId2"/>
    <p:sldId id="339" r:id="rId3"/>
    <p:sldId id="366" r:id="rId4"/>
    <p:sldId id="367" r:id="rId5"/>
    <p:sldId id="368" r:id="rId6"/>
    <p:sldId id="369" r:id="rId7"/>
    <p:sldId id="370" r:id="rId8"/>
    <p:sldId id="371" r:id="rId9"/>
  </p:sldIdLst>
  <p:sldSz cx="12192000" cy="6858000"/>
  <p:notesSz cx="7010400" cy="9296400"/>
  <p:embeddedFontLst>
    <p:embeddedFont>
      <p:font typeface="Myriad Pro" panose="020B0503030403020204" charset="0"/>
      <p:regular r:id="rId11"/>
      <p:bold r:id="rId12"/>
      <p:italic r:id="rId13"/>
      <p:boldItalic r:id="rId14"/>
    </p:embeddedFont>
  </p:embeddedFontLst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93" autoAdjust="0"/>
    <p:restoredTop sz="81920" autoAdjust="0"/>
  </p:normalViewPr>
  <p:slideViewPr>
    <p:cSldViewPr>
      <p:cViewPr varScale="1">
        <p:scale>
          <a:sx n="130" d="100"/>
          <a:sy n="130" d="100"/>
        </p:scale>
        <p:origin x="1086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492CD9C-0936-4CB5-8F47-4F37A3C1BD80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8A4206-02EB-4F55-B83C-8E908C558B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639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about now?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57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7BAC1-159F-4743-3FB7-2E78EE8C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30BDB1-6CB1-193B-94C9-41FC3A6194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72F8A1-0D88-8E3C-5257-CEFECFDDA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52096-7EF3-8B8A-E218-A9E7673941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9456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4092A-0BC5-F92B-F32C-DF1CA11A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64C029-EC40-61D9-F3FD-49577A397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9F23A-E904-AACB-07DC-71171BD883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C762-078F-7B8B-2D5C-5B151370F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63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3B809-E929-31E5-877D-E16866BA9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04A513-4386-3B20-7631-40891D6AD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4895A-73B9-8B36-1540-99B55A87E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6C497-05A2-E383-54DF-B523BAA0AA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19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2A69-4321-9C91-35AE-54E4FE54C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D34A2-24DF-03A0-C45E-870516D19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7D17D-FB07-5BD8-B27E-662BA5783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1D2EE-1378-7871-48DD-A14289BE5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09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DF10-C798-29CD-39B4-EBC43FDA2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867E3-AFFC-EE06-F5A1-DE7C13CA0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9432C-8CE6-00D7-4442-ED10F3193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F6CE-2339-012D-51C7-A361EA615E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3539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602F7-59A0-9000-2844-6A31C379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ED6F3-DAC4-1855-C6E0-CF772C039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DF5F2-6496-C2EF-0317-B9BB0E799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7176F-2D03-661A-929C-386D673298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083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5053-CEEC-A737-0781-A5DD031E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6C5E5-F277-395A-8E73-3903EC361E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DC585F-AA58-46B3-1E56-A50F779B9C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 should talk about what an image is.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650E0-D695-9C23-9616-2E087B4BE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8A4206-02EB-4F55-B83C-8E908C558B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93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5C9B687F-C93F-EE5C-1289-3E4191DC85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A964C9E0-5A30-425E-F474-C0079D1058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2B698A0C-22E9-0249-B931-19143E2FBE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F79187A4-54DD-3AA2-AAE0-311F810F55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68823D55-EDE5-04C5-4C19-AA6417147B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81C6031D-889B-E5A2-5732-3CAFB3F637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ED0D367D-6224-2B06-2AE5-0B6E2C609E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80731920-53BC-6D14-AC82-53DEA84F33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 descr="文本&#10;&#10;AI 生成的内容可能不正确。">
            <a:extLst>
              <a:ext uri="{FF2B5EF4-FFF2-40B4-BE49-F238E27FC236}">
                <a16:creationId xmlns:a16="http://schemas.microsoft.com/office/drawing/2014/main" id="{216B4ABA-C646-04AE-3DF8-5F01419194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B573C1F-7572-7676-888F-071550CF7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 descr="文本&#10;&#10;AI 生成的内容可能不正确。">
            <a:extLst>
              <a:ext uri="{FF2B5EF4-FFF2-40B4-BE49-F238E27FC236}">
                <a16:creationId xmlns:a16="http://schemas.microsoft.com/office/drawing/2014/main" id="{E4DFA11F-0FC1-DE4E-3F52-85C5810EC8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30095" y="0"/>
            <a:ext cx="3161905" cy="76190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535FC9-4C7C-4839-AD87-B5CD13220982}" type="datetimeFigureOut">
              <a:rPr lang="en-US" smtClean="0"/>
              <a:pPr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41B2BE-37E8-49C8-A941-FB00A9E058C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-228600" y="1600200"/>
            <a:ext cx="12649200" cy="4572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101600" dist="762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1066800" y="2059858"/>
            <a:ext cx="101346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en-US" sz="3600" dirty="0">
                <a:latin typeface="+mj-lt"/>
                <a:ea typeface="+mj-ea"/>
                <a:cs typeface="+mj-cs"/>
              </a:rPr>
              <a:t>Tutorial 04: </a:t>
            </a:r>
            <a:r>
              <a:rPr lang="en-US" altLang="zh-CN" sz="3600" dirty="0">
                <a:latin typeface="+mj-lt"/>
                <a:ea typeface="+mj-ea"/>
                <a:cs typeface="+mj-cs"/>
              </a:rPr>
              <a:t>Classification and depth estimation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CC92BAE1-8978-479F-B372-4C39B78CD6FE}"/>
              </a:ext>
            </a:extLst>
          </p:cNvPr>
          <p:cNvSpPr txBox="1">
            <a:spLocks/>
          </p:cNvSpPr>
          <p:nvPr/>
        </p:nvSpPr>
        <p:spPr>
          <a:xfrm>
            <a:off x="-152400" y="902525"/>
            <a:ext cx="4876800" cy="926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Bef>
                <a:spcPct val="20000"/>
              </a:spcBef>
              <a:defRPr/>
            </a:pPr>
            <a:r>
              <a:rPr lang="en-US" altLang="zh-CN" sz="3200" dirty="0"/>
              <a:t>Zhu Zhiyu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C2AB0C-2963-3434-F8D8-3690258D85DF}"/>
              </a:ext>
            </a:extLst>
          </p:cNvPr>
          <p:cNvSpPr txBox="1">
            <a:spLocks/>
          </p:cNvSpPr>
          <p:nvPr/>
        </p:nvSpPr>
        <p:spPr>
          <a:xfrm>
            <a:off x="-76200" y="150875"/>
            <a:ext cx="12649200" cy="839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/>
              <a:t>CS5187: Vision &amp; Image</a:t>
            </a:r>
            <a:endParaRPr 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F400-AA32-8718-7AE4-AD0B1140E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64B0D024-E31A-0673-8668-D1D5BF79D0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13496C1F-CB90-3351-31DA-DC758A70D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DD0B2C4-803A-FF5F-6061-AD941853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12" y="1730025"/>
            <a:ext cx="10768175" cy="3093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b="1" dirty="0"/>
              <a:t>What we will cover today:</a:t>
            </a:r>
          </a:p>
          <a:p>
            <a:endParaRPr lang="en-US" altLang="zh-CN" dirty="0"/>
          </a:p>
          <a:p>
            <a:r>
              <a:rPr lang="en-US" altLang="zh-CN" dirty="0"/>
              <a:t>Introduction to the CIFAR-10 dataset.</a:t>
            </a:r>
          </a:p>
          <a:p>
            <a:endParaRPr lang="en-US" altLang="zh-CN" dirty="0"/>
          </a:p>
          <a:p>
            <a:r>
              <a:rPr lang="en-US" altLang="zh-CN" dirty="0"/>
              <a:t>Building a custom Convolutional Neural Network (CNN) from scratch.</a:t>
            </a:r>
          </a:p>
          <a:p>
            <a:endParaRPr lang="en-US" altLang="zh-CN" dirty="0"/>
          </a:p>
          <a:p>
            <a:r>
              <a:rPr lang="en-US" altLang="zh-CN" dirty="0"/>
              <a:t>Adapting a state-of-the-art Vision Transformer (</a:t>
            </a:r>
            <a:r>
              <a:rPr lang="en-US" altLang="zh-CN" dirty="0" err="1"/>
              <a:t>ViT</a:t>
            </a:r>
            <a:r>
              <a:rPr lang="en-US" altLang="zh-CN" dirty="0"/>
              <a:t>) for a custom task.</a:t>
            </a:r>
          </a:p>
          <a:p>
            <a:endParaRPr lang="en-US" altLang="zh-CN" dirty="0"/>
          </a:p>
          <a:p>
            <a:r>
              <a:rPr lang="en-US" altLang="zh-CN" dirty="0"/>
              <a:t>Understanding the differences in data processing for CNNs vs. </a:t>
            </a:r>
            <a:r>
              <a:rPr lang="en-US" altLang="zh-CN" dirty="0" err="1"/>
              <a:t>ViTs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dirty="0"/>
              <a:t>Writing a standard </a:t>
            </a:r>
            <a:r>
              <a:rPr lang="en-US" altLang="zh-CN" dirty="0" err="1"/>
              <a:t>PyTorch</a:t>
            </a:r>
            <a:r>
              <a:rPr lang="en-US" altLang="zh-CN" dirty="0"/>
              <a:t> training loop.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3BFD46F9-8076-2781-4F01-D1D4DF3A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Classification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73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5AA0-6107-2B55-6A4F-27CAEB818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15B0D0F7-F294-5E26-D52E-5E86CF9CDC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833AB01E-C434-7B41-EA87-CC0271B4DC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A3FF364-D60D-6546-8034-654545541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12" y="1868522"/>
            <a:ext cx="10768175" cy="2816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b="1" dirty="0"/>
              <a:t>What are we trying to classify?</a:t>
            </a:r>
          </a:p>
          <a:p>
            <a:endParaRPr lang="en-US" altLang="zh-CN" dirty="0"/>
          </a:p>
          <a:p>
            <a:r>
              <a:rPr lang="en-US" altLang="zh-CN" b="1" dirty="0"/>
              <a:t>The Dataset:</a:t>
            </a:r>
            <a:r>
              <a:rPr lang="en-US" altLang="zh-CN" dirty="0"/>
              <a:t> 60,000 color images (50,000 for training, 10,000 for testing).</a:t>
            </a:r>
          </a:p>
          <a:p>
            <a:endParaRPr lang="en-US" altLang="zh-CN" dirty="0"/>
          </a:p>
          <a:p>
            <a:r>
              <a:rPr lang="en-US" altLang="zh-CN" b="1" dirty="0"/>
              <a:t>The Classes:</a:t>
            </a:r>
            <a:r>
              <a:rPr lang="en-US" altLang="zh-CN" dirty="0"/>
              <a:t> 10 distinct categories (airplanes, cars, birds, cats, deer, dogs, frogs, horses, ships, trucks).</a:t>
            </a:r>
          </a:p>
          <a:p>
            <a:endParaRPr lang="en-US" altLang="zh-CN" dirty="0"/>
          </a:p>
          <a:p>
            <a:r>
              <a:rPr lang="en-US" altLang="zh-CN" b="1" dirty="0"/>
              <a:t>The Challenge:</a:t>
            </a:r>
            <a:r>
              <a:rPr lang="en-US" altLang="zh-CN" dirty="0"/>
              <a:t> The images are incredibly small—only </a:t>
            </a:r>
            <a:r>
              <a:rPr lang="en-US" altLang="zh-CN" b="1" dirty="0"/>
              <a:t>32x32 pixels</a:t>
            </a:r>
            <a:r>
              <a:rPr lang="en-US" altLang="zh-CN" dirty="0"/>
              <a:t>.</a:t>
            </a:r>
          </a:p>
          <a:p>
            <a:endParaRPr lang="en-US" altLang="zh-CN" dirty="0"/>
          </a:p>
          <a:p>
            <a:r>
              <a:rPr lang="en-US" altLang="zh-CN" b="1" dirty="0"/>
              <a:t>Why it matters:</a:t>
            </a:r>
            <a:r>
              <a:rPr lang="en-US" altLang="zh-CN" dirty="0"/>
              <a:t> The low resolution forces our neural networks to learn highly efficient feature representations to tell a dog apart from a cat.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41E73D0C-5AAE-FACA-7283-38B7B3F3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Classification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83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35B3-9B7D-F627-D3F1-395D1DF2E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CB57528F-9966-2F36-E1C2-B622AE1665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799FAE79-81A8-F183-8885-C13606AE31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F6A3575-E895-1D7D-9AA4-9FA1CEA84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Classification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AE5E7E-1CDF-5D6D-5C05-70557777A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576880"/>
            <a:ext cx="10896600" cy="324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b="1" dirty="0">
                <a:latin typeface="Arial" panose="020B0604020202020204" pitchFamily="34" charset="0"/>
                <a:ea typeface="Google Sans Text"/>
              </a:rPr>
              <a:t>CNN</a:t>
            </a:r>
            <a:endParaRPr kumimoji="0" lang="en-US" altLang="zh-CN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How it works: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Uses sliding windows (filters/kernels) to detect local patterns like edges, corners, and textures.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Architecture: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Layers of Convolutions $\rightarrow$ Pooling (downsizing) $\rightarrow$ Fully Connected (Classification) Layers.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Why it fits CIFAR-10: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Google Sans Text"/>
              </a:rPr>
              <a:t> CNNs are naturally suited for 32x32 images. They are computationally lightweight and train quickly from scratch on smaller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903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6E99E-8C1D-973A-6B77-AEE0AB60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4929D7FD-0702-FB92-69B2-769A3AFCE7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7FEFBB33-06C4-1C2A-9495-269A26EA4F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B7CEE951-BAE7-3078-E82D-767D110DD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Classification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3E0416-900D-2CAA-F4FC-8F55CAEC2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40837"/>
            <a:ext cx="10896600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 b="1" dirty="0"/>
              <a:t>The Modern State-of-the-Art</a:t>
            </a:r>
          </a:p>
          <a:p>
            <a:endParaRPr lang="en-US" altLang="zh-CN" sz="2800" dirty="0"/>
          </a:p>
          <a:p>
            <a:r>
              <a:rPr lang="en-US" altLang="zh-CN" sz="2800" b="1" dirty="0"/>
              <a:t>How it works:</a:t>
            </a:r>
            <a:r>
              <a:rPr lang="en-US" altLang="zh-CN" sz="2800" dirty="0"/>
              <a:t> Inspired by Natural Language Processing. It treats an image like a sentence.</a:t>
            </a:r>
          </a:p>
          <a:p>
            <a:endParaRPr lang="en-US" altLang="zh-CN" sz="2800" dirty="0"/>
          </a:p>
          <a:p>
            <a:r>
              <a:rPr lang="en-US" altLang="zh-CN" sz="2800" b="1" dirty="0"/>
              <a:t>Patching:</a:t>
            </a:r>
            <a:r>
              <a:rPr lang="en-US" altLang="zh-CN" sz="2800" dirty="0"/>
              <a:t> The image is chopped into a grid of smaller "patches" (usually 16x16 pixels).</a:t>
            </a:r>
          </a:p>
          <a:p>
            <a:endParaRPr lang="en-US" altLang="zh-CN" sz="2800" dirty="0"/>
          </a:p>
          <a:p>
            <a:r>
              <a:rPr lang="en-US" altLang="zh-CN" sz="2800" b="1" dirty="0"/>
              <a:t>Attention:</a:t>
            </a:r>
            <a:r>
              <a:rPr lang="en-US" altLang="zh-CN" sz="2800" dirty="0"/>
              <a:t> Instead of local filters, </a:t>
            </a:r>
            <a:r>
              <a:rPr lang="en-US" altLang="zh-CN" sz="2800" dirty="0" err="1"/>
              <a:t>ViTs</a:t>
            </a:r>
            <a:r>
              <a:rPr lang="en-US" altLang="zh-CN" sz="2800" dirty="0"/>
              <a:t> use "Self-Attention" to look at the entire image at once and see how every patch relates to every other patch.</a:t>
            </a:r>
          </a:p>
        </p:txBody>
      </p:sp>
    </p:spTree>
    <p:extLst>
      <p:ext uri="{BB962C8B-B14F-4D97-AF65-F5344CB8AC3E}">
        <p14:creationId xmlns:p14="http://schemas.microsoft.com/office/powerpoint/2010/main" val="422338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4F99-48F9-3083-42F5-E54ABDF72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FBA1716F-437D-611B-1E0C-4859A6FA08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45587861-1155-F641-44D9-4B9B82687A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EA010492-3628-0E28-6FD7-AB8E136C7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Classification</a:t>
            </a:r>
            <a:endParaRPr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8B283F-D671-0A3B-4031-0BBDECAC5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184792"/>
            <a:ext cx="1089660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 b="1" dirty="0"/>
              <a:t>Refer to the supplemented code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747712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7C1E-A882-16C9-E8CC-0720CE520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8CE1FE8A-6F0A-FAB1-7B97-18C40193BE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89AAF216-DA94-6084-CEDB-1281E8B090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1D7CD3C-47BA-7243-7342-FE873B4E4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 dirty="0"/>
              <a:t>Neural Network Depth Estimation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3602EEB-26E8-52E4-8215-3AB340DDE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838505"/>
            <a:ext cx="8361905" cy="28761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09144B2-A9F4-A20C-50F5-A01A85803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4714695"/>
            <a:ext cx="6638095" cy="20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560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6D963-7CE6-30F6-360E-B8C22CC3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所上传图片的预览图">
            <a:extLst>
              <a:ext uri="{FF2B5EF4-FFF2-40B4-BE49-F238E27FC236}">
                <a16:creationId xmlns:a16="http://schemas.microsoft.com/office/drawing/2014/main" id="{D3D6D550-0E3E-EA04-4DD5-AA9E06EECF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AutoShape 4" descr="以灯箱形式呈现的所选图片。">
            <a:extLst>
              <a:ext uri="{FF2B5EF4-FFF2-40B4-BE49-F238E27FC236}">
                <a16:creationId xmlns:a16="http://schemas.microsoft.com/office/drawing/2014/main" id="{BE157C58-6618-423A-53E1-05C3333DF7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5AB5918D-E7A9-6E37-DF94-64E60027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Neural Network Depth Estimation</a:t>
            </a:r>
            <a:endParaRPr lang="zh-CN" alt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440F6C1-5C9A-7639-4F79-DC07D862E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184792"/>
            <a:ext cx="10896600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 b="1" dirty="0"/>
              <a:t>Refer to the supplemented code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89656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0.1.2417"/>
  <p:tag name="SLIDO_PRESENTATION_ID" val="00000000-0000-0000-0000-000000000000"/>
  <p:tag name="SLIDO_EVENT_UUID" val="baeeb243-f206-4952-918c-5114a999c778"/>
  <p:tag name="SLIDO_EVENT_SECTION_UUID" val="1215a003-dcac-47bc-987c-b0811644e8f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yriad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12345</TotalTime>
  <Words>439</Words>
  <Application>Microsoft Office PowerPoint</Application>
  <PresentationFormat>宽屏</PresentationFormat>
  <Paragraphs>62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Myriad Pro</vt:lpstr>
      <vt:lpstr>Office Theme</vt:lpstr>
      <vt:lpstr>PowerPoint 演示文稿</vt:lpstr>
      <vt:lpstr>（1）Classification</vt:lpstr>
      <vt:lpstr>（1）Classification</vt:lpstr>
      <vt:lpstr>（1）Classification</vt:lpstr>
      <vt:lpstr>（1）Classification</vt:lpstr>
      <vt:lpstr>（1）Classification</vt:lpstr>
      <vt:lpstr>（2）Neural Network Depth Estimation</vt:lpstr>
      <vt:lpstr>（2）Neural Network Depth Estimation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Images and image filtering</dc:title>
  <dc:creator>Noah Snavely</dc:creator>
  <cp:lastModifiedBy>Zhiyu ZHU 朱智宇</cp:lastModifiedBy>
  <cp:revision>296</cp:revision>
  <dcterms:created xsi:type="dcterms:W3CDTF">2009-08-25T02:47:59Z</dcterms:created>
  <dcterms:modified xsi:type="dcterms:W3CDTF">2026-03-16T15:00:26Z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1.0.1.2417</vt:lpwstr>
  </property>
</Properties>
</file>