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5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6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7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8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9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0.xml" ContentType="application/vnd.openxmlformats-officedocument.presentationml.notesSlide+xml"/>
  <Override PartName="/ppt/tags/tag65.xml" ContentType="application/vnd.openxmlformats-officedocument.presentationml.tags+xml"/>
  <Override PartName="/ppt/notesSlides/notesSlide11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12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13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14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15.xml" ContentType="application/vnd.openxmlformats-officedocument.presentationml.notesSlid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notesSlides/notesSlide16.xml" ContentType="application/vnd.openxmlformats-officedocument.presentationml.notesSlide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notesSlides/notesSlide17.xml" ContentType="application/vnd.openxmlformats-officedocument.presentationml.notesSlide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notesSlides/notesSlide18.xml" ContentType="application/vnd.openxmlformats-officedocument.presentationml.notesSlid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notesSlides/notesSlide19.xml" ContentType="application/vnd.openxmlformats-officedocument.presentationml.notesSlide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678" r:id="rId2"/>
    <p:sldId id="749" r:id="rId3"/>
    <p:sldId id="815" r:id="rId4"/>
    <p:sldId id="1586" r:id="rId5"/>
    <p:sldId id="797" r:id="rId6"/>
    <p:sldId id="751" r:id="rId7"/>
    <p:sldId id="1590" r:id="rId8"/>
    <p:sldId id="752" r:id="rId9"/>
    <p:sldId id="753" r:id="rId10"/>
    <p:sldId id="813" r:id="rId11"/>
    <p:sldId id="754" r:id="rId12"/>
    <p:sldId id="755" r:id="rId13"/>
    <p:sldId id="756" r:id="rId14"/>
    <p:sldId id="757" r:id="rId15"/>
    <p:sldId id="758" r:id="rId16"/>
    <p:sldId id="798" r:id="rId17"/>
    <p:sldId id="799" r:id="rId18"/>
    <p:sldId id="800" r:id="rId19"/>
    <p:sldId id="810" r:id="rId20"/>
    <p:sldId id="801" r:id="rId21"/>
    <p:sldId id="802" r:id="rId22"/>
    <p:sldId id="803" r:id="rId23"/>
    <p:sldId id="1594" r:id="rId24"/>
    <p:sldId id="761" r:id="rId25"/>
    <p:sldId id="763" r:id="rId26"/>
    <p:sldId id="1829" r:id="rId27"/>
    <p:sldId id="762" r:id="rId28"/>
    <p:sldId id="764" r:id="rId29"/>
    <p:sldId id="811" r:id="rId30"/>
    <p:sldId id="766" r:id="rId31"/>
    <p:sldId id="767" r:id="rId32"/>
    <p:sldId id="768" r:id="rId33"/>
    <p:sldId id="769" r:id="rId34"/>
    <p:sldId id="770" r:id="rId35"/>
    <p:sldId id="1591" r:id="rId36"/>
    <p:sldId id="1830" r:id="rId37"/>
    <p:sldId id="812" r:id="rId38"/>
  </p:sldIdLst>
  <p:sldSz cx="12192000" cy="6858000"/>
  <p:notesSz cx="7010400" cy="9296400"/>
  <p:embeddedFontLst>
    <p:embeddedFont>
      <p:font typeface="Myriad Pro" panose="020B0503030403020204" charset="0"/>
      <p:regular r:id="rId41"/>
      <p:bold r:id="rId42"/>
      <p:italic r:id="rId43"/>
      <p:boldItalic r:id="rId44"/>
    </p:embeddedFont>
    <p:embeddedFont>
      <p:font typeface="Narkisim" panose="020E0502050101010101" pitchFamily="34" charset="-79"/>
      <p:regular r:id="rId45"/>
    </p:embeddedFont>
  </p:embeddedFontLst>
  <p:custDataLst>
    <p:tags r:id="rId4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CE1"/>
    <a:srgbClr val="00FF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76" autoAdjust="0"/>
    <p:restoredTop sz="95299" autoAdjust="0"/>
  </p:normalViewPr>
  <p:slideViewPr>
    <p:cSldViewPr>
      <p:cViewPr varScale="1">
        <p:scale>
          <a:sx n="149" d="100"/>
          <a:sy n="149" d="100"/>
        </p:scale>
        <p:origin x="228" y="12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09C86-0DB4-461E-B411-3132234C96B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552C4-BC4B-4C71-991C-7B2020479D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8473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492CD9C-0936-4CB5-8F47-4F37A3C1BD80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A8A4206-02EB-4F55-B83C-8E908C558B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4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5CA6A4-D76F-804D-9E0A-7D6B0F4A594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214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smaller window:  more detail, more noise</a:t>
            </a:r>
          </a:p>
          <a:p>
            <a:r>
              <a:rPr lang="en-US"/>
              <a:t>bigger window:  less noise, more detail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E04D83-66F1-4C1E-BBD3-568980D41128}" type="slidenum">
              <a:rPr lang="en-US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5375" cy="3475037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112" y="4419172"/>
            <a:ext cx="5142177" cy="4179383"/>
          </a:xfrm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103632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914400"/>
            <a:ext cx="50800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914400"/>
            <a:ext cx="5080000" cy="255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619500"/>
            <a:ext cx="5080000" cy="255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102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558655-9C51-498F-A883-7D3BA30CE77B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910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35FC9-4C7C-4839-AD87-B5CD13220982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utostereogram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image" Target="../media/image2.jpe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phy.com/gifs/wigglegram-706pNfSKyaDug" TargetMode="External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5.jpe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tereo.nypl.org/view/41729" TargetMode="External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hyperlink" Target="http://www.middlebury.edu/stereo/" TargetMode="External"/><Relationship Id="rId4" Type="http://schemas.openxmlformats.org/officeDocument/2006/relationships/notesSlide" Target="../notesSlides/notesSlide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18" Type="http://schemas.openxmlformats.org/officeDocument/2006/relationships/image" Target="../media/image5.jpeg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17" Type="http://schemas.openxmlformats.org/officeDocument/2006/relationships/notesSlide" Target="../notesSlides/notesSlide5.xml"/><Relationship Id="rId2" Type="http://schemas.openxmlformats.org/officeDocument/2006/relationships/tags" Target="../tags/tag15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tags" Target="../tags/tag28.xml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tags" Target="../tags/tag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13" Type="http://schemas.openxmlformats.org/officeDocument/2006/relationships/image" Target="../media/image8.png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12" Type="http://schemas.openxmlformats.org/officeDocument/2006/relationships/notesSlide" Target="../notesSlides/notesSlide6.xml"/><Relationship Id="rId2" Type="http://schemas.openxmlformats.org/officeDocument/2006/relationships/tags" Target="../tags/tag30.xml"/><Relationship Id="rId16" Type="http://schemas.openxmlformats.org/officeDocument/2006/relationships/hyperlink" Target="http://www.cs.washington.edu/education/courses/cse590ss/01wi/notes/papers/ScharsteinSzeliskiIJCV98.pdf" TargetMode="Externa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33.xml"/><Relationship Id="rId15" Type="http://schemas.openxmlformats.org/officeDocument/2006/relationships/hyperlink" Target="http://www.cs.cmu.edu/~ph/869/papers/kanade-okutomi.pdf" TargetMode="External"/><Relationship Id="rId10" Type="http://schemas.openxmlformats.org/officeDocument/2006/relationships/tags" Target="../tags/tag38.xml"/><Relationship Id="rId4" Type="http://schemas.openxmlformats.org/officeDocument/2006/relationships/tags" Target="../tags/tag32.xml"/><Relationship Id="rId9" Type="http://schemas.openxmlformats.org/officeDocument/2006/relationships/tags" Target="../tags/tag37.xml"/><Relationship Id="rId1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3" Type="http://schemas.openxmlformats.org/officeDocument/2006/relationships/tags" Target="../tags/tag4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10" Type="http://schemas.openxmlformats.org/officeDocument/2006/relationships/image" Target="../media/image11.png"/><Relationship Id="rId4" Type="http://schemas.openxmlformats.org/officeDocument/2006/relationships/tags" Target="../tags/tag42.xml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tags" Target="../tags/tag47.xml"/><Relationship Id="rId7" Type="http://schemas.openxmlformats.org/officeDocument/2006/relationships/notesSlide" Target="../notesSlides/notesSlide8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5" Type="http://schemas.openxmlformats.org/officeDocument/2006/relationships/tags" Target="../tags/tag49.xml"/><Relationship Id="rId10" Type="http://schemas.openxmlformats.org/officeDocument/2006/relationships/oleObject" Target="../embeddings/oleObject2.bin"/><Relationship Id="rId4" Type="http://schemas.openxmlformats.org/officeDocument/2006/relationships/tags" Target="../tags/tag48.xml"/><Relationship Id="rId9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13" Type="http://schemas.openxmlformats.org/officeDocument/2006/relationships/hyperlink" Target="http://www.middlebury.edu/stereo/" TargetMode="External"/><Relationship Id="rId3" Type="http://schemas.openxmlformats.org/officeDocument/2006/relationships/tags" Target="../tags/tag52.xml"/><Relationship Id="rId7" Type="http://schemas.openxmlformats.org/officeDocument/2006/relationships/slideLayout" Target="../slideLayouts/slideLayout2.xml"/><Relationship Id="rId12" Type="http://schemas.openxmlformats.org/officeDocument/2006/relationships/hyperlink" Target="http://www.cs.cornell.edu/rdz/Papers/BVZ-iccv99.pdf" TargetMode="Externa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image" Target="../media/image12.png"/><Relationship Id="rId5" Type="http://schemas.openxmlformats.org/officeDocument/2006/relationships/tags" Target="../tags/tag54.xml"/><Relationship Id="rId10" Type="http://schemas.openxmlformats.org/officeDocument/2006/relationships/oleObject" Target="../embeddings/oleObject3.bin"/><Relationship Id="rId4" Type="http://schemas.openxmlformats.org/officeDocument/2006/relationships/tags" Target="../tags/tag53.xml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63.xml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12" Type="http://schemas.openxmlformats.org/officeDocument/2006/relationships/image" Target="../media/image5.jpe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notesSlide" Target="../notesSlides/notesSlide10.xml"/><Relationship Id="rId5" Type="http://schemas.openxmlformats.org/officeDocument/2006/relationships/tags" Target="../tags/tag60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59.xml"/><Relationship Id="rId9" Type="http://schemas.openxmlformats.org/officeDocument/2006/relationships/tags" Target="../tags/tag6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73.xml"/><Relationship Id="rId13" Type="http://schemas.openxmlformats.org/officeDocument/2006/relationships/tags" Target="../tags/tag78.xml"/><Relationship Id="rId18" Type="http://schemas.openxmlformats.org/officeDocument/2006/relationships/tags" Target="../tags/tag83.xml"/><Relationship Id="rId26" Type="http://schemas.openxmlformats.org/officeDocument/2006/relationships/tags" Target="../tags/tag91.xml"/><Relationship Id="rId3" Type="http://schemas.openxmlformats.org/officeDocument/2006/relationships/tags" Target="../tags/tag68.xml"/><Relationship Id="rId21" Type="http://schemas.openxmlformats.org/officeDocument/2006/relationships/tags" Target="../tags/tag86.xml"/><Relationship Id="rId7" Type="http://schemas.openxmlformats.org/officeDocument/2006/relationships/tags" Target="../tags/tag72.xml"/><Relationship Id="rId12" Type="http://schemas.openxmlformats.org/officeDocument/2006/relationships/tags" Target="../tags/tag77.xml"/><Relationship Id="rId17" Type="http://schemas.openxmlformats.org/officeDocument/2006/relationships/tags" Target="../tags/tag82.xml"/><Relationship Id="rId25" Type="http://schemas.openxmlformats.org/officeDocument/2006/relationships/tags" Target="../tags/tag90.xml"/><Relationship Id="rId2" Type="http://schemas.openxmlformats.org/officeDocument/2006/relationships/tags" Target="../tags/tag67.xml"/><Relationship Id="rId16" Type="http://schemas.openxmlformats.org/officeDocument/2006/relationships/tags" Target="../tags/tag81.xml"/><Relationship Id="rId20" Type="http://schemas.openxmlformats.org/officeDocument/2006/relationships/tags" Target="../tags/tag85.xml"/><Relationship Id="rId29" Type="http://schemas.openxmlformats.org/officeDocument/2006/relationships/notesSlide" Target="../notesSlides/notesSlide12.xml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11" Type="http://schemas.openxmlformats.org/officeDocument/2006/relationships/tags" Target="../tags/tag76.xml"/><Relationship Id="rId24" Type="http://schemas.openxmlformats.org/officeDocument/2006/relationships/tags" Target="../tags/tag89.xml"/><Relationship Id="rId5" Type="http://schemas.openxmlformats.org/officeDocument/2006/relationships/tags" Target="../tags/tag70.xml"/><Relationship Id="rId15" Type="http://schemas.openxmlformats.org/officeDocument/2006/relationships/tags" Target="../tags/tag80.xml"/><Relationship Id="rId23" Type="http://schemas.openxmlformats.org/officeDocument/2006/relationships/tags" Target="../tags/tag88.xml"/><Relationship Id="rId28" Type="http://schemas.openxmlformats.org/officeDocument/2006/relationships/slideLayout" Target="../slideLayouts/slideLayout2.xml"/><Relationship Id="rId10" Type="http://schemas.openxmlformats.org/officeDocument/2006/relationships/tags" Target="../tags/tag75.xml"/><Relationship Id="rId19" Type="http://schemas.openxmlformats.org/officeDocument/2006/relationships/tags" Target="../tags/tag84.xml"/><Relationship Id="rId4" Type="http://schemas.openxmlformats.org/officeDocument/2006/relationships/tags" Target="../tags/tag69.xml"/><Relationship Id="rId9" Type="http://schemas.openxmlformats.org/officeDocument/2006/relationships/tags" Target="../tags/tag74.xml"/><Relationship Id="rId14" Type="http://schemas.openxmlformats.org/officeDocument/2006/relationships/tags" Target="../tags/tag79.xml"/><Relationship Id="rId22" Type="http://schemas.openxmlformats.org/officeDocument/2006/relationships/tags" Target="../tags/tag87.xml"/><Relationship Id="rId27" Type="http://schemas.openxmlformats.org/officeDocument/2006/relationships/tags" Target="../tags/tag92.xml"/><Relationship Id="rId30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cs.cmu.edu/~meteorite/" TargetMode="External"/><Relationship Id="rId3" Type="http://schemas.openxmlformats.org/officeDocument/2006/relationships/tags" Target="../tags/tag99.xml"/><Relationship Id="rId7" Type="http://schemas.openxmlformats.org/officeDocument/2006/relationships/image" Target="../media/image30.jpeg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0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108.xml"/><Relationship Id="rId13" Type="http://schemas.openxmlformats.org/officeDocument/2006/relationships/tags" Target="../tags/tag113.xml"/><Relationship Id="rId18" Type="http://schemas.openxmlformats.org/officeDocument/2006/relationships/tags" Target="../tags/tag118.xml"/><Relationship Id="rId26" Type="http://schemas.openxmlformats.org/officeDocument/2006/relationships/oleObject" Target="../embeddings/oleObject4.bin"/><Relationship Id="rId3" Type="http://schemas.openxmlformats.org/officeDocument/2006/relationships/tags" Target="../tags/tag103.xml"/><Relationship Id="rId21" Type="http://schemas.openxmlformats.org/officeDocument/2006/relationships/tags" Target="../tags/tag121.xml"/><Relationship Id="rId7" Type="http://schemas.openxmlformats.org/officeDocument/2006/relationships/tags" Target="../tags/tag107.xml"/><Relationship Id="rId12" Type="http://schemas.openxmlformats.org/officeDocument/2006/relationships/tags" Target="../tags/tag112.xml"/><Relationship Id="rId17" Type="http://schemas.openxmlformats.org/officeDocument/2006/relationships/tags" Target="../tags/tag117.xml"/><Relationship Id="rId25" Type="http://schemas.openxmlformats.org/officeDocument/2006/relationships/notesSlide" Target="../notesSlides/notesSlide15.xml"/><Relationship Id="rId2" Type="http://schemas.openxmlformats.org/officeDocument/2006/relationships/tags" Target="../tags/tag102.xml"/><Relationship Id="rId16" Type="http://schemas.openxmlformats.org/officeDocument/2006/relationships/tags" Target="../tags/tag116.xml"/><Relationship Id="rId20" Type="http://schemas.openxmlformats.org/officeDocument/2006/relationships/tags" Target="../tags/tag120.xml"/><Relationship Id="rId29" Type="http://schemas.microsoft.com/office/2007/relationships/hdphoto" Target="../media/hdphoto1.wdp"/><Relationship Id="rId1" Type="http://schemas.openxmlformats.org/officeDocument/2006/relationships/tags" Target="../tags/tag101.xml"/><Relationship Id="rId6" Type="http://schemas.openxmlformats.org/officeDocument/2006/relationships/tags" Target="../tags/tag106.xml"/><Relationship Id="rId11" Type="http://schemas.openxmlformats.org/officeDocument/2006/relationships/tags" Target="../tags/tag111.xml"/><Relationship Id="rId24" Type="http://schemas.openxmlformats.org/officeDocument/2006/relationships/slideLayout" Target="../slideLayouts/slideLayout2.xml"/><Relationship Id="rId5" Type="http://schemas.openxmlformats.org/officeDocument/2006/relationships/tags" Target="../tags/tag105.xml"/><Relationship Id="rId15" Type="http://schemas.openxmlformats.org/officeDocument/2006/relationships/tags" Target="../tags/tag115.xml"/><Relationship Id="rId23" Type="http://schemas.openxmlformats.org/officeDocument/2006/relationships/tags" Target="../tags/tag123.xml"/><Relationship Id="rId28" Type="http://schemas.openxmlformats.org/officeDocument/2006/relationships/image" Target="../media/image32.png"/><Relationship Id="rId10" Type="http://schemas.openxmlformats.org/officeDocument/2006/relationships/tags" Target="../tags/tag110.xml"/><Relationship Id="rId19" Type="http://schemas.openxmlformats.org/officeDocument/2006/relationships/tags" Target="../tags/tag119.xml"/><Relationship Id="rId4" Type="http://schemas.openxmlformats.org/officeDocument/2006/relationships/tags" Target="../tags/tag104.xml"/><Relationship Id="rId9" Type="http://schemas.openxmlformats.org/officeDocument/2006/relationships/tags" Target="../tags/tag109.xml"/><Relationship Id="rId14" Type="http://schemas.openxmlformats.org/officeDocument/2006/relationships/tags" Target="../tags/tag114.xml"/><Relationship Id="rId22" Type="http://schemas.openxmlformats.org/officeDocument/2006/relationships/tags" Target="../tags/tag122.xml"/><Relationship Id="rId27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ios.gadgethacks.com/news/watch-iphone-xs-30k-ir-dots-scan-your-face-0180944/" TargetMode="External"/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tags" Target="../tags/tag126.xml"/><Relationship Id="rId7" Type="http://schemas.openxmlformats.org/officeDocument/2006/relationships/notesSlide" Target="../notesSlides/notesSlide16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8.xml"/><Relationship Id="rId10" Type="http://schemas.openxmlformats.org/officeDocument/2006/relationships/hyperlink" Target="http://graphics.stanford.edu/projects/mich/" TargetMode="External"/><Relationship Id="rId4" Type="http://schemas.openxmlformats.org/officeDocument/2006/relationships/tags" Target="../tags/tag127.xml"/><Relationship Id="rId9" Type="http://schemas.openxmlformats.org/officeDocument/2006/relationships/image" Target="../media/image35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131.xml"/><Relationship Id="rId7" Type="http://schemas.openxmlformats.org/officeDocument/2006/relationships/image" Target="../media/image36.jpeg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3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image" Target="../media/image37.jpeg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138.xml"/><Relationship Id="rId7" Type="http://schemas.openxmlformats.org/officeDocument/2006/relationships/image" Target="../media/image38.png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6" Type="http://schemas.openxmlformats.org/officeDocument/2006/relationships/image" Target="../media/image39.jpeg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gif"/><Relationship Id="rId7" Type="http://schemas.openxmlformats.org/officeDocument/2006/relationships/hyperlink" Target="http://www.vision.caltech.edu/bouguetj/ICCV98/" TargetMode="External"/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ime-of-flight_camera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766609"/>
            <a:ext cx="8679600" cy="838210"/>
          </a:xfrm>
        </p:spPr>
        <p:txBody>
          <a:bodyPr>
            <a:normAutofit/>
          </a:bodyPr>
          <a:lstStyle/>
          <a:p>
            <a:pPr algn="l"/>
            <a:r>
              <a:rPr lang="en-US" sz="3200" b="0" dirty="0"/>
              <a:t>Binocular Stereo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228600" y="54020"/>
            <a:ext cx="7772400" cy="992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400" b="1" dirty="0">
                <a:latin typeface="+mj-lt"/>
                <a:ea typeface="+mj-ea"/>
                <a:cs typeface="+mj-cs"/>
              </a:rPr>
              <a:t>CS5187</a:t>
            </a:r>
            <a:r>
              <a:rPr lang="en-US" sz="4400" b="1">
                <a:latin typeface="+mj-lt"/>
                <a:ea typeface="+mj-ea"/>
                <a:cs typeface="+mj-cs"/>
              </a:rPr>
              <a:t>: Vision and Image</a:t>
            </a:r>
            <a:endParaRPr lang="en-US" sz="4400" b="1" dirty="0">
              <a:latin typeface="+mj-lt"/>
              <a:ea typeface="+mj-ea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152400" y="1600200"/>
            <a:ext cx="12496800" cy="4572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101600" dist="762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Box 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038600" y="6342315"/>
            <a:ext cx="4449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+mj-lt"/>
              </a:rPr>
              <a:t>Single image stereogram, </a:t>
            </a:r>
            <a:r>
              <a:rPr lang="en-US" sz="1200" dirty="0">
                <a:latin typeface="+mj-lt"/>
                <a:hlinkClick r:id="rId3"/>
              </a:rPr>
              <a:t>https://en.wikipedia.org/wiki/Autostereogram</a:t>
            </a:r>
            <a:endParaRPr lang="en-US" sz="12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C798ED-574D-4B54-831C-E25CD7375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999" y="2514600"/>
            <a:ext cx="7620000" cy="381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CFA21F-256D-40E5-A74B-23CFD6759055}"/>
              </a:ext>
            </a:extLst>
          </p:cNvPr>
          <p:cNvSpPr txBox="1"/>
          <p:nvPr/>
        </p:nvSpPr>
        <p:spPr>
          <a:xfrm>
            <a:off x="2338122" y="2145268"/>
            <a:ext cx="1471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this?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524000" y="0"/>
            <a:ext cx="9144000" cy="68580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12291" name="Picture 3" descr="X11252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038600" y="457200"/>
            <a:ext cx="4173538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2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313488" y="857250"/>
            <a:ext cx="4902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2293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492500" y="6156326"/>
            <a:ext cx="5270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rial" charset="0"/>
              </a:rPr>
              <a:t>“Mark Twain at Pool Table", no date, UCR Museum of Photography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082" name="Picture 2" descr="Image result for wigglegram">
            <a:extLst>
              <a:ext uri="{FF2B5EF4-FFF2-40B4-BE49-F238E27FC236}">
                <a16:creationId xmlns:a16="http://schemas.microsoft.com/office/drawing/2014/main" id="{CAEFCF39-E626-4A50-91DD-B9EADF27747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70" y="1828802"/>
            <a:ext cx="2473260" cy="3200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2A6C53D-D601-4742-BD61-39207A3672A0}"/>
              </a:ext>
            </a:extLst>
          </p:cNvPr>
          <p:cNvSpPr/>
          <p:nvPr/>
        </p:nvSpPr>
        <p:spPr>
          <a:xfrm>
            <a:off x="3352800" y="5181600"/>
            <a:ext cx="5486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https://giphy.com/gifs/wigglegram-706pNfSKyaDug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380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F8E5491C-AA43-AB4D-A482-0578272A9760}"/>
              </a:ext>
            </a:extLst>
          </p:cNvPr>
          <p:cNvGrpSpPr/>
          <p:nvPr/>
        </p:nvGrpSpPr>
        <p:grpSpPr>
          <a:xfrm>
            <a:off x="7427156" y="2131032"/>
            <a:ext cx="2332893" cy="3116220"/>
            <a:chOff x="7427156" y="2131032"/>
            <a:chExt cx="2332893" cy="3116220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18B4C43-485B-C04B-90C5-4DC8EEAC905F}"/>
                </a:ext>
              </a:extLst>
            </p:cNvPr>
            <p:cNvCxnSpPr>
              <a:cxnSpLocks/>
              <a:endCxn id="18" idx="4"/>
            </p:cNvCxnSpPr>
            <p:nvPr/>
          </p:nvCxnSpPr>
          <p:spPr>
            <a:xfrm flipV="1">
              <a:off x="7427156" y="2173512"/>
              <a:ext cx="319824" cy="3073738"/>
            </a:xfrm>
            <a:prstGeom prst="straightConnector1">
              <a:avLst/>
            </a:prstGeom>
            <a:ln w="76200">
              <a:solidFill>
                <a:schemeClr val="accent1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1ABE7F2-E29C-6641-830D-F6E5E7A401FA}"/>
                </a:ext>
              </a:extLst>
            </p:cNvPr>
            <p:cNvCxnSpPr>
              <a:cxnSpLocks/>
              <a:endCxn id="18" idx="5"/>
            </p:cNvCxnSpPr>
            <p:nvPr/>
          </p:nvCxnSpPr>
          <p:spPr>
            <a:xfrm flipH="1" flipV="1">
              <a:off x="7849535" y="2131032"/>
              <a:ext cx="1910514" cy="3116220"/>
            </a:xfrm>
            <a:prstGeom prst="straightConnector1">
              <a:avLst/>
            </a:prstGeom>
            <a:ln w="76200">
              <a:solidFill>
                <a:schemeClr val="accent1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C2FDAA-9332-FE4E-8340-81EB99A0B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721" y="1953700"/>
            <a:ext cx="6243113" cy="4903335"/>
          </a:xfrm>
        </p:spPr>
        <p:txBody>
          <a:bodyPr/>
          <a:lstStyle/>
          <a:p>
            <a:r>
              <a:rPr lang="en-US" dirty="0"/>
              <a:t>An object point will project to some point in our image</a:t>
            </a:r>
          </a:p>
          <a:p>
            <a:r>
              <a:rPr lang="en-US" dirty="0"/>
              <a:t>That image point corresponds to a ray in the world</a:t>
            </a:r>
          </a:p>
          <a:p>
            <a:r>
              <a:rPr lang="en-US" dirty="0"/>
              <a:t>Two rays intersect at a single point, so if we want to localize points in 3D we need 2 eyes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C0A8BC-5CD6-F240-8E77-414389AE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6629400" cy="1679062"/>
          </a:xfrm>
        </p:spPr>
        <p:txBody>
          <a:bodyPr>
            <a:normAutofit/>
          </a:bodyPr>
          <a:lstStyle/>
          <a:p>
            <a:r>
              <a:rPr lang="en-US" dirty="0"/>
              <a:t>Stereo Vision as Localizing Points in 3D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965B559-EE1E-8C43-9FD2-272854211A00}"/>
              </a:ext>
            </a:extLst>
          </p:cNvPr>
          <p:cNvSpPr/>
          <p:nvPr/>
        </p:nvSpPr>
        <p:spPr>
          <a:xfrm>
            <a:off x="9098281" y="787617"/>
            <a:ext cx="290070" cy="29007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3E00C6D-C601-9444-83F5-7A88AAB612A4}"/>
              </a:ext>
            </a:extLst>
          </p:cNvPr>
          <p:cNvSpPr/>
          <p:nvPr/>
        </p:nvSpPr>
        <p:spPr>
          <a:xfrm>
            <a:off x="7601945" y="1883442"/>
            <a:ext cx="290070" cy="29007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5BEBA2C-C4A1-0D45-BA27-151602716B7E}"/>
              </a:ext>
            </a:extLst>
          </p:cNvPr>
          <p:cNvGrpSpPr/>
          <p:nvPr/>
        </p:nvGrpSpPr>
        <p:grpSpPr>
          <a:xfrm>
            <a:off x="7422517" y="1077687"/>
            <a:ext cx="2337531" cy="4169563"/>
            <a:chOff x="7422517" y="1077687"/>
            <a:chExt cx="2337531" cy="4169563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367C5FB-13DC-A842-8BC2-BCD7BD35B644}"/>
                </a:ext>
              </a:extLst>
            </p:cNvPr>
            <p:cNvCxnSpPr>
              <a:cxnSpLocks/>
              <a:endCxn id="17" idx="4"/>
            </p:cNvCxnSpPr>
            <p:nvPr/>
          </p:nvCxnSpPr>
          <p:spPr>
            <a:xfrm flipV="1">
              <a:off x="7422517" y="1077687"/>
              <a:ext cx="1820799" cy="4169563"/>
            </a:xfrm>
            <a:prstGeom prst="straightConnector1">
              <a:avLst/>
            </a:prstGeom>
            <a:ln w="76200">
              <a:solidFill>
                <a:schemeClr val="accent6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09177F9-2C79-C848-8455-DC15D48D38B6}"/>
                </a:ext>
              </a:extLst>
            </p:cNvPr>
            <p:cNvCxnSpPr>
              <a:cxnSpLocks/>
              <a:endCxn id="17" idx="4"/>
            </p:cNvCxnSpPr>
            <p:nvPr/>
          </p:nvCxnSpPr>
          <p:spPr>
            <a:xfrm flipH="1" flipV="1">
              <a:off x="9243316" y="1077687"/>
              <a:ext cx="516732" cy="4169563"/>
            </a:xfrm>
            <a:prstGeom prst="straightConnector1">
              <a:avLst/>
            </a:prstGeom>
            <a:ln w="76200">
              <a:solidFill>
                <a:schemeClr val="accent6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AE6EB0DC-3F52-B545-8F28-7A5450148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389" y="4829523"/>
            <a:ext cx="1323535" cy="1323535"/>
          </a:xfrm>
          <a:prstGeom prst="rect">
            <a:avLst/>
          </a:prstGeom>
        </p:spPr>
      </p:pic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8001C197-ECB9-B64C-B147-72E7E8E9D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1" y="4829523"/>
            <a:ext cx="1323535" cy="132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28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lincoln_full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81400" y="1905001"/>
            <a:ext cx="5029200" cy="289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Stereo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981200" y="5029200"/>
            <a:ext cx="8305800" cy="15240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Given two images from different viewpoints</a:t>
            </a:r>
          </a:p>
          <a:p>
            <a:pPr lvl="1"/>
            <a:r>
              <a:rPr lang="en-US" dirty="0"/>
              <a:t>How can we compute the depth of each point in the image?</a:t>
            </a:r>
          </a:p>
          <a:p>
            <a:pPr lvl="1"/>
            <a:r>
              <a:rPr lang="en-US" dirty="0"/>
              <a:t>Based on </a:t>
            </a:r>
            <a:r>
              <a:rPr lang="en-US" i="1" dirty="0"/>
              <a:t>how much each pixel moves</a:t>
            </a:r>
            <a:r>
              <a:rPr lang="en-US" dirty="0"/>
              <a:t> between the two images</a:t>
            </a:r>
          </a:p>
        </p:txBody>
      </p:sp>
    </p:spTree>
    <p:extLst>
      <p:ext uri="{BB962C8B-B14F-4D97-AF65-F5344CB8AC3E}">
        <p14:creationId xmlns:p14="http://schemas.microsoft.com/office/powerpoint/2010/main" val="3207804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lincoln_full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581400" y="1905001"/>
            <a:ext cx="5029200" cy="289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Line 6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3581400" y="3962400"/>
            <a:ext cx="5029200" cy="0"/>
          </a:xfrm>
          <a:prstGeom prst="line">
            <a:avLst/>
          </a:prstGeom>
          <a:noFill/>
          <a:ln w="28575">
            <a:solidFill>
              <a:schemeClr val="bg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514600" y="3697070"/>
            <a:ext cx="106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/>
              <a:t>epipolar</a:t>
            </a:r>
            <a:r>
              <a:rPr lang="en-US" i="1" dirty="0"/>
              <a:t> lines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Epipolar</a:t>
            </a:r>
            <a:r>
              <a:rPr lang="en-US" dirty="0"/>
              <a:t> geometry</a:t>
            </a:r>
          </a:p>
        </p:txBody>
      </p:sp>
      <p:sp>
        <p:nvSpPr>
          <p:cNvPr id="3" name="Oval 7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7358063" y="3886031"/>
            <a:ext cx="152400" cy="152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Oval 9"/>
          <p:cNvSpPr>
            <a:spLocks noChangeAspect="1" noChangeArrowheads="1"/>
          </p:cNvSpPr>
          <p:nvPr>
            <p:custDataLst>
              <p:tags r:id="rId4"/>
            </p:custDataLst>
          </p:nvPr>
        </p:nvSpPr>
        <p:spPr bwMode="auto">
          <a:xfrm>
            <a:off x="4975225" y="3876506"/>
            <a:ext cx="152400" cy="152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615033" y="3974068"/>
            <a:ext cx="881973" cy="400110"/>
          </a:xfrm>
          <a:prstGeom prst="rect">
            <a:avLst/>
          </a:prstGeom>
          <a:noFill/>
          <a:effectLst>
            <a:outerShdw blurRad="114300" algn="ctr" rotWithShape="0">
              <a:schemeClr val="tx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FF00"/>
                </a:solidFill>
              </a:rPr>
              <a:t>(x</a:t>
            </a:r>
            <a:r>
              <a:rPr lang="en-US" sz="2000" b="1" baseline="-25000" dirty="0">
                <a:solidFill>
                  <a:srgbClr val="FFFF00"/>
                </a:solidFill>
              </a:rPr>
              <a:t>1</a:t>
            </a:r>
            <a:r>
              <a:rPr lang="en-US" sz="2000" b="1" dirty="0">
                <a:solidFill>
                  <a:srgbClr val="FFFF00"/>
                </a:solidFill>
              </a:rPr>
              <a:t>, y</a:t>
            </a:r>
            <a:r>
              <a:rPr lang="en-US" sz="2000" b="1" baseline="-25000" dirty="0">
                <a:solidFill>
                  <a:srgbClr val="FFFF00"/>
                </a:solidFill>
              </a:rPr>
              <a:t>1</a:t>
            </a:r>
            <a:r>
              <a:rPr lang="en-US" sz="2000" b="1" dirty="0">
                <a:solidFill>
                  <a:srgbClr val="FFFF00"/>
                </a:solidFill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2828" y="3962400"/>
            <a:ext cx="881973" cy="400110"/>
          </a:xfrm>
          <a:prstGeom prst="rect">
            <a:avLst/>
          </a:prstGeom>
          <a:noFill/>
          <a:effectLst>
            <a:outerShdw blurRad="114300" algn="ctr" rotWithShape="0">
              <a:schemeClr val="tx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FF00"/>
                </a:solidFill>
              </a:rPr>
              <a:t>(x</a:t>
            </a:r>
            <a:r>
              <a:rPr lang="en-US" sz="2000" b="1" baseline="-25000" dirty="0">
                <a:solidFill>
                  <a:srgbClr val="FFFF00"/>
                </a:solidFill>
              </a:rPr>
              <a:t>2</a:t>
            </a:r>
            <a:r>
              <a:rPr lang="en-US" sz="2000" b="1" dirty="0">
                <a:solidFill>
                  <a:srgbClr val="FFFF00"/>
                </a:solidFill>
              </a:rPr>
              <a:t>, y</a:t>
            </a:r>
            <a:r>
              <a:rPr lang="en-US" sz="2000" b="1" baseline="-25000" dirty="0">
                <a:solidFill>
                  <a:srgbClr val="FFFF00"/>
                </a:solidFill>
              </a:rPr>
              <a:t>1</a:t>
            </a:r>
            <a:r>
              <a:rPr lang="en-US" sz="2000" b="1" dirty="0">
                <a:solidFill>
                  <a:srgbClr val="FFFF00"/>
                </a:solidFill>
              </a:rPr>
              <a:t>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05200" y="5719971"/>
            <a:ext cx="544585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x</a:t>
            </a:r>
            <a:r>
              <a:rPr lang="en-US" sz="2400" b="1" baseline="-25000" dirty="0"/>
              <a:t>2 </a:t>
            </a:r>
            <a:r>
              <a:rPr lang="en-US" sz="2400" b="1" dirty="0"/>
              <a:t>- x</a:t>
            </a:r>
            <a:r>
              <a:rPr lang="en-US" sz="2400" b="1" baseline="-25000" dirty="0"/>
              <a:t>1 </a:t>
            </a:r>
            <a:r>
              <a:rPr lang="en-US" sz="2400" b="1" dirty="0"/>
              <a:t>= the </a:t>
            </a:r>
            <a:r>
              <a:rPr lang="en-US" sz="2400" b="1" i="1" dirty="0"/>
              <a:t>disparity </a:t>
            </a:r>
            <a:r>
              <a:rPr lang="en-US" sz="2400" b="1" dirty="0"/>
              <a:t>of pixel (x</a:t>
            </a:r>
            <a:r>
              <a:rPr lang="en-US" sz="2400" b="1" baseline="-25000" dirty="0"/>
              <a:t>1</a:t>
            </a:r>
            <a:r>
              <a:rPr lang="en-US" sz="2400" b="1" dirty="0"/>
              <a:t>, y</a:t>
            </a:r>
            <a:r>
              <a:rPr lang="en-US" sz="2400" b="1" baseline="-25000" dirty="0"/>
              <a:t>1</a:t>
            </a:r>
            <a:r>
              <a:rPr lang="en-US" sz="2400" b="1" dirty="0"/>
              <a:t>)</a:t>
            </a:r>
          </a:p>
          <a:p>
            <a:pPr algn="ctr"/>
            <a:endParaRPr lang="en-US" sz="2400" i="1" dirty="0"/>
          </a:p>
        </p:txBody>
      </p:sp>
      <p:sp>
        <p:nvSpPr>
          <p:cNvPr id="19" name="TextBox 18"/>
          <p:cNvSpPr txBox="1"/>
          <p:nvPr/>
        </p:nvSpPr>
        <p:spPr>
          <a:xfrm>
            <a:off x="3048000" y="4840070"/>
            <a:ext cx="60555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Two images captured by a purely horizontal translating camera</a:t>
            </a:r>
          </a:p>
          <a:p>
            <a:pPr algn="ctr"/>
            <a:r>
              <a:rPr lang="en-US" dirty="0"/>
              <a:t>(</a:t>
            </a:r>
            <a:r>
              <a:rPr lang="en-US" i="1" dirty="0"/>
              <a:t>rectified </a:t>
            </a:r>
            <a:r>
              <a:rPr lang="en-US" dirty="0"/>
              <a:t>stereo pair)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3" grpId="0" animBg="1"/>
      <p:bldP spid="9" grpId="0" animBg="1"/>
      <p:bldP spid="15" grpId="0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vintage photo of an old building&#10;&#10;Description automatically generated">
            <a:extLst>
              <a:ext uri="{FF2B5EF4-FFF2-40B4-BE49-F238E27FC236}">
                <a16:creationId xmlns:a16="http://schemas.microsoft.com/office/drawing/2014/main" id="{F82085DF-B658-4CF0-8530-0819E7C003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1206" y="2166937"/>
            <a:ext cx="3057525" cy="3305175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46E8FD9-87A4-4685-9E89-B16644DE9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Disparity = inverse depth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CEB4E1-A9CA-424F-ADD9-AE1B30DF65FF}"/>
              </a:ext>
            </a:extLst>
          </p:cNvPr>
          <p:cNvSpPr/>
          <p:nvPr/>
        </p:nvSpPr>
        <p:spPr>
          <a:xfrm>
            <a:off x="4293968" y="5486400"/>
            <a:ext cx="36040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Myriad Pro" panose="020B0503030403020204" pitchFamily="34" charset="0"/>
                <a:hlinkClick r:id="rId3"/>
              </a:rPr>
              <a:t>http://stereo.nypl.org/view/41729</a:t>
            </a:r>
            <a:endParaRPr lang="en-US" dirty="0">
              <a:latin typeface="Myriad Pro" panose="020B0503030403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C3D857-BB80-49FC-BF75-AD9C5F6A77A0}"/>
              </a:ext>
            </a:extLst>
          </p:cNvPr>
          <p:cNvSpPr txBox="1"/>
          <p:nvPr/>
        </p:nvSpPr>
        <p:spPr>
          <a:xfrm>
            <a:off x="2396942" y="6197866"/>
            <a:ext cx="7398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(Or, hold a finger in front of your face and wink each eye in succession.)</a:t>
            </a:r>
          </a:p>
        </p:txBody>
      </p:sp>
    </p:spTree>
    <p:extLst>
      <p:ext uri="{BB962C8B-B14F-4D97-AF65-F5344CB8AC3E}">
        <p14:creationId xmlns:p14="http://schemas.microsoft.com/office/powerpoint/2010/main" val="1005346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/>
              <a:t>Your basic stereo matching algorithm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762000" y="1676400"/>
            <a:ext cx="10668000" cy="4876800"/>
          </a:xfrm>
        </p:spPr>
        <p:txBody>
          <a:bodyPr/>
          <a:lstStyle/>
          <a:p>
            <a:r>
              <a:rPr lang="en-US" b="1" dirty="0"/>
              <a:t>Match Pixels in Conjugate </a:t>
            </a:r>
            <a:r>
              <a:rPr lang="en-US" b="1" dirty="0" err="1"/>
              <a:t>Epipolar</a:t>
            </a:r>
            <a:r>
              <a:rPr lang="en-US" b="1" dirty="0"/>
              <a:t> Lines</a:t>
            </a:r>
          </a:p>
          <a:p>
            <a:pPr lvl="1"/>
            <a:r>
              <a:rPr lang="en-US" dirty="0"/>
              <a:t>Assume brightness constancy</a:t>
            </a:r>
          </a:p>
          <a:p>
            <a:pPr lvl="1"/>
            <a:r>
              <a:rPr lang="en-US" dirty="0"/>
              <a:t>This is a challenging problem</a:t>
            </a:r>
          </a:p>
          <a:p>
            <a:pPr lvl="1"/>
            <a:r>
              <a:rPr lang="en-US" dirty="0"/>
              <a:t>Hundreds of approaches</a:t>
            </a:r>
          </a:p>
          <a:p>
            <a:pPr lvl="2"/>
            <a:r>
              <a:rPr lang="en-US" dirty="0"/>
              <a:t>A good survey and evaluation:  </a:t>
            </a:r>
            <a:r>
              <a:rPr lang="en-US" dirty="0">
                <a:hlinkClick r:id="rId5"/>
              </a:rPr>
              <a:t>http://www.middlebury.edu/stereo/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Your basic stereo matching algorithm</a:t>
            </a:r>
          </a:p>
        </p:txBody>
      </p:sp>
      <p:pic>
        <p:nvPicPr>
          <p:cNvPr id="20483" name="Picture 3" descr="lincoln_full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3581400" y="1447801"/>
            <a:ext cx="5029200" cy="289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4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2209800" y="3505200"/>
            <a:ext cx="7772400" cy="1524000"/>
            <a:chOff x="432" y="1968"/>
            <a:chExt cx="4896" cy="960"/>
          </a:xfrm>
        </p:grpSpPr>
        <p:sp>
          <p:nvSpPr>
            <p:cNvPr id="20496" name="Rectangle 5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32" y="2640"/>
              <a:ext cx="4896" cy="2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/>
            <a:lstStyle/>
            <a:p>
              <a:pPr marL="457200" indent="-457200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00"/>
                  </a:solidFill>
                </a:rPr>
                <a:t>For each </a:t>
              </a:r>
              <a:r>
                <a:rPr lang="en-US" sz="2000" dirty="0" err="1">
                  <a:solidFill>
                    <a:srgbClr val="000000"/>
                  </a:solidFill>
                </a:rPr>
                <a:t>epipolar</a:t>
              </a:r>
              <a:r>
                <a:rPr lang="en-US" sz="2000" dirty="0">
                  <a:solidFill>
                    <a:srgbClr val="000000"/>
                  </a:solidFill>
                </a:rPr>
                <a:t> line</a:t>
              </a:r>
            </a:p>
          </p:txBody>
        </p:sp>
        <p:sp>
          <p:nvSpPr>
            <p:cNvPr id="20497" name="Line 6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1296" y="1968"/>
              <a:ext cx="316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395271" name="Oval 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358063" y="3471863"/>
            <a:ext cx="76200" cy="76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3" name="Group 8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2209800" y="3462338"/>
            <a:ext cx="7772400" cy="1947862"/>
            <a:chOff x="432" y="1941"/>
            <a:chExt cx="4896" cy="1227"/>
          </a:xfrm>
        </p:grpSpPr>
        <p:sp>
          <p:nvSpPr>
            <p:cNvPr id="20494" name="Oval 9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174" y="1941"/>
              <a:ext cx="48" cy="4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0495" name="Rectangle 10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32" y="2880"/>
              <a:ext cx="48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457200" indent="-457200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sz="2000">
                  <a:solidFill>
                    <a:srgbClr val="000000"/>
                  </a:solidFill>
                </a:rPr>
                <a:t>	For each pixel in the left image</a:t>
              </a:r>
            </a:p>
          </p:txBody>
        </p:sp>
      </p:grpSp>
      <p:sp>
        <p:nvSpPr>
          <p:cNvPr id="395275" name="Rectangle 1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209800" y="5334000"/>
            <a:ext cx="845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219200" lvl="2" indent="-304800" eaLnBrk="0" fontAlgn="base" hangingPunct="0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>
                <a:solidFill>
                  <a:srgbClr val="000000"/>
                </a:solidFill>
              </a:rPr>
              <a:t>compare with every pixel on same epipolar line in right image</a:t>
            </a:r>
          </a:p>
        </p:txBody>
      </p:sp>
      <p:sp>
        <p:nvSpPr>
          <p:cNvPr id="395276" name="Rectangle 12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209800" y="5715000"/>
            <a:ext cx="845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219200" lvl="2" indent="-304800" eaLnBrk="0" fontAlgn="base" hangingPunct="0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>
                <a:solidFill>
                  <a:srgbClr val="000000"/>
                </a:solidFill>
              </a:rPr>
              <a:t>pick pixel with minimum match cost</a:t>
            </a:r>
          </a:p>
        </p:txBody>
      </p:sp>
      <p:grpSp>
        <p:nvGrpSpPr>
          <p:cNvPr id="4" name="Group 18"/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2209800" y="3352800"/>
            <a:ext cx="8458200" cy="3200400"/>
            <a:chOff x="432" y="1872"/>
            <a:chExt cx="5328" cy="2016"/>
          </a:xfrm>
        </p:grpSpPr>
        <p:sp>
          <p:nvSpPr>
            <p:cNvPr id="20490" name="Rectangle 1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32" y="3600"/>
              <a:ext cx="53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457200" indent="-457200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00"/>
                  </a:solidFill>
                </a:rPr>
                <a:t>Improvement: match </a:t>
              </a:r>
              <a:r>
                <a:rPr lang="en-US" sz="2000" b="1" i="1" dirty="0">
                  <a:solidFill>
                    <a:srgbClr val="000000"/>
                  </a:solidFill>
                </a:rPr>
                <a:t>windows</a:t>
              </a:r>
            </a:p>
          </p:txBody>
        </p:sp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2100" y="1872"/>
              <a:ext cx="1692" cy="192"/>
              <a:chOff x="2100" y="1872"/>
              <a:chExt cx="1692" cy="192"/>
            </a:xfrm>
          </p:grpSpPr>
          <p:sp>
            <p:nvSpPr>
              <p:cNvPr id="20492" name="Rectangle 16"/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2100" y="1872"/>
                <a:ext cx="192" cy="192"/>
              </a:xfrm>
              <a:prstGeom prst="rect">
                <a:avLst/>
              </a:prstGeom>
              <a:noFill/>
              <a:ln w="38100">
                <a:solidFill>
                  <a:srgbClr val="FFFF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0493" name="Rectangle 17"/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3600" y="1872"/>
                <a:ext cx="192" cy="192"/>
              </a:xfrm>
              <a:prstGeom prst="rect">
                <a:avLst/>
              </a:prstGeom>
              <a:noFill/>
              <a:ln w="38100">
                <a:solidFill>
                  <a:srgbClr val="FFFF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71" grpId="0" animBg="1"/>
      <p:bldP spid="395275" grpId="0" build="p" autoUpdateAnimBg="0"/>
      <p:bldP spid="395276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89176"/>
            <a:r>
              <a:rPr spc="-5" dirty="0"/>
              <a:t>Stereo matching based on</a:t>
            </a:r>
            <a:r>
              <a:rPr spc="-50" dirty="0"/>
              <a:t> </a:t>
            </a:r>
            <a:r>
              <a:rPr spc="-5" dirty="0"/>
              <a:t>SSD</a:t>
            </a:r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673" y="1494738"/>
            <a:ext cx="7517438" cy="45889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574396" y="4576249"/>
            <a:ext cx="3056490" cy="1223732"/>
          </a:xfrm>
          <a:custGeom>
            <a:avLst/>
            <a:gdLst/>
            <a:ahLst/>
            <a:cxnLst/>
            <a:rect l="l" t="t" r="r" b="b"/>
            <a:pathLst>
              <a:path w="3048000" h="1219200">
                <a:moveTo>
                  <a:pt x="0" y="0"/>
                </a:moveTo>
                <a:lnTo>
                  <a:pt x="0" y="1219200"/>
                </a:lnTo>
                <a:lnTo>
                  <a:pt x="3048000" y="1219200"/>
                </a:lnTo>
                <a:lnTo>
                  <a:pt x="3047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770430" y="5454277"/>
            <a:ext cx="916947" cy="229450"/>
          </a:xfrm>
          <a:custGeom>
            <a:avLst/>
            <a:gdLst/>
            <a:ahLst/>
            <a:cxnLst/>
            <a:rect l="l" t="t" r="r" b="b"/>
            <a:pathLst>
              <a:path w="914400" h="228600">
                <a:moveTo>
                  <a:pt x="0" y="0"/>
                </a:moveTo>
                <a:lnTo>
                  <a:pt x="0" y="228600"/>
                </a:lnTo>
                <a:lnTo>
                  <a:pt x="914400" y="2286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36179" y="4611433"/>
            <a:ext cx="5145092" cy="1525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79" algn="ctr"/>
            <a:r>
              <a:rPr sz="2400" spc="-5" dirty="0">
                <a:latin typeface="+mj-lt"/>
                <a:cs typeface="Times New Roman"/>
              </a:rPr>
              <a:t>SSD</a:t>
            </a:r>
            <a:endParaRPr sz="2400" dirty="0">
              <a:latin typeface="+mj-lt"/>
              <a:cs typeface="Times New Roman"/>
            </a:endParaRPr>
          </a:p>
          <a:p>
            <a:pPr>
              <a:spcBef>
                <a:spcPts val="40"/>
              </a:spcBef>
            </a:pPr>
            <a:endParaRPr sz="3200" dirty="0">
              <a:latin typeface="Times New Roman"/>
              <a:cs typeface="Times New Roman"/>
            </a:endParaRPr>
          </a:p>
          <a:p>
            <a:pPr marR="5096" algn="r">
              <a:lnSpc>
                <a:spcPts val="2648"/>
              </a:lnSpc>
              <a:tabLst>
                <a:tab pos="1037622" algn="l"/>
              </a:tabLst>
            </a:pPr>
            <a:r>
              <a:rPr sz="3600" baseline="13888" dirty="0">
                <a:latin typeface="Times New Roman"/>
                <a:cs typeface="Times New Roman"/>
              </a:rPr>
              <a:t>d</a:t>
            </a:r>
            <a:r>
              <a:rPr sz="1600" dirty="0">
                <a:latin typeface="Times New Roman"/>
                <a:cs typeface="Times New Roman"/>
              </a:rPr>
              <a:t>min	</a:t>
            </a:r>
            <a:r>
              <a:rPr sz="2400" dirty="0">
                <a:latin typeface="Times New Roman"/>
                <a:cs typeface="Times New Roman"/>
              </a:rPr>
              <a:t>d</a:t>
            </a:r>
          </a:p>
          <a:p>
            <a:pPr marL="12739">
              <a:lnSpc>
                <a:spcPts val="2648"/>
              </a:lnSpc>
            </a:pPr>
            <a:r>
              <a:rPr sz="2400" spc="-5" dirty="0">
                <a:latin typeface="+mj-lt"/>
                <a:cs typeface="Times New Roman"/>
              </a:rPr>
              <a:t>Best matching</a:t>
            </a:r>
            <a:r>
              <a:rPr sz="2400" spc="-105" dirty="0">
                <a:latin typeface="+mj-lt"/>
                <a:cs typeface="Times New Roman"/>
              </a:rPr>
              <a:t> </a:t>
            </a:r>
            <a:r>
              <a:rPr sz="2400" spc="-5" dirty="0">
                <a:latin typeface="+mj-lt"/>
                <a:cs typeface="Times New Roman"/>
              </a:rPr>
              <a:t>disparity</a:t>
            </a:r>
            <a:endParaRPr sz="2400" dirty="0">
              <a:latin typeface="+mj-lt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08363" y="5417566"/>
            <a:ext cx="769217" cy="463999"/>
          </a:xfrm>
          <a:custGeom>
            <a:avLst/>
            <a:gdLst/>
            <a:ahLst/>
            <a:cxnLst/>
            <a:rect l="l" t="t" r="r" b="b"/>
            <a:pathLst>
              <a:path w="767079" h="462279">
                <a:moveTo>
                  <a:pt x="703772" y="43161"/>
                </a:moveTo>
                <a:lnTo>
                  <a:pt x="699001" y="35210"/>
                </a:lnTo>
                <a:lnTo>
                  <a:pt x="2286" y="453389"/>
                </a:lnTo>
                <a:lnTo>
                  <a:pt x="0" y="455675"/>
                </a:lnTo>
                <a:lnTo>
                  <a:pt x="762" y="459486"/>
                </a:lnTo>
                <a:lnTo>
                  <a:pt x="3048" y="461772"/>
                </a:lnTo>
                <a:lnTo>
                  <a:pt x="6858" y="461010"/>
                </a:lnTo>
                <a:lnTo>
                  <a:pt x="703772" y="43161"/>
                </a:lnTo>
                <a:close/>
              </a:path>
              <a:path w="767079" h="462279">
                <a:moveTo>
                  <a:pt x="766571" y="0"/>
                </a:moveTo>
                <a:lnTo>
                  <a:pt x="681989" y="6858"/>
                </a:lnTo>
                <a:lnTo>
                  <a:pt x="699001" y="35210"/>
                </a:lnTo>
                <a:lnTo>
                  <a:pt x="709421" y="28955"/>
                </a:lnTo>
                <a:lnTo>
                  <a:pt x="713231" y="28194"/>
                </a:lnTo>
                <a:lnTo>
                  <a:pt x="716279" y="30479"/>
                </a:lnTo>
                <a:lnTo>
                  <a:pt x="717041" y="33527"/>
                </a:lnTo>
                <a:lnTo>
                  <a:pt x="717041" y="65278"/>
                </a:lnTo>
                <a:lnTo>
                  <a:pt x="720851" y="71627"/>
                </a:lnTo>
                <a:lnTo>
                  <a:pt x="766571" y="0"/>
                </a:lnTo>
                <a:close/>
              </a:path>
              <a:path w="767079" h="462279">
                <a:moveTo>
                  <a:pt x="717041" y="33527"/>
                </a:moveTo>
                <a:lnTo>
                  <a:pt x="716279" y="30479"/>
                </a:lnTo>
                <a:lnTo>
                  <a:pt x="713231" y="28194"/>
                </a:lnTo>
                <a:lnTo>
                  <a:pt x="709421" y="28955"/>
                </a:lnTo>
                <a:lnTo>
                  <a:pt x="699001" y="35210"/>
                </a:lnTo>
                <a:lnTo>
                  <a:pt x="703772" y="43161"/>
                </a:lnTo>
                <a:lnTo>
                  <a:pt x="714755" y="36575"/>
                </a:lnTo>
                <a:lnTo>
                  <a:pt x="717041" y="33527"/>
                </a:lnTo>
                <a:close/>
              </a:path>
              <a:path w="767079" h="462279">
                <a:moveTo>
                  <a:pt x="717041" y="65278"/>
                </a:moveTo>
                <a:lnTo>
                  <a:pt x="717041" y="33527"/>
                </a:lnTo>
                <a:lnTo>
                  <a:pt x="714755" y="36575"/>
                </a:lnTo>
                <a:lnTo>
                  <a:pt x="703772" y="43161"/>
                </a:lnTo>
                <a:lnTo>
                  <a:pt x="717041" y="65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036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Window size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381000" y="4800600"/>
            <a:ext cx="4267200" cy="2133600"/>
          </a:xfrm>
        </p:spPr>
        <p:txBody>
          <a:bodyPr/>
          <a:lstStyle/>
          <a:p>
            <a:pPr lvl="1"/>
            <a:r>
              <a:rPr lang="en-US" sz="1800" dirty="0"/>
              <a:t>Smaller window</a:t>
            </a:r>
          </a:p>
          <a:p>
            <a:pPr lvl="2">
              <a:buFont typeface="Times New Roman" pitchFamily="18" charset="0"/>
              <a:buChar char="+"/>
            </a:pPr>
            <a:r>
              <a:rPr lang="en-US" sz="1600" dirty="0"/>
              <a:t> more detail</a:t>
            </a:r>
          </a:p>
          <a:p>
            <a:pPr marL="914400" lvl="2" indent="0">
              <a:buNone/>
            </a:pPr>
            <a:r>
              <a:rPr lang="en-US" sz="1600" dirty="0"/>
              <a:t>-   more noise</a:t>
            </a:r>
          </a:p>
          <a:p>
            <a:pPr lvl="1"/>
            <a:r>
              <a:rPr lang="en-US" sz="1800" dirty="0"/>
              <a:t>Larger window</a:t>
            </a:r>
          </a:p>
          <a:p>
            <a:pPr lvl="2">
              <a:buFont typeface="Times New Roman" pitchFamily="18" charset="0"/>
              <a:buChar char="+"/>
            </a:pPr>
            <a:r>
              <a:rPr lang="en-US" sz="1600" dirty="0"/>
              <a:t> less noise</a:t>
            </a:r>
          </a:p>
          <a:p>
            <a:pPr marL="914400" lvl="2" indent="0">
              <a:buNone/>
            </a:pPr>
            <a:r>
              <a:rPr lang="en-US" sz="1600" dirty="0"/>
              <a:t>-    less detail</a:t>
            </a:r>
          </a:p>
        </p:txBody>
      </p:sp>
      <p:pic>
        <p:nvPicPr>
          <p:cNvPr id="60420" name="Picture 4" descr="sri20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057400" y="1438276"/>
            <a:ext cx="2522538" cy="2295525"/>
          </a:xfrm>
          <a:prstGeom prst="rect">
            <a:avLst/>
          </a:prstGeom>
          <a:noFill/>
        </p:spPr>
      </p:pic>
      <p:grpSp>
        <p:nvGrpSpPr>
          <p:cNvPr id="2" name="Group 5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4876800" y="1393826"/>
            <a:ext cx="5562600" cy="2949575"/>
            <a:chOff x="2112" y="638"/>
            <a:chExt cx="3504" cy="1858"/>
          </a:xfrm>
        </p:grpSpPr>
        <p:pic>
          <p:nvPicPr>
            <p:cNvPr id="60422" name="Picture 6" descr="SSDWindowSize"/>
            <p:cNvPicPr>
              <a:picLocks noChangeAspect="1" noChangeArrowheads="1"/>
            </p:cNvPicPr>
            <p:nvPr>
              <p:custDataLst>
                <p:tags r:id="rId8"/>
              </p:custDataLst>
            </p:nvPr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2112" y="638"/>
              <a:ext cx="3504" cy="1600"/>
            </a:xfrm>
            <a:prstGeom prst="rect">
              <a:avLst/>
            </a:prstGeom>
            <a:noFill/>
          </p:spPr>
        </p:pic>
        <p:sp>
          <p:nvSpPr>
            <p:cNvPr id="60423" name="Text Box 7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640" y="2208"/>
              <a:ext cx="59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>
                  <a:solidFill>
                    <a:srgbClr val="000000"/>
                  </a:solidFill>
                  <a:latin typeface="Times New Roman" pitchFamily="18" charset="0"/>
                </a:rPr>
                <a:t>W = 3</a:t>
              </a:r>
            </a:p>
          </p:txBody>
        </p:sp>
        <p:sp>
          <p:nvSpPr>
            <p:cNvPr id="60424" name="Text Box 8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395" y="2208"/>
              <a:ext cx="69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>
                  <a:solidFill>
                    <a:srgbClr val="000000"/>
                  </a:solidFill>
                  <a:latin typeface="Times New Roman" pitchFamily="18" charset="0"/>
                </a:rPr>
                <a:t>W = 20</a:t>
              </a:r>
            </a:p>
          </p:txBody>
        </p:sp>
      </p:grpSp>
      <p:sp>
        <p:nvSpPr>
          <p:cNvPr id="60425" name="Rectangle 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114800" y="4572000"/>
            <a:ext cx="7696200" cy="2239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</a:rPr>
              <a:t>Better results with </a:t>
            </a:r>
            <a:r>
              <a:rPr lang="en-US" sz="2400" i="1" dirty="0">
                <a:solidFill>
                  <a:srgbClr val="000000"/>
                </a:solidFill>
              </a:rPr>
              <a:t>adaptive window</a:t>
            </a:r>
          </a:p>
          <a:p>
            <a:pPr marL="742950" lvl="1" indent="-28575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solidFill>
                  <a:srgbClr val="000000"/>
                </a:solidFill>
              </a:rPr>
              <a:t>T. </a:t>
            </a:r>
            <a:r>
              <a:rPr lang="en-US" dirty="0" err="1">
                <a:solidFill>
                  <a:srgbClr val="000000"/>
                </a:solidFill>
              </a:rPr>
              <a:t>Kanade</a:t>
            </a:r>
            <a:r>
              <a:rPr lang="en-US" dirty="0">
                <a:solidFill>
                  <a:srgbClr val="000000"/>
                </a:solidFill>
              </a:rPr>
              <a:t> and M. </a:t>
            </a:r>
            <a:r>
              <a:rPr lang="en-US" dirty="0" err="1">
                <a:solidFill>
                  <a:srgbClr val="000000"/>
                </a:solidFill>
              </a:rPr>
              <a:t>Okutomi</a:t>
            </a:r>
            <a:r>
              <a:rPr lang="en-US" dirty="0">
                <a:solidFill>
                  <a:srgbClr val="000000"/>
                </a:solidFill>
              </a:rPr>
              <a:t>,</a:t>
            </a:r>
            <a:r>
              <a:rPr lang="en-US" i="1" dirty="0">
                <a:solidFill>
                  <a:srgbClr val="000000"/>
                </a:solidFill>
              </a:rPr>
              <a:t> </a:t>
            </a:r>
            <a:r>
              <a:rPr lang="en-US" i="1" dirty="0">
                <a:solidFill>
                  <a:srgbClr val="000000"/>
                </a:solidFill>
                <a:hlinkClick r:id="rId15"/>
              </a:rPr>
              <a:t>A Stereo Matching Algorithm with an Adaptive Window: Theory and Experiment</a:t>
            </a:r>
            <a:r>
              <a:rPr lang="en-US" dirty="0">
                <a:solidFill>
                  <a:srgbClr val="000000"/>
                </a:solidFill>
              </a:rPr>
              <a:t>, ICRA 1991. </a:t>
            </a:r>
          </a:p>
          <a:p>
            <a:pPr marL="742950" lvl="1" indent="-28575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solidFill>
                  <a:srgbClr val="000000"/>
                </a:solidFill>
              </a:rPr>
              <a:t>D. </a:t>
            </a:r>
            <a:r>
              <a:rPr lang="en-US" dirty="0" err="1">
                <a:solidFill>
                  <a:srgbClr val="000000"/>
                </a:solidFill>
              </a:rPr>
              <a:t>Scharstein</a:t>
            </a:r>
            <a:r>
              <a:rPr lang="en-US" dirty="0">
                <a:solidFill>
                  <a:srgbClr val="000000"/>
                </a:solidFill>
              </a:rPr>
              <a:t> and R. </a:t>
            </a:r>
            <a:r>
              <a:rPr lang="en-US" dirty="0" err="1">
                <a:solidFill>
                  <a:srgbClr val="000000"/>
                </a:solidFill>
              </a:rPr>
              <a:t>Szeliski</a:t>
            </a:r>
            <a:r>
              <a:rPr lang="en-US" dirty="0">
                <a:solidFill>
                  <a:srgbClr val="000000"/>
                </a:solidFill>
              </a:rPr>
              <a:t>. </a:t>
            </a:r>
            <a:r>
              <a:rPr lang="en-US" dirty="0">
                <a:solidFill>
                  <a:srgbClr val="000000"/>
                </a:solidFill>
                <a:hlinkClick r:id="rId16"/>
              </a:rPr>
              <a:t>Stereo matching with nonlinear diffusion</a:t>
            </a:r>
            <a:r>
              <a:rPr lang="en-US" dirty="0">
                <a:solidFill>
                  <a:srgbClr val="000000"/>
                </a:solidFill>
              </a:rPr>
              <a:t>. IJCV, July 1998 </a:t>
            </a:r>
          </a:p>
          <a:p>
            <a:pPr marL="742950" lvl="1" indent="-28575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endParaRPr lang="en-US" sz="1400" dirty="0">
              <a:solidFill>
                <a:srgbClr val="000000"/>
              </a:solidFill>
            </a:endParaRPr>
          </a:p>
        </p:txBody>
      </p:sp>
      <p:pic>
        <p:nvPicPr>
          <p:cNvPr id="60426" name="Picture 10" descr="sri20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209800" y="1590676"/>
            <a:ext cx="2522538" cy="22955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  <p:sp>
        <p:nvSpPr>
          <p:cNvPr id="60427" name="Rectangle 1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57200" y="4343401"/>
            <a:ext cx="3200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2400">
                <a:solidFill>
                  <a:srgbClr val="000000"/>
                </a:solidFill>
              </a:rPr>
              <a:t>Effect of window size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/>
      <p:bldP spid="60425" grpId="0" uiExpand="1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Stereo results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533400" y="1433512"/>
            <a:ext cx="10134600" cy="1143000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Data from University of Tsukuba</a:t>
            </a:r>
          </a:p>
          <a:p>
            <a:pPr lvl="1"/>
            <a:r>
              <a:rPr lang="en-US" dirty="0"/>
              <a:t>Similar results on other images without ground truth</a:t>
            </a:r>
          </a:p>
        </p:txBody>
      </p:sp>
      <p:pic>
        <p:nvPicPr>
          <p:cNvPr id="22531" name="Picture 3" descr="true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07163" y="2840038"/>
            <a:ext cx="3644900" cy="2640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2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522662" y="5943600"/>
            <a:ext cx="19615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000000"/>
                </a:solidFill>
                <a:latin typeface="+mj-lt"/>
              </a:rPr>
              <a:t>Ground truth</a:t>
            </a:r>
          </a:p>
        </p:txBody>
      </p:sp>
      <p:sp>
        <p:nvSpPr>
          <p:cNvPr id="22533" name="Text Box 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10530" y="5943600"/>
            <a:ext cx="9861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000000"/>
                </a:solidFill>
                <a:latin typeface="+mj-lt"/>
              </a:rPr>
              <a:t>Scene</a:t>
            </a:r>
          </a:p>
        </p:txBody>
      </p:sp>
      <p:pic>
        <p:nvPicPr>
          <p:cNvPr id="22535" name="Picture 7" descr="scene1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947864" y="2652712"/>
            <a:ext cx="4021137" cy="301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Results with window search</a:t>
            </a:r>
          </a:p>
        </p:txBody>
      </p:sp>
      <p:graphicFrame>
        <p:nvGraphicFramePr>
          <p:cNvPr id="1026" name="Object 1024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6092826" y="1676400"/>
          <a:ext cx="4422775" cy="320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8" imgW="4422167" imgH="3202259" progId="">
                  <p:embed/>
                </p:oleObj>
              </mc:Choice>
              <mc:Fallback>
                <p:oleObj name="Image" r:id="rId8" imgW="4422167" imgH="3202259" progId="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2826" y="1676400"/>
                        <a:ext cx="4422775" cy="3201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21653" y="5334001"/>
            <a:ext cx="359098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000000"/>
                </a:solidFill>
                <a:latin typeface="+mj-lt"/>
              </a:rPr>
              <a:t>Window-based matching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000000"/>
                </a:solidFill>
                <a:latin typeface="+mj-lt"/>
              </a:rPr>
              <a:t>(best window size)</a:t>
            </a:r>
          </a:p>
        </p:txBody>
      </p:sp>
      <p:graphicFrame>
        <p:nvGraphicFramePr>
          <p:cNvPr id="1027" name="Object 1025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597026" y="1676400"/>
          <a:ext cx="4422775" cy="320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0" imgW="4422167" imgH="3202259" progId="">
                  <p:embed/>
                </p:oleObj>
              </mc:Choice>
              <mc:Fallback>
                <p:oleObj name="Image" r:id="rId10" imgW="4422167" imgH="3202259" progId="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7026" y="1676400"/>
                        <a:ext cx="4422775" cy="3201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367087" y="5334000"/>
            <a:ext cx="19615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000000"/>
                </a:solidFill>
                <a:latin typeface="+mj-lt"/>
              </a:rPr>
              <a:t>Ground truth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Better methods exist...</a:t>
            </a:r>
          </a:p>
        </p:txBody>
      </p:sp>
      <p:pic>
        <p:nvPicPr>
          <p:cNvPr id="2054" name="Picture 8"/>
          <p:cNvPicPr>
            <a:picLocks noGrp="1" noChangeAspect="1" noChangeArrowheads="1"/>
          </p:cNvPicPr>
          <p:nvPr>
            <p:ph idx="1"/>
            <p:custDataLst>
              <p:tags r:id="rId2"/>
            </p:custDataLst>
          </p:nvPr>
        </p:nvPicPr>
        <p:blipFill>
          <a:blip r:embed="rId9" cstate="print"/>
          <a:srcRect/>
          <a:stretch>
            <a:fillRect/>
          </a:stretch>
        </p:blipFill>
        <p:spPr>
          <a:xfrm>
            <a:off x="1905000" y="1676400"/>
            <a:ext cx="4114800" cy="3194050"/>
          </a:xfrm>
          <a:noFill/>
        </p:spPr>
      </p:pic>
      <p:graphicFrame>
        <p:nvGraphicFramePr>
          <p:cNvPr id="2050" name="Object 3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6092826" y="1676400"/>
          <a:ext cx="4422775" cy="320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0" imgW="4422167" imgH="3202259" progId="">
                  <p:embed/>
                </p:oleObj>
              </mc:Choice>
              <mc:Fallback>
                <p:oleObj name="Image" r:id="rId10" imgW="4422167" imgH="3202259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2826" y="1676400"/>
                        <a:ext cx="4422775" cy="3201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08039" y="5007959"/>
            <a:ext cx="6507162" cy="935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Graph cuts-based method</a:t>
            </a:r>
          </a:p>
          <a:p>
            <a:pPr lvl="1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400" dirty="0" err="1">
                <a:solidFill>
                  <a:srgbClr val="000000"/>
                </a:solidFill>
                <a:latin typeface="+mj-lt"/>
                <a:sym typeface="Symbol" pitchFamily="18" charset="2"/>
              </a:rPr>
              <a:t>Boykov</a:t>
            </a:r>
            <a:r>
              <a:rPr lang="en-US" sz="1400" dirty="0">
                <a:solidFill>
                  <a:srgbClr val="000000"/>
                </a:solidFill>
                <a:latin typeface="+mj-lt"/>
                <a:sym typeface="Symbol" pitchFamily="18" charset="2"/>
              </a:rPr>
              <a:t> et al., </a:t>
            </a:r>
            <a:r>
              <a:rPr lang="en-US" sz="1400" dirty="0">
                <a:solidFill>
                  <a:srgbClr val="000000"/>
                </a:solidFill>
                <a:latin typeface="+mj-lt"/>
                <a:sym typeface="Symbol" pitchFamily="18" charset="2"/>
                <a:hlinkClick r:id="rId12"/>
              </a:rPr>
              <a:t>Fast Approximate Energy Minimization via Graph Cuts</a:t>
            </a:r>
            <a:r>
              <a:rPr lang="en-US" sz="1400" dirty="0">
                <a:solidFill>
                  <a:srgbClr val="000000"/>
                </a:solidFill>
                <a:latin typeface="+mj-lt"/>
                <a:sym typeface="Symbol" pitchFamily="18" charset="2"/>
              </a:rPr>
              <a:t>, </a:t>
            </a:r>
          </a:p>
          <a:p>
            <a:pPr lvl="1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  <a:latin typeface="+mj-lt"/>
                <a:sym typeface="Symbol" pitchFamily="18" charset="2"/>
              </a:rPr>
              <a:t>International Conference on Computer Vision 1999.</a:t>
            </a:r>
            <a:endParaRPr lang="en-US" sz="24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2053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367087" y="5007959"/>
            <a:ext cx="19615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000000"/>
                </a:solidFill>
                <a:latin typeface="+mj-lt"/>
              </a:rPr>
              <a:t>Ground truth</a:t>
            </a:r>
          </a:p>
        </p:txBody>
      </p:sp>
      <p:sp>
        <p:nvSpPr>
          <p:cNvPr id="2055" name="Rectangle 10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71663" y="6337301"/>
            <a:ext cx="83384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vl="2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For the latest and greatest:  </a:t>
            </a:r>
            <a:r>
              <a:rPr lang="en-US" sz="2000" dirty="0">
                <a:solidFill>
                  <a:srgbClr val="000000"/>
                </a:solidFill>
                <a:latin typeface="+mj-lt"/>
                <a:ea typeface="Arial Unicode MS" pitchFamily="34" charset="-128"/>
                <a:cs typeface="Arial Unicode MS" pitchFamily="34" charset="-128"/>
                <a:hlinkClick r:id="rId13"/>
              </a:rPr>
              <a:t>http://www.middlebury.edu/stereo/</a:t>
            </a:r>
            <a:r>
              <a:rPr lang="en-US" sz="2000" dirty="0">
                <a:solidFill>
                  <a:srgbClr val="000000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Stereo as energy minimization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990600" y="4572000"/>
            <a:ext cx="10210800" cy="21336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What defines a good stereo correspondence?</a:t>
            </a:r>
          </a:p>
          <a:p>
            <a:pPr marL="914400" lvl="1" indent="-457200">
              <a:buFontTx/>
              <a:buAutoNum type="arabicPeriod"/>
            </a:pPr>
            <a:r>
              <a:rPr lang="en-US" dirty="0"/>
              <a:t>Match quality</a:t>
            </a:r>
          </a:p>
          <a:p>
            <a:pPr marL="1314450" lvl="2" indent="-457200"/>
            <a:r>
              <a:rPr lang="en-US" dirty="0"/>
              <a:t>Want each pixel to find a good match in the other image</a:t>
            </a:r>
          </a:p>
          <a:p>
            <a:pPr marL="914400" lvl="1" indent="-457200">
              <a:buFontTx/>
              <a:buAutoNum type="arabicPeriod"/>
            </a:pPr>
            <a:r>
              <a:rPr lang="en-US" dirty="0"/>
              <a:t>Smoothness</a:t>
            </a:r>
          </a:p>
          <a:p>
            <a:pPr marL="1314450" lvl="2" indent="-457200"/>
            <a:r>
              <a:rPr lang="en-US" dirty="0"/>
              <a:t>If two pixels are adjacent, they should (usually) move about the same amount </a:t>
            </a:r>
          </a:p>
        </p:txBody>
      </p:sp>
      <p:pic>
        <p:nvPicPr>
          <p:cNvPr id="23556" name="Picture 3" descr="lincoln_full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581400" y="1600201"/>
            <a:ext cx="5029200" cy="289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7" name="Oval 7"/>
          <p:cNvSpPr>
            <a:spLocks noChangeAspect="1" noChangeArrowheads="1"/>
          </p:cNvSpPr>
          <p:nvPr>
            <p:custDataLst>
              <p:tags r:id="rId4"/>
            </p:custDataLst>
          </p:nvPr>
        </p:nvSpPr>
        <p:spPr bwMode="auto">
          <a:xfrm>
            <a:off x="4913313" y="3573463"/>
            <a:ext cx="152400" cy="150812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3558" name="Oval 6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7316788" y="3581401"/>
            <a:ext cx="150812" cy="15081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cxnSp>
        <p:nvCxnSpPr>
          <p:cNvPr id="23559" name="Straight Arrow Connector 7"/>
          <p:cNvCxnSpPr>
            <a:cxnSpLocks noChangeShapeType="1"/>
            <a:endCxn id="23558" idx="2"/>
          </p:cNvCxnSpPr>
          <p:nvPr>
            <p:custDataLst>
              <p:tags r:id="rId6"/>
            </p:custDataLst>
          </p:nvPr>
        </p:nvCxnSpPr>
        <p:spPr bwMode="auto">
          <a:xfrm flipV="1">
            <a:off x="5105400" y="3657600"/>
            <a:ext cx="2211388" cy="6350"/>
          </a:xfrm>
          <a:prstGeom prst="straightConnector1">
            <a:avLst/>
          </a:prstGeom>
          <a:noFill/>
          <a:ln w="28575" algn="ctr">
            <a:solidFill>
              <a:srgbClr val="FFFF00"/>
            </a:solidFill>
            <a:round/>
            <a:headEnd/>
            <a:tailEnd type="arrow" w="med" len="med"/>
          </a:ln>
        </p:spPr>
      </p:cxnSp>
      <p:sp>
        <p:nvSpPr>
          <p:cNvPr id="23560" name="Oval 8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4800601" y="3429001"/>
            <a:ext cx="150813" cy="15081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3561" name="Oval 9"/>
          <p:cNvSpPr>
            <a:spLocks noChangeAspect="1" noChangeArrowheads="1"/>
          </p:cNvSpPr>
          <p:nvPr>
            <p:custDataLst>
              <p:tags r:id="rId8"/>
            </p:custDataLst>
          </p:nvPr>
        </p:nvSpPr>
        <p:spPr bwMode="auto">
          <a:xfrm>
            <a:off x="7162801" y="3429001"/>
            <a:ext cx="150813" cy="15081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cxnSp>
        <p:nvCxnSpPr>
          <p:cNvPr id="23562" name="Straight Arrow Connector 11"/>
          <p:cNvCxnSpPr>
            <a:cxnSpLocks noChangeShapeType="1"/>
          </p:cNvCxnSpPr>
          <p:nvPr>
            <p:custDataLst>
              <p:tags r:id="rId9"/>
            </p:custDataLst>
          </p:nvPr>
        </p:nvCxnSpPr>
        <p:spPr bwMode="auto">
          <a:xfrm flipV="1">
            <a:off x="4967288" y="3505200"/>
            <a:ext cx="2209800" cy="7938"/>
          </a:xfrm>
          <a:prstGeom prst="straightConnector1">
            <a:avLst/>
          </a:prstGeom>
          <a:noFill/>
          <a:ln w="28575" algn="ctr">
            <a:solidFill>
              <a:srgbClr val="FFFF00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Stereo as energy minimization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2426" y="3890442"/>
            <a:ext cx="6432466" cy="1367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5"/>
          <p:cNvSpPr txBox="1">
            <a:spLocks/>
          </p:cNvSpPr>
          <p:nvPr/>
        </p:nvSpPr>
        <p:spPr>
          <a:xfrm>
            <a:off x="990600" y="1600202"/>
            <a:ext cx="10210800" cy="2033314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3200" dirty="0"/>
              <a:t>Find </a:t>
            </a:r>
            <a:r>
              <a:rPr lang="en-US" sz="3200" dirty="0" err="1"/>
              <a:t>disparit</a:t>
            </a:r>
            <a:r>
              <a:rPr lang="en-US" sz="3200" dirty="0"/>
              <a:t>y map </a:t>
            </a:r>
            <a:r>
              <a:rPr lang="en-US" sz="3200" i="1" dirty="0"/>
              <a:t>d</a:t>
            </a:r>
            <a:r>
              <a:rPr lang="en-US" sz="3200" dirty="0"/>
              <a:t> that minimizes an </a:t>
            </a:r>
            <a:r>
              <a:rPr lang="en-US" sz="3200" i="1" dirty="0"/>
              <a:t>energy function 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3200" dirty="0"/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3200" dirty="0"/>
              <a:t>Simple pixel / window matching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447844" y="5486400"/>
            <a:ext cx="7991556" cy="859324"/>
            <a:chOff x="923844" y="5783850"/>
            <a:chExt cx="7991556" cy="859324"/>
          </a:xfrm>
        </p:grpSpPr>
        <p:pic>
          <p:nvPicPr>
            <p:cNvPr id="8195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923844" y="5897991"/>
              <a:ext cx="2788840" cy="595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/>
          </p:nvSpPr>
          <p:spPr>
            <a:xfrm>
              <a:off x="4344713" y="5812177"/>
              <a:ext cx="457068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SSD distance between windows </a:t>
              </a:r>
              <a:r>
                <a:rPr lang="en-US" sz="2400" i="1" dirty="0"/>
                <a:t>I</a:t>
              </a:r>
              <a:r>
                <a:rPr lang="en-US" sz="2400" dirty="0"/>
                <a:t>(</a:t>
              </a:r>
              <a:r>
                <a:rPr lang="en-US" sz="2400" i="1" dirty="0"/>
                <a:t>x</a:t>
              </a:r>
              <a:r>
                <a:rPr lang="en-US" sz="2400" dirty="0"/>
                <a:t>, </a:t>
              </a:r>
              <a:r>
                <a:rPr lang="en-US" sz="2400" i="1" dirty="0"/>
                <a:t>y</a:t>
              </a:r>
              <a:r>
                <a:rPr lang="en-US" sz="2400" dirty="0"/>
                <a:t>) and </a:t>
              </a:r>
              <a:r>
                <a:rPr lang="en-US" sz="2400" i="1" dirty="0"/>
                <a:t>J</a:t>
              </a:r>
              <a:r>
                <a:rPr lang="en-US" sz="2400" dirty="0"/>
                <a:t>(</a:t>
              </a:r>
              <a:r>
                <a:rPr lang="en-US" sz="2400" i="1" dirty="0"/>
                <a:t>x </a:t>
              </a:r>
              <a:r>
                <a:rPr lang="en-US" sz="2400" dirty="0"/>
                <a:t>+ </a:t>
              </a:r>
              <a:r>
                <a:rPr lang="en-US" sz="2400" i="1" dirty="0"/>
                <a:t>d</a:t>
              </a:r>
              <a:r>
                <a:rPr lang="en-US" sz="2400" dirty="0"/>
                <a:t>(</a:t>
              </a:r>
              <a:r>
                <a:rPr lang="en-US" sz="2400" i="1" dirty="0" err="1"/>
                <a:t>x</a:t>
              </a:r>
              <a:r>
                <a:rPr lang="en-US" sz="2400" dirty="0" err="1"/>
                <a:t>,</a:t>
              </a:r>
              <a:r>
                <a:rPr lang="en-US" sz="2400" i="1" dirty="0" err="1"/>
                <a:t>y</a:t>
              </a:r>
              <a:r>
                <a:rPr lang="en-US" sz="2400" dirty="0"/>
                <a:t>), </a:t>
              </a:r>
              <a:r>
                <a:rPr lang="en-US" sz="2400" i="1" dirty="0"/>
                <a:t>y</a:t>
              </a:r>
              <a:r>
                <a:rPr lang="en-US" sz="2400" dirty="0"/>
                <a:t>)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756751" y="5783850"/>
              <a:ext cx="49084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/>
                <a:t>=</a:t>
              </a:r>
            </a:p>
          </p:txBody>
        </p:sp>
      </p:grpSp>
      <p:pic>
        <p:nvPicPr>
          <p:cNvPr id="3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12426" y="2135156"/>
            <a:ext cx="1132114" cy="610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43426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Stereo as energy minimization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10887" y="3294125"/>
            <a:ext cx="7447300" cy="2207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Connector 6"/>
          <p:cNvCxnSpPr/>
          <p:nvPr/>
        </p:nvCxnSpPr>
        <p:spPr>
          <a:xfrm rot="10800000" flipH="1">
            <a:off x="2610886" y="4490293"/>
            <a:ext cx="7447300" cy="1496"/>
          </a:xfrm>
          <a:prstGeom prst="line">
            <a:avLst/>
          </a:prstGeom>
          <a:ln w="38100">
            <a:solidFill>
              <a:schemeClr val="bg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07896" y="4284510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= 141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2307772" y="5405735"/>
            <a:ext cx="7750628" cy="1452265"/>
            <a:chOff x="783772" y="5105400"/>
            <a:chExt cx="7750628" cy="1452265"/>
          </a:xfrm>
        </p:grpSpPr>
        <p:pic>
          <p:nvPicPr>
            <p:cNvPr id="5123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81758" y="5498135"/>
              <a:ext cx="7452642" cy="6196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" name="TextBox 15"/>
            <p:cNvSpPr txBox="1"/>
            <p:nvPr/>
          </p:nvSpPr>
          <p:spPr>
            <a:xfrm>
              <a:off x="3274947" y="6096000"/>
              <a:ext cx="52594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/>
                <a:t>C</a:t>
              </a:r>
              <a:r>
                <a:rPr lang="en-US" sz="2400" dirty="0"/>
                <a:t>(</a:t>
              </a:r>
              <a:r>
                <a:rPr lang="en-US" sz="2400" i="1" dirty="0"/>
                <a:t>x</a:t>
              </a:r>
              <a:r>
                <a:rPr lang="en-US" sz="2400" dirty="0"/>
                <a:t>, </a:t>
              </a:r>
              <a:r>
                <a:rPr lang="en-US" sz="2400" i="1" dirty="0"/>
                <a:t>y</a:t>
              </a:r>
              <a:r>
                <a:rPr lang="en-US" sz="2400" dirty="0"/>
                <a:t>, </a:t>
              </a:r>
              <a:r>
                <a:rPr lang="en-US" sz="2400" i="1" dirty="0"/>
                <a:t>d</a:t>
              </a:r>
              <a:r>
                <a:rPr lang="en-US" sz="2400" dirty="0"/>
                <a:t>); the </a:t>
              </a:r>
              <a:r>
                <a:rPr lang="en-US" sz="2400" i="1" dirty="0"/>
                <a:t>disparity space image</a:t>
              </a:r>
              <a:r>
                <a:rPr lang="en-US" sz="2400" dirty="0"/>
                <a:t> (DSI)</a:t>
              </a:r>
              <a:endParaRPr lang="en-US" sz="2400" i="1" dirty="0"/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>
              <a:off x="925286" y="6270170"/>
              <a:ext cx="12954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rot="5400000" flipH="1" flipV="1">
              <a:off x="506186" y="5851070"/>
              <a:ext cx="8382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2209800" y="6096000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x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83772" y="5105400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d</a:t>
              </a:r>
            </a:p>
          </p:txBody>
        </p:sp>
      </p:grpSp>
      <p:pic>
        <p:nvPicPr>
          <p:cNvPr id="18" name="Picture 6" descr="C:\snavely\work\teaching\09Fa-CS6610\lectures\lec10\tsukuba2.png">
            <a:extLst>
              <a:ext uri="{FF2B5EF4-FFF2-40B4-BE49-F238E27FC236}">
                <a16:creationId xmlns:a16="http://schemas.microsoft.com/office/drawing/2014/main" id="{F823E06A-59F9-4284-8BA5-90295892E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21984" y="1322229"/>
            <a:ext cx="1857141" cy="1392856"/>
          </a:xfrm>
          <a:prstGeom prst="rect">
            <a:avLst/>
          </a:prstGeom>
          <a:noFill/>
        </p:spPr>
      </p:pic>
      <p:pic>
        <p:nvPicPr>
          <p:cNvPr id="22" name="Picture 7" descr="C:\snavely\work\teaching\09Fa-CS6610\lectures\lec10\tsukuba5.png">
            <a:extLst>
              <a:ext uri="{FF2B5EF4-FFF2-40B4-BE49-F238E27FC236}">
                <a16:creationId xmlns:a16="http://schemas.microsoft.com/office/drawing/2014/main" id="{465932EA-3A6F-46FB-A6AE-E072D2B94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79125" y="1322229"/>
            <a:ext cx="1857141" cy="1392856"/>
          </a:xfrm>
          <a:prstGeom prst="rect">
            <a:avLst/>
          </a:prstGeom>
          <a:noFill/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1923D40-AE0B-44FC-9140-01AA6CD4CF49}"/>
              </a:ext>
            </a:extLst>
          </p:cNvPr>
          <p:cNvCxnSpPr>
            <a:cxnSpLocks/>
          </p:cNvCxnSpPr>
          <p:nvPr/>
        </p:nvCxnSpPr>
        <p:spPr>
          <a:xfrm>
            <a:off x="3121984" y="2104819"/>
            <a:ext cx="3714282" cy="0"/>
          </a:xfrm>
          <a:prstGeom prst="line">
            <a:avLst/>
          </a:prstGeom>
          <a:ln w="38100">
            <a:solidFill>
              <a:schemeClr val="bg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4361C14-D9AC-4F3F-B4E0-2B57A86F1980}"/>
              </a:ext>
            </a:extLst>
          </p:cNvPr>
          <p:cNvGrpSpPr/>
          <p:nvPr/>
        </p:nvGrpSpPr>
        <p:grpSpPr>
          <a:xfrm>
            <a:off x="2605759" y="2344945"/>
            <a:ext cx="7452427" cy="949180"/>
            <a:chOff x="2605759" y="2044611"/>
            <a:chExt cx="7452427" cy="949180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C3F5F9A-B755-44DF-BB56-7FF34983A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5759" y="2044611"/>
              <a:ext cx="516225" cy="94918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E91736-FD61-4AAB-92B7-6D78B0A319DC}"/>
                </a:ext>
              </a:extLst>
            </p:cNvPr>
            <p:cNvCxnSpPr>
              <a:cxnSpLocks/>
            </p:cNvCxnSpPr>
            <p:nvPr/>
          </p:nvCxnSpPr>
          <p:spPr>
            <a:xfrm>
              <a:off x="4984253" y="2044611"/>
              <a:ext cx="5073933" cy="94894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9A6CEA32-8D48-4089-A91B-E697DFC1E5B8}"/>
              </a:ext>
            </a:extLst>
          </p:cNvPr>
          <p:cNvSpPr/>
          <p:nvPr/>
        </p:nvSpPr>
        <p:spPr>
          <a:xfrm>
            <a:off x="3124200" y="1755270"/>
            <a:ext cx="1857140" cy="6102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382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Stereo as energy minimization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9031" y="3833404"/>
            <a:ext cx="7452642" cy="619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7"/>
          <p:cNvGrpSpPr/>
          <p:nvPr/>
        </p:nvGrpSpPr>
        <p:grpSpPr>
          <a:xfrm>
            <a:off x="2574160" y="1329059"/>
            <a:ext cx="7447301" cy="2207715"/>
            <a:chOff x="793296" y="2790825"/>
            <a:chExt cx="7904164" cy="2343150"/>
          </a:xfrm>
        </p:grpSpPr>
        <p:pic>
          <p:nvPicPr>
            <p:cNvPr id="5124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93297" y="2790825"/>
              <a:ext cx="7904163" cy="2343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7" name="Straight Connector 6"/>
            <p:cNvCxnSpPr/>
            <p:nvPr/>
          </p:nvCxnSpPr>
          <p:spPr>
            <a:xfrm rot="10800000" flipH="1">
              <a:off x="793296" y="4060374"/>
              <a:ext cx="7904163" cy="1588"/>
            </a:xfrm>
            <a:prstGeom prst="line">
              <a:avLst/>
            </a:prstGeom>
            <a:ln w="38100">
              <a:solidFill>
                <a:schemeClr val="bg1"/>
              </a:solidFill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1671169" y="2319444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= 141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2412559" y="4605438"/>
            <a:ext cx="1295400" cy="15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rot="5400000" flipH="1" flipV="1">
            <a:off x="1993459" y="4186338"/>
            <a:ext cx="838200" cy="15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97073" y="4431268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71045" y="344066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3074" y="4807804"/>
            <a:ext cx="84949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Simple pixel / window matching: choose the minimum of each column in the DSI independently:</a:t>
            </a:r>
          </a:p>
        </p:txBody>
      </p:sp>
      <p:pic>
        <p:nvPicPr>
          <p:cNvPr id="67585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90850" y="5715000"/>
            <a:ext cx="6305550" cy="973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67796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selection of best match</a:t>
            </a:r>
          </a:p>
        </p:txBody>
      </p:sp>
      <p:graphicFrame>
        <p:nvGraphicFramePr>
          <p:cNvPr id="3" name="Object 1025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5214194"/>
              </p:ext>
            </p:extLst>
          </p:nvPr>
        </p:nvGraphicFramePr>
        <p:xfrm>
          <a:off x="3884613" y="1828800"/>
          <a:ext cx="4422775" cy="320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4422167" imgH="3202259" progId="">
                  <p:embed/>
                </p:oleObj>
              </mc:Choice>
              <mc:Fallback>
                <p:oleObj name="Image" r:id="rId3" imgW="4422167" imgH="3202259" progId="">
                  <p:embed/>
                  <p:pic>
                    <p:nvPicPr>
                      <p:cNvPr id="1027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4613" y="1828800"/>
                        <a:ext cx="4422775" cy="3201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76379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Stereo as energy minimization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Better objective function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86744" y="2689830"/>
            <a:ext cx="6643171" cy="726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 rot="16200000">
            <a:off x="5362520" y="2506819"/>
            <a:ext cx="74090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800" dirty="0">
                <a:cs typeface="Times New Roman" pitchFamily="18" charset="0"/>
              </a:rPr>
              <a:t>{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8127497" y="2506817"/>
            <a:ext cx="74090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800" dirty="0">
                <a:cs typeface="Times New Roman" pitchFamily="18" charset="0"/>
              </a:rPr>
              <a:t>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50974" y="3787906"/>
            <a:ext cx="1542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match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7594" y="3777020"/>
            <a:ext cx="22721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smoothness cost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2721429" y="4539028"/>
            <a:ext cx="3657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algn="ctr"/>
            <a:r>
              <a:rPr lang="en-US" sz="2000" dirty="0"/>
              <a:t>Want each pixel to find a good match in the other image</a:t>
            </a:r>
          </a:p>
        </p:txBody>
      </p:sp>
      <p:cxnSp>
        <p:nvCxnSpPr>
          <p:cNvPr id="12" name="Straight Arrow Connector 11"/>
          <p:cNvCxnSpPr>
            <a:endCxn id="8" idx="2"/>
          </p:cNvCxnSpPr>
          <p:nvPr/>
        </p:nvCxnSpPr>
        <p:spPr>
          <a:xfrm flipV="1">
            <a:off x="5410201" y="4249570"/>
            <a:ext cx="412043" cy="2894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760028" y="4549914"/>
            <a:ext cx="398417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algn="ctr"/>
            <a:r>
              <a:rPr lang="en-US" sz="2000" dirty="0"/>
              <a:t>Adjacent pixels should (usually) move about the same amount</a:t>
            </a:r>
          </a:p>
        </p:txBody>
      </p:sp>
      <p:cxnSp>
        <p:nvCxnSpPr>
          <p:cNvPr id="17" name="Straight Arrow Connector 16"/>
          <p:cNvCxnSpPr>
            <a:endCxn id="9" idx="2"/>
          </p:cNvCxnSpPr>
          <p:nvPr/>
        </p:nvCxnSpPr>
        <p:spPr>
          <a:xfrm rot="10800000">
            <a:off x="8603674" y="4238684"/>
            <a:ext cx="311726" cy="3003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061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Stereo as energy minimization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34259" y="2285999"/>
            <a:ext cx="6080606" cy="128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1" y="1369232"/>
            <a:ext cx="6643171" cy="726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894114" y="2405929"/>
            <a:ext cx="1624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match cost: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3631" y="3810000"/>
            <a:ext cx="2586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smoothness cost: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5334000" y="5098253"/>
            <a:ext cx="1066800" cy="1066800"/>
            <a:chOff x="5715000" y="5181600"/>
            <a:chExt cx="1066800" cy="1066800"/>
          </a:xfrm>
        </p:grpSpPr>
        <p:sp>
          <p:nvSpPr>
            <p:cNvPr id="9" name="Oval 8"/>
            <p:cNvSpPr/>
            <p:nvPr/>
          </p:nvSpPr>
          <p:spPr>
            <a:xfrm>
              <a:off x="6172200" y="56388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6172200" y="51816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6172200" y="60960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5715000" y="56388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6629400" y="56388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/>
            <p:cNvCxnSpPr>
              <a:stCxn id="9" idx="6"/>
              <a:endCxn id="13" idx="2"/>
            </p:cNvCxnSpPr>
            <p:nvPr/>
          </p:nvCxnSpPr>
          <p:spPr>
            <a:xfrm>
              <a:off x="6324600" y="5715000"/>
              <a:ext cx="304800" cy="1588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9" idx="0"/>
              <a:endCxn id="10" idx="4"/>
            </p:cNvCxnSpPr>
            <p:nvPr/>
          </p:nvCxnSpPr>
          <p:spPr>
            <a:xfrm rot="5400000" flipH="1" flipV="1">
              <a:off x="6096000" y="5486400"/>
              <a:ext cx="304800" cy="1588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9" idx="2"/>
              <a:endCxn id="12" idx="6"/>
            </p:cNvCxnSpPr>
            <p:nvPr/>
          </p:nvCxnSpPr>
          <p:spPr>
            <a:xfrm rot="10800000">
              <a:off x="5867400" y="5715000"/>
              <a:ext cx="304800" cy="1588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9" idx="4"/>
              <a:endCxn id="11" idx="0"/>
            </p:cNvCxnSpPr>
            <p:nvPr/>
          </p:nvCxnSpPr>
          <p:spPr>
            <a:xfrm rot="5400000">
              <a:off x="6096000" y="5943600"/>
              <a:ext cx="304800" cy="1588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7010400" y="5098253"/>
            <a:ext cx="1066800" cy="1066800"/>
            <a:chOff x="7391400" y="5181600"/>
            <a:chExt cx="1066800" cy="1066800"/>
          </a:xfrm>
        </p:grpSpPr>
        <p:sp>
          <p:nvSpPr>
            <p:cNvPr id="18" name="Oval 17"/>
            <p:cNvSpPr/>
            <p:nvPr/>
          </p:nvSpPr>
          <p:spPr>
            <a:xfrm>
              <a:off x="7848600" y="56388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848600" y="51816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7848600" y="60960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391400" y="56388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8305800" y="56388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/>
            <p:cNvCxnSpPr>
              <a:stCxn id="18" idx="6"/>
              <a:endCxn id="22" idx="2"/>
            </p:cNvCxnSpPr>
            <p:nvPr/>
          </p:nvCxnSpPr>
          <p:spPr>
            <a:xfrm>
              <a:off x="8001000" y="5715000"/>
              <a:ext cx="304800" cy="1588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18" idx="0"/>
              <a:endCxn id="19" idx="4"/>
            </p:cNvCxnSpPr>
            <p:nvPr/>
          </p:nvCxnSpPr>
          <p:spPr>
            <a:xfrm rot="5400000" flipH="1" flipV="1">
              <a:off x="7772400" y="5486400"/>
              <a:ext cx="304800" cy="1588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18" idx="2"/>
              <a:endCxn id="21" idx="6"/>
            </p:cNvCxnSpPr>
            <p:nvPr/>
          </p:nvCxnSpPr>
          <p:spPr>
            <a:xfrm rot="10800000">
              <a:off x="7543800" y="5715000"/>
              <a:ext cx="304800" cy="1588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18" idx="4"/>
              <a:endCxn id="20" idx="0"/>
            </p:cNvCxnSpPr>
            <p:nvPr/>
          </p:nvCxnSpPr>
          <p:spPr>
            <a:xfrm rot="5400000">
              <a:off x="7772400" y="5943600"/>
              <a:ext cx="304800" cy="1588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/>
            <p:cNvSpPr/>
            <p:nvPr/>
          </p:nvSpPr>
          <p:spPr>
            <a:xfrm>
              <a:off x="7391400" y="51816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7391400" y="60960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8305800" y="60960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8305800" y="51816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/>
            <p:cNvCxnSpPr>
              <a:stCxn id="18" idx="7"/>
              <a:endCxn id="30" idx="3"/>
            </p:cNvCxnSpPr>
            <p:nvPr/>
          </p:nvCxnSpPr>
          <p:spPr>
            <a:xfrm rot="5400000" flipH="1" flipV="1">
              <a:off x="7978682" y="5311682"/>
              <a:ext cx="349436" cy="349436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stCxn id="18" idx="5"/>
              <a:endCxn id="29" idx="1"/>
            </p:cNvCxnSpPr>
            <p:nvPr/>
          </p:nvCxnSpPr>
          <p:spPr>
            <a:xfrm rot="16200000" flipH="1">
              <a:off x="7978682" y="5768882"/>
              <a:ext cx="349436" cy="349436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18" idx="3"/>
              <a:endCxn id="28" idx="7"/>
            </p:cNvCxnSpPr>
            <p:nvPr/>
          </p:nvCxnSpPr>
          <p:spPr>
            <a:xfrm rot="5400000">
              <a:off x="7521482" y="5768882"/>
              <a:ext cx="349436" cy="349436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18" idx="1"/>
              <a:endCxn id="27" idx="5"/>
            </p:cNvCxnSpPr>
            <p:nvPr/>
          </p:nvCxnSpPr>
          <p:spPr>
            <a:xfrm rot="16200000" flipV="1">
              <a:off x="7521482" y="5311682"/>
              <a:ext cx="349436" cy="349436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4876800" y="6204523"/>
            <a:ext cx="198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4-connected neighborhood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53200" y="6211669"/>
            <a:ext cx="198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8-connected neighborhood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38602" y="3748051"/>
            <a:ext cx="4952999" cy="1204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65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32930" y="5476873"/>
            <a:ext cx="330774" cy="390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TextBox 38"/>
          <p:cNvSpPr txBox="1"/>
          <p:nvPr/>
        </p:nvSpPr>
        <p:spPr>
          <a:xfrm>
            <a:off x="2137730" y="5476873"/>
            <a:ext cx="2586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set of neighboring pixels</a:t>
            </a:r>
          </a:p>
        </p:txBody>
      </p:sp>
    </p:spTree>
    <p:extLst>
      <p:ext uri="{BB962C8B-B14F-4D97-AF65-F5344CB8AC3E}">
        <p14:creationId xmlns:p14="http://schemas.microsoft.com/office/powerpoint/2010/main" val="1203770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7" grpId="0"/>
      <p:bldP spid="38" grpId="0"/>
      <p:bldP spid="3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Smoothness 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91562-1534-42BE-B0FE-359A31CB9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66976" y="3352800"/>
            <a:ext cx="4596918" cy="710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4648200"/>
            <a:ext cx="5819776" cy="1549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94824" y="496767"/>
            <a:ext cx="6019800" cy="14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3733801" y="6248401"/>
            <a:ext cx="2016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“Potts model”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4776" y="4038601"/>
            <a:ext cx="15800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L</a:t>
            </a:r>
            <a:r>
              <a:rPr lang="en-US" sz="2400" baseline="-25000" dirty="0"/>
              <a:t>1</a:t>
            </a:r>
            <a:r>
              <a:rPr lang="en-US" sz="2400" dirty="0"/>
              <a:t> distance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8001000" y="3201194"/>
            <a:ext cx="2514600" cy="1219994"/>
            <a:chOff x="6477000" y="3201194"/>
            <a:chExt cx="2514600" cy="1219994"/>
          </a:xfrm>
        </p:grpSpPr>
        <p:cxnSp>
          <p:nvCxnSpPr>
            <p:cNvPr id="14" name="Straight Connector 13"/>
            <p:cNvCxnSpPr/>
            <p:nvPr/>
          </p:nvCxnSpPr>
          <p:spPr>
            <a:xfrm>
              <a:off x="6477000" y="4419600"/>
              <a:ext cx="2514600" cy="1588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5400000" flipH="1" flipV="1">
              <a:off x="7086600" y="3810000"/>
              <a:ext cx="1219200" cy="1588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6200000" flipV="1">
              <a:off x="6629400" y="3352800"/>
              <a:ext cx="1066800" cy="106680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5400000" flipH="1" flipV="1">
              <a:off x="7696200" y="3352800"/>
              <a:ext cx="1066800" cy="106680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8001000" y="5257800"/>
            <a:ext cx="2514600" cy="1220788"/>
            <a:chOff x="6477000" y="5257800"/>
            <a:chExt cx="2514600" cy="1220788"/>
          </a:xfrm>
        </p:grpSpPr>
        <p:cxnSp>
          <p:nvCxnSpPr>
            <p:cNvPr id="21" name="Straight Connector 20"/>
            <p:cNvCxnSpPr/>
            <p:nvPr/>
          </p:nvCxnSpPr>
          <p:spPr>
            <a:xfrm>
              <a:off x="6477000" y="6476206"/>
              <a:ext cx="2514600" cy="1588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5400000" flipH="1" flipV="1">
              <a:off x="7086600" y="5866606"/>
              <a:ext cx="1219200" cy="1588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16200000" flipV="1">
              <a:off x="7163196" y="6019402"/>
              <a:ext cx="913606" cy="2"/>
            </a:xfrm>
            <a:prstGeom prst="line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rot="5400000" flipH="1" flipV="1">
              <a:off x="7315996" y="6019005"/>
              <a:ext cx="914401" cy="1592"/>
            </a:xfrm>
            <a:prstGeom prst="line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7772400" y="5562600"/>
              <a:ext cx="914400" cy="1588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H="1">
              <a:off x="6705600" y="5562600"/>
              <a:ext cx="914400" cy="1588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7620000" y="6477000"/>
              <a:ext cx="152400" cy="1588"/>
            </a:xfrm>
            <a:prstGeom prst="line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7095024" y="2020768"/>
            <a:ext cx="2934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How do we choose </a:t>
            </a:r>
            <a:r>
              <a:rPr lang="en-US" sz="2400" i="1" dirty="0"/>
              <a:t>V</a:t>
            </a:r>
            <a:r>
              <a:rPr lang="en-US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9332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C101F-833F-459B-8275-A8205E568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Smoothness 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96F90-5117-4881-8EE2-EC0293388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286000"/>
            <a:ext cx="10972800" cy="3840164"/>
          </a:xfrm>
        </p:spPr>
        <p:txBody>
          <a:bodyPr/>
          <a:lstStyle/>
          <a:p>
            <a:r>
              <a:rPr lang="en-US" dirty="0"/>
              <a:t>If </a:t>
            </a:r>
            <a:r>
              <a:rPr lang="el-GR" dirty="0">
                <a:cs typeface="Narkisim" panose="020B0604020202020204" pitchFamily="34" charset="-79"/>
              </a:rPr>
              <a:t>λ</a:t>
            </a:r>
            <a:r>
              <a:rPr lang="en-US" dirty="0">
                <a:cs typeface="Narkisim" panose="020E0502050101010101" pitchFamily="34" charset="-79"/>
              </a:rPr>
              <a:t> = infinity, then we only consider smoothness</a:t>
            </a:r>
          </a:p>
          <a:p>
            <a:r>
              <a:rPr lang="en-US" dirty="0">
                <a:cs typeface="Narkisim" panose="020E0502050101010101" pitchFamily="34" charset="-79"/>
              </a:rPr>
              <a:t>Optimal solution is a surface of constant depth/disparity</a:t>
            </a:r>
          </a:p>
          <a:p>
            <a:pPr lvl="1"/>
            <a:r>
              <a:rPr lang="en-US" i="1" dirty="0" err="1">
                <a:cs typeface="Narkisim" panose="020E0502050101010101" pitchFamily="34" charset="-79"/>
              </a:rPr>
              <a:t>Fronto</a:t>
            </a:r>
            <a:r>
              <a:rPr lang="en-US" i="1" dirty="0">
                <a:cs typeface="Narkisim" panose="020E0502050101010101" pitchFamily="34" charset="-79"/>
              </a:rPr>
              <a:t>-parallel </a:t>
            </a:r>
            <a:r>
              <a:rPr lang="en-US" dirty="0">
                <a:cs typeface="Narkisim" panose="020E0502050101010101" pitchFamily="34" charset="-79"/>
              </a:rPr>
              <a:t>surface</a:t>
            </a:r>
          </a:p>
          <a:p>
            <a:endParaRPr lang="en-US" i="1" dirty="0">
              <a:cs typeface="Narkisim" panose="020E0502050101010101" pitchFamily="34" charset="-79"/>
            </a:endParaRPr>
          </a:p>
          <a:p>
            <a:r>
              <a:rPr lang="en-US" dirty="0">
                <a:cs typeface="Narkisim" panose="020E0502050101010101" pitchFamily="34" charset="-79"/>
              </a:rPr>
              <a:t>In practice, want to balance data term with smoothness term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50AE032-21F9-4273-83D9-3E59B27E9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1" y="1369232"/>
            <a:ext cx="6643171" cy="726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309534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Depth from disparity</a:t>
            </a:r>
          </a:p>
        </p:txBody>
      </p:sp>
      <p:grpSp>
        <p:nvGrpSpPr>
          <p:cNvPr id="2" name="Group 4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4267200" y="1447800"/>
            <a:ext cx="3648075" cy="3048000"/>
            <a:chOff x="432" y="2208"/>
            <a:chExt cx="2298" cy="1920"/>
          </a:xfrm>
        </p:grpSpPr>
        <p:sp>
          <p:nvSpPr>
            <p:cNvPr id="25605" name="Oval 5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20" y="3840"/>
              <a:ext cx="48" cy="4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606" name="Oval 6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016" y="3840"/>
              <a:ext cx="48" cy="4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607" name="Line 7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432" y="3504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608" name="Line 8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1728" y="3504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609" name="Oval 9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324" y="2475"/>
              <a:ext cx="48" cy="4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610" name="Line 10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 flipV="1">
              <a:off x="768" y="2496"/>
              <a:ext cx="576" cy="13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611" name="Line 11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 flipH="1" flipV="1">
              <a:off x="1344" y="2496"/>
              <a:ext cx="720" cy="13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612" name="Line 12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 flipV="1">
              <a:off x="748" y="3504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613" name="Text Box 13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02" y="3551"/>
              <a:ext cx="168" cy="2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sz="2200">
                  <a:latin typeface="+mj-lt"/>
                </a:rPr>
                <a:t>f</a:t>
              </a:r>
            </a:p>
          </p:txBody>
        </p:sp>
        <p:sp>
          <p:nvSpPr>
            <p:cNvPr id="25614" name="Oval 1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892" y="3477"/>
              <a:ext cx="48" cy="4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615" name="Oval 15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845" y="3477"/>
              <a:ext cx="48" cy="4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616" name="Line 16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 flipV="1">
              <a:off x="2043" y="3504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617" name="Line 17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720" y="3456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sm"/>
              <a:tailEnd type="arrow" w="med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618" name="Text Box 18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728" y="3216"/>
              <a:ext cx="204" cy="26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sz="2200">
                  <a:latin typeface="+mj-lt"/>
                </a:rPr>
                <a:t>x</a:t>
              </a:r>
            </a:p>
          </p:txBody>
        </p:sp>
        <p:sp>
          <p:nvSpPr>
            <p:cNvPr id="25619" name="Line 19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1872" y="3456"/>
              <a:ext cx="1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arrow" w="med" len="sm"/>
              <a:tailEnd type="none" w="med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620" name="Text Box 20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841" y="3216"/>
              <a:ext cx="243" cy="26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sz="2200">
                  <a:latin typeface="+mj-lt"/>
                </a:rPr>
                <a:t>x’</a:t>
              </a:r>
            </a:p>
          </p:txBody>
        </p:sp>
        <p:sp>
          <p:nvSpPr>
            <p:cNvPr id="25621" name="Text Box 2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020" y="3816"/>
              <a:ext cx="734" cy="2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sz="2200" dirty="0">
                  <a:latin typeface="+mj-lt"/>
                </a:rPr>
                <a:t>baseline</a:t>
              </a:r>
            </a:p>
          </p:txBody>
        </p:sp>
        <p:sp>
          <p:nvSpPr>
            <p:cNvPr id="25622" name="Line 22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V="1">
              <a:off x="2496" y="2496"/>
              <a:ext cx="0" cy="13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623" name="Text Box 23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2538" y="2975"/>
              <a:ext cx="192" cy="2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sz="2200">
                  <a:latin typeface="+mj-lt"/>
                </a:rPr>
                <a:t>z</a:t>
              </a:r>
            </a:p>
          </p:txBody>
        </p:sp>
        <p:sp>
          <p:nvSpPr>
            <p:cNvPr id="25624" name="Text Box 24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508" y="3859"/>
              <a:ext cx="486" cy="26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sz="2200">
                  <a:latin typeface="+mj-lt"/>
                </a:rPr>
                <a:t>C</a:t>
              </a:r>
              <a:endParaRPr lang="en-US" sz="2200" baseline="-25000">
                <a:latin typeface="+mj-lt"/>
              </a:endParaRPr>
            </a:p>
          </p:txBody>
        </p:sp>
        <p:sp>
          <p:nvSpPr>
            <p:cNvPr id="25625" name="Text Box 25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824" y="3859"/>
              <a:ext cx="486" cy="26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sz="2200">
                  <a:latin typeface="+mj-lt"/>
                </a:rPr>
                <a:t>C’</a:t>
              </a:r>
              <a:endParaRPr lang="en-US" sz="2200" baseline="-25000">
                <a:latin typeface="+mj-lt"/>
              </a:endParaRPr>
            </a:p>
          </p:txBody>
        </p:sp>
        <p:sp>
          <p:nvSpPr>
            <p:cNvPr id="25626" name="Text Box 26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104" y="2208"/>
              <a:ext cx="486" cy="26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sz="2200">
                  <a:latin typeface="+mj-lt"/>
                </a:rPr>
                <a:t>X</a:t>
              </a:r>
              <a:endParaRPr lang="en-US" sz="2200" baseline="-25000">
                <a:latin typeface="+mj-lt"/>
              </a:endParaRPr>
            </a:p>
          </p:txBody>
        </p:sp>
        <p:sp>
          <p:nvSpPr>
            <p:cNvPr id="25627" name="Line 27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>
              <a:off x="796" y="3861"/>
              <a:ext cx="1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628" name="Text Box 28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2015" y="3551"/>
              <a:ext cx="168" cy="2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sz="2200">
                  <a:latin typeface="+mj-lt"/>
                </a:rPr>
                <a:t>f</a:t>
              </a:r>
            </a:p>
          </p:txBody>
        </p:sp>
      </p:grpSp>
      <p:pic>
        <p:nvPicPr>
          <p:cNvPr id="25604" name="Picture 40" descr="Edittex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30" cstate="print"/>
          <a:srcRect/>
          <a:stretch>
            <a:fillRect/>
          </a:stretch>
        </p:blipFill>
        <p:spPr bwMode="auto">
          <a:xfrm>
            <a:off x="3352801" y="5257800"/>
            <a:ext cx="5789613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21" name="Rectangle 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225964" y="3657600"/>
            <a:ext cx="78486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dirty="0">
              <a:latin typeface="+mj-lt"/>
            </a:endParaRP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>
                <a:latin typeface="+mj-lt"/>
              </a:rPr>
              <a:t>Camera calibration errors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>
                <a:latin typeface="+mj-lt"/>
              </a:rPr>
              <a:t>Poor image resolution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>
                <a:latin typeface="+mj-lt"/>
              </a:rPr>
              <a:t>Occlusions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>
                <a:latin typeface="+mj-lt"/>
              </a:rPr>
              <a:t>Violations of brightness constancy (specular reflections)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>
                <a:latin typeface="+mj-lt"/>
              </a:rPr>
              <a:t>Large motions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b="1" dirty="0">
                <a:latin typeface="+mj-lt"/>
              </a:rPr>
              <a:t>Low-contrast image regions</a:t>
            </a: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Stereo reconstruction pipeline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2209800" y="1524000"/>
            <a:ext cx="7772400" cy="2133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Steps</a:t>
            </a:r>
          </a:p>
          <a:p>
            <a:pPr lvl="1"/>
            <a:r>
              <a:rPr lang="en-US" dirty="0"/>
              <a:t>Calibrate cameras</a:t>
            </a:r>
          </a:p>
          <a:p>
            <a:pPr lvl="1"/>
            <a:r>
              <a:rPr lang="en-US" dirty="0"/>
              <a:t>Rectify images</a:t>
            </a:r>
          </a:p>
          <a:p>
            <a:pPr lvl="1"/>
            <a:r>
              <a:rPr lang="en-US" dirty="0"/>
              <a:t>Compute disparity</a:t>
            </a:r>
          </a:p>
          <a:p>
            <a:pPr lvl="1"/>
            <a:r>
              <a:rPr lang="en-US" dirty="0"/>
              <a:t>Estimate depth</a:t>
            </a:r>
          </a:p>
        </p:txBody>
      </p:sp>
      <p:sp>
        <p:nvSpPr>
          <p:cNvPr id="28677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09800" y="3581400"/>
            <a:ext cx="78486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200" dirty="0">
                <a:latin typeface="+mj-lt"/>
              </a:rPr>
              <a:t>What will cause errors?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821" grpId="0" uiExpand="1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1458-22C8-E31C-AE16-3AC0E6B02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of stereo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D95CD-C3E9-C76F-5401-9DB2E74CB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90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Real-time stereo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609600" y="5562600"/>
            <a:ext cx="10744200" cy="1371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Used for robot navigation (and other tasks)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Several real-time stereo techniques have been developed (most based on simple discrete search)</a:t>
            </a:r>
          </a:p>
        </p:txBody>
      </p:sp>
      <p:pic>
        <p:nvPicPr>
          <p:cNvPr id="27652" name="Picture 5" descr="WINNER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810001" y="1219201"/>
            <a:ext cx="4830763" cy="362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3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749031" y="4872039"/>
            <a:ext cx="69259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latin typeface="+mj-lt"/>
                <a:hlinkClick r:id="rId8"/>
              </a:rPr>
              <a:t>Nomad robot </a:t>
            </a:r>
            <a:r>
              <a:rPr lang="en-US" sz="2400" dirty="0">
                <a:latin typeface="+mj-lt"/>
              </a:rPr>
              <a:t>searches for meteorites in </a:t>
            </a:r>
            <a:r>
              <a:rPr lang="en-US" sz="2400" dirty="0" err="1">
                <a:latin typeface="+mj-lt"/>
              </a:rPr>
              <a:t>Antartica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/>
              <a:t>Active stereo with structured light</a:t>
            </a:r>
          </a:p>
        </p:txBody>
      </p:sp>
      <p:sp>
        <p:nvSpPr>
          <p:cNvPr id="3076" name="Rectangle 7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609600" y="5257800"/>
            <a:ext cx="10972800" cy="1447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Project “structured” light patterns onto the object</a:t>
            </a:r>
          </a:p>
          <a:p>
            <a:pPr lvl="1"/>
            <a:r>
              <a:rPr lang="en-US" dirty="0"/>
              <a:t>simplifies the correspondence problem</a:t>
            </a:r>
          </a:p>
          <a:p>
            <a:pPr lvl="1"/>
            <a:r>
              <a:rPr lang="en-US" dirty="0"/>
              <a:t>basis for active depth sensors, such as Kinect and iPhone X (using IR)</a:t>
            </a:r>
          </a:p>
        </p:txBody>
      </p:sp>
      <p:graphicFrame>
        <p:nvGraphicFramePr>
          <p:cNvPr id="3074" name="Object 1024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25588" y="1066800"/>
          <a:ext cx="9142412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6" imgW="9142857" imgH="1714739" progId="">
                  <p:embed/>
                </p:oleObj>
              </mc:Choice>
              <mc:Fallback>
                <p:oleObj name="Photo Editor Photo" r:id="rId26" imgW="9142857" imgH="1714739" progId="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1066800"/>
                        <a:ext cx="9142412" cy="171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0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1600200" y="3124200"/>
            <a:ext cx="3200400" cy="1936750"/>
            <a:chOff x="48" y="1968"/>
            <a:chExt cx="2016" cy="1220"/>
          </a:xfrm>
        </p:grpSpPr>
        <p:grpSp>
          <p:nvGrpSpPr>
            <p:cNvPr id="3" name="Group 13"/>
            <p:cNvGrpSpPr>
              <a:grpSpLocks/>
            </p:cNvGrpSpPr>
            <p:nvPr/>
          </p:nvGrpSpPr>
          <p:grpSpPr bwMode="auto">
            <a:xfrm>
              <a:off x="1056" y="2208"/>
              <a:ext cx="144" cy="240"/>
              <a:chOff x="864" y="2064"/>
              <a:chExt cx="144" cy="240"/>
            </a:xfrm>
          </p:grpSpPr>
          <p:sp>
            <p:nvSpPr>
              <p:cNvPr id="3102" name="Rectangle 12"/>
              <p:cNvSpPr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912" y="2160"/>
                <a:ext cx="96" cy="48"/>
              </a:xfrm>
              <a:prstGeom prst="rect">
                <a:avLst/>
              </a:prstGeom>
              <a:solidFill>
                <a:srgbClr val="FF99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03" name="Rectangle 11"/>
              <p:cNvSpPr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864" y="2064"/>
                <a:ext cx="96" cy="240"/>
              </a:xfrm>
              <a:prstGeom prst="rect">
                <a:avLst/>
              </a:prstGeom>
              <a:solidFill>
                <a:srgbClr val="FF99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14"/>
            <p:cNvGrpSpPr>
              <a:grpSpLocks/>
            </p:cNvGrpSpPr>
            <p:nvPr/>
          </p:nvGrpSpPr>
          <p:grpSpPr bwMode="auto">
            <a:xfrm>
              <a:off x="1056" y="2736"/>
              <a:ext cx="144" cy="240"/>
              <a:chOff x="864" y="2064"/>
              <a:chExt cx="144" cy="240"/>
            </a:xfrm>
          </p:grpSpPr>
          <p:sp>
            <p:nvSpPr>
              <p:cNvPr id="3100" name="Rectangle 15"/>
              <p:cNvSpPr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912" y="2160"/>
                <a:ext cx="96" cy="48"/>
              </a:xfrm>
              <a:prstGeom prst="rect">
                <a:avLst/>
              </a:prstGeom>
              <a:solidFill>
                <a:srgbClr val="FF99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01" name="Rectangle 16"/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864" y="2064"/>
                <a:ext cx="96" cy="240"/>
              </a:xfrm>
              <a:prstGeom prst="rect">
                <a:avLst/>
              </a:prstGeom>
              <a:solidFill>
                <a:srgbClr val="FF99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9"/>
            <p:cNvGrpSpPr>
              <a:grpSpLocks/>
            </p:cNvGrpSpPr>
            <p:nvPr/>
          </p:nvGrpSpPr>
          <p:grpSpPr bwMode="auto">
            <a:xfrm>
              <a:off x="672" y="2496"/>
              <a:ext cx="445" cy="192"/>
              <a:chOff x="768" y="2448"/>
              <a:chExt cx="445" cy="192"/>
            </a:xfrm>
          </p:grpSpPr>
          <p:sp>
            <p:nvSpPr>
              <p:cNvPr id="3098" name="Rectangle 18"/>
              <p:cNvSpPr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1069" y="2524"/>
                <a:ext cx="144" cy="4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99" name="Rectangle 17"/>
              <p:cNvSpPr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768" y="2448"/>
                <a:ext cx="336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094" name="Text Box 2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768" y="2976"/>
              <a:ext cx="65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Arial" charset="0"/>
                </a:rPr>
                <a:t>camera 2</a:t>
              </a:r>
            </a:p>
          </p:txBody>
        </p:sp>
        <p:sp>
          <p:nvSpPr>
            <p:cNvPr id="3095" name="Text Box 22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68" y="1968"/>
              <a:ext cx="65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Arial" charset="0"/>
                </a:rPr>
                <a:t>camera 1</a:t>
              </a:r>
            </a:p>
          </p:txBody>
        </p:sp>
        <p:sp>
          <p:nvSpPr>
            <p:cNvPr id="3096" name="Text Box 23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8" y="2476"/>
              <a:ext cx="61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Arial" charset="0"/>
                </a:rPr>
                <a:t>projector</a:t>
              </a:r>
            </a:p>
          </p:txBody>
        </p:sp>
        <p:sp>
          <p:nvSpPr>
            <p:cNvPr id="3097" name="Freeform 24"/>
            <p:cNvSpPr>
              <a:spLocks/>
            </p:cNvSpPr>
            <p:nvPr>
              <p:custDataLst>
                <p:tags r:id="rId17"/>
              </p:custDataLst>
            </p:nvPr>
          </p:nvSpPr>
          <p:spPr bwMode="auto">
            <a:xfrm>
              <a:off x="1104" y="2160"/>
              <a:ext cx="960" cy="960"/>
            </a:xfrm>
            <a:custGeom>
              <a:avLst/>
              <a:gdLst>
                <a:gd name="T0" fmla="*/ 0 w 960"/>
                <a:gd name="T1" fmla="*/ 432 h 960"/>
                <a:gd name="T2" fmla="*/ 960 w 960"/>
                <a:gd name="T3" fmla="*/ 0 h 960"/>
                <a:gd name="T4" fmla="*/ 960 w 960"/>
                <a:gd name="T5" fmla="*/ 960 h 960"/>
                <a:gd name="T6" fmla="*/ 0 w 960"/>
                <a:gd name="T7" fmla="*/ 432 h 9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0"/>
                <a:gd name="T13" fmla="*/ 0 h 960"/>
                <a:gd name="T14" fmla="*/ 960 w 960"/>
                <a:gd name="T15" fmla="*/ 960 h 9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0" h="960">
                  <a:moveTo>
                    <a:pt x="0" y="432"/>
                  </a:moveTo>
                  <a:lnTo>
                    <a:pt x="960" y="0"/>
                  </a:lnTo>
                  <a:lnTo>
                    <a:pt x="960" y="960"/>
                  </a:lnTo>
                  <a:lnTo>
                    <a:pt x="0" y="432"/>
                  </a:lnTo>
                  <a:close/>
                </a:path>
              </a:pathLst>
            </a:cu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41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6324600" y="3124200"/>
            <a:ext cx="3200400" cy="1828800"/>
            <a:chOff x="3024" y="1968"/>
            <a:chExt cx="2016" cy="1152"/>
          </a:xfrm>
        </p:grpSpPr>
        <p:grpSp>
          <p:nvGrpSpPr>
            <p:cNvPr id="7" name="Group 25"/>
            <p:cNvGrpSpPr>
              <a:grpSpLocks/>
            </p:cNvGrpSpPr>
            <p:nvPr/>
          </p:nvGrpSpPr>
          <p:grpSpPr bwMode="auto">
            <a:xfrm>
              <a:off x="4032" y="2208"/>
              <a:ext cx="144" cy="240"/>
              <a:chOff x="864" y="2064"/>
              <a:chExt cx="144" cy="240"/>
            </a:xfrm>
          </p:grpSpPr>
          <p:sp>
            <p:nvSpPr>
              <p:cNvPr id="3088" name="Rectangle 26"/>
              <p:cNvSpPr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912" y="2160"/>
                <a:ext cx="96" cy="48"/>
              </a:xfrm>
              <a:prstGeom prst="rect">
                <a:avLst/>
              </a:prstGeom>
              <a:solidFill>
                <a:srgbClr val="FF99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89" name="Rectangle 27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864" y="2064"/>
                <a:ext cx="96" cy="240"/>
              </a:xfrm>
              <a:prstGeom prst="rect">
                <a:avLst/>
              </a:prstGeom>
              <a:solidFill>
                <a:srgbClr val="FF99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" name="Group 31"/>
            <p:cNvGrpSpPr>
              <a:grpSpLocks/>
            </p:cNvGrpSpPr>
            <p:nvPr/>
          </p:nvGrpSpPr>
          <p:grpSpPr bwMode="auto">
            <a:xfrm>
              <a:off x="3648" y="2496"/>
              <a:ext cx="445" cy="192"/>
              <a:chOff x="768" y="2448"/>
              <a:chExt cx="445" cy="192"/>
            </a:xfrm>
          </p:grpSpPr>
          <p:sp>
            <p:nvSpPr>
              <p:cNvPr id="3086" name="Rectangle 32"/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1069" y="2524"/>
                <a:ext cx="144" cy="4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87" name="Rectangle 33"/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768" y="2448"/>
                <a:ext cx="336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083" name="Text Box 36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744" y="1968"/>
              <a:ext cx="65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Arial" charset="0"/>
                </a:rPr>
                <a:t>camera 1</a:t>
              </a:r>
            </a:p>
          </p:txBody>
        </p:sp>
        <p:sp>
          <p:nvSpPr>
            <p:cNvPr id="3084" name="Text Box 37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024" y="2476"/>
              <a:ext cx="61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Arial" charset="0"/>
                </a:rPr>
                <a:t>projector</a:t>
              </a:r>
            </a:p>
          </p:txBody>
        </p:sp>
        <p:sp>
          <p:nvSpPr>
            <p:cNvPr id="3085" name="Freeform 38"/>
            <p:cNvSpPr>
              <a:spLocks/>
            </p:cNvSpPr>
            <p:nvPr>
              <p:custDataLst>
                <p:tags r:id="rId9"/>
              </p:custDataLst>
            </p:nvPr>
          </p:nvSpPr>
          <p:spPr bwMode="auto">
            <a:xfrm>
              <a:off x="4080" y="2160"/>
              <a:ext cx="960" cy="960"/>
            </a:xfrm>
            <a:custGeom>
              <a:avLst/>
              <a:gdLst>
                <a:gd name="T0" fmla="*/ 0 w 960"/>
                <a:gd name="T1" fmla="*/ 432 h 960"/>
                <a:gd name="T2" fmla="*/ 960 w 960"/>
                <a:gd name="T3" fmla="*/ 0 h 960"/>
                <a:gd name="T4" fmla="*/ 960 w 960"/>
                <a:gd name="T5" fmla="*/ 960 h 960"/>
                <a:gd name="T6" fmla="*/ 0 w 960"/>
                <a:gd name="T7" fmla="*/ 432 h 9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0"/>
                <a:gd name="T13" fmla="*/ 0 h 960"/>
                <a:gd name="T14" fmla="*/ 960 w 960"/>
                <a:gd name="T15" fmla="*/ 960 h 9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0" h="960">
                  <a:moveTo>
                    <a:pt x="0" y="432"/>
                  </a:moveTo>
                  <a:lnTo>
                    <a:pt x="960" y="0"/>
                  </a:lnTo>
                  <a:lnTo>
                    <a:pt x="960" y="960"/>
                  </a:lnTo>
                  <a:lnTo>
                    <a:pt x="0" y="432"/>
                  </a:lnTo>
                  <a:close/>
                </a:path>
              </a:pathLst>
            </a:cu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79" name="Rectangle 43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953000" y="2743200"/>
            <a:ext cx="22812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>
                <a:latin typeface="Arial" charset="0"/>
              </a:rPr>
              <a:t>Li Zhang’s one-shot stereo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9739B1-8AEE-4303-9596-08EDE34D2B1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backgroundRemoval t="8137" b="92043" l="9655" r="89655">
                        <a14:foregroundMark x1="31494" y1="93852" x2="61609" y2="92224"/>
                        <a14:foregroundMark x1="61609" y1="92224" x2="67816" y2="90597"/>
                        <a14:foregroundMark x1="44828" y1="11031" x2="27586" y2="8137"/>
                        <a14:foregroundMark x1="52644" y1="11573" x2="40920" y2="1012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60499" y="3242385"/>
            <a:ext cx="1497259" cy="190341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3B8A57D-A2B2-4B1A-8D97-0FA12BA988A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backgroundRemoval t="8137" b="92043" l="9655" r="89655">
                        <a14:foregroundMark x1="31494" y1="93852" x2="61609" y2="92224"/>
                        <a14:foregroundMark x1="61609" y1="92224" x2="67816" y2="90597"/>
                        <a14:foregroundMark x1="44828" y1="11031" x2="27586" y2="8137"/>
                        <a14:foregroundMark x1="52644" y1="11573" x2="40920" y2="1012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92003" y="3255963"/>
            <a:ext cx="1497259" cy="19034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98728-C655-43E1-8678-67C9BFFCD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Active stereo with structured light</a:t>
            </a:r>
          </a:p>
        </p:txBody>
      </p:sp>
      <p:pic>
        <p:nvPicPr>
          <p:cNvPr id="686082" name="Picture 2" descr="https://i.giphy.com/26njOPwKaadKAq6wU.gif">
            <a:extLst>
              <a:ext uri="{FF2B5EF4-FFF2-40B4-BE49-F238E27FC236}">
                <a16:creationId xmlns:a16="http://schemas.microsoft.com/office/drawing/2014/main" id="{21E5E4F3-9469-4F48-BE60-19A5D098219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200" y="1828800"/>
            <a:ext cx="56896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52BE3B5-3F11-4DD5-B4E2-8FB6891686F1}"/>
              </a:ext>
            </a:extLst>
          </p:cNvPr>
          <p:cNvSpPr/>
          <p:nvPr/>
        </p:nvSpPr>
        <p:spPr>
          <a:xfrm>
            <a:off x="1447800" y="5105400"/>
            <a:ext cx="9296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https://ios.gadgethacks.com/news/watch-iphone-xs-30k-ir-dots-scan-your-face-0180944/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2211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Laser scanning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2209800" y="5105400"/>
            <a:ext cx="7772400" cy="1371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/>
              <a:t>Optical triangulation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Project a single stripe of laser light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Scan it across the surface of the object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This is a very precise version of structured light scanning</a:t>
            </a:r>
          </a:p>
        </p:txBody>
      </p:sp>
      <p:pic>
        <p:nvPicPr>
          <p:cNvPr id="29700" name="Picture 4" descr="cyber_triang_geom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133600" y="1295400"/>
            <a:ext cx="391795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1" name="Picture 6" descr="scanner-head-and-david-head-s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354764" y="1352550"/>
            <a:ext cx="3932237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2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510090" y="3881439"/>
            <a:ext cx="3623171" cy="800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+mj-lt"/>
              </a:rPr>
              <a:t>Digital Michelangelo Project</a:t>
            </a:r>
          </a:p>
          <a:p>
            <a:pPr algn="ctr"/>
            <a:r>
              <a:rPr lang="en-US" sz="1400" dirty="0">
                <a:latin typeface="+mj-lt"/>
                <a:hlinkClick r:id="rId10"/>
              </a:rPr>
              <a:t>http://graphics.stanford.edu/projects/mich/</a:t>
            </a:r>
            <a:endParaRPr lang="en-US" sz="1400" dirty="0">
              <a:latin typeface="+mj-lt"/>
            </a:endParaRPr>
          </a:p>
          <a:p>
            <a:pPr lvl="1" algn="ctr"/>
            <a:endParaRPr lang="en-US" sz="1400" dirty="0">
              <a:latin typeface="+mj-l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057400" y="762000"/>
            <a:ext cx="8001000" cy="152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Laser scanned models</a:t>
            </a:r>
          </a:p>
        </p:txBody>
      </p:sp>
      <p:sp>
        <p:nvSpPr>
          <p:cNvPr id="31748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83013" y="6099175"/>
            <a:ext cx="4718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 algn="ctr">
              <a:spcBef>
                <a:spcPct val="20000"/>
              </a:spcBef>
            </a:pPr>
            <a:r>
              <a:rPr lang="en-US" sz="1600" i="1">
                <a:latin typeface="Arial" charset="0"/>
              </a:rPr>
              <a:t>The Digital Michelangelo Project</a:t>
            </a:r>
            <a:r>
              <a:rPr lang="en-US" sz="1600">
                <a:latin typeface="Arial" charset="0"/>
              </a:rPr>
              <a:t>, Levoy et al.</a:t>
            </a:r>
          </a:p>
        </p:txBody>
      </p:sp>
      <p:pic>
        <p:nvPicPr>
          <p:cNvPr id="31749" name="Picture 6" descr="david-classic-leftlight-s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759201" y="846139"/>
            <a:ext cx="4779963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Laser scanned models</a:t>
            </a:r>
          </a:p>
        </p:txBody>
      </p:sp>
      <p:pic>
        <p:nvPicPr>
          <p:cNvPr id="32771" name="Picture 4" descr="david-righteye-and-hair-s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116264" y="1295400"/>
            <a:ext cx="6205537" cy="4976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2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83013" y="6399212"/>
            <a:ext cx="4718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 algn="ctr">
              <a:spcBef>
                <a:spcPct val="20000"/>
              </a:spcBef>
            </a:pPr>
            <a:r>
              <a:rPr lang="en-US" sz="1600" i="1" dirty="0">
                <a:latin typeface="+mj-lt"/>
              </a:rPr>
              <a:t>The Digital Michelangelo Project</a:t>
            </a:r>
            <a:r>
              <a:rPr lang="en-US" sz="1600" dirty="0">
                <a:latin typeface="+mj-lt"/>
              </a:rPr>
              <a:t>, </a:t>
            </a:r>
            <a:r>
              <a:rPr lang="en-US" sz="1600" dirty="0" err="1">
                <a:latin typeface="+mj-lt"/>
              </a:rPr>
              <a:t>Levoy</a:t>
            </a:r>
            <a:r>
              <a:rPr lang="en-US" sz="1600" dirty="0">
                <a:latin typeface="+mj-lt"/>
              </a:rPr>
              <a:t> et 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057400" y="762000"/>
            <a:ext cx="8001000" cy="152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Laser scanned models</a:t>
            </a:r>
          </a:p>
        </p:txBody>
      </p:sp>
      <p:pic>
        <p:nvPicPr>
          <p:cNvPr id="33796" name="Picture 8" descr="david-eye-qtrmm-ss-annotated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662238" y="1657350"/>
            <a:ext cx="7472362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7" name="Rectangle 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783013" y="6099175"/>
            <a:ext cx="4718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 algn="ctr">
              <a:spcBef>
                <a:spcPct val="20000"/>
              </a:spcBef>
            </a:pPr>
            <a:r>
              <a:rPr lang="en-US" sz="1600" i="1" dirty="0">
                <a:latin typeface="+mj-lt"/>
              </a:rPr>
              <a:t>The Digital Michelangelo Project</a:t>
            </a:r>
            <a:r>
              <a:rPr lang="en-US" sz="1600" dirty="0">
                <a:latin typeface="+mj-lt"/>
              </a:rPr>
              <a:t>, </a:t>
            </a:r>
            <a:r>
              <a:rPr lang="en-US" sz="1600" dirty="0" err="1">
                <a:latin typeface="+mj-lt"/>
              </a:rPr>
              <a:t>Levoy</a:t>
            </a:r>
            <a:r>
              <a:rPr lang="en-US" sz="1600" dirty="0">
                <a:latin typeface="+mj-lt"/>
              </a:rPr>
              <a:t> et al.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Laser scanned models</a:t>
            </a:r>
          </a:p>
        </p:txBody>
      </p:sp>
      <p:pic>
        <p:nvPicPr>
          <p:cNvPr id="34819" name="Picture 4" descr="david-eye-vrip-wireframe-s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103563" y="1371600"/>
            <a:ext cx="6026150" cy="498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20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83013" y="6430962"/>
            <a:ext cx="4718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 algn="ctr">
              <a:spcBef>
                <a:spcPct val="20000"/>
              </a:spcBef>
            </a:pPr>
            <a:r>
              <a:rPr lang="en-US" sz="1600" i="1" dirty="0">
                <a:latin typeface="+mj-lt"/>
              </a:rPr>
              <a:t>The Digital Michelangelo Project</a:t>
            </a:r>
            <a:r>
              <a:rPr lang="en-US" sz="1600" dirty="0">
                <a:latin typeface="+mj-lt"/>
              </a:rPr>
              <a:t>, </a:t>
            </a:r>
            <a:r>
              <a:rPr lang="en-US" sz="1600" dirty="0" err="1">
                <a:latin typeface="+mj-lt"/>
              </a:rPr>
              <a:t>Levoy</a:t>
            </a:r>
            <a:r>
              <a:rPr lang="en-US" sz="1600" dirty="0">
                <a:latin typeface="+mj-lt"/>
              </a:rPr>
              <a:t> et al.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43828-61F2-4D9B-84D3-5BD0A957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Photography on your Desk</a:t>
            </a:r>
          </a:p>
        </p:txBody>
      </p:sp>
      <p:pic>
        <p:nvPicPr>
          <p:cNvPr id="7" name="Content Placeholder 6" descr="A close-up of a brain&#10;&#10;Description automatically generated with medium confidence">
            <a:extLst>
              <a:ext uri="{FF2B5EF4-FFF2-40B4-BE49-F238E27FC236}">
                <a16:creationId xmlns:a16="http://schemas.microsoft.com/office/drawing/2014/main" id="{9F7F795A-6839-4CF6-A0DE-4E8E8E961B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171" y="1672348"/>
            <a:ext cx="2819400" cy="2114550"/>
          </a:xfrm>
        </p:spPr>
      </p:pic>
      <p:pic>
        <p:nvPicPr>
          <p:cNvPr id="686082" name="Picture 2">
            <a:extLst>
              <a:ext uri="{FF2B5EF4-FFF2-40B4-BE49-F238E27FC236}">
                <a16:creationId xmlns:a16="http://schemas.microsoft.com/office/drawing/2014/main" id="{31923E45-CD22-47FF-8A51-5C1549555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194" y="1570873"/>
            <a:ext cx="6324600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EBDE4B3-CD4D-4897-898E-973B81C9B94B}"/>
              </a:ext>
            </a:extLst>
          </p:cNvPr>
          <p:cNvGrpSpPr/>
          <p:nvPr/>
        </p:nvGrpSpPr>
        <p:grpSpPr>
          <a:xfrm>
            <a:off x="7620000" y="3856289"/>
            <a:ext cx="4025566" cy="2486108"/>
            <a:chOff x="7690184" y="4154404"/>
            <a:chExt cx="4025566" cy="2486108"/>
          </a:xfrm>
        </p:grpSpPr>
        <p:pic>
          <p:nvPicPr>
            <p:cNvPr id="686088" name="Picture 8">
              <a:extLst>
                <a:ext uri="{FF2B5EF4-FFF2-40B4-BE49-F238E27FC236}">
                  <a16:creationId xmlns:a16="http://schemas.microsoft.com/office/drawing/2014/main" id="{DEA92C6C-D86C-426E-90E6-15DE0F17F4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596" y="5430837"/>
              <a:ext cx="2114550" cy="12096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6084" name="Picture 4">
              <a:extLst>
                <a:ext uri="{FF2B5EF4-FFF2-40B4-BE49-F238E27FC236}">
                  <a16:creationId xmlns:a16="http://schemas.microsoft.com/office/drawing/2014/main" id="{CEC50613-2D5A-4341-BB96-F62C2F0F27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0184" y="4267200"/>
              <a:ext cx="2028825" cy="1495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6086" name="Picture 6">
              <a:extLst>
                <a:ext uri="{FF2B5EF4-FFF2-40B4-BE49-F238E27FC236}">
                  <a16:creationId xmlns:a16="http://schemas.microsoft.com/office/drawing/2014/main" id="{1D835156-E54B-4EBD-B263-22816C2D04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29800" y="4154404"/>
              <a:ext cx="1885950" cy="1638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050C89B-A055-4F19-AF0A-5924F709DA3A}"/>
              </a:ext>
            </a:extLst>
          </p:cNvPr>
          <p:cNvSpPr txBox="1"/>
          <p:nvPr/>
        </p:nvSpPr>
        <p:spPr>
          <a:xfrm>
            <a:off x="2438400" y="6441002"/>
            <a:ext cx="7548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7"/>
              </a:rPr>
              <a:t>http://www.vision.caltech.edu/bouguetj/ICCV98/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125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53AD9-F26A-91F9-EA7B-1695DE4B4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Time-of-flight cameras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F7330D51-A7D9-404C-FD63-E93AADB05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417638"/>
            <a:ext cx="7316788" cy="4878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F2E3BE-A39C-43C8-58CA-2D0BD8126F69}"/>
              </a:ext>
            </a:extLst>
          </p:cNvPr>
          <p:cNvSpPr txBox="1"/>
          <p:nvPr/>
        </p:nvSpPr>
        <p:spPr>
          <a:xfrm>
            <a:off x="2743994" y="63246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https://en.wikipedia.org/wiki/Time-of-flight_camera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72330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ED2FB-2849-4442-B4C7-86B281C8C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F2E43-31BD-4134-B665-877496528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6312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0.17.2.1524"/>
  <p:tag name="SLIDO_PRESENTATION_ID" val="00000000-0000-0000-0000-000000000000"/>
  <p:tag name="SLIDO_EVENT_UUID" val="ea4a58ad-14f7-45eb-93f9-871d483ee37e"/>
  <p:tag name="SLIDO_EVENT_SECTION_UUID" val="8f171ac1-7e18-4a6a-84bd-f81cee0a58e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disparity = x-x'= \frac{baseline * f}{z}$&#10;\end{document}&#10;"/>
  <p:tag name="EXTERNALNAME" val="Edittex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72"/>
  <p:tag name="BOXFONT" val="10"/>
  <p:tag name="BOXWRAP" val="False"/>
  <p:tag name="WORKAROUNDTRANSPARENCYBUG" val="False"/>
  <p:tag name="BITMAPFORMAT" val="bmpmono"/>
  <p:tag name="DEBUGINTERACTIVE" val="True"/>
  <p:tag name="ORIGWIDTH" val="286"/>
  <p:tag name="PICTUREFILESIZE" val="298062"/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yriad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21575</TotalTime>
  <Words>982</Words>
  <Application>Microsoft Office PowerPoint</Application>
  <PresentationFormat>宽屏</PresentationFormat>
  <Paragraphs>183</Paragraphs>
  <Slides>37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45" baseType="lpstr">
      <vt:lpstr>Arial</vt:lpstr>
      <vt:lpstr>Calibri</vt:lpstr>
      <vt:lpstr>Times New Roman</vt:lpstr>
      <vt:lpstr>Myriad Pro</vt:lpstr>
      <vt:lpstr>Narkisim</vt:lpstr>
      <vt:lpstr>Office Theme</vt:lpstr>
      <vt:lpstr>Image</vt:lpstr>
      <vt:lpstr>Photo Editor Photo</vt:lpstr>
      <vt:lpstr>Binocular Stereo</vt:lpstr>
      <vt:lpstr>PowerPoint 演示文稿</vt:lpstr>
      <vt:lpstr>PowerPoint 演示文稿</vt:lpstr>
      <vt:lpstr>Stereo Vision as Localizing Points in 3D</vt:lpstr>
      <vt:lpstr>Stereo</vt:lpstr>
      <vt:lpstr>Epipolar geometry</vt:lpstr>
      <vt:lpstr>Disparity = inverse depth</vt:lpstr>
      <vt:lpstr>Your basic stereo matching algorithm</vt:lpstr>
      <vt:lpstr>Your basic stereo matching algorithm</vt:lpstr>
      <vt:lpstr>Stereo matching based on SSD</vt:lpstr>
      <vt:lpstr>Window size</vt:lpstr>
      <vt:lpstr>Stereo results</vt:lpstr>
      <vt:lpstr>Results with window search</vt:lpstr>
      <vt:lpstr>Better methods exist...</vt:lpstr>
      <vt:lpstr>Stereo as energy minimization</vt:lpstr>
      <vt:lpstr>Stereo as energy minimization</vt:lpstr>
      <vt:lpstr>Stereo as energy minimization</vt:lpstr>
      <vt:lpstr>Stereo as energy minimization</vt:lpstr>
      <vt:lpstr>Greedy selection of best match</vt:lpstr>
      <vt:lpstr>Stereo as energy minimization</vt:lpstr>
      <vt:lpstr>Stereo as energy minimization</vt:lpstr>
      <vt:lpstr>Smoothness cost</vt:lpstr>
      <vt:lpstr>Smoothness cost</vt:lpstr>
      <vt:lpstr>Depth from disparity</vt:lpstr>
      <vt:lpstr>Stereo reconstruction pipeline</vt:lpstr>
      <vt:lpstr>Variants of stereo</vt:lpstr>
      <vt:lpstr>Real-time stereo</vt:lpstr>
      <vt:lpstr>Active stereo with structured light</vt:lpstr>
      <vt:lpstr>Active stereo with structured light</vt:lpstr>
      <vt:lpstr>Laser scanning</vt:lpstr>
      <vt:lpstr>Laser scanned models</vt:lpstr>
      <vt:lpstr>Laser scanned models</vt:lpstr>
      <vt:lpstr>Laser scanned models</vt:lpstr>
      <vt:lpstr>Laser scanned models</vt:lpstr>
      <vt:lpstr>3D Photography on your Desk</vt:lpstr>
      <vt:lpstr>Time-of-flight cameras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Images and image filtering</dc:title>
  <dc:creator>Noah Snavely</dc:creator>
  <cp:lastModifiedBy>Zhiyu ZHU 朱智宇</cp:lastModifiedBy>
  <cp:revision>801</cp:revision>
  <dcterms:created xsi:type="dcterms:W3CDTF">2009-08-25T02:47:59Z</dcterms:created>
  <dcterms:modified xsi:type="dcterms:W3CDTF">2026-03-17T04:47:47Z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0.17.2.1524</vt:lpwstr>
  </property>
</Properties>
</file>