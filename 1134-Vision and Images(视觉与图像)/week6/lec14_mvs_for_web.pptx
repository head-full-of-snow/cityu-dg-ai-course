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6" y="9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4706" y="1309377"/>
            <a:ext cx="7661192" cy="987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7969" y="2436046"/>
            <a:ext cx="8253095" cy="284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pn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12" Type="http://schemas.openxmlformats.org/officeDocument/2006/relationships/image" Target="../media/image15.jpg"/><Relationship Id="rId2" Type="http://schemas.openxmlformats.org/officeDocument/2006/relationships/image" Target="../media/image5.jp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jpg"/><Relationship Id="rId10" Type="http://schemas.openxmlformats.org/officeDocument/2006/relationships/image" Target="../media/image13.jpg"/><Relationship Id="rId4" Type="http://schemas.openxmlformats.org/officeDocument/2006/relationships/image" Target="../media/image7.jpg"/><Relationship Id="rId9" Type="http://schemas.openxmlformats.org/officeDocument/2006/relationships/image" Target="../media/image12.png"/><Relationship Id="rId14" Type="http://schemas.openxmlformats.org/officeDocument/2006/relationships/image" Target="../media/image1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7" Type="http://schemas.openxmlformats.org/officeDocument/2006/relationships/image" Target="../media/image36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1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1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1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8.png"/><Relationship Id="rId7" Type="http://schemas.openxmlformats.org/officeDocument/2006/relationships/image" Target="../media/image3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5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7" Type="http://schemas.openxmlformats.org/officeDocument/2006/relationships/image" Target="../media/image77.jp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jpg"/><Relationship Id="rId5" Type="http://schemas.openxmlformats.org/officeDocument/2006/relationships/image" Target="../media/image75.jpg"/><Relationship Id="rId4" Type="http://schemas.openxmlformats.org/officeDocument/2006/relationships/image" Target="../media/image7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matthewtancik.com/nerf" TargetMode="External"/><Relationship Id="rId4" Type="http://schemas.openxmlformats.org/officeDocument/2006/relationships/image" Target="../media/image89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4706" y="1309377"/>
            <a:ext cx="7661192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25" dirty="0"/>
              <a:t>CS5</a:t>
            </a:r>
            <a:r>
              <a:rPr lang="en-US" spc="-325" dirty="0"/>
              <a:t>187</a:t>
            </a:r>
            <a:r>
              <a:rPr spc="-325" dirty="0"/>
              <a:t>:</a:t>
            </a:r>
            <a:r>
              <a:rPr spc="-305" dirty="0"/>
              <a:t> </a:t>
            </a:r>
            <a:r>
              <a:rPr spc="-145" dirty="0"/>
              <a:t>Vision</a:t>
            </a:r>
            <a:r>
              <a:rPr lang="en-US" spc="-145" dirty="0"/>
              <a:t> </a:t>
            </a:r>
            <a:r>
              <a:rPr lang="en-US" altLang="zh-CN" spc="-145" dirty="0"/>
              <a:t>and Image</a:t>
            </a:r>
            <a:endParaRPr spc="-145" dirty="0"/>
          </a:p>
          <a:p>
            <a:pPr marL="45720">
              <a:lnSpc>
                <a:spcPct val="100000"/>
              </a:lnSpc>
              <a:spcBef>
                <a:spcPts val="40"/>
              </a:spcBef>
            </a:pPr>
            <a:r>
              <a:rPr sz="2500" b="0" spc="-60" dirty="0">
                <a:latin typeface="Trebuchet MS"/>
                <a:cs typeface="Trebuchet MS"/>
              </a:rPr>
              <a:t>Multi-</a:t>
            </a:r>
            <a:r>
              <a:rPr sz="2500" b="0" spc="-85" dirty="0">
                <a:latin typeface="Trebuchet MS"/>
                <a:cs typeface="Trebuchet MS"/>
              </a:rPr>
              <a:t>view</a:t>
            </a:r>
            <a:r>
              <a:rPr sz="2500" b="0" spc="-140" dirty="0">
                <a:latin typeface="Trebuchet MS"/>
                <a:cs typeface="Trebuchet MS"/>
              </a:rPr>
              <a:t> </a:t>
            </a:r>
            <a:r>
              <a:rPr sz="2500" b="0" spc="-10" dirty="0">
                <a:latin typeface="Trebuchet MS"/>
                <a:cs typeface="Trebuchet MS"/>
              </a:rPr>
              <a:t>stereo</a:t>
            </a:r>
            <a:endParaRPr sz="2500" dirty="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600" y="2418588"/>
            <a:ext cx="9601200" cy="524510"/>
            <a:chOff x="228600" y="2418588"/>
            <a:chExt cx="9601200" cy="5245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2418588"/>
              <a:ext cx="9601200" cy="5242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600" y="2440517"/>
              <a:ext cx="9601200" cy="360045"/>
            </a:xfrm>
            <a:custGeom>
              <a:avLst/>
              <a:gdLst/>
              <a:ahLst/>
              <a:cxnLst/>
              <a:rect l="l" t="t" r="r" b="b"/>
              <a:pathLst>
                <a:path w="9601200" h="360044">
                  <a:moveTo>
                    <a:pt x="0" y="359832"/>
                  </a:moveTo>
                  <a:lnTo>
                    <a:pt x="0" y="0"/>
                  </a:lnTo>
                  <a:lnTo>
                    <a:pt x="9601200" y="0"/>
                  </a:lnTo>
                  <a:lnTo>
                    <a:pt x="9601200" y="359832"/>
                  </a:lnTo>
                  <a:lnTo>
                    <a:pt x="0" y="359832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8870" y="3040239"/>
            <a:ext cx="5280659" cy="29101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373436" y="5986376"/>
            <a:ext cx="3311525" cy="21409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570230" algn="ctr">
              <a:lnSpc>
                <a:spcPct val="101400"/>
              </a:lnSpc>
              <a:spcBef>
                <a:spcPts val="75"/>
              </a:spcBef>
            </a:pPr>
            <a:r>
              <a:rPr sz="1400" spc="-35" dirty="0">
                <a:latin typeface="Trebuchet MS"/>
                <a:cs typeface="Trebuchet MS"/>
              </a:rPr>
              <a:t>Multi-</a:t>
            </a:r>
            <a:r>
              <a:rPr sz="1400" spc="-55" dirty="0">
                <a:latin typeface="Trebuchet MS"/>
                <a:cs typeface="Trebuchet MS"/>
              </a:rPr>
              <a:t>Camera</a:t>
            </a:r>
            <a:r>
              <a:rPr sz="1400" spc="-20" dirty="0">
                <a:latin typeface="Trebuchet MS"/>
                <a:cs typeface="Trebuchet MS"/>
              </a:rPr>
              <a:t> Array</a:t>
            </a: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54" dirty="0"/>
              <a:t>Before:</a:t>
            </a:r>
            <a:r>
              <a:rPr spc="-305" dirty="0"/>
              <a:t> </a:t>
            </a:r>
            <a:r>
              <a:rPr spc="-220" dirty="0"/>
              <a:t>Binocular</a:t>
            </a:r>
            <a:r>
              <a:rPr spc="-315" dirty="0"/>
              <a:t> </a:t>
            </a:r>
            <a:r>
              <a:rPr spc="-365" dirty="0"/>
              <a:t>(Two-</a:t>
            </a:r>
            <a:r>
              <a:rPr spc="-305" dirty="0"/>
              <a:t>View) </a:t>
            </a:r>
            <a:r>
              <a:rPr spc="-180" dirty="0"/>
              <a:t>Stereo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682" y="3160182"/>
            <a:ext cx="4694410" cy="17593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9394" y="3160182"/>
            <a:ext cx="2267877" cy="175936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805233" y="3740006"/>
            <a:ext cx="600075" cy="600075"/>
          </a:xfrm>
          <a:custGeom>
            <a:avLst/>
            <a:gdLst/>
            <a:ahLst/>
            <a:cxnLst/>
            <a:rect l="l" t="t" r="r" b="b"/>
            <a:pathLst>
              <a:path w="600075" h="600075">
                <a:moveTo>
                  <a:pt x="300037" y="0"/>
                </a:moveTo>
                <a:lnTo>
                  <a:pt x="300037" y="149931"/>
                </a:lnTo>
                <a:lnTo>
                  <a:pt x="0" y="149931"/>
                </a:lnTo>
                <a:lnTo>
                  <a:pt x="0" y="449792"/>
                </a:lnTo>
                <a:lnTo>
                  <a:pt x="300037" y="449792"/>
                </a:lnTo>
                <a:lnTo>
                  <a:pt x="300037" y="599721"/>
                </a:lnTo>
                <a:lnTo>
                  <a:pt x="600075" y="299860"/>
                </a:lnTo>
                <a:lnTo>
                  <a:pt x="300037" y="0"/>
                </a:lnTo>
                <a:close/>
              </a:path>
            </a:pathLst>
          </a:custGeom>
          <a:solidFill>
            <a:srgbClr val="FAC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49278" y="4955151"/>
            <a:ext cx="25749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10" dirty="0">
                <a:latin typeface="Trebuchet MS"/>
                <a:cs typeface="Trebuchet MS"/>
              </a:rPr>
              <a:t>Left-</a:t>
            </a:r>
            <a:r>
              <a:rPr sz="1600" spc="-60" dirty="0">
                <a:latin typeface="Trebuchet MS"/>
                <a:cs typeface="Trebuchet MS"/>
              </a:rPr>
              <a:t>right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110" dirty="0">
                <a:latin typeface="Trebuchet MS"/>
                <a:cs typeface="Trebuchet MS"/>
              </a:rPr>
              <a:t>(rectified)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80" dirty="0">
                <a:latin typeface="Trebuchet MS"/>
                <a:cs typeface="Trebuchet MS"/>
              </a:rPr>
              <a:t>stereo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pair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3004" y="4955151"/>
            <a:ext cx="21024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45" dirty="0">
                <a:latin typeface="Trebuchet MS"/>
                <a:cs typeface="Trebuchet MS"/>
              </a:rPr>
              <a:t>Computed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disparity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map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7178" y="5732436"/>
            <a:ext cx="71323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85" dirty="0">
                <a:latin typeface="Trebuchet MS"/>
                <a:cs typeface="Trebuchet MS"/>
              </a:rPr>
              <a:t>Useful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for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robot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perception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and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navigation,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video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effects,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etc.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340" dirty="0"/>
              <a:t>Now:</a:t>
            </a:r>
            <a:r>
              <a:rPr spc="-315" dirty="0"/>
              <a:t> </a:t>
            </a:r>
            <a:r>
              <a:rPr spc="-215" dirty="0"/>
              <a:t>Multi-</a:t>
            </a:r>
            <a:r>
              <a:rPr spc="-260" dirty="0"/>
              <a:t>view</a:t>
            </a:r>
            <a:r>
              <a:rPr spc="-330" dirty="0"/>
              <a:t> </a:t>
            </a:r>
            <a:r>
              <a:rPr spc="-200" dirty="0"/>
              <a:t>Stereo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531" y="4164594"/>
            <a:ext cx="3452495" cy="1452880"/>
            <a:chOff x="633531" y="4164594"/>
            <a:chExt cx="3452495" cy="1452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652" y="4179711"/>
              <a:ext cx="1707641" cy="14221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1151" y="4172214"/>
              <a:ext cx="1722755" cy="1437640"/>
            </a:xfrm>
            <a:custGeom>
              <a:avLst/>
              <a:gdLst/>
              <a:ahLst/>
              <a:cxnLst/>
              <a:rect l="l" t="t" r="r" b="b"/>
              <a:pathLst>
                <a:path w="1722755" h="1437639">
                  <a:moveTo>
                    <a:pt x="0" y="0"/>
                  </a:moveTo>
                  <a:lnTo>
                    <a:pt x="1722643" y="0"/>
                  </a:lnTo>
                  <a:lnTo>
                    <a:pt x="1722643" y="1437190"/>
                  </a:lnTo>
                  <a:lnTo>
                    <a:pt x="0" y="1437190"/>
                  </a:lnTo>
                  <a:lnTo>
                    <a:pt x="0" y="0"/>
                  </a:lnTo>
                  <a:close/>
                </a:path>
              </a:pathLst>
            </a:custGeom>
            <a:ln w="149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3196" y="4179711"/>
              <a:ext cx="1707642" cy="14221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55696" y="4172214"/>
              <a:ext cx="1722755" cy="1437640"/>
            </a:xfrm>
            <a:custGeom>
              <a:avLst/>
              <a:gdLst/>
              <a:ahLst/>
              <a:cxnLst/>
              <a:rect l="l" t="t" r="r" b="b"/>
              <a:pathLst>
                <a:path w="1722754" h="1437639">
                  <a:moveTo>
                    <a:pt x="0" y="0"/>
                  </a:moveTo>
                  <a:lnTo>
                    <a:pt x="1722643" y="0"/>
                  </a:lnTo>
                  <a:lnTo>
                    <a:pt x="1722643" y="1437190"/>
                  </a:lnTo>
                  <a:lnTo>
                    <a:pt x="0" y="1437190"/>
                  </a:lnTo>
                  <a:lnTo>
                    <a:pt x="0" y="0"/>
                  </a:lnTo>
                  <a:close/>
                </a:path>
              </a:pathLst>
            </a:custGeom>
            <a:ln w="149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15747" y="5605921"/>
            <a:ext cx="1669414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75" dirty="0">
                <a:latin typeface="Trebuchet MS"/>
                <a:cs typeface="Trebuchet MS"/>
              </a:rPr>
              <a:t>Binocular</a:t>
            </a:r>
            <a:r>
              <a:rPr sz="1900" spc="-9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Stereo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6862" y="5563249"/>
            <a:ext cx="17627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65" dirty="0">
                <a:latin typeface="Trebuchet MS"/>
                <a:cs typeface="Trebuchet MS"/>
              </a:rPr>
              <a:t>Multi-</a:t>
            </a:r>
            <a:r>
              <a:rPr sz="1900" spc="-70" dirty="0">
                <a:latin typeface="Trebuchet MS"/>
                <a:cs typeface="Trebuchet MS"/>
              </a:rPr>
              <a:t>view</a:t>
            </a:r>
            <a:r>
              <a:rPr sz="1900" spc="-95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stereo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7597" y="2545774"/>
            <a:ext cx="7564755" cy="11804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50"/>
              </a:spcBef>
            </a:pPr>
            <a:r>
              <a:rPr sz="2500" b="1" spc="-145" dirty="0">
                <a:latin typeface="Tahoma"/>
                <a:cs typeface="Tahoma"/>
              </a:rPr>
              <a:t>Problem</a:t>
            </a:r>
            <a:r>
              <a:rPr sz="2500" b="1" spc="-170" dirty="0">
                <a:latin typeface="Tahoma"/>
                <a:cs typeface="Tahoma"/>
              </a:rPr>
              <a:t> </a:t>
            </a:r>
            <a:r>
              <a:rPr sz="2500" b="1" spc="-140" dirty="0">
                <a:latin typeface="Tahoma"/>
                <a:cs typeface="Tahoma"/>
              </a:rPr>
              <a:t>formulation:</a:t>
            </a:r>
            <a:r>
              <a:rPr sz="2500" b="1" spc="-180" dirty="0">
                <a:latin typeface="Tahoma"/>
                <a:cs typeface="Tahoma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given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several</a:t>
            </a:r>
            <a:r>
              <a:rPr sz="2500" spc="-19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images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of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80" dirty="0">
                <a:latin typeface="Trebuchet MS"/>
                <a:cs typeface="Trebuchet MS"/>
              </a:rPr>
              <a:t>the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same </a:t>
            </a:r>
            <a:r>
              <a:rPr sz="2500" spc="-110" dirty="0">
                <a:latin typeface="Trebuchet MS"/>
                <a:cs typeface="Trebuchet MS"/>
              </a:rPr>
              <a:t>object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or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scene,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compute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a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representation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of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its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25" dirty="0">
                <a:latin typeface="Trebuchet MS"/>
                <a:cs typeface="Trebuchet MS"/>
              </a:rPr>
              <a:t>3D </a:t>
            </a:r>
            <a:r>
              <a:rPr sz="2500" spc="-10" dirty="0">
                <a:latin typeface="Trebuchet MS"/>
                <a:cs typeface="Trebuchet MS"/>
              </a:rPr>
              <a:t>shape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0293" y="4265262"/>
            <a:ext cx="2038996" cy="1254358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386071" y="4027932"/>
            <a:ext cx="1420495" cy="1591310"/>
            <a:chOff x="4386071" y="4027932"/>
            <a:chExt cx="1420495" cy="159131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6071" y="4027932"/>
              <a:ext cx="682751" cy="8534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0588" y="4065990"/>
              <a:ext cx="519922" cy="6930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1999" y="4210812"/>
              <a:ext cx="682751" cy="8564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94742" y="4250036"/>
              <a:ext cx="519923" cy="6930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54879" y="4393692"/>
              <a:ext cx="682751" cy="85648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8897" y="4434083"/>
              <a:ext cx="519923" cy="69300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37759" y="4579620"/>
              <a:ext cx="685800" cy="85648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63052" y="4618130"/>
              <a:ext cx="519922" cy="6930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23687" y="4762500"/>
              <a:ext cx="682751" cy="8564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47208" y="4802176"/>
              <a:ext cx="519922" cy="693004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473296" y="4048111"/>
            <a:ext cx="1263163" cy="1685396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7964049" y="4653117"/>
            <a:ext cx="420370" cy="480059"/>
          </a:xfrm>
          <a:custGeom>
            <a:avLst/>
            <a:gdLst/>
            <a:ahLst/>
            <a:cxnLst/>
            <a:rect l="l" t="t" r="r" b="b"/>
            <a:pathLst>
              <a:path w="420370" h="480060">
                <a:moveTo>
                  <a:pt x="210026" y="0"/>
                </a:moveTo>
                <a:lnTo>
                  <a:pt x="210026" y="119943"/>
                </a:lnTo>
                <a:lnTo>
                  <a:pt x="0" y="119943"/>
                </a:lnTo>
                <a:lnTo>
                  <a:pt x="0" y="359832"/>
                </a:lnTo>
                <a:lnTo>
                  <a:pt x="210026" y="359832"/>
                </a:lnTo>
                <a:lnTo>
                  <a:pt x="210026" y="479778"/>
                </a:lnTo>
                <a:lnTo>
                  <a:pt x="420052" y="239889"/>
                </a:lnTo>
                <a:lnTo>
                  <a:pt x="210026" y="0"/>
                </a:lnTo>
                <a:close/>
              </a:path>
            </a:pathLst>
          </a:custGeom>
          <a:solidFill>
            <a:srgbClr val="FAC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65629" y="4802176"/>
            <a:ext cx="1139317" cy="1356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Multi-</a:t>
            </a:r>
            <a:r>
              <a:rPr spc="-260" dirty="0"/>
              <a:t>view</a:t>
            </a:r>
            <a:r>
              <a:rPr spc="-305" dirty="0"/>
              <a:t> </a:t>
            </a:r>
            <a:r>
              <a:rPr spc="-210" dirty="0"/>
              <a:t>Stereo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3412" y="2363916"/>
            <a:ext cx="2435704" cy="8917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39278" y="3320878"/>
            <a:ext cx="16802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Point</a:t>
            </a:r>
            <a:r>
              <a:rPr sz="11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Grey</a:t>
            </a:r>
            <a:r>
              <a:rPr sz="1100" spc="-75" dirty="0">
                <a:latin typeface="Trebuchet MS"/>
                <a:cs typeface="Trebuchet MS"/>
              </a:rPr>
              <a:t>’s</a:t>
            </a:r>
            <a:r>
              <a:rPr sz="1100" spc="-5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Bumblebee</a:t>
            </a:r>
            <a:r>
              <a:rPr sz="1100" spc="-5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XB3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5817" y="1523686"/>
            <a:ext cx="2116389" cy="217899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25524" y="3707974"/>
            <a:ext cx="15068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Point</a:t>
            </a:r>
            <a:r>
              <a:rPr sz="11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Grey</a:t>
            </a:r>
            <a:r>
              <a:rPr sz="1100" spc="-75" dirty="0">
                <a:latin typeface="Trebuchet MS"/>
                <a:cs typeface="Trebuchet MS"/>
              </a:rPr>
              <a:t>’s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ProFusion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25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3902" y="6250006"/>
            <a:ext cx="13512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5" dirty="0">
                <a:latin typeface="Trebuchet MS"/>
                <a:cs typeface="Trebuchet MS"/>
              </a:rPr>
              <a:t>CMU’s</a:t>
            </a:r>
            <a:r>
              <a:rPr sz="1100" spc="-55" dirty="0">
                <a:latin typeface="Trebuchet MS"/>
                <a:cs typeface="Trebuchet MS"/>
              </a:rPr>
              <a:t> </a:t>
            </a:r>
            <a:r>
              <a:rPr sz="11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Panoptic</a:t>
            </a:r>
            <a:r>
              <a:rPr sz="11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Studio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8990" y="4096427"/>
            <a:ext cx="3120390" cy="20756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8822" y="3540385"/>
            <a:ext cx="3217901" cy="23239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Multi-</a:t>
            </a:r>
            <a:r>
              <a:rPr spc="-260" dirty="0"/>
              <a:t>view</a:t>
            </a:r>
            <a:r>
              <a:rPr spc="-305" dirty="0"/>
              <a:t> </a:t>
            </a:r>
            <a:r>
              <a:rPr spc="-210" dirty="0"/>
              <a:t>Stereo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23722" y="6003118"/>
            <a:ext cx="168846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latin typeface="Trebuchet MS"/>
                <a:cs typeface="Trebuchet MS"/>
              </a:rPr>
              <a:t>Figures</a:t>
            </a:r>
            <a:r>
              <a:rPr sz="1100" spc="-7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by</a:t>
            </a:r>
            <a:r>
              <a:rPr sz="1100" spc="-6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Carlos</a:t>
            </a:r>
            <a:r>
              <a:rPr sz="1100" spc="-6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Hernandez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89507" y="3160182"/>
            <a:ext cx="916305" cy="915669"/>
          </a:xfrm>
          <a:custGeom>
            <a:avLst/>
            <a:gdLst/>
            <a:ahLst/>
            <a:cxnLst/>
            <a:rect l="l" t="t" r="r" b="b"/>
            <a:pathLst>
              <a:path w="916304" h="915670">
                <a:moveTo>
                  <a:pt x="111382" y="79512"/>
                </a:moveTo>
                <a:lnTo>
                  <a:pt x="79559" y="111317"/>
                </a:lnTo>
                <a:lnTo>
                  <a:pt x="884200" y="915485"/>
                </a:lnTo>
                <a:lnTo>
                  <a:pt x="916024" y="883681"/>
                </a:lnTo>
                <a:lnTo>
                  <a:pt x="111382" y="79512"/>
                </a:lnTo>
                <a:close/>
              </a:path>
              <a:path w="916304" h="915670">
                <a:moveTo>
                  <a:pt x="0" y="0"/>
                </a:moveTo>
                <a:lnTo>
                  <a:pt x="47735" y="143122"/>
                </a:lnTo>
                <a:lnTo>
                  <a:pt x="79559" y="111317"/>
                </a:lnTo>
                <a:lnTo>
                  <a:pt x="63647" y="95415"/>
                </a:lnTo>
                <a:lnTo>
                  <a:pt x="95470" y="63610"/>
                </a:lnTo>
                <a:lnTo>
                  <a:pt x="127294" y="63610"/>
                </a:lnTo>
                <a:lnTo>
                  <a:pt x="143206" y="47707"/>
                </a:lnTo>
                <a:lnTo>
                  <a:pt x="0" y="0"/>
                </a:lnTo>
                <a:close/>
              </a:path>
              <a:path w="916304" h="915670">
                <a:moveTo>
                  <a:pt x="95470" y="63610"/>
                </a:moveTo>
                <a:lnTo>
                  <a:pt x="63647" y="95415"/>
                </a:lnTo>
                <a:lnTo>
                  <a:pt x="79559" y="111317"/>
                </a:lnTo>
                <a:lnTo>
                  <a:pt x="111382" y="79512"/>
                </a:lnTo>
                <a:lnTo>
                  <a:pt x="95470" y="63610"/>
                </a:lnTo>
                <a:close/>
              </a:path>
              <a:path w="916304" h="915670">
                <a:moveTo>
                  <a:pt x="127294" y="63610"/>
                </a:moveTo>
                <a:lnTo>
                  <a:pt x="95470" y="63610"/>
                </a:lnTo>
                <a:lnTo>
                  <a:pt x="111382" y="79512"/>
                </a:lnTo>
                <a:lnTo>
                  <a:pt x="127294" y="63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68006" y="2362894"/>
            <a:ext cx="8410575" cy="2683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85495">
              <a:lnSpc>
                <a:spcPct val="100000"/>
              </a:lnSpc>
              <a:spcBef>
                <a:spcPts val="95"/>
              </a:spcBef>
            </a:pPr>
            <a:r>
              <a:rPr sz="2500" b="1" spc="-215" dirty="0">
                <a:latin typeface="Tahoma"/>
                <a:cs typeface="Tahoma"/>
              </a:rPr>
              <a:t>Input:</a:t>
            </a:r>
            <a:r>
              <a:rPr sz="2500" b="1" spc="-160" dirty="0">
                <a:latin typeface="Tahoma"/>
                <a:cs typeface="Tahoma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calibrated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images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from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several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viewpoints</a:t>
            </a:r>
            <a:r>
              <a:rPr sz="2500" spc="-16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(known </a:t>
            </a:r>
            <a:r>
              <a:rPr sz="2500" spc="-90" dirty="0">
                <a:latin typeface="Trebuchet MS"/>
                <a:cs typeface="Trebuchet MS"/>
              </a:rPr>
              <a:t>intrinsics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spc="-35" dirty="0">
                <a:latin typeface="Trebuchet MS"/>
                <a:cs typeface="Trebuchet MS"/>
              </a:rPr>
              <a:t>and</a:t>
            </a:r>
            <a:r>
              <a:rPr sz="2500" spc="-17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extrinsics</a:t>
            </a:r>
            <a:r>
              <a:rPr sz="2500" spc="-170" dirty="0">
                <a:latin typeface="Trebuchet MS"/>
                <a:cs typeface="Trebuchet MS"/>
              </a:rPr>
              <a:t> </a:t>
            </a:r>
            <a:r>
              <a:rPr sz="2500" spc="-459" dirty="0">
                <a:latin typeface="Trebuchet MS"/>
                <a:cs typeface="Trebuchet MS"/>
              </a:rPr>
              <a:t>/</a:t>
            </a:r>
            <a:r>
              <a:rPr sz="2500" spc="-170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projection</a:t>
            </a:r>
            <a:r>
              <a:rPr sz="2500" spc="-16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matrices)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500" b="1" spc="-150" dirty="0">
                <a:latin typeface="Tahoma"/>
                <a:cs typeface="Tahoma"/>
              </a:rPr>
              <a:t>Output:</a:t>
            </a:r>
            <a:r>
              <a:rPr sz="2500" b="1" spc="-155" dirty="0">
                <a:latin typeface="Tahoma"/>
                <a:cs typeface="Tahoma"/>
              </a:rPr>
              <a:t> </a:t>
            </a:r>
            <a:r>
              <a:rPr sz="2500" dirty="0">
                <a:latin typeface="Trebuchet MS"/>
                <a:cs typeface="Trebuchet MS"/>
              </a:rPr>
              <a:t>3D</a:t>
            </a:r>
            <a:r>
              <a:rPr sz="2500" spc="-15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object</a:t>
            </a:r>
            <a:r>
              <a:rPr sz="2500" spc="-15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model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2500">
              <a:latin typeface="Trebuchet MS"/>
              <a:cs typeface="Trebuchet MS"/>
            </a:endParaRPr>
          </a:p>
          <a:p>
            <a:pPr marL="6132830" marR="5080">
              <a:lnSpc>
                <a:spcPct val="101099"/>
              </a:lnSpc>
            </a:pPr>
            <a:r>
              <a:rPr sz="1900" spc="-145" dirty="0">
                <a:latin typeface="Trebuchet MS"/>
                <a:cs typeface="Trebuchet MS"/>
              </a:rPr>
              <a:t>We’ll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talk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more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about how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to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calibrate </a:t>
            </a:r>
            <a:r>
              <a:rPr sz="1900" spc="-80" dirty="0">
                <a:latin typeface="Trebuchet MS"/>
                <a:cs typeface="Trebuchet MS"/>
              </a:rPr>
              <a:t>multiple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cameras</a:t>
            </a:r>
            <a:r>
              <a:rPr sz="1900" spc="-12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soon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4371" y="2913805"/>
            <a:ext cx="4071620" cy="894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700" spc="-300" dirty="0"/>
              <a:t>Applications</a:t>
            </a:r>
            <a:endParaRPr sz="5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1" y="1855787"/>
            <a:ext cx="7200900" cy="4048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1" y="1901819"/>
            <a:ext cx="7200900" cy="39560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0" y="1361017"/>
            <a:ext cx="7200900" cy="28165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48142" y="4185008"/>
            <a:ext cx="27666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https://renderpeople.com/about-</a:t>
            </a:r>
            <a:r>
              <a:rPr sz="14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us/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9245" y="3040239"/>
            <a:ext cx="2612419" cy="32384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969" y="1516641"/>
            <a:ext cx="653351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Application:</a:t>
            </a:r>
            <a:r>
              <a:rPr spc="-270" dirty="0"/>
              <a:t> </a:t>
            </a:r>
            <a:r>
              <a:rPr spc="-195" dirty="0"/>
              <a:t>Virtual</a:t>
            </a:r>
            <a:r>
              <a:rPr spc="-270" dirty="0"/>
              <a:t> </a:t>
            </a:r>
            <a:r>
              <a:rPr spc="-240" dirty="0"/>
              <a:t>Reality</a:t>
            </a:r>
            <a:r>
              <a:rPr spc="-280" dirty="0"/>
              <a:t> </a:t>
            </a:r>
            <a:r>
              <a:rPr spc="-95" dirty="0"/>
              <a:t>Video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954" y="3819878"/>
            <a:ext cx="1685878" cy="18105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798" y="5637358"/>
            <a:ext cx="275272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0"/>
              </a:spcBef>
            </a:pPr>
            <a:r>
              <a:rPr sz="1100" spc="-55" dirty="0">
                <a:latin typeface="Trebuchet MS"/>
                <a:cs typeface="Trebuchet MS"/>
              </a:rPr>
              <a:t>Broxton,</a:t>
            </a:r>
            <a:r>
              <a:rPr sz="1100" spc="-65" dirty="0">
                <a:latin typeface="Trebuchet MS"/>
                <a:cs typeface="Trebuchet MS"/>
              </a:rPr>
              <a:t> </a:t>
            </a:r>
            <a:r>
              <a:rPr sz="1100" spc="-75" dirty="0">
                <a:latin typeface="Trebuchet MS"/>
                <a:cs typeface="Trebuchet MS"/>
              </a:rPr>
              <a:t>et</a:t>
            </a:r>
            <a:r>
              <a:rPr sz="1100" spc="-60" dirty="0">
                <a:latin typeface="Trebuchet MS"/>
                <a:cs typeface="Trebuchet MS"/>
              </a:rPr>
              <a:t> </a:t>
            </a:r>
            <a:r>
              <a:rPr sz="1100" spc="-105" dirty="0">
                <a:latin typeface="Trebuchet MS"/>
                <a:cs typeface="Trebuchet MS"/>
              </a:rPr>
              <a:t>al.</a:t>
            </a:r>
            <a:r>
              <a:rPr sz="1100" spc="-65" dirty="0">
                <a:latin typeface="Trebuchet MS"/>
                <a:cs typeface="Trebuchet MS"/>
              </a:rPr>
              <a:t> </a:t>
            </a:r>
            <a:r>
              <a:rPr sz="1100" i="1" spc="-70" dirty="0">
                <a:latin typeface="Trebuchet MS"/>
                <a:cs typeface="Trebuchet MS"/>
              </a:rPr>
              <a:t>Immersive</a:t>
            </a:r>
            <a:r>
              <a:rPr sz="1100" i="1" spc="-105" dirty="0">
                <a:latin typeface="Trebuchet MS"/>
                <a:cs typeface="Trebuchet MS"/>
              </a:rPr>
              <a:t> </a:t>
            </a:r>
            <a:r>
              <a:rPr sz="1100" i="1" spc="-65" dirty="0">
                <a:latin typeface="Trebuchet MS"/>
                <a:cs typeface="Trebuchet MS"/>
              </a:rPr>
              <a:t>Light</a:t>
            </a:r>
            <a:r>
              <a:rPr sz="1100" i="1" spc="-100" dirty="0">
                <a:latin typeface="Trebuchet MS"/>
                <a:cs typeface="Trebuchet MS"/>
              </a:rPr>
              <a:t> </a:t>
            </a:r>
            <a:r>
              <a:rPr sz="1100" i="1" spc="-85" dirty="0">
                <a:latin typeface="Trebuchet MS"/>
                <a:cs typeface="Trebuchet MS"/>
              </a:rPr>
              <a:t>Field</a:t>
            </a:r>
            <a:r>
              <a:rPr sz="1100" i="1" spc="-105" dirty="0">
                <a:latin typeface="Trebuchet MS"/>
                <a:cs typeface="Trebuchet MS"/>
              </a:rPr>
              <a:t> </a:t>
            </a:r>
            <a:r>
              <a:rPr sz="1100" i="1" spc="-65" dirty="0">
                <a:latin typeface="Trebuchet MS"/>
                <a:cs typeface="Trebuchet MS"/>
              </a:rPr>
              <a:t>Video</a:t>
            </a:r>
            <a:r>
              <a:rPr sz="1100" i="1" spc="-110" dirty="0">
                <a:latin typeface="Trebuchet MS"/>
                <a:cs typeface="Trebuchet MS"/>
              </a:rPr>
              <a:t> </a:t>
            </a:r>
            <a:r>
              <a:rPr sz="1100" i="1" spc="-75" dirty="0">
                <a:latin typeface="Trebuchet MS"/>
                <a:cs typeface="Trebuchet MS"/>
              </a:rPr>
              <a:t>with</a:t>
            </a:r>
            <a:r>
              <a:rPr sz="1100" i="1" spc="-100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a </a:t>
            </a:r>
            <a:r>
              <a:rPr sz="1100" i="1" spc="-75" dirty="0">
                <a:latin typeface="Trebuchet MS"/>
                <a:cs typeface="Trebuchet MS"/>
              </a:rPr>
              <a:t>Layered</a:t>
            </a:r>
            <a:r>
              <a:rPr sz="1100" i="1" spc="-90" dirty="0">
                <a:latin typeface="Trebuchet MS"/>
                <a:cs typeface="Trebuchet MS"/>
              </a:rPr>
              <a:t> </a:t>
            </a:r>
            <a:r>
              <a:rPr sz="1100" i="1" spc="-45" dirty="0">
                <a:latin typeface="Trebuchet MS"/>
                <a:cs typeface="Trebuchet MS"/>
              </a:rPr>
              <a:t>Mesh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i="1" spc="-80" dirty="0">
                <a:latin typeface="Trebuchet MS"/>
                <a:cs typeface="Trebuchet MS"/>
              </a:rPr>
              <a:t>Representation</a:t>
            </a:r>
            <a:r>
              <a:rPr sz="1100" spc="-80" dirty="0">
                <a:latin typeface="Trebuchet MS"/>
                <a:cs typeface="Trebuchet MS"/>
              </a:rPr>
              <a:t>.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SIGGRAPH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2020.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8158" y="2590787"/>
            <a:ext cx="1093470" cy="647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67665" y="3278206"/>
            <a:ext cx="2475230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0"/>
              </a:spcBef>
            </a:pPr>
            <a:r>
              <a:rPr sz="1100" spc="-40" dirty="0">
                <a:latin typeface="Trebuchet MS"/>
                <a:cs typeface="Trebuchet MS"/>
              </a:rPr>
              <a:t>Anderson,</a:t>
            </a:r>
            <a:r>
              <a:rPr sz="1100" spc="-55" dirty="0">
                <a:latin typeface="Trebuchet MS"/>
                <a:cs typeface="Trebuchet MS"/>
              </a:rPr>
              <a:t> </a:t>
            </a:r>
            <a:r>
              <a:rPr sz="1100" spc="-70" dirty="0">
                <a:latin typeface="Trebuchet MS"/>
                <a:cs typeface="Trebuchet MS"/>
              </a:rPr>
              <a:t>et</a:t>
            </a:r>
            <a:r>
              <a:rPr sz="1100" spc="-50" dirty="0">
                <a:latin typeface="Trebuchet MS"/>
                <a:cs typeface="Trebuchet MS"/>
              </a:rPr>
              <a:t> </a:t>
            </a:r>
            <a:r>
              <a:rPr sz="1100" spc="-105" dirty="0">
                <a:latin typeface="Trebuchet MS"/>
                <a:cs typeface="Trebuchet MS"/>
              </a:rPr>
              <a:t>al.</a:t>
            </a:r>
            <a:r>
              <a:rPr sz="1100" spc="-50" dirty="0">
                <a:latin typeface="Trebuchet MS"/>
                <a:cs typeface="Trebuchet MS"/>
              </a:rPr>
              <a:t> </a:t>
            </a:r>
            <a:r>
              <a:rPr sz="1100" i="1" spc="-85" dirty="0">
                <a:latin typeface="Trebuchet MS"/>
                <a:cs typeface="Trebuchet MS"/>
              </a:rPr>
              <a:t>Jump:</a:t>
            </a:r>
            <a:r>
              <a:rPr sz="1100" i="1" spc="-95" dirty="0">
                <a:latin typeface="Trebuchet MS"/>
                <a:cs typeface="Trebuchet MS"/>
              </a:rPr>
              <a:t> </a:t>
            </a:r>
            <a:r>
              <a:rPr sz="1100" i="1" spc="-85" dirty="0">
                <a:latin typeface="Trebuchet MS"/>
                <a:cs typeface="Trebuchet MS"/>
              </a:rPr>
              <a:t>Virtual</a:t>
            </a:r>
            <a:r>
              <a:rPr sz="1100" i="1" spc="-95" dirty="0">
                <a:latin typeface="Trebuchet MS"/>
                <a:cs typeface="Trebuchet MS"/>
              </a:rPr>
              <a:t> </a:t>
            </a:r>
            <a:r>
              <a:rPr sz="1100" i="1" spc="-85" dirty="0">
                <a:latin typeface="Trebuchet MS"/>
                <a:cs typeface="Trebuchet MS"/>
              </a:rPr>
              <a:t>Reality</a:t>
            </a:r>
            <a:r>
              <a:rPr sz="1100" i="1" spc="-105" dirty="0">
                <a:latin typeface="Trebuchet MS"/>
                <a:cs typeface="Trebuchet MS"/>
              </a:rPr>
              <a:t> </a:t>
            </a:r>
            <a:r>
              <a:rPr sz="1100" i="1" spc="-65" dirty="0">
                <a:latin typeface="Trebuchet MS"/>
                <a:cs typeface="Trebuchet MS"/>
              </a:rPr>
              <a:t>Video</a:t>
            </a:r>
            <a:r>
              <a:rPr sz="1100" spc="-65" dirty="0">
                <a:latin typeface="Trebuchet MS"/>
                <a:cs typeface="Trebuchet MS"/>
              </a:rPr>
              <a:t>. </a:t>
            </a:r>
            <a:r>
              <a:rPr sz="1100" spc="-30" dirty="0">
                <a:latin typeface="Trebuchet MS"/>
                <a:cs typeface="Trebuchet MS"/>
              </a:rPr>
              <a:t>SIGGRAPH</a:t>
            </a:r>
            <a:r>
              <a:rPr sz="1100" spc="-6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rebuchet MS"/>
                <a:cs typeface="Trebuchet MS"/>
              </a:rPr>
              <a:t>Asia</a:t>
            </a:r>
            <a:r>
              <a:rPr sz="1100" spc="-5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2016.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68967" y="2440517"/>
            <a:ext cx="6400800" cy="35983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28825" y="2380545"/>
            <a:ext cx="6055360" cy="3510279"/>
            <a:chOff x="2028825" y="2380545"/>
            <a:chExt cx="6055360" cy="35102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8825" y="3597629"/>
              <a:ext cx="1772949" cy="22930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0953" y="3597629"/>
              <a:ext cx="1772949" cy="22930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8342" y="2927351"/>
              <a:ext cx="1772949" cy="229305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1178" y="2380545"/>
              <a:ext cx="1772949" cy="229305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72263" y="3419096"/>
              <a:ext cx="2493645" cy="1016635"/>
            </a:xfrm>
            <a:custGeom>
              <a:avLst/>
              <a:gdLst/>
              <a:ahLst/>
              <a:cxnLst/>
              <a:rect l="l" t="t" r="r" b="b"/>
              <a:pathLst>
                <a:path w="2493645" h="1016635">
                  <a:moveTo>
                    <a:pt x="0" y="0"/>
                  </a:moveTo>
                  <a:lnTo>
                    <a:pt x="1456930" y="1016373"/>
                  </a:lnTo>
                </a:path>
                <a:path w="2493645" h="1016635">
                  <a:moveTo>
                    <a:pt x="0" y="0"/>
                  </a:moveTo>
                  <a:lnTo>
                    <a:pt x="2493423" y="508188"/>
                  </a:lnTo>
                </a:path>
              </a:pathLst>
            </a:custGeom>
            <a:ln w="29994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72263" y="3244847"/>
              <a:ext cx="3625850" cy="174625"/>
            </a:xfrm>
            <a:custGeom>
              <a:avLst/>
              <a:gdLst/>
              <a:ahLst/>
              <a:cxnLst/>
              <a:rect l="l" t="t" r="r" b="b"/>
              <a:pathLst>
                <a:path w="3625850" h="174625">
                  <a:moveTo>
                    <a:pt x="0" y="174248"/>
                  </a:moveTo>
                  <a:lnTo>
                    <a:pt x="3625382" y="0"/>
                  </a:lnTo>
                </a:path>
              </a:pathLst>
            </a:custGeom>
            <a:ln w="2998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89409" y="4348189"/>
              <a:ext cx="115923" cy="1124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810991" y="4276725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80455" y="3898397"/>
              <a:ext cx="115923" cy="1124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02036" y="3826932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1" y="0"/>
                  </a:lnTo>
                  <a:lnTo>
                    <a:pt x="272761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5156" y="3157564"/>
              <a:ext cx="115923" cy="11244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156738" y="3086100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15301" y="2874434"/>
              <a:ext cx="1159510" cy="1428750"/>
            </a:xfrm>
            <a:custGeom>
              <a:avLst/>
              <a:gdLst/>
              <a:ahLst/>
              <a:cxnLst/>
              <a:rect l="l" t="t" r="r" b="b"/>
              <a:pathLst>
                <a:path w="1159510" h="1428750">
                  <a:moveTo>
                    <a:pt x="1159233" y="0"/>
                  </a:moveTo>
                  <a:lnTo>
                    <a:pt x="0" y="1428748"/>
                  </a:lnTo>
                </a:path>
              </a:pathLst>
            </a:custGeom>
            <a:ln w="2999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52878" y="3400292"/>
              <a:ext cx="115923" cy="11244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04961" y="1522737"/>
            <a:ext cx="558736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Multi-</a:t>
            </a:r>
            <a:r>
              <a:rPr spc="-265" dirty="0"/>
              <a:t>view</a:t>
            </a:r>
            <a:r>
              <a:rPr spc="-335" dirty="0"/>
              <a:t> </a:t>
            </a:r>
            <a:r>
              <a:rPr spc="-254" dirty="0"/>
              <a:t>stereo:</a:t>
            </a:r>
            <a:r>
              <a:rPr spc="-300" dirty="0"/>
              <a:t> </a:t>
            </a:r>
            <a:r>
              <a:rPr spc="-254" dirty="0"/>
              <a:t>Basic</a:t>
            </a:r>
            <a:r>
              <a:rPr spc="-330" dirty="0"/>
              <a:t> </a:t>
            </a:r>
            <a:r>
              <a:rPr spc="-130" dirty="0"/>
              <a:t>idea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60053" y="5925416"/>
            <a:ext cx="11258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latin typeface="Trebuchet MS"/>
                <a:cs typeface="Trebuchet MS"/>
              </a:rPr>
              <a:t>reference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view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10562" y="5925416"/>
            <a:ext cx="11791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neighbor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views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47381" y="6317562"/>
            <a:ext cx="10801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5" dirty="0">
                <a:latin typeface="Trebuchet MS"/>
                <a:cs typeface="Trebuchet MS"/>
              </a:rPr>
              <a:t>Source:</a:t>
            </a:r>
            <a:r>
              <a:rPr sz="1000" spc="-25" dirty="0">
                <a:latin typeface="Trebuchet MS"/>
                <a:cs typeface="Trebuchet MS"/>
              </a:rPr>
              <a:t> </a:t>
            </a:r>
            <a:r>
              <a:rPr sz="1000" spc="-135" dirty="0">
                <a:latin typeface="Trebuchet MS"/>
                <a:cs typeface="Trebuchet MS"/>
              </a:rPr>
              <a:t>Y.</a:t>
            </a:r>
            <a:r>
              <a:rPr sz="1000" spc="-18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Furukawa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10333" y="4155894"/>
            <a:ext cx="1556385" cy="1818005"/>
            <a:chOff x="1510333" y="4155894"/>
            <a:chExt cx="1556385" cy="181800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7337" y="4242355"/>
              <a:ext cx="115923" cy="11244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778918" y="4170890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56064" y="4303183"/>
              <a:ext cx="1159510" cy="1428750"/>
            </a:xfrm>
            <a:custGeom>
              <a:avLst/>
              <a:gdLst/>
              <a:ahLst/>
              <a:cxnLst/>
              <a:rect l="l" t="t" r="r" b="b"/>
              <a:pathLst>
                <a:path w="1159510" h="1428750">
                  <a:moveTo>
                    <a:pt x="1159233" y="0"/>
                  </a:moveTo>
                  <a:lnTo>
                    <a:pt x="0" y="1428748"/>
                  </a:lnTo>
                </a:path>
              </a:pathLst>
            </a:custGeom>
            <a:ln w="2999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14082" y="5666877"/>
              <a:ext cx="180975" cy="299085"/>
            </a:xfrm>
            <a:custGeom>
              <a:avLst/>
              <a:gdLst/>
              <a:ahLst/>
              <a:cxnLst/>
              <a:rect l="l" t="t" r="r" b="b"/>
              <a:pathLst>
                <a:path w="180975" h="299085">
                  <a:moveTo>
                    <a:pt x="180832" y="0"/>
                  </a:moveTo>
                  <a:lnTo>
                    <a:pt x="0" y="298834"/>
                  </a:lnTo>
                </a:path>
              </a:pathLst>
            </a:custGeom>
            <a:ln w="7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97524" y="5504812"/>
              <a:ext cx="32384" cy="160020"/>
            </a:xfrm>
            <a:custGeom>
              <a:avLst/>
              <a:gdLst/>
              <a:ahLst/>
              <a:cxnLst/>
              <a:rect l="l" t="t" r="r" b="b"/>
              <a:pathLst>
                <a:path w="32385" h="160020">
                  <a:moveTo>
                    <a:pt x="0" y="159937"/>
                  </a:moveTo>
                  <a:lnTo>
                    <a:pt x="22769" y="109611"/>
                  </a:lnTo>
                  <a:lnTo>
                    <a:pt x="32226" y="63226"/>
                  </a:lnTo>
                  <a:lnTo>
                    <a:pt x="28051" y="25846"/>
                  </a:lnTo>
                  <a:lnTo>
                    <a:pt x="9924" y="2535"/>
                  </a:lnTo>
                  <a:lnTo>
                    <a:pt x="8211" y="1543"/>
                  </a:lnTo>
                  <a:lnTo>
                    <a:pt x="6412" y="699"/>
                  </a:lnTo>
                  <a:lnTo>
                    <a:pt x="4538" y="0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18612" y="5774500"/>
              <a:ext cx="289560" cy="195580"/>
            </a:xfrm>
            <a:custGeom>
              <a:avLst/>
              <a:gdLst/>
              <a:ahLst/>
              <a:cxnLst/>
              <a:rect l="l" t="t" r="r" b="b"/>
              <a:pathLst>
                <a:path w="289560" h="195579">
                  <a:moveTo>
                    <a:pt x="289544" y="0"/>
                  </a:moveTo>
                  <a:lnTo>
                    <a:pt x="0" y="195515"/>
                  </a:lnTo>
                </a:path>
              </a:pathLst>
            </a:custGeom>
            <a:ln w="7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3787" y="5632780"/>
              <a:ext cx="259715" cy="1427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214" y="2325300"/>
            <a:ext cx="2568575" cy="624840"/>
            <a:chOff x="1877214" y="2325300"/>
            <a:chExt cx="2568575" cy="624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7214" y="2325300"/>
              <a:ext cx="2568322" cy="6243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0937" y="2427851"/>
              <a:ext cx="115923" cy="112447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4510953" y="2380545"/>
            <a:ext cx="3573779" cy="3510279"/>
            <a:chOff x="4510953" y="2380545"/>
            <a:chExt cx="3573779" cy="351027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0953" y="3597629"/>
              <a:ext cx="1772949" cy="22930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8341" y="2927351"/>
              <a:ext cx="1772949" cy="22930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1178" y="2380545"/>
              <a:ext cx="1772949" cy="229305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741066" y="2859436"/>
            <a:ext cx="5703570" cy="3031490"/>
            <a:chOff x="1741066" y="2859436"/>
            <a:chExt cx="5703570" cy="303149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28825" y="3597629"/>
              <a:ext cx="1772949" cy="22930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56064" y="4303182"/>
              <a:ext cx="1159510" cy="1428750"/>
            </a:xfrm>
            <a:custGeom>
              <a:avLst/>
              <a:gdLst/>
              <a:ahLst/>
              <a:cxnLst/>
              <a:rect l="l" t="t" r="r" b="b"/>
              <a:pathLst>
                <a:path w="1159510" h="1428750">
                  <a:moveTo>
                    <a:pt x="1159233" y="0"/>
                  </a:moveTo>
                  <a:lnTo>
                    <a:pt x="0" y="1428748"/>
                  </a:lnTo>
                </a:path>
              </a:pathLst>
            </a:custGeom>
            <a:ln w="2999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15301" y="2874434"/>
              <a:ext cx="1159510" cy="1428750"/>
            </a:xfrm>
            <a:custGeom>
              <a:avLst/>
              <a:gdLst/>
              <a:ahLst/>
              <a:cxnLst/>
              <a:rect l="l" t="t" r="r" b="b"/>
              <a:pathLst>
                <a:path w="1159510" h="1428750">
                  <a:moveTo>
                    <a:pt x="1159233" y="0"/>
                  </a:moveTo>
                  <a:lnTo>
                    <a:pt x="0" y="1428748"/>
                  </a:lnTo>
                </a:path>
              </a:pathLst>
            </a:custGeom>
            <a:ln w="2999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337" y="4242354"/>
              <a:ext cx="115923" cy="11244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78918" y="4170890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72263" y="3419096"/>
              <a:ext cx="2493645" cy="1016635"/>
            </a:xfrm>
            <a:custGeom>
              <a:avLst/>
              <a:gdLst/>
              <a:ahLst/>
              <a:cxnLst/>
              <a:rect l="l" t="t" r="r" b="b"/>
              <a:pathLst>
                <a:path w="2493645" h="1016635">
                  <a:moveTo>
                    <a:pt x="0" y="0"/>
                  </a:moveTo>
                  <a:lnTo>
                    <a:pt x="1456930" y="1016373"/>
                  </a:lnTo>
                </a:path>
                <a:path w="2493645" h="1016635">
                  <a:moveTo>
                    <a:pt x="0" y="0"/>
                  </a:moveTo>
                  <a:lnTo>
                    <a:pt x="2493423" y="508188"/>
                  </a:lnTo>
                </a:path>
              </a:pathLst>
            </a:custGeom>
            <a:ln w="29994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72262" y="3244847"/>
              <a:ext cx="3625850" cy="174625"/>
            </a:xfrm>
            <a:custGeom>
              <a:avLst/>
              <a:gdLst/>
              <a:ahLst/>
              <a:cxnLst/>
              <a:rect l="l" t="t" r="r" b="b"/>
              <a:pathLst>
                <a:path w="3625850" h="174625">
                  <a:moveTo>
                    <a:pt x="0" y="174248"/>
                  </a:moveTo>
                  <a:lnTo>
                    <a:pt x="3625382" y="0"/>
                  </a:lnTo>
                </a:path>
              </a:pathLst>
            </a:custGeom>
            <a:ln w="2998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2878" y="3400292"/>
              <a:ext cx="115923" cy="11244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9409" y="4348189"/>
              <a:ext cx="115923" cy="11244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810991" y="4276724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0455" y="3898397"/>
              <a:ext cx="115923" cy="11244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02035" y="3826932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1" y="0"/>
                  </a:lnTo>
                  <a:lnTo>
                    <a:pt x="272761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5156" y="3157564"/>
              <a:ext cx="115923" cy="11244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156738" y="3086099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60053" y="5925416"/>
            <a:ext cx="11258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latin typeface="Trebuchet MS"/>
                <a:cs typeface="Trebuchet MS"/>
              </a:rPr>
              <a:t>reference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view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10562" y="5925416"/>
            <a:ext cx="11791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neighbor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views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47381" y="6317562"/>
            <a:ext cx="10801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5" dirty="0">
                <a:latin typeface="Trebuchet MS"/>
                <a:cs typeface="Trebuchet MS"/>
              </a:rPr>
              <a:t>Source:</a:t>
            </a:r>
            <a:r>
              <a:rPr sz="1000" spc="-25" dirty="0">
                <a:latin typeface="Trebuchet MS"/>
                <a:cs typeface="Trebuchet MS"/>
              </a:rPr>
              <a:t> </a:t>
            </a:r>
            <a:r>
              <a:rPr sz="1000" spc="-135" dirty="0">
                <a:latin typeface="Trebuchet MS"/>
                <a:cs typeface="Trebuchet MS"/>
              </a:rPr>
              <a:t>Y.</a:t>
            </a:r>
            <a:r>
              <a:rPr sz="1000" spc="-18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Furukawa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704961" y="1522737"/>
            <a:ext cx="558736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Multi-</a:t>
            </a:r>
            <a:r>
              <a:rPr spc="-265" dirty="0"/>
              <a:t>view</a:t>
            </a:r>
            <a:r>
              <a:rPr spc="-335" dirty="0"/>
              <a:t> </a:t>
            </a:r>
            <a:r>
              <a:rPr spc="-254" dirty="0"/>
              <a:t>stereo:</a:t>
            </a:r>
            <a:r>
              <a:rPr spc="-300" dirty="0"/>
              <a:t> </a:t>
            </a:r>
            <a:r>
              <a:rPr spc="-254" dirty="0"/>
              <a:t>Basic</a:t>
            </a:r>
            <a:r>
              <a:rPr spc="-330" dirty="0"/>
              <a:t> </a:t>
            </a:r>
            <a:r>
              <a:rPr spc="-130" dirty="0"/>
              <a:t>idea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214" y="2325300"/>
            <a:ext cx="2568575" cy="624840"/>
            <a:chOff x="1877214" y="2325300"/>
            <a:chExt cx="2568575" cy="624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7214" y="2325300"/>
              <a:ext cx="2568322" cy="6243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0715" y="2549974"/>
              <a:ext cx="115923" cy="112447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4510953" y="2380545"/>
            <a:ext cx="3573779" cy="3510279"/>
            <a:chOff x="4510953" y="2380545"/>
            <a:chExt cx="3573779" cy="351027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0953" y="3597629"/>
              <a:ext cx="1772949" cy="22930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8341" y="2927351"/>
              <a:ext cx="1772949" cy="22930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1178" y="2380545"/>
              <a:ext cx="1772949" cy="229305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741066" y="2859436"/>
            <a:ext cx="5703570" cy="3031490"/>
            <a:chOff x="1741066" y="2859436"/>
            <a:chExt cx="5703570" cy="303149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28825" y="3597629"/>
              <a:ext cx="1772949" cy="22930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56064" y="4303182"/>
              <a:ext cx="1159510" cy="1428750"/>
            </a:xfrm>
            <a:custGeom>
              <a:avLst/>
              <a:gdLst/>
              <a:ahLst/>
              <a:cxnLst/>
              <a:rect l="l" t="t" r="r" b="b"/>
              <a:pathLst>
                <a:path w="1159510" h="1428750">
                  <a:moveTo>
                    <a:pt x="1159233" y="0"/>
                  </a:moveTo>
                  <a:lnTo>
                    <a:pt x="0" y="1428748"/>
                  </a:lnTo>
                </a:path>
              </a:pathLst>
            </a:custGeom>
            <a:ln w="2999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15301" y="2874434"/>
              <a:ext cx="1159510" cy="1428750"/>
            </a:xfrm>
            <a:custGeom>
              <a:avLst/>
              <a:gdLst/>
              <a:ahLst/>
              <a:cxnLst/>
              <a:rect l="l" t="t" r="r" b="b"/>
              <a:pathLst>
                <a:path w="1159510" h="1428750">
                  <a:moveTo>
                    <a:pt x="1159233" y="0"/>
                  </a:moveTo>
                  <a:lnTo>
                    <a:pt x="0" y="1428748"/>
                  </a:lnTo>
                </a:path>
              </a:pathLst>
            </a:custGeom>
            <a:ln w="2999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337" y="4242354"/>
              <a:ext cx="115923" cy="11244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78918" y="4170890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08643" y="3260346"/>
              <a:ext cx="2368550" cy="1197610"/>
            </a:xfrm>
            <a:custGeom>
              <a:avLst/>
              <a:gdLst/>
              <a:ahLst/>
              <a:cxnLst/>
              <a:rect l="l" t="t" r="r" b="b"/>
              <a:pathLst>
                <a:path w="2368550" h="1197610">
                  <a:moveTo>
                    <a:pt x="0" y="0"/>
                  </a:moveTo>
                  <a:lnTo>
                    <a:pt x="1402378" y="1196984"/>
                  </a:lnTo>
                </a:path>
                <a:path w="2368550" h="1197610">
                  <a:moveTo>
                    <a:pt x="0" y="0"/>
                  </a:moveTo>
                  <a:lnTo>
                    <a:pt x="2368340" y="625859"/>
                  </a:lnTo>
                </a:path>
              </a:pathLst>
            </a:custGeom>
            <a:ln w="29994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08643" y="3176399"/>
              <a:ext cx="3535679" cy="84455"/>
            </a:xfrm>
            <a:custGeom>
              <a:avLst/>
              <a:gdLst/>
              <a:ahLst/>
              <a:cxnLst/>
              <a:rect l="l" t="t" r="r" b="b"/>
              <a:pathLst>
                <a:path w="3535679" h="84454">
                  <a:moveTo>
                    <a:pt x="0" y="83944"/>
                  </a:moveTo>
                  <a:lnTo>
                    <a:pt x="3535664" y="0"/>
                  </a:lnTo>
                </a:path>
              </a:pathLst>
            </a:custGeom>
            <a:ln w="2998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9259" y="3241541"/>
              <a:ext cx="115923" cy="11244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3065" y="4348189"/>
              <a:ext cx="115923" cy="11244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974647" y="4276724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0455" y="3792562"/>
              <a:ext cx="115923" cy="11244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02035" y="3721099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1" y="0"/>
                  </a:lnTo>
                  <a:lnTo>
                    <a:pt x="272761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0903" y="3120176"/>
              <a:ext cx="115923" cy="11244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156738" y="3033184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704961" y="1522737"/>
            <a:ext cx="558736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Multi-</a:t>
            </a:r>
            <a:r>
              <a:rPr spc="-265" dirty="0"/>
              <a:t>view</a:t>
            </a:r>
            <a:r>
              <a:rPr spc="-335" dirty="0"/>
              <a:t> </a:t>
            </a:r>
            <a:r>
              <a:rPr spc="-254" dirty="0"/>
              <a:t>stereo:</a:t>
            </a:r>
            <a:r>
              <a:rPr spc="-300" dirty="0"/>
              <a:t> </a:t>
            </a:r>
            <a:r>
              <a:rPr spc="-254" dirty="0"/>
              <a:t>Basic</a:t>
            </a:r>
            <a:r>
              <a:rPr spc="-330" dirty="0"/>
              <a:t> </a:t>
            </a:r>
            <a:r>
              <a:rPr spc="-130" dirty="0"/>
              <a:t>idea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360053" y="5925416"/>
            <a:ext cx="11258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latin typeface="Trebuchet MS"/>
                <a:cs typeface="Trebuchet MS"/>
              </a:rPr>
              <a:t>reference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view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10562" y="5925416"/>
            <a:ext cx="11791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neighbor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views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47381" y="6317562"/>
            <a:ext cx="10801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5" dirty="0">
                <a:latin typeface="Trebuchet MS"/>
                <a:cs typeface="Trebuchet MS"/>
              </a:rPr>
              <a:t>Source:</a:t>
            </a:r>
            <a:r>
              <a:rPr sz="1000" spc="-25" dirty="0">
                <a:latin typeface="Trebuchet MS"/>
                <a:cs typeface="Trebuchet MS"/>
              </a:rPr>
              <a:t> </a:t>
            </a:r>
            <a:r>
              <a:rPr sz="1000" spc="-135" dirty="0">
                <a:latin typeface="Trebuchet MS"/>
                <a:cs typeface="Trebuchet MS"/>
              </a:rPr>
              <a:t>Y.</a:t>
            </a:r>
            <a:r>
              <a:rPr sz="1000" spc="-18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Furukawa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214" y="2325300"/>
            <a:ext cx="2568575" cy="624840"/>
            <a:chOff x="1877214" y="2325300"/>
            <a:chExt cx="2568575" cy="624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7214" y="2325300"/>
              <a:ext cx="2568322" cy="6243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337" y="2611234"/>
              <a:ext cx="115923" cy="112447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4510953" y="2380545"/>
            <a:ext cx="3573779" cy="3510279"/>
            <a:chOff x="4510953" y="2380545"/>
            <a:chExt cx="3573779" cy="351027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0953" y="3597629"/>
              <a:ext cx="1772949" cy="22930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8341" y="2927351"/>
              <a:ext cx="1772949" cy="22930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1178" y="2380545"/>
              <a:ext cx="1772949" cy="229305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170736" y="2874434"/>
            <a:ext cx="7256780" cy="4475049"/>
            <a:chOff x="1170736" y="2874434"/>
            <a:chExt cx="7256780" cy="4475049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28825" y="3597629"/>
              <a:ext cx="1772949" cy="22930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56064" y="4303182"/>
              <a:ext cx="1159510" cy="1428750"/>
            </a:xfrm>
            <a:custGeom>
              <a:avLst/>
              <a:gdLst/>
              <a:ahLst/>
              <a:cxnLst/>
              <a:rect l="l" t="t" r="r" b="b"/>
              <a:pathLst>
                <a:path w="1159510" h="1428750">
                  <a:moveTo>
                    <a:pt x="1159233" y="0"/>
                  </a:moveTo>
                  <a:lnTo>
                    <a:pt x="0" y="1428748"/>
                  </a:lnTo>
                </a:path>
              </a:pathLst>
            </a:custGeom>
            <a:ln w="2999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15301" y="2874434"/>
              <a:ext cx="1159510" cy="1428750"/>
            </a:xfrm>
            <a:custGeom>
              <a:avLst/>
              <a:gdLst/>
              <a:ahLst/>
              <a:cxnLst/>
              <a:rect l="l" t="t" r="r" b="b"/>
              <a:pathLst>
                <a:path w="1159510" h="1428750">
                  <a:moveTo>
                    <a:pt x="1159233" y="0"/>
                  </a:moveTo>
                  <a:lnTo>
                    <a:pt x="0" y="1428748"/>
                  </a:lnTo>
                </a:path>
              </a:pathLst>
            </a:custGeom>
            <a:ln w="2999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337" y="4242354"/>
              <a:ext cx="115923" cy="11244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78918" y="4170890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5024" y="3132658"/>
              <a:ext cx="2248535" cy="1219200"/>
            </a:xfrm>
            <a:custGeom>
              <a:avLst/>
              <a:gdLst/>
              <a:ahLst/>
              <a:cxnLst/>
              <a:rect l="l" t="t" r="r" b="b"/>
              <a:pathLst>
                <a:path w="2248535" h="1219200">
                  <a:moveTo>
                    <a:pt x="0" y="0"/>
                  </a:moveTo>
                  <a:lnTo>
                    <a:pt x="1375102" y="1218838"/>
                  </a:lnTo>
                </a:path>
                <a:path w="2248535" h="1219200">
                  <a:moveTo>
                    <a:pt x="0" y="0"/>
                  </a:moveTo>
                  <a:lnTo>
                    <a:pt x="2247938" y="610298"/>
                  </a:lnTo>
                </a:path>
              </a:pathLst>
            </a:custGeom>
            <a:ln w="29994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45024" y="3107956"/>
              <a:ext cx="3502660" cy="24765"/>
            </a:xfrm>
            <a:custGeom>
              <a:avLst/>
              <a:gdLst/>
              <a:ahLst/>
              <a:cxnLst/>
              <a:rect l="l" t="t" r="r" b="b"/>
              <a:pathLst>
                <a:path w="3502659" h="24764">
                  <a:moveTo>
                    <a:pt x="0" y="24701"/>
                  </a:moveTo>
                  <a:lnTo>
                    <a:pt x="3502639" y="0"/>
                  </a:lnTo>
                </a:path>
              </a:pathLst>
            </a:custGeom>
            <a:ln w="29985">
              <a:solidFill>
                <a:srgbClr val="8B8F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5641" y="3113854"/>
              <a:ext cx="115923" cy="11244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2170" y="4321729"/>
              <a:ext cx="115923" cy="11244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9559" y="3686731"/>
              <a:ext cx="115923" cy="11244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11139" y="3615267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5">
                  <a:moveTo>
                    <a:pt x="0" y="0"/>
                  </a:moveTo>
                  <a:lnTo>
                    <a:pt x="272761" y="0"/>
                  </a:lnTo>
                  <a:lnTo>
                    <a:pt x="272761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5156" y="3051729"/>
              <a:ext cx="115923" cy="11244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156738" y="2980265"/>
              <a:ext cx="273050" cy="264795"/>
            </a:xfrm>
            <a:custGeom>
              <a:avLst/>
              <a:gdLst/>
              <a:ahLst/>
              <a:cxnLst/>
              <a:rect l="l" t="t" r="r" b="b"/>
              <a:pathLst>
                <a:path w="273050" h="264794">
                  <a:moveTo>
                    <a:pt x="0" y="0"/>
                  </a:moveTo>
                  <a:lnTo>
                    <a:pt x="272760" y="0"/>
                  </a:lnTo>
                  <a:lnTo>
                    <a:pt x="272760" y="264582"/>
                  </a:lnTo>
                  <a:lnTo>
                    <a:pt x="0" y="264582"/>
                  </a:lnTo>
                  <a:lnTo>
                    <a:pt x="0" y="0"/>
                  </a:lnTo>
                  <a:close/>
                </a:path>
              </a:pathLst>
            </a:custGeom>
            <a:ln w="2999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70736" y="6259188"/>
              <a:ext cx="7256780" cy="1090295"/>
            </a:xfrm>
            <a:custGeom>
              <a:avLst/>
              <a:gdLst/>
              <a:ahLst/>
              <a:cxnLst/>
              <a:rect l="l" t="t" r="r" b="b"/>
              <a:pathLst>
                <a:path w="7256780" h="1090295">
                  <a:moveTo>
                    <a:pt x="7256783" y="0"/>
                  </a:moveTo>
                  <a:lnTo>
                    <a:pt x="0" y="0"/>
                  </a:lnTo>
                  <a:lnTo>
                    <a:pt x="0" y="1090042"/>
                  </a:lnTo>
                  <a:lnTo>
                    <a:pt x="7256783" y="1090042"/>
                  </a:lnTo>
                  <a:lnTo>
                    <a:pt x="725678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60053" y="5925416"/>
            <a:ext cx="11258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latin typeface="Trebuchet MS"/>
                <a:cs typeface="Trebuchet MS"/>
              </a:rPr>
              <a:t>reference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view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10562" y="5925416"/>
            <a:ext cx="11791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neighbor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views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47381" y="6317562"/>
            <a:ext cx="10801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5" dirty="0">
                <a:latin typeface="Trebuchet MS"/>
                <a:cs typeface="Trebuchet MS"/>
              </a:rPr>
              <a:t>Source:</a:t>
            </a:r>
            <a:r>
              <a:rPr sz="1000" spc="-25" dirty="0">
                <a:latin typeface="Trebuchet MS"/>
                <a:cs typeface="Trebuchet MS"/>
              </a:rPr>
              <a:t> </a:t>
            </a:r>
            <a:r>
              <a:rPr sz="1000" spc="-135" dirty="0">
                <a:latin typeface="Trebuchet MS"/>
                <a:cs typeface="Trebuchet MS"/>
              </a:rPr>
              <a:t>Y.</a:t>
            </a:r>
            <a:r>
              <a:rPr sz="1000" spc="-18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Furukawa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0736" y="6271438"/>
            <a:ext cx="7256780" cy="10902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821055" marR="154940" indent="-659130">
              <a:lnSpc>
                <a:spcPts val="4010"/>
              </a:lnSpc>
              <a:spcBef>
                <a:spcPts val="35"/>
              </a:spcBef>
            </a:pPr>
            <a:r>
              <a:rPr sz="3300" b="1" spc="-434" dirty="0">
                <a:latin typeface="Tahoma"/>
                <a:cs typeface="Tahoma"/>
              </a:rPr>
              <a:t>In</a:t>
            </a:r>
            <a:r>
              <a:rPr sz="3300" b="1" spc="-270" dirty="0">
                <a:latin typeface="Tahoma"/>
                <a:cs typeface="Tahoma"/>
              </a:rPr>
              <a:t> </a:t>
            </a:r>
            <a:r>
              <a:rPr sz="3300" b="1" spc="-190" dirty="0">
                <a:latin typeface="Tahoma"/>
                <a:cs typeface="Tahoma"/>
              </a:rPr>
              <a:t>this</a:t>
            </a:r>
            <a:r>
              <a:rPr sz="3300" b="1" spc="-265" dirty="0">
                <a:latin typeface="Tahoma"/>
                <a:cs typeface="Tahoma"/>
              </a:rPr>
              <a:t> </a:t>
            </a:r>
            <a:r>
              <a:rPr sz="3300" b="1" spc="-225" dirty="0">
                <a:latin typeface="Tahoma"/>
                <a:cs typeface="Tahoma"/>
              </a:rPr>
              <a:t>manner,</a:t>
            </a:r>
            <a:r>
              <a:rPr sz="3300" b="1" spc="-275" dirty="0">
                <a:latin typeface="Tahoma"/>
                <a:cs typeface="Tahoma"/>
              </a:rPr>
              <a:t> </a:t>
            </a:r>
            <a:r>
              <a:rPr sz="3300" b="1" spc="-190" dirty="0">
                <a:latin typeface="Tahoma"/>
                <a:cs typeface="Tahoma"/>
              </a:rPr>
              <a:t>solve</a:t>
            </a:r>
            <a:r>
              <a:rPr sz="3300" b="1" spc="-270" dirty="0">
                <a:latin typeface="Tahoma"/>
                <a:cs typeface="Tahoma"/>
              </a:rPr>
              <a:t> </a:t>
            </a:r>
            <a:r>
              <a:rPr sz="3300" b="1" spc="-155" dirty="0">
                <a:latin typeface="Tahoma"/>
                <a:cs typeface="Tahoma"/>
              </a:rPr>
              <a:t>for</a:t>
            </a:r>
            <a:r>
              <a:rPr sz="3300" b="1" spc="-270" dirty="0">
                <a:latin typeface="Tahoma"/>
                <a:cs typeface="Tahoma"/>
              </a:rPr>
              <a:t> </a:t>
            </a:r>
            <a:r>
              <a:rPr sz="3300" b="1" spc="-245" dirty="0">
                <a:latin typeface="Tahoma"/>
                <a:cs typeface="Tahoma"/>
              </a:rPr>
              <a:t>a</a:t>
            </a:r>
            <a:r>
              <a:rPr sz="3300" b="1" spc="-270" dirty="0">
                <a:latin typeface="Tahoma"/>
                <a:cs typeface="Tahoma"/>
              </a:rPr>
              <a:t> </a:t>
            </a:r>
            <a:r>
              <a:rPr sz="3300" b="1" spc="-170" dirty="0">
                <a:latin typeface="Tahoma"/>
                <a:cs typeface="Tahoma"/>
              </a:rPr>
              <a:t>depth</a:t>
            </a:r>
            <a:r>
              <a:rPr sz="3300" b="1" spc="-270" dirty="0">
                <a:latin typeface="Tahoma"/>
                <a:cs typeface="Tahoma"/>
              </a:rPr>
              <a:t> </a:t>
            </a:r>
            <a:r>
              <a:rPr sz="3300" b="1" spc="-135" dirty="0">
                <a:latin typeface="Tahoma"/>
                <a:cs typeface="Tahoma"/>
              </a:rPr>
              <a:t>map </a:t>
            </a:r>
            <a:r>
              <a:rPr sz="3300" b="1" spc="-185" dirty="0">
                <a:latin typeface="Tahoma"/>
                <a:cs typeface="Tahoma"/>
              </a:rPr>
              <a:t>over</a:t>
            </a:r>
            <a:r>
              <a:rPr sz="3300" b="1" spc="-265" dirty="0">
                <a:latin typeface="Tahoma"/>
                <a:cs typeface="Tahoma"/>
              </a:rPr>
              <a:t> </a:t>
            </a:r>
            <a:r>
              <a:rPr sz="3300" b="1" spc="-204" dirty="0">
                <a:latin typeface="Tahoma"/>
                <a:cs typeface="Tahoma"/>
              </a:rPr>
              <a:t>the</a:t>
            </a:r>
            <a:r>
              <a:rPr sz="3300" b="1" spc="-270" dirty="0">
                <a:latin typeface="Tahoma"/>
                <a:cs typeface="Tahoma"/>
              </a:rPr>
              <a:t> </a:t>
            </a:r>
            <a:r>
              <a:rPr sz="3300" b="1" spc="-225" dirty="0">
                <a:latin typeface="Tahoma"/>
                <a:cs typeface="Tahoma"/>
              </a:rPr>
              <a:t>whole</a:t>
            </a:r>
            <a:r>
              <a:rPr sz="3300" b="1" spc="-270" dirty="0">
                <a:latin typeface="Tahoma"/>
                <a:cs typeface="Tahoma"/>
              </a:rPr>
              <a:t> </a:t>
            </a:r>
            <a:r>
              <a:rPr sz="3300" b="1" spc="-210" dirty="0">
                <a:latin typeface="Tahoma"/>
                <a:cs typeface="Tahoma"/>
              </a:rPr>
              <a:t>reference</a:t>
            </a:r>
            <a:r>
              <a:rPr sz="3300" b="1" spc="-270" dirty="0">
                <a:latin typeface="Tahoma"/>
                <a:cs typeface="Tahoma"/>
              </a:rPr>
              <a:t> </a:t>
            </a:r>
            <a:r>
              <a:rPr sz="3300" b="1" spc="-20" dirty="0">
                <a:latin typeface="Tahoma"/>
                <a:cs typeface="Tahoma"/>
              </a:rPr>
              <a:t>view</a:t>
            </a:r>
            <a:endParaRPr sz="3300" dirty="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704961" y="1522737"/>
            <a:ext cx="558736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Multi-</a:t>
            </a:r>
            <a:r>
              <a:rPr spc="-265" dirty="0"/>
              <a:t>view</a:t>
            </a:r>
            <a:r>
              <a:rPr spc="-335" dirty="0"/>
              <a:t> </a:t>
            </a:r>
            <a:r>
              <a:rPr spc="-254" dirty="0"/>
              <a:t>stereo:</a:t>
            </a:r>
            <a:r>
              <a:rPr spc="-300" dirty="0"/>
              <a:t> </a:t>
            </a:r>
            <a:r>
              <a:rPr spc="-254" dirty="0"/>
              <a:t>Basic</a:t>
            </a:r>
            <a:r>
              <a:rPr spc="-330" dirty="0"/>
              <a:t> </a:t>
            </a:r>
            <a:r>
              <a:rPr spc="-130" dirty="0"/>
              <a:t>idea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Multi-</a:t>
            </a:r>
            <a:r>
              <a:rPr spc="-260" dirty="0"/>
              <a:t>view</a:t>
            </a:r>
            <a:r>
              <a:rPr spc="-315" dirty="0"/>
              <a:t> </a:t>
            </a:r>
            <a:r>
              <a:rPr spc="-254" dirty="0"/>
              <a:t>stereo:</a:t>
            </a:r>
            <a:r>
              <a:rPr spc="-285" dirty="0"/>
              <a:t> </a:t>
            </a:r>
            <a:r>
              <a:rPr spc="-210" dirty="0"/>
              <a:t>advantages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2575" indent="-2698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82575" algn="l"/>
              </a:tabLst>
            </a:pPr>
            <a:r>
              <a:rPr spc="-60" dirty="0"/>
              <a:t>Can</a:t>
            </a:r>
            <a:r>
              <a:rPr spc="-185" dirty="0"/>
              <a:t> </a:t>
            </a:r>
            <a:r>
              <a:rPr spc="-80" dirty="0"/>
              <a:t>match</a:t>
            </a:r>
            <a:r>
              <a:rPr spc="-180" dirty="0"/>
              <a:t> </a:t>
            </a:r>
            <a:r>
              <a:rPr spc="-25" dirty="0"/>
              <a:t>windows</a:t>
            </a:r>
            <a:r>
              <a:rPr spc="-190" dirty="0"/>
              <a:t> </a:t>
            </a:r>
            <a:r>
              <a:rPr dirty="0"/>
              <a:t>using</a:t>
            </a:r>
            <a:r>
              <a:rPr spc="-180" dirty="0"/>
              <a:t> </a:t>
            </a:r>
            <a:r>
              <a:rPr spc="-65" dirty="0"/>
              <a:t>more</a:t>
            </a:r>
            <a:r>
              <a:rPr spc="-185" dirty="0"/>
              <a:t> </a:t>
            </a:r>
            <a:r>
              <a:rPr spc="-70" dirty="0"/>
              <a:t>than</a:t>
            </a:r>
            <a:r>
              <a:rPr spc="-180" dirty="0"/>
              <a:t> </a:t>
            </a:r>
            <a:r>
              <a:rPr spc="-45" dirty="0"/>
              <a:t>1</a:t>
            </a:r>
            <a:r>
              <a:rPr spc="-180" dirty="0"/>
              <a:t> </a:t>
            </a:r>
            <a:r>
              <a:rPr spc="-70" dirty="0"/>
              <a:t>neighbor,</a:t>
            </a:r>
            <a:r>
              <a:rPr spc="-190" dirty="0"/>
              <a:t> </a:t>
            </a:r>
            <a:r>
              <a:rPr dirty="0"/>
              <a:t>giving</a:t>
            </a:r>
            <a:r>
              <a:rPr spc="-180" dirty="0"/>
              <a:t> </a:t>
            </a:r>
            <a:r>
              <a:rPr spc="-50" dirty="0"/>
              <a:t>a</a:t>
            </a:r>
          </a:p>
          <a:p>
            <a:pPr marL="282575">
              <a:lnSpc>
                <a:spcPct val="100000"/>
              </a:lnSpc>
            </a:pPr>
            <a:r>
              <a:rPr b="1" spc="-145" dirty="0">
                <a:latin typeface="Tahoma"/>
                <a:cs typeface="Tahoma"/>
              </a:rPr>
              <a:t>stronger</a:t>
            </a:r>
            <a:r>
              <a:rPr b="1" spc="-175" dirty="0">
                <a:latin typeface="Tahoma"/>
                <a:cs typeface="Tahoma"/>
              </a:rPr>
              <a:t> match</a:t>
            </a:r>
            <a:r>
              <a:rPr b="1" spc="-16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signal</a:t>
            </a:r>
          </a:p>
          <a:p>
            <a:pPr marL="282575" marR="5080" indent="-270510">
              <a:lnSpc>
                <a:spcPct val="103200"/>
              </a:lnSpc>
              <a:spcBef>
                <a:spcPts val="1900"/>
              </a:spcBef>
              <a:buFont typeface="Arial MT"/>
              <a:buChar char="•"/>
              <a:tabLst>
                <a:tab pos="282575" algn="l"/>
              </a:tabLst>
            </a:pPr>
            <a:r>
              <a:rPr spc="-160" dirty="0"/>
              <a:t>If</a:t>
            </a:r>
            <a:r>
              <a:rPr spc="-190" dirty="0"/>
              <a:t> </a:t>
            </a:r>
            <a:r>
              <a:rPr dirty="0"/>
              <a:t>you</a:t>
            </a:r>
            <a:r>
              <a:rPr spc="-185" dirty="0"/>
              <a:t> </a:t>
            </a:r>
            <a:r>
              <a:rPr spc="-65" dirty="0"/>
              <a:t>have</a:t>
            </a:r>
            <a:r>
              <a:rPr spc="-185" dirty="0"/>
              <a:t> </a:t>
            </a:r>
            <a:r>
              <a:rPr spc="-80" dirty="0"/>
              <a:t>lots</a:t>
            </a:r>
            <a:r>
              <a:rPr spc="-190" dirty="0"/>
              <a:t> </a:t>
            </a:r>
            <a:r>
              <a:rPr spc="-90" dirty="0"/>
              <a:t>of</a:t>
            </a:r>
            <a:r>
              <a:rPr spc="-185" dirty="0"/>
              <a:t> </a:t>
            </a:r>
            <a:r>
              <a:rPr spc="-85" dirty="0"/>
              <a:t>potential</a:t>
            </a:r>
            <a:r>
              <a:rPr spc="-195" dirty="0"/>
              <a:t> </a:t>
            </a:r>
            <a:r>
              <a:rPr spc="-60" dirty="0"/>
              <a:t>neighbors,</a:t>
            </a:r>
            <a:r>
              <a:rPr spc="-190" dirty="0"/>
              <a:t> </a:t>
            </a:r>
            <a:r>
              <a:rPr spc="-80" dirty="0"/>
              <a:t>can</a:t>
            </a:r>
            <a:r>
              <a:rPr spc="-195" dirty="0"/>
              <a:t> </a:t>
            </a:r>
            <a:r>
              <a:rPr b="1" spc="-155" dirty="0">
                <a:latin typeface="Tahoma"/>
                <a:cs typeface="Tahoma"/>
              </a:rPr>
              <a:t>choose</a:t>
            </a:r>
            <a:r>
              <a:rPr b="1" spc="-165" dirty="0">
                <a:latin typeface="Tahoma"/>
                <a:cs typeface="Tahoma"/>
              </a:rPr>
              <a:t> </a:t>
            </a:r>
            <a:r>
              <a:rPr b="1" spc="-150" dirty="0">
                <a:latin typeface="Tahoma"/>
                <a:cs typeface="Tahoma"/>
              </a:rPr>
              <a:t>the</a:t>
            </a:r>
            <a:r>
              <a:rPr b="1" spc="-180" dirty="0">
                <a:latin typeface="Tahoma"/>
                <a:cs typeface="Tahoma"/>
              </a:rPr>
              <a:t> </a:t>
            </a:r>
            <a:r>
              <a:rPr b="1" spc="-45" dirty="0">
                <a:latin typeface="Tahoma"/>
                <a:cs typeface="Tahoma"/>
              </a:rPr>
              <a:t>best </a:t>
            </a:r>
            <a:r>
              <a:rPr b="1" spc="-160" dirty="0">
                <a:latin typeface="Tahoma"/>
                <a:cs typeface="Tahoma"/>
              </a:rPr>
              <a:t>subset</a:t>
            </a:r>
            <a:r>
              <a:rPr b="1" spc="-175" dirty="0">
                <a:latin typeface="Tahoma"/>
                <a:cs typeface="Tahoma"/>
              </a:rPr>
              <a:t> </a:t>
            </a:r>
            <a:r>
              <a:rPr spc="-90" dirty="0"/>
              <a:t>of</a:t>
            </a:r>
            <a:r>
              <a:rPr spc="-170" dirty="0"/>
              <a:t> </a:t>
            </a:r>
            <a:r>
              <a:rPr spc="-25" dirty="0"/>
              <a:t>neighbors</a:t>
            </a:r>
            <a:r>
              <a:rPr spc="-175" dirty="0"/>
              <a:t> </a:t>
            </a:r>
            <a:r>
              <a:rPr spc="-75" dirty="0"/>
              <a:t>to</a:t>
            </a:r>
            <a:r>
              <a:rPr spc="-170" dirty="0"/>
              <a:t> </a:t>
            </a:r>
            <a:r>
              <a:rPr spc="-80" dirty="0"/>
              <a:t>match</a:t>
            </a:r>
            <a:r>
              <a:rPr spc="-170" dirty="0"/>
              <a:t> </a:t>
            </a:r>
            <a:r>
              <a:rPr spc="-85" dirty="0"/>
              <a:t>per</a:t>
            </a:r>
            <a:r>
              <a:rPr spc="-170" dirty="0"/>
              <a:t> </a:t>
            </a:r>
            <a:r>
              <a:rPr spc="-130" dirty="0"/>
              <a:t>reference</a:t>
            </a:r>
            <a:r>
              <a:rPr spc="-170" dirty="0"/>
              <a:t> </a:t>
            </a:r>
            <a:r>
              <a:rPr spc="-10" dirty="0"/>
              <a:t>image</a:t>
            </a:r>
          </a:p>
          <a:p>
            <a:pPr marL="282575" marR="116839" indent="-270510">
              <a:lnSpc>
                <a:spcPct val="100800"/>
              </a:lnSpc>
              <a:spcBef>
                <a:spcPts val="2060"/>
              </a:spcBef>
              <a:buFont typeface="Arial MT"/>
              <a:buChar char="•"/>
              <a:tabLst>
                <a:tab pos="282575" algn="l"/>
              </a:tabLst>
            </a:pPr>
            <a:r>
              <a:rPr spc="-60" dirty="0"/>
              <a:t>Can</a:t>
            </a:r>
            <a:r>
              <a:rPr spc="-180" dirty="0"/>
              <a:t> </a:t>
            </a:r>
            <a:r>
              <a:rPr spc="-95" dirty="0"/>
              <a:t>reconstruct</a:t>
            </a:r>
            <a:r>
              <a:rPr spc="-180" dirty="0"/>
              <a:t> </a:t>
            </a:r>
            <a:r>
              <a:rPr spc="-125" dirty="0"/>
              <a:t>a</a:t>
            </a:r>
            <a:r>
              <a:rPr spc="-180" dirty="0"/>
              <a:t> </a:t>
            </a:r>
            <a:r>
              <a:rPr spc="-50" dirty="0"/>
              <a:t>depth</a:t>
            </a:r>
            <a:r>
              <a:rPr spc="-180" dirty="0"/>
              <a:t> </a:t>
            </a:r>
            <a:r>
              <a:rPr spc="-30" dirty="0"/>
              <a:t>map</a:t>
            </a:r>
            <a:r>
              <a:rPr spc="-175" dirty="0"/>
              <a:t> </a:t>
            </a:r>
            <a:r>
              <a:rPr spc="-114" dirty="0"/>
              <a:t>for</a:t>
            </a:r>
            <a:r>
              <a:rPr spc="-175" dirty="0"/>
              <a:t> </a:t>
            </a:r>
            <a:r>
              <a:rPr spc="-90" dirty="0"/>
              <a:t>each</a:t>
            </a:r>
            <a:r>
              <a:rPr spc="-180" dirty="0"/>
              <a:t> </a:t>
            </a:r>
            <a:r>
              <a:rPr spc="-125" dirty="0"/>
              <a:t>reference</a:t>
            </a:r>
            <a:r>
              <a:rPr spc="-175" dirty="0"/>
              <a:t> </a:t>
            </a:r>
            <a:r>
              <a:rPr spc="-170" dirty="0"/>
              <a:t>frame,</a:t>
            </a:r>
            <a:r>
              <a:rPr spc="-185" dirty="0"/>
              <a:t> </a:t>
            </a:r>
            <a:r>
              <a:rPr spc="-25" dirty="0"/>
              <a:t>and </a:t>
            </a:r>
            <a:r>
              <a:rPr spc="-90" dirty="0"/>
              <a:t>the</a:t>
            </a:r>
            <a:r>
              <a:rPr spc="-185" dirty="0"/>
              <a:t> </a:t>
            </a:r>
            <a:r>
              <a:rPr spc="-55" dirty="0"/>
              <a:t>merge</a:t>
            </a:r>
            <a:r>
              <a:rPr spc="-180" dirty="0"/>
              <a:t> </a:t>
            </a:r>
            <a:r>
              <a:rPr spc="-65" dirty="0"/>
              <a:t>into</a:t>
            </a:r>
            <a:r>
              <a:rPr spc="-175" dirty="0"/>
              <a:t> </a:t>
            </a:r>
            <a:r>
              <a:rPr spc="-125" dirty="0"/>
              <a:t>a</a:t>
            </a:r>
            <a:r>
              <a:rPr spc="-180" dirty="0"/>
              <a:t> </a:t>
            </a:r>
            <a:r>
              <a:rPr b="1" spc="-150" dirty="0">
                <a:latin typeface="Tahoma"/>
                <a:cs typeface="Tahoma"/>
              </a:rPr>
              <a:t>complete</a:t>
            </a:r>
            <a:r>
              <a:rPr b="1" spc="-185" dirty="0">
                <a:latin typeface="Tahoma"/>
                <a:cs typeface="Tahoma"/>
              </a:rPr>
              <a:t> 3D</a:t>
            </a:r>
            <a:r>
              <a:rPr b="1" spc="-17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8611" y="3415365"/>
            <a:ext cx="510540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81280" marR="5080" indent="-69215">
              <a:lnSpc>
                <a:spcPts val="1300"/>
              </a:lnSpc>
              <a:spcBef>
                <a:spcPts val="160"/>
              </a:spcBef>
            </a:pPr>
            <a:r>
              <a:rPr sz="1100" spc="-35" dirty="0">
                <a:latin typeface="Trebuchet MS"/>
                <a:cs typeface="Trebuchet MS"/>
              </a:rPr>
              <a:t>width</a:t>
            </a:r>
            <a:r>
              <a:rPr sz="1100" spc="-75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of </a:t>
            </a:r>
            <a:r>
              <a:rPr sz="1100" spc="-55" dirty="0">
                <a:latin typeface="Trebuchet MS"/>
                <a:cs typeface="Trebuchet MS"/>
              </a:rPr>
              <a:t>a</a:t>
            </a:r>
            <a:r>
              <a:rPr sz="1100" spc="-9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pixel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28862" y="2433017"/>
            <a:ext cx="2400300" cy="1757045"/>
            <a:chOff x="2328862" y="2433017"/>
            <a:chExt cx="2400300" cy="1757045"/>
          </a:xfrm>
        </p:grpSpPr>
        <p:sp>
          <p:nvSpPr>
            <p:cNvPr id="4" name="object 4"/>
            <p:cNvSpPr/>
            <p:nvPr/>
          </p:nvSpPr>
          <p:spPr>
            <a:xfrm>
              <a:off x="2691409" y="2440517"/>
              <a:ext cx="1017905" cy="1741805"/>
            </a:xfrm>
            <a:custGeom>
              <a:avLst/>
              <a:gdLst/>
              <a:ahLst/>
              <a:cxnLst/>
              <a:rect l="l" t="t" r="r" b="b"/>
              <a:pathLst>
                <a:path w="1017904" h="1741804">
                  <a:moveTo>
                    <a:pt x="1017627" y="0"/>
                  </a:moveTo>
                  <a:lnTo>
                    <a:pt x="0" y="1741693"/>
                  </a:lnTo>
                </a:path>
              </a:pathLst>
            </a:custGeom>
            <a:ln w="149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1409" y="2620434"/>
              <a:ext cx="1318260" cy="1562100"/>
            </a:xfrm>
            <a:custGeom>
              <a:avLst/>
              <a:gdLst/>
              <a:ahLst/>
              <a:cxnLst/>
              <a:rect l="l" t="t" r="r" b="b"/>
              <a:pathLst>
                <a:path w="1318260" h="1562100">
                  <a:moveTo>
                    <a:pt x="1317664" y="0"/>
                  </a:moveTo>
                  <a:lnTo>
                    <a:pt x="0" y="1561776"/>
                  </a:lnTo>
                </a:path>
              </a:pathLst>
            </a:custGeom>
            <a:ln w="149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88945" y="2500488"/>
              <a:ext cx="1380490" cy="1679575"/>
            </a:xfrm>
            <a:custGeom>
              <a:avLst/>
              <a:gdLst/>
              <a:ahLst/>
              <a:cxnLst/>
              <a:rect l="l" t="t" r="r" b="b"/>
              <a:pathLst>
                <a:path w="1380489" h="1679575">
                  <a:moveTo>
                    <a:pt x="1380172" y="1679222"/>
                  </a:moveTo>
                  <a:lnTo>
                    <a:pt x="180022" y="0"/>
                  </a:lnTo>
                </a:path>
                <a:path w="1380489" h="1679575">
                  <a:moveTo>
                    <a:pt x="1380172" y="1679222"/>
                  </a:moveTo>
                  <a:lnTo>
                    <a:pt x="0" y="299861"/>
                  </a:lnTo>
                </a:path>
              </a:pathLst>
            </a:custGeom>
            <a:ln w="1499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3908" y="4114739"/>
              <a:ext cx="70005" cy="699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4110" y="4114739"/>
              <a:ext cx="70005" cy="699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28862" y="3879849"/>
              <a:ext cx="780415" cy="0"/>
            </a:xfrm>
            <a:custGeom>
              <a:avLst/>
              <a:gdLst/>
              <a:ahLst/>
              <a:cxnLst/>
              <a:rect l="l" t="t" r="r" b="b"/>
              <a:pathLst>
                <a:path w="780414">
                  <a:moveTo>
                    <a:pt x="0" y="0"/>
                  </a:moveTo>
                  <a:lnTo>
                    <a:pt x="780097" y="0"/>
                  </a:lnTo>
                </a:path>
              </a:pathLst>
            </a:custGeom>
            <a:ln w="9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49064" y="3879849"/>
              <a:ext cx="780415" cy="0"/>
            </a:xfrm>
            <a:custGeom>
              <a:avLst/>
              <a:gdLst/>
              <a:ahLst/>
              <a:cxnLst/>
              <a:rect l="l" t="t" r="r" b="b"/>
              <a:pathLst>
                <a:path w="780414">
                  <a:moveTo>
                    <a:pt x="0" y="0"/>
                  </a:moveTo>
                  <a:lnTo>
                    <a:pt x="780097" y="0"/>
                  </a:lnTo>
                </a:path>
              </a:pathLst>
            </a:custGeom>
            <a:ln w="9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1500" y="3077720"/>
              <a:ext cx="70005" cy="699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46907" y="3695339"/>
              <a:ext cx="422275" cy="188595"/>
            </a:xfrm>
            <a:custGeom>
              <a:avLst/>
              <a:gdLst/>
              <a:ahLst/>
              <a:cxnLst/>
              <a:rect l="l" t="t" r="r" b="b"/>
              <a:pathLst>
                <a:path w="422275" h="188595">
                  <a:moveTo>
                    <a:pt x="364897" y="165479"/>
                  </a:moveTo>
                  <a:lnTo>
                    <a:pt x="355047" y="188447"/>
                  </a:lnTo>
                  <a:lnTo>
                    <a:pt x="422022" y="184510"/>
                  </a:lnTo>
                  <a:lnTo>
                    <a:pt x="409243" y="169416"/>
                  </a:lnTo>
                  <a:lnTo>
                    <a:pt x="374089" y="169416"/>
                  </a:lnTo>
                  <a:lnTo>
                    <a:pt x="364897" y="165479"/>
                  </a:lnTo>
                  <a:close/>
                </a:path>
                <a:path w="422275" h="188595">
                  <a:moveTo>
                    <a:pt x="368836" y="156292"/>
                  </a:moveTo>
                  <a:lnTo>
                    <a:pt x="364897" y="165479"/>
                  </a:lnTo>
                  <a:lnTo>
                    <a:pt x="374089" y="169416"/>
                  </a:lnTo>
                  <a:lnTo>
                    <a:pt x="378029" y="160229"/>
                  </a:lnTo>
                  <a:lnTo>
                    <a:pt x="368836" y="156292"/>
                  </a:lnTo>
                  <a:close/>
                </a:path>
                <a:path w="422275" h="188595">
                  <a:moveTo>
                    <a:pt x="378686" y="133324"/>
                  </a:moveTo>
                  <a:lnTo>
                    <a:pt x="368836" y="156292"/>
                  </a:lnTo>
                  <a:lnTo>
                    <a:pt x="378029" y="160229"/>
                  </a:lnTo>
                  <a:lnTo>
                    <a:pt x="374089" y="169416"/>
                  </a:lnTo>
                  <a:lnTo>
                    <a:pt x="409243" y="169416"/>
                  </a:lnTo>
                  <a:lnTo>
                    <a:pt x="378686" y="133324"/>
                  </a:lnTo>
                  <a:close/>
                </a:path>
                <a:path w="422275" h="188595">
                  <a:moveTo>
                    <a:pt x="3939" y="0"/>
                  </a:moveTo>
                  <a:lnTo>
                    <a:pt x="0" y="9187"/>
                  </a:lnTo>
                  <a:lnTo>
                    <a:pt x="364897" y="165479"/>
                  </a:lnTo>
                  <a:lnTo>
                    <a:pt x="368836" y="156292"/>
                  </a:lnTo>
                  <a:lnTo>
                    <a:pt x="39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Choosing</a:t>
            </a:r>
            <a:r>
              <a:rPr spc="-305" dirty="0"/>
              <a:t> </a:t>
            </a:r>
            <a:r>
              <a:rPr spc="-254" dirty="0"/>
              <a:t>a</a:t>
            </a:r>
            <a:r>
              <a:rPr spc="-300" dirty="0"/>
              <a:t> </a:t>
            </a:r>
            <a:r>
              <a:rPr spc="-200" dirty="0"/>
              <a:t>single</a:t>
            </a:r>
            <a:r>
              <a:rPr spc="-300" dirty="0"/>
              <a:t> </a:t>
            </a:r>
            <a:r>
              <a:rPr spc="-235" dirty="0"/>
              <a:t>stereo</a:t>
            </a:r>
            <a:r>
              <a:rPr spc="-305" dirty="0"/>
              <a:t> </a:t>
            </a:r>
            <a:r>
              <a:rPr spc="-175" dirty="0"/>
              <a:t>baseline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48104" y="4427346"/>
            <a:ext cx="5507990" cy="174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9480">
              <a:lnSpc>
                <a:spcPct val="100000"/>
              </a:lnSpc>
              <a:spcBef>
                <a:spcPts val="100"/>
              </a:spcBef>
              <a:tabLst>
                <a:tab pos="4081145" algn="l"/>
              </a:tabLst>
            </a:pPr>
            <a:r>
              <a:rPr sz="1700" b="1" spc="-105" dirty="0">
                <a:latin typeface="Tahoma"/>
                <a:cs typeface="Tahoma"/>
              </a:rPr>
              <a:t>Large</a:t>
            </a:r>
            <a:r>
              <a:rPr sz="1700" b="1" spc="-85" dirty="0">
                <a:latin typeface="Tahoma"/>
                <a:cs typeface="Tahoma"/>
              </a:rPr>
              <a:t> </a:t>
            </a:r>
            <a:r>
              <a:rPr sz="1700" b="1" spc="-10" dirty="0">
                <a:latin typeface="Tahoma"/>
                <a:cs typeface="Tahoma"/>
              </a:rPr>
              <a:t>Baseline</a:t>
            </a:r>
            <a:r>
              <a:rPr sz="1700" b="1" dirty="0">
                <a:latin typeface="Tahoma"/>
                <a:cs typeface="Tahoma"/>
              </a:rPr>
              <a:t>	</a:t>
            </a:r>
            <a:r>
              <a:rPr sz="1700" b="1" spc="-105" dirty="0">
                <a:latin typeface="Tahoma"/>
                <a:cs typeface="Tahoma"/>
              </a:rPr>
              <a:t>Small</a:t>
            </a:r>
            <a:r>
              <a:rPr sz="1700" b="1" spc="-100" dirty="0">
                <a:latin typeface="Tahoma"/>
                <a:cs typeface="Tahoma"/>
              </a:rPr>
              <a:t> </a:t>
            </a:r>
            <a:r>
              <a:rPr sz="1700" b="1" spc="-85" dirty="0">
                <a:latin typeface="Tahoma"/>
                <a:cs typeface="Tahoma"/>
              </a:rPr>
              <a:t>Baseline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Tahoma"/>
              <a:cs typeface="Tahoma"/>
            </a:endParaRPr>
          </a:p>
          <a:p>
            <a:pPr marL="372110" indent="-360045">
              <a:lnSpc>
                <a:spcPct val="100000"/>
              </a:lnSpc>
            </a:pPr>
            <a:r>
              <a:rPr sz="2500" spc="-120" dirty="0">
                <a:latin typeface="Trebuchet MS"/>
                <a:cs typeface="Trebuchet MS"/>
              </a:rPr>
              <a:t>What’s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the</a:t>
            </a:r>
            <a:r>
              <a:rPr sz="2500" spc="-175" dirty="0">
                <a:latin typeface="Trebuchet MS"/>
                <a:cs typeface="Trebuchet MS"/>
              </a:rPr>
              <a:t> </a:t>
            </a:r>
            <a:r>
              <a:rPr sz="2500" spc="-70" dirty="0">
                <a:latin typeface="Trebuchet MS"/>
                <a:cs typeface="Trebuchet MS"/>
              </a:rPr>
              <a:t>optimal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baseline?</a:t>
            </a:r>
            <a:endParaRPr sz="2500">
              <a:latin typeface="Trebuchet MS"/>
              <a:cs typeface="Trebuchet MS"/>
            </a:endParaRPr>
          </a:p>
          <a:p>
            <a:pPr marL="596900" indent="-224790">
              <a:lnSpc>
                <a:spcPct val="100000"/>
              </a:lnSpc>
              <a:spcBef>
                <a:spcPts val="590"/>
              </a:spcBef>
              <a:buFont typeface="Arial MT"/>
              <a:buChar char="–"/>
              <a:tabLst>
                <a:tab pos="596900" algn="l"/>
              </a:tabLst>
            </a:pPr>
            <a:r>
              <a:rPr sz="2200" spc="-60" dirty="0">
                <a:latin typeface="Trebuchet MS"/>
                <a:cs typeface="Trebuchet MS"/>
              </a:rPr>
              <a:t>Too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small:</a:t>
            </a:r>
            <a:r>
              <a:rPr sz="2200" spc="7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large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depth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error</a:t>
            </a:r>
            <a:endParaRPr sz="2200">
              <a:latin typeface="Trebuchet MS"/>
              <a:cs typeface="Trebuchet MS"/>
            </a:endParaRPr>
          </a:p>
          <a:p>
            <a:pPr marL="596900" indent="-224790">
              <a:lnSpc>
                <a:spcPct val="100000"/>
              </a:lnSpc>
              <a:spcBef>
                <a:spcPts val="550"/>
              </a:spcBef>
              <a:buFont typeface="Arial MT"/>
              <a:buChar char="–"/>
              <a:tabLst>
                <a:tab pos="596900" algn="l"/>
              </a:tabLst>
            </a:pPr>
            <a:r>
              <a:rPr sz="2200" spc="-60" dirty="0">
                <a:latin typeface="Trebuchet MS"/>
                <a:cs typeface="Trebuchet MS"/>
              </a:rPr>
              <a:t>Too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large:</a:t>
            </a:r>
            <a:r>
              <a:rPr sz="2200" spc="110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difficult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search</a:t>
            </a:r>
            <a:r>
              <a:rPr sz="2200" spc="-20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problem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44247" y="2252979"/>
            <a:ext cx="1150620" cy="1934845"/>
            <a:chOff x="6044247" y="2252979"/>
            <a:chExt cx="1150620" cy="1934845"/>
          </a:xfrm>
        </p:grpSpPr>
        <p:sp>
          <p:nvSpPr>
            <p:cNvPr id="16" name="object 16"/>
            <p:cNvSpPr/>
            <p:nvPr/>
          </p:nvSpPr>
          <p:spPr>
            <a:xfrm>
              <a:off x="6289357" y="2380543"/>
              <a:ext cx="720090" cy="1799589"/>
            </a:xfrm>
            <a:custGeom>
              <a:avLst/>
              <a:gdLst/>
              <a:ahLst/>
              <a:cxnLst/>
              <a:rect l="l" t="t" r="r" b="b"/>
              <a:pathLst>
                <a:path w="720090" h="1799589">
                  <a:moveTo>
                    <a:pt x="720089" y="0"/>
                  </a:moveTo>
                  <a:lnTo>
                    <a:pt x="0" y="1799166"/>
                  </a:lnTo>
                </a:path>
              </a:pathLst>
            </a:custGeom>
            <a:ln w="150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9327" y="3879850"/>
              <a:ext cx="780415" cy="0"/>
            </a:xfrm>
            <a:custGeom>
              <a:avLst/>
              <a:gdLst/>
              <a:ahLst/>
              <a:cxnLst/>
              <a:rect l="l" t="t" r="r" b="b"/>
              <a:pathLst>
                <a:path w="780415">
                  <a:moveTo>
                    <a:pt x="0" y="0"/>
                  </a:moveTo>
                  <a:lnTo>
                    <a:pt x="780097" y="0"/>
                  </a:lnTo>
                </a:path>
              </a:pathLst>
            </a:custGeom>
            <a:ln w="9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9372" y="3879850"/>
              <a:ext cx="780415" cy="0"/>
            </a:xfrm>
            <a:custGeom>
              <a:avLst/>
              <a:gdLst/>
              <a:ahLst/>
              <a:cxnLst/>
              <a:rect l="l" t="t" r="r" b="b"/>
              <a:pathLst>
                <a:path w="780415">
                  <a:moveTo>
                    <a:pt x="0" y="0"/>
                  </a:moveTo>
                  <a:lnTo>
                    <a:pt x="780097" y="0"/>
                  </a:lnTo>
                </a:path>
              </a:pathLst>
            </a:custGeom>
            <a:ln w="9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89357" y="2260600"/>
              <a:ext cx="360045" cy="1919605"/>
            </a:xfrm>
            <a:custGeom>
              <a:avLst/>
              <a:gdLst/>
              <a:ahLst/>
              <a:cxnLst/>
              <a:rect l="l" t="t" r="r" b="b"/>
              <a:pathLst>
                <a:path w="360045" h="1919604">
                  <a:moveTo>
                    <a:pt x="360044" y="0"/>
                  </a:moveTo>
                  <a:lnTo>
                    <a:pt x="0" y="1919111"/>
                  </a:lnTo>
                </a:path>
              </a:pathLst>
            </a:custGeom>
            <a:ln w="150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89357" y="2260599"/>
              <a:ext cx="540385" cy="1919605"/>
            </a:xfrm>
            <a:custGeom>
              <a:avLst/>
              <a:gdLst/>
              <a:ahLst/>
              <a:cxnLst/>
              <a:rect l="l" t="t" r="r" b="b"/>
              <a:pathLst>
                <a:path w="540384" h="1919604">
                  <a:moveTo>
                    <a:pt x="540067" y="1919111"/>
                  </a:moveTo>
                  <a:lnTo>
                    <a:pt x="360044" y="0"/>
                  </a:lnTo>
                </a:path>
                <a:path w="540384" h="1919604">
                  <a:moveTo>
                    <a:pt x="540067" y="1919111"/>
                  </a:moveTo>
                  <a:lnTo>
                    <a:pt x="0" y="179916"/>
                  </a:lnTo>
                </a:path>
              </a:pathLst>
            </a:custGeom>
            <a:ln w="1499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395" y="3077720"/>
              <a:ext cx="70005" cy="6997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8105" y="4114739"/>
              <a:ext cx="70005" cy="6997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90671" y="4114739"/>
              <a:ext cx="70005" cy="6997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300285" y="2647270"/>
            <a:ext cx="838200" cy="7023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065" marR="5080" algn="ctr">
              <a:lnSpc>
                <a:spcPct val="101200"/>
              </a:lnSpc>
              <a:spcBef>
                <a:spcPts val="80"/>
              </a:spcBef>
            </a:pPr>
            <a:r>
              <a:rPr sz="1100" spc="-70" dirty="0">
                <a:latin typeface="Trebuchet MS"/>
                <a:cs typeface="Trebuchet MS"/>
              </a:rPr>
              <a:t>all</a:t>
            </a:r>
            <a:r>
              <a:rPr sz="1100" spc="-8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rebuchet MS"/>
                <a:cs typeface="Trebuchet MS"/>
              </a:rPr>
              <a:t>of</a:t>
            </a:r>
            <a:r>
              <a:rPr sz="1100" spc="-8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these </a:t>
            </a:r>
            <a:r>
              <a:rPr sz="1100" spc="-30" dirty="0">
                <a:latin typeface="Trebuchet MS"/>
                <a:cs typeface="Trebuchet MS"/>
              </a:rPr>
              <a:t>points</a:t>
            </a:r>
            <a:r>
              <a:rPr sz="1100" spc="-60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Trebuchet MS"/>
                <a:cs typeface="Trebuchet MS"/>
              </a:rPr>
              <a:t>project </a:t>
            </a:r>
            <a:r>
              <a:rPr sz="1100" spc="-40" dirty="0">
                <a:latin typeface="Trebuchet MS"/>
                <a:cs typeface="Trebuchet MS"/>
              </a:rPr>
              <a:t>to</a:t>
            </a:r>
            <a:r>
              <a:rPr sz="1100" spc="-85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the</a:t>
            </a:r>
            <a:r>
              <a:rPr sz="1100" spc="-7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same </a:t>
            </a:r>
            <a:r>
              <a:rPr sz="1100" spc="-50" dirty="0">
                <a:latin typeface="Trebuchet MS"/>
                <a:cs typeface="Trebuchet MS"/>
              </a:rPr>
              <a:t>pair</a:t>
            </a:r>
            <a:r>
              <a:rPr sz="1100" spc="-7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rebuchet MS"/>
                <a:cs typeface="Trebuchet MS"/>
              </a:rPr>
              <a:t>of</a:t>
            </a:r>
            <a:r>
              <a:rPr sz="1100" spc="-7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pixels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08122" y="2965720"/>
            <a:ext cx="481330" cy="139700"/>
          </a:xfrm>
          <a:custGeom>
            <a:avLst/>
            <a:gdLst/>
            <a:ahLst/>
            <a:cxnLst/>
            <a:rect l="l" t="t" r="r" b="b"/>
            <a:pathLst>
              <a:path w="481329" h="139700">
                <a:moveTo>
                  <a:pt x="421844" y="24242"/>
                </a:moveTo>
                <a:lnTo>
                  <a:pt x="0" y="129641"/>
                </a:lnTo>
                <a:lnTo>
                  <a:pt x="2425" y="139339"/>
                </a:lnTo>
                <a:lnTo>
                  <a:pt x="424269" y="33939"/>
                </a:lnTo>
                <a:lnTo>
                  <a:pt x="421844" y="24242"/>
                </a:lnTo>
                <a:close/>
              </a:path>
              <a:path w="481329" h="139700">
                <a:moveTo>
                  <a:pt x="472783" y="21818"/>
                </a:moveTo>
                <a:lnTo>
                  <a:pt x="431545" y="21818"/>
                </a:lnTo>
                <a:lnTo>
                  <a:pt x="433971" y="31515"/>
                </a:lnTo>
                <a:lnTo>
                  <a:pt x="424269" y="33939"/>
                </a:lnTo>
                <a:lnTo>
                  <a:pt x="430334" y="58182"/>
                </a:lnTo>
                <a:lnTo>
                  <a:pt x="472783" y="21818"/>
                </a:lnTo>
                <a:close/>
              </a:path>
              <a:path w="481329" h="139700">
                <a:moveTo>
                  <a:pt x="431545" y="21818"/>
                </a:moveTo>
                <a:lnTo>
                  <a:pt x="421844" y="24242"/>
                </a:lnTo>
                <a:lnTo>
                  <a:pt x="424269" y="33939"/>
                </a:lnTo>
                <a:lnTo>
                  <a:pt x="433971" y="31515"/>
                </a:lnTo>
                <a:lnTo>
                  <a:pt x="431545" y="21818"/>
                </a:lnTo>
                <a:close/>
              </a:path>
              <a:path w="481329" h="139700">
                <a:moveTo>
                  <a:pt x="415780" y="0"/>
                </a:moveTo>
                <a:lnTo>
                  <a:pt x="421844" y="24242"/>
                </a:lnTo>
                <a:lnTo>
                  <a:pt x="431545" y="21818"/>
                </a:lnTo>
                <a:lnTo>
                  <a:pt x="472783" y="21818"/>
                </a:lnTo>
                <a:lnTo>
                  <a:pt x="481272" y="14546"/>
                </a:lnTo>
                <a:lnTo>
                  <a:pt x="415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09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z="3100" spc="-190" dirty="0"/>
              <a:t>The</a:t>
            </a:r>
            <a:r>
              <a:rPr sz="3100" spc="-215" dirty="0"/>
              <a:t> </a:t>
            </a:r>
            <a:r>
              <a:rPr sz="3100" spc="-180" dirty="0"/>
              <a:t>Effect</a:t>
            </a:r>
            <a:r>
              <a:rPr sz="3100" spc="-225" dirty="0"/>
              <a:t> </a:t>
            </a:r>
            <a:r>
              <a:rPr sz="3100" spc="-125" dirty="0"/>
              <a:t>of</a:t>
            </a:r>
            <a:r>
              <a:rPr sz="3100" spc="-225" dirty="0"/>
              <a:t> </a:t>
            </a:r>
            <a:r>
              <a:rPr sz="3100" spc="-180" dirty="0"/>
              <a:t>Baseline</a:t>
            </a:r>
            <a:r>
              <a:rPr sz="3100" spc="-210" dirty="0"/>
              <a:t> </a:t>
            </a:r>
            <a:r>
              <a:rPr sz="3100" spc="-150" dirty="0"/>
              <a:t>on</a:t>
            </a:r>
            <a:r>
              <a:rPr sz="3100" spc="-204" dirty="0"/>
              <a:t> </a:t>
            </a:r>
            <a:r>
              <a:rPr sz="3100" spc="-155" dirty="0"/>
              <a:t>Depth</a:t>
            </a:r>
            <a:r>
              <a:rPr sz="3100" spc="-204" dirty="0"/>
              <a:t> </a:t>
            </a:r>
            <a:r>
              <a:rPr sz="3100" spc="-140" dirty="0"/>
              <a:t>Estimation</a:t>
            </a:r>
            <a:endParaRPr sz="3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828" y="2374144"/>
            <a:ext cx="2079212" cy="244178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7818" y="2462734"/>
            <a:ext cx="2601435" cy="22542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59876" y="4946826"/>
            <a:ext cx="1406220" cy="127425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197922" y="4946826"/>
            <a:ext cx="3472179" cy="1274445"/>
            <a:chOff x="4197922" y="4946826"/>
            <a:chExt cx="3472179" cy="127444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7922" y="4946826"/>
              <a:ext cx="1406220" cy="1274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63308" y="4946826"/>
              <a:ext cx="1406220" cy="12742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37352" y="5456528"/>
              <a:ext cx="482600" cy="255270"/>
            </a:xfrm>
            <a:custGeom>
              <a:avLst/>
              <a:gdLst/>
              <a:ahLst/>
              <a:cxnLst/>
              <a:rect l="l" t="t" r="r" b="b"/>
              <a:pathLst>
                <a:path w="482600" h="255270">
                  <a:moveTo>
                    <a:pt x="339196" y="0"/>
                  </a:moveTo>
                  <a:lnTo>
                    <a:pt x="339196" y="63710"/>
                  </a:lnTo>
                  <a:lnTo>
                    <a:pt x="0" y="63710"/>
                  </a:lnTo>
                  <a:lnTo>
                    <a:pt x="0" y="191135"/>
                  </a:lnTo>
                  <a:lnTo>
                    <a:pt x="339196" y="191135"/>
                  </a:lnTo>
                  <a:lnTo>
                    <a:pt x="339196" y="254845"/>
                  </a:lnTo>
                  <a:lnTo>
                    <a:pt x="482014" y="127422"/>
                  </a:lnTo>
                  <a:lnTo>
                    <a:pt x="339196" y="0"/>
                  </a:lnTo>
                  <a:close/>
                </a:path>
              </a:pathLst>
            </a:custGeom>
            <a:solidFill>
              <a:srgbClr val="FF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01643" y="5520238"/>
              <a:ext cx="0" cy="127635"/>
            </a:xfrm>
            <a:custGeom>
              <a:avLst/>
              <a:gdLst/>
              <a:ahLst/>
              <a:cxnLst/>
              <a:rect l="l" t="t" r="r" b="b"/>
              <a:pathLst>
                <a:path h="127635">
                  <a:moveTo>
                    <a:pt x="0" y="0"/>
                  </a:moveTo>
                  <a:lnTo>
                    <a:pt x="0" y="127423"/>
                  </a:lnTo>
                </a:path>
              </a:pathLst>
            </a:custGeom>
            <a:ln w="39274">
              <a:solidFill>
                <a:srgbClr val="FFA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57014" y="5520238"/>
              <a:ext cx="0" cy="127635"/>
            </a:xfrm>
            <a:custGeom>
              <a:avLst/>
              <a:gdLst/>
              <a:ahLst/>
              <a:cxnLst/>
              <a:rect l="l" t="t" r="r" b="b"/>
              <a:pathLst>
                <a:path h="127635">
                  <a:moveTo>
                    <a:pt x="0" y="0"/>
                  </a:moveTo>
                  <a:lnTo>
                    <a:pt x="0" y="127423"/>
                  </a:lnTo>
                </a:path>
              </a:pathLst>
            </a:custGeom>
            <a:ln w="19641">
              <a:solidFill>
                <a:srgbClr val="FFA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08704" y="6234810"/>
            <a:ext cx="2266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00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800" spc="-37" baseline="-13888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800" baseline="-1388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46752" y="6234810"/>
            <a:ext cx="2266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00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800" spc="-37" baseline="-1388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800" baseline="-1388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12137" y="6274434"/>
            <a:ext cx="297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50" i="1" spc="-37" baseline="9803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200" spc="-25" dirty="0">
                <a:solidFill>
                  <a:srgbClr val="0000FF"/>
                </a:solidFill>
                <a:latin typeface="Times New Roman"/>
                <a:cs typeface="Times New Roman"/>
              </a:rPr>
              <a:t>10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9624" y="2510895"/>
            <a:ext cx="3623945" cy="1014730"/>
            <a:chOff x="1659624" y="2510895"/>
            <a:chExt cx="3623945" cy="1014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9624" y="2510895"/>
              <a:ext cx="3623724" cy="6216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08847" y="3040239"/>
              <a:ext cx="2760345" cy="300355"/>
            </a:xfrm>
            <a:custGeom>
              <a:avLst/>
              <a:gdLst/>
              <a:ahLst/>
              <a:cxnLst/>
              <a:rect l="l" t="t" r="r" b="b"/>
              <a:pathLst>
                <a:path w="2760345" h="300354">
                  <a:moveTo>
                    <a:pt x="0" y="0"/>
                  </a:moveTo>
                  <a:lnTo>
                    <a:pt x="2760344" y="0"/>
                  </a:lnTo>
                  <a:lnTo>
                    <a:pt x="2760344" y="299861"/>
                  </a:lnTo>
                  <a:lnTo>
                    <a:pt x="0" y="299861"/>
                  </a:lnTo>
                  <a:lnTo>
                    <a:pt x="0" y="0"/>
                  </a:lnTo>
                  <a:close/>
                </a:path>
              </a:pathLst>
            </a:custGeom>
            <a:ln w="99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08847" y="3220154"/>
              <a:ext cx="2760345" cy="300355"/>
            </a:xfrm>
            <a:custGeom>
              <a:avLst/>
              <a:gdLst/>
              <a:ahLst/>
              <a:cxnLst/>
              <a:rect l="l" t="t" r="r" b="b"/>
              <a:pathLst>
                <a:path w="2760345" h="300354">
                  <a:moveTo>
                    <a:pt x="0" y="0"/>
                  </a:moveTo>
                  <a:lnTo>
                    <a:pt x="2760344" y="0"/>
                  </a:lnTo>
                  <a:lnTo>
                    <a:pt x="2760344" y="299861"/>
                  </a:lnTo>
                  <a:lnTo>
                    <a:pt x="0" y="299861"/>
                  </a:lnTo>
                  <a:lnTo>
                    <a:pt x="0" y="0"/>
                  </a:lnTo>
                  <a:close/>
                </a:path>
              </a:pathLst>
            </a:custGeom>
            <a:ln w="99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38101" y="3080086"/>
            <a:ext cx="150495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270"/>
              </a:lnSpc>
              <a:spcBef>
                <a:spcPts val="100"/>
              </a:spcBef>
            </a:pPr>
            <a:r>
              <a:rPr sz="1100" b="1" spc="-50" dirty="0">
                <a:latin typeface="Tahoma"/>
                <a:cs typeface="Tahoma"/>
              </a:rPr>
              <a:t>z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ts val="1510"/>
              </a:lnSpc>
            </a:pPr>
            <a:r>
              <a:rPr sz="1300" b="1" spc="-85" dirty="0">
                <a:latin typeface="Tahoma"/>
                <a:cs typeface="Tahoma"/>
              </a:rPr>
              <a:t>pixel</a:t>
            </a:r>
            <a:r>
              <a:rPr sz="1300" b="1" spc="-95" dirty="0">
                <a:latin typeface="Tahoma"/>
                <a:cs typeface="Tahoma"/>
              </a:rPr>
              <a:t> </a:t>
            </a:r>
            <a:r>
              <a:rPr sz="1300" b="1" spc="-105" dirty="0">
                <a:latin typeface="Tahoma"/>
                <a:cs typeface="Tahoma"/>
              </a:rPr>
              <a:t>matching</a:t>
            </a:r>
            <a:r>
              <a:rPr sz="1300" b="1" spc="-110" dirty="0">
                <a:latin typeface="Tahoma"/>
                <a:cs typeface="Tahoma"/>
              </a:rPr>
              <a:t> </a:t>
            </a:r>
            <a:r>
              <a:rPr sz="1300" b="1" spc="-55" dirty="0">
                <a:latin typeface="Tahoma"/>
                <a:cs typeface="Tahoma"/>
              </a:rPr>
              <a:t>score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87425" y="1833292"/>
            <a:ext cx="1142365" cy="1934210"/>
            <a:chOff x="6587425" y="1833292"/>
            <a:chExt cx="1142365" cy="1934210"/>
          </a:xfrm>
        </p:grpSpPr>
        <p:sp>
          <p:nvSpPr>
            <p:cNvPr id="8" name="object 8"/>
            <p:cNvSpPr/>
            <p:nvPr/>
          </p:nvSpPr>
          <p:spPr>
            <a:xfrm>
              <a:off x="6914434" y="1960738"/>
              <a:ext cx="720090" cy="1799589"/>
            </a:xfrm>
            <a:custGeom>
              <a:avLst/>
              <a:gdLst/>
              <a:ahLst/>
              <a:cxnLst/>
              <a:rect l="l" t="t" r="r" b="b"/>
              <a:pathLst>
                <a:path w="720090" h="1799589">
                  <a:moveTo>
                    <a:pt x="720089" y="0"/>
                  </a:moveTo>
                  <a:lnTo>
                    <a:pt x="0" y="1799166"/>
                  </a:lnTo>
                </a:path>
              </a:pathLst>
            </a:custGeom>
            <a:ln w="150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09409" y="3460043"/>
              <a:ext cx="480059" cy="0"/>
            </a:xfrm>
            <a:custGeom>
              <a:avLst/>
              <a:gdLst/>
              <a:ahLst/>
              <a:cxnLst/>
              <a:rect l="l" t="t" r="r" b="b"/>
              <a:pathLst>
                <a:path w="480059">
                  <a:moveTo>
                    <a:pt x="0" y="0"/>
                  </a:moveTo>
                  <a:lnTo>
                    <a:pt x="480059" y="0"/>
                  </a:lnTo>
                </a:path>
              </a:pathLst>
            </a:custGeom>
            <a:ln w="9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49477" y="3460043"/>
              <a:ext cx="480059" cy="0"/>
            </a:xfrm>
            <a:custGeom>
              <a:avLst/>
              <a:gdLst/>
              <a:ahLst/>
              <a:cxnLst/>
              <a:rect l="l" t="t" r="r" b="b"/>
              <a:pathLst>
                <a:path w="480059">
                  <a:moveTo>
                    <a:pt x="0" y="0"/>
                  </a:moveTo>
                  <a:lnTo>
                    <a:pt x="480059" y="0"/>
                  </a:lnTo>
                </a:path>
              </a:pathLst>
            </a:custGeom>
            <a:ln w="9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14434" y="1840793"/>
              <a:ext cx="360045" cy="1919605"/>
            </a:xfrm>
            <a:custGeom>
              <a:avLst/>
              <a:gdLst/>
              <a:ahLst/>
              <a:cxnLst/>
              <a:rect l="l" t="t" r="r" b="b"/>
              <a:pathLst>
                <a:path w="360045" h="1919604">
                  <a:moveTo>
                    <a:pt x="360044" y="0"/>
                  </a:moveTo>
                  <a:lnTo>
                    <a:pt x="0" y="1919111"/>
                  </a:lnTo>
                </a:path>
              </a:pathLst>
            </a:custGeom>
            <a:ln w="1500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54502" y="1840793"/>
              <a:ext cx="325120" cy="1919605"/>
            </a:xfrm>
            <a:custGeom>
              <a:avLst/>
              <a:gdLst/>
              <a:ahLst/>
              <a:cxnLst/>
              <a:rect l="l" t="t" r="r" b="b"/>
              <a:pathLst>
                <a:path w="325120" h="1919604">
                  <a:moveTo>
                    <a:pt x="0" y="1919111"/>
                  </a:moveTo>
                  <a:lnTo>
                    <a:pt x="35004" y="0"/>
                  </a:lnTo>
                </a:path>
                <a:path w="325120" h="1919604">
                  <a:moveTo>
                    <a:pt x="0" y="1919111"/>
                  </a:moveTo>
                  <a:lnTo>
                    <a:pt x="325040" y="1319388"/>
                  </a:lnTo>
                </a:path>
              </a:pathLst>
            </a:custGeom>
            <a:ln w="149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9473" y="2615433"/>
              <a:ext cx="70005" cy="6997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3184" y="3694933"/>
              <a:ext cx="70005" cy="699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5750" y="3694933"/>
              <a:ext cx="70005" cy="6997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99458" y="1840793"/>
              <a:ext cx="360045" cy="1319530"/>
            </a:xfrm>
            <a:custGeom>
              <a:avLst/>
              <a:gdLst/>
              <a:ahLst/>
              <a:cxnLst/>
              <a:rect l="l" t="t" r="r" b="b"/>
              <a:pathLst>
                <a:path w="360045" h="1319530">
                  <a:moveTo>
                    <a:pt x="0" y="1319388"/>
                  </a:moveTo>
                  <a:lnTo>
                    <a:pt x="360044" y="0"/>
                  </a:lnTo>
                </a:path>
              </a:pathLst>
            </a:custGeom>
            <a:ln w="150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87425" y="3275534"/>
              <a:ext cx="422275" cy="188595"/>
            </a:xfrm>
            <a:custGeom>
              <a:avLst/>
              <a:gdLst/>
              <a:ahLst/>
              <a:cxnLst/>
              <a:rect l="l" t="t" r="r" b="b"/>
              <a:pathLst>
                <a:path w="422275" h="188595">
                  <a:moveTo>
                    <a:pt x="364896" y="165479"/>
                  </a:moveTo>
                  <a:lnTo>
                    <a:pt x="355047" y="188447"/>
                  </a:lnTo>
                  <a:lnTo>
                    <a:pt x="422022" y="184509"/>
                  </a:lnTo>
                  <a:lnTo>
                    <a:pt x="409243" y="169416"/>
                  </a:lnTo>
                  <a:lnTo>
                    <a:pt x="374088" y="169416"/>
                  </a:lnTo>
                  <a:lnTo>
                    <a:pt x="364896" y="165479"/>
                  </a:lnTo>
                  <a:close/>
                </a:path>
                <a:path w="422275" h="188595">
                  <a:moveTo>
                    <a:pt x="368836" y="156292"/>
                  </a:moveTo>
                  <a:lnTo>
                    <a:pt x="364896" y="165479"/>
                  </a:lnTo>
                  <a:lnTo>
                    <a:pt x="374088" y="169416"/>
                  </a:lnTo>
                  <a:lnTo>
                    <a:pt x="378029" y="160229"/>
                  </a:lnTo>
                  <a:lnTo>
                    <a:pt x="368836" y="156292"/>
                  </a:lnTo>
                  <a:close/>
                </a:path>
                <a:path w="422275" h="188595">
                  <a:moveTo>
                    <a:pt x="378686" y="133324"/>
                  </a:moveTo>
                  <a:lnTo>
                    <a:pt x="368836" y="156292"/>
                  </a:lnTo>
                  <a:lnTo>
                    <a:pt x="378029" y="160229"/>
                  </a:lnTo>
                  <a:lnTo>
                    <a:pt x="374088" y="169416"/>
                  </a:lnTo>
                  <a:lnTo>
                    <a:pt x="409243" y="169416"/>
                  </a:lnTo>
                  <a:lnTo>
                    <a:pt x="378686" y="133324"/>
                  </a:lnTo>
                  <a:close/>
                </a:path>
                <a:path w="422275" h="188595">
                  <a:moveTo>
                    <a:pt x="3939" y="0"/>
                  </a:moveTo>
                  <a:lnTo>
                    <a:pt x="0" y="9187"/>
                  </a:lnTo>
                  <a:lnTo>
                    <a:pt x="364896" y="165479"/>
                  </a:lnTo>
                  <a:lnTo>
                    <a:pt x="368836" y="156292"/>
                  </a:lnTo>
                  <a:lnTo>
                    <a:pt x="39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659272" y="4648362"/>
            <a:ext cx="3608704" cy="855980"/>
            <a:chOff x="1659272" y="4648362"/>
            <a:chExt cx="3608704" cy="85598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9272" y="4648362"/>
              <a:ext cx="3608171" cy="62076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08847" y="5199239"/>
              <a:ext cx="2760345" cy="300355"/>
            </a:xfrm>
            <a:custGeom>
              <a:avLst/>
              <a:gdLst/>
              <a:ahLst/>
              <a:cxnLst/>
              <a:rect l="l" t="t" r="r" b="b"/>
              <a:pathLst>
                <a:path w="2760345" h="300354">
                  <a:moveTo>
                    <a:pt x="0" y="0"/>
                  </a:moveTo>
                  <a:lnTo>
                    <a:pt x="2760344" y="0"/>
                  </a:lnTo>
                  <a:lnTo>
                    <a:pt x="2760344" y="299861"/>
                  </a:lnTo>
                  <a:lnTo>
                    <a:pt x="0" y="299861"/>
                  </a:lnTo>
                  <a:lnTo>
                    <a:pt x="0" y="0"/>
                  </a:lnTo>
                  <a:close/>
                </a:path>
              </a:pathLst>
            </a:custGeom>
            <a:ln w="99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6104254" y="4122113"/>
            <a:ext cx="2110740" cy="1874520"/>
            <a:chOff x="6104254" y="4122113"/>
            <a:chExt cx="2110740" cy="1874520"/>
          </a:xfrm>
        </p:grpSpPr>
        <p:sp>
          <p:nvSpPr>
            <p:cNvPr id="22" name="object 22"/>
            <p:cNvSpPr/>
            <p:nvPr/>
          </p:nvSpPr>
          <p:spPr>
            <a:xfrm>
              <a:off x="6471880" y="4247179"/>
              <a:ext cx="1017905" cy="1741805"/>
            </a:xfrm>
            <a:custGeom>
              <a:avLst/>
              <a:gdLst/>
              <a:ahLst/>
              <a:cxnLst/>
              <a:rect l="l" t="t" r="r" b="b"/>
              <a:pathLst>
                <a:path w="1017904" h="1741804">
                  <a:moveTo>
                    <a:pt x="1017627" y="0"/>
                  </a:moveTo>
                  <a:lnTo>
                    <a:pt x="0" y="1741693"/>
                  </a:lnTo>
                </a:path>
              </a:pathLst>
            </a:custGeom>
            <a:ln w="149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71880" y="4427096"/>
              <a:ext cx="1318260" cy="1562100"/>
            </a:xfrm>
            <a:custGeom>
              <a:avLst/>
              <a:gdLst/>
              <a:ahLst/>
              <a:cxnLst/>
              <a:rect l="l" t="t" r="r" b="b"/>
              <a:pathLst>
                <a:path w="1318259" h="1562100">
                  <a:moveTo>
                    <a:pt x="1317664" y="0"/>
                  </a:moveTo>
                  <a:lnTo>
                    <a:pt x="0" y="1561776"/>
                  </a:lnTo>
                </a:path>
              </a:pathLst>
            </a:custGeom>
            <a:ln w="1499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89432" y="4129733"/>
              <a:ext cx="1260475" cy="1856739"/>
            </a:xfrm>
            <a:custGeom>
              <a:avLst/>
              <a:gdLst/>
              <a:ahLst/>
              <a:cxnLst/>
              <a:rect l="l" t="t" r="r" b="b"/>
              <a:pathLst>
                <a:path w="1260475" h="1856739">
                  <a:moveTo>
                    <a:pt x="1260157" y="1856640"/>
                  </a:moveTo>
                  <a:lnTo>
                    <a:pt x="900112" y="0"/>
                  </a:lnTo>
                </a:path>
                <a:path w="1260475" h="1856739">
                  <a:moveTo>
                    <a:pt x="1260157" y="1856640"/>
                  </a:moveTo>
                  <a:lnTo>
                    <a:pt x="0" y="1259416"/>
                  </a:lnTo>
                </a:path>
              </a:pathLst>
            </a:custGeom>
            <a:ln w="149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4380" y="5921402"/>
              <a:ext cx="70005" cy="6997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84583" y="5921402"/>
              <a:ext cx="70005" cy="6997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109334" y="5686512"/>
              <a:ext cx="780415" cy="0"/>
            </a:xfrm>
            <a:custGeom>
              <a:avLst/>
              <a:gdLst/>
              <a:ahLst/>
              <a:cxnLst/>
              <a:rect l="l" t="t" r="r" b="b"/>
              <a:pathLst>
                <a:path w="780415">
                  <a:moveTo>
                    <a:pt x="0" y="0"/>
                  </a:moveTo>
                  <a:lnTo>
                    <a:pt x="780097" y="0"/>
                  </a:lnTo>
                </a:path>
              </a:pathLst>
            </a:custGeom>
            <a:ln w="9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29499" y="5686512"/>
              <a:ext cx="780415" cy="0"/>
            </a:xfrm>
            <a:custGeom>
              <a:avLst/>
              <a:gdLst/>
              <a:ahLst/>
              <a:cxnLst/>
              <a:rect l="l" t="t" r="r" b="b"/>
              <a:pathLst>
                <a:path w="780415">
                  <a:moveTo>
                    <a:pt x="0" y="0"/>
                  </a:moveTo>
                  <a:lnTo>
                    <a:pt x="780097" y="0"/>
                  </a:lnTo>
                </a:path>
              </a:pathLst>
            </a:custGeom>
            <a:ln w="9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01972" y="4884382"/>
              <a:ext cx="70005" cy="6997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689084" y="5219782"/>
            <a:ext cx="510540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81280" marR="5080" indent="-69215">
              <a:lnSpc>
                <a:spcPts val="1300"/>
              </a:lnSpc>
              <a:spcBef>
                <a:spcPts val="160"/>
              </a:spcBef>
            </a:pPr>
            <a:r>
              <a:rPr sz="1100" spc="-35" dirty="0">
                <a:latin typeface="Trebuchet MS"/>
                <a:cs typeface="Trebuchet MS"/>
              </a:rPr>
              <a:t>width</a:t>
            </a:r>
            <a:r>
              <a:rPr sz="1100" spc="-75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of </a:t>
            </a:r>
            <a:r>
              <a:rPr sz="1100" spc="-55" dirty="0">
                <a:latin typeface="Trebuchet MS"/>
                <a:cs typeface="Trebuchet MS"/>
              </a:rPr>
              <a:t>a</a:t>
            </a:r>
            <a:r>
              <a:rPr sz="1100" spc="-9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pixel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27380" y="4122234"/>
            <a:ext cx="1569720" cy="1568450"/>
            <a:chOff x="6227380" y="4122234"/>
            <a:chExt cx="1569720" cy="1568450"/>
          </a:xfrm>
        </p:grpSpPr>
        <p:sp>
          <p:nvSpPr>
            <p:cNvPr id="32" name="object 32"/>
            <p:cNvSpPr/>
            <p:nvPr/>
          </p:nvSpPr>
          <p:spPr>
            <a:xfrm>
              <a:off x="6227380" y="5502001"/>
              <a:ext cx="422275" cy="188595"/>
            </a:xfrm>
            <a:custGeom>
              <a:avLst/>
              <a:gdLst/>
              <a:ahLst/>
              <a:cxnLst/>
              <a:rect l="l" t="t" r="r" b="b"/>
              <a:pathLst>
                <a:path w="422275" h="188595">
                  <a:moveTo>
                    <a:pt x="364896" y="165480"/>
                  </a:moveTo>
                  <a:lnTo>
                    <a:pt x="355047" y="188447"/>
                  </a:lnTo>
                  <a:lnTo>
                    <a:pt x="422022" y="184510"/>
                  </a:lnTo>
                  <a:lnTo>
                    <a:pt x="409244" y="169418"/>
                  </a:lnTo>
                  <a:lnTo>
                    <a:pt x="374088" y="169418"/>
                  </a:lnTo>
                  <a:lnTo>
                    <a:pt x="364896" y="165480"/>
                  </a:lnTo>
                  <a:close/>
                </a:path>
                <a:path w="422275" h="188595">
                  <a:moveTo>
                    <a:pt x="368836" y="156293"/>
                  </a:moveTo>
                  <a:lnTo>
                    <a:pt x="364896" y="165480"/>
                  </a:lnTo>
                  <a:lnTo>
                    <a:pt x="374088" y="169418"/>
                  </a:lnTo>
                  <a:lnTo>
                    <a:pt x="378029" y="160230"/>
                  </a:lnTo>
                  <a:lnTo>
                    <a:pt x="368836" y="156293"/>
                  </a:lnTo>
                  <a:close/>
                </a:path>
                <a:path w="422275" h="188595">
                  <a:moveTo>
                    <a:pt x="378686" y="133324"/>
                  </a:moveTo>
                  <a:lnTo>
                    <a:pt x="368836" y="156293"/>
                  </a:lnTo>
                  <a:lnTo>
                    <a:pt x="378029" y="160230"/>
                  </a:lnTo>
                  <a:lnTo>
                    <a:pt x="374088" y="169418"/>
                  </a:lnTo>
                  <a:lnTo>
                    <a:pt x="409244" y="169418"/>
                  </a:lnTo>
                  <a:lnTo>
                    <a:pt x="378686" y="133324"/>
                  </a:lnTo>
                  <a:close/>
                </a:path>
                <a:path w="422275" h="188595">
                  <a:moveTo>
                    <a:pt x="3939" y="0"/>
                  </a:moveTo>
                  <a:lnTo>
                    <a:pt x="0" y="9187"/>
                  </a:lnTo>
                  <a:lnTo>
                    <a:pt x="364896" y="165480"/>
                  </a:lnTo>
                  <a:lnTo>
                    <a:pt x="368836" y="156293"/>
                  </a:lnTo>
                  <a:lnTo>
                    <a:pt x="39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89432" y="4129734"/>
              <a:ext cx="900430" cy="1259840"/>
            </a:xfrm>
            <a:custGeom>
              <a:avLst/>
              <a:gdLst/>
              <a:ahLst/>
              <a:cxnLst/>
              <a:rect l="l" t="t" r="r" b="b"/>
              <a:pathLst>
                <a:path w="900429" h="1259839">
                  <a:moveTo>
                    <a:pt x="0" y="1259416"/>
                  </a:moveTo>
                  <a:lnTo>
                    <a:pt x="900112" y="0"/>
                  </a:lnTo>
                </a:path>
              </a:pathLst>
            </a:custGeom>
            <a:ln w="14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049129" y="2994742"/>
            <a:ext cx="510540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81280" marR="5080" indent="-69215">
              <a:lnSpc>
                <a:spcPts val="1300"/>
              </a:lnSpc>
              <a:spcBef>
                <a:spcPts val="160"/>
              </a:spcBef>
            </a:pPr>
            <a:r>
              <a:rPr sz="1100" spc="-35" dirty="0">
                <a:latin typeface="Trebuchet MS"/>
                <a:cs typeface="Trebuchet MS"/>
              </a:rPr>
              <a:t>width</a:t>
            </a:r>
            <a:r>
              <a:rPr sz="1100" spc="-75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of </a:t>
            </a:r>
            <a:r>
              <a:rPr sz="1100" spc="-55" dirty="0">
                <a:latin typeface="Trebuchet MS"/>
                <a:cs typeface="Trebuchet MS"/>
              </a:rPr>
              <a:t>a</a:t>
            </a:r>
            <a:r>
              <a:rPr sz="1100" spc="-9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pixel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98060" y="5189430"/>
            <a:ext cx="3977640" cy="8731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3835" algn="ctr">
              <a:lnSpc>
                <a:spcPct val="100000"/>
              </a:lnSpc>
              <a:spcBef>
                <a:spcPts val="480"/>
              </a:spcBef>
            </a:pPr>
            <a:r>
              <a:rPr sz="1100" b="1" spc="-50" dirty="0">
                <a:latin typeface="Tahoma"/>
                <a:cs typeface="Tahoma"/>
              </a:rPr>
              <a:t>z</a:t>
            </a:r>
            <a:endParaRPr sz="1100">
              <a:latin typeface="Tahoma"/>
              <a:cs typeface="Tahoma"/>
            </a:endParaRPr>
          </a:p>
          <a:p>
            <a:pPr marL="300990" marR="5080" indent="-288925">
              <a:lnSpc>
                <a:spcPts val="2500"/>
              </a:lnSpc>
              <a:spcBef>
                <a:spcPts val="75"/>
              </a:spcBef>
              <a:buChar char="•"/>
              <a:tabLst>
                <a:tab pos="300990" algn="l"/>
              </a:tabLst>
            </a:pPr>
            <a:r>
              <a:rPr sz="1600" spc="-75" dirty="0">
                <a:latin typeface="Trebuchet MS"/>
                <a:cs typeface="Trebuchet MS"/>
              </a:rPr>
              <a:t>For</a:t>
            </a:r>
            <a:r>
              <a:rPr sz="1600" spc="-165" dirty="0">
                <a:latin typeface="Trebuchet MS"/>
                <a:cs typeface="Trebuchet MS"/>
              </a:rPr>
              <a:t> </a:t>
            </a:r>
            <a:r>
              <a:rPr sz="1600" spc="-80" dirty="0">
                <a:latin typeface="Trebuchet MS"/>
                <a:cs typeface="Trebuchet MS"/>
              </a:rPr>
              <a:t>larger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baselines,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must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search</a:t>
            </a:r>
            <a:r>
              <a:rPr sz="1600" spc="-229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larger</a:t>
            </a:r>
            <a:r>
              <a:rPr sz="1600" spc="190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area </a:t>
            </a:r>
            <a:r>
              <a:rPr sz="1600" spc="-55" dirty="0">
                <a:latin typeface="Trebuchet MS"/>
                <a:cs typeface="Trebuchet MS"/>
              </a:rPr>
              <a:t>in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second</a:t>
            </a:r>
            <a:r>
              <a:rPr sz="1600" spc="-14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image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06073" y="6064998"/>
            <a:ext cx="42500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5600"/>
              </a:lnSpc>
              <a:spcBef>
                <a:spcPts val="100"/>
              </a:spcBef>
            </a:pPr>
            <a:r>
              <a:rPr sz="900" spc="-20" dirty="0">
                <a:latin typeface="Trebuchet MS"/>
                <a:cs typeface="Trebuchet MS"/>
              </a:rPr>
              <a:t>M.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Okutomi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T.Kanade,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u="sng" spc="-70" dirty="0">
                <a:uFill>
                  <a:solidFill>
                    <a:srgbClr val="0433FF"/>
                  </a:solidFill>
                </a:uFill>
                <a:latin typeface="Trebuchet MS"/>
                <a:cs typeface="Trebuchet MS"/>
              </a:rPr>
              <a:t>“A</a:t>
            </a:r>
            <a:r>
              <a:rPr sz="900" u="sng" spc="5" dirty="0">
                <a:uFill>
                  <a:solidFill>
                    <a:srgbClr val="0433FF"/>
                  </a:solidFill>
                </a:uFill>
                <a:latin typeface="Trebuchet MS"/>
                <a:cs typeface="Trebuchet MS"/>
              </a:rPr>
              <a:t> </a:t>
            </a:r>
            <a:r>
              <a:rPr sz="900" u="sng" spc="-20" dirty="0">
                <a:uFill>
                  <a:solidFill>
                    <a:srgbClr val="0433FF"/>
                  </a:solidFill>
                </a:uFill>
                <a:latin typeface="Trebuchet MS"/>
                <a:cs typeface="Trebuchet MS"/>
              </a:rPr>
              <a:t>Multiple-</a:t>
            </a:r>
            <a:r>
              <a:rPr sz="900" u="sng" spc="-30" dirty="0">
                <a:uFill>
                  <a:solidFill>
                    <a:srgbClr val="0433FF"/>
                  </a:solidFill>
                </a:uFill>
                <a:latin typeface="Trebuchet MS"/>
                <a:cs typeface="Trebuchet MS"/>
              </a:rPr>
              <a:t>Baseline</a:t>
            </a:r>
            <a:r>
              <a:rPr sz="900" u="sng" spc="-20" dirty="0">
                <a:uFill>
                  <a:solidFill>
                    <a:srgbClr val="0433FF"/>
                  </a:solidFill>
                </a:uFill>
                <a:latin typeface="Trebuchet MS"/>
                <a:cs typeface="Trebuchet MS"/>
              </a:rPr>
              <a:t> </a:t>
            </a:r>
            <a:r>
              <a:rPr sz="900" u="sng" spc="-30" dirty="0">
                <a:uFill>
                  <a:solidFill>
                    <a:srgbClr val="0433FF"/>
                  </a:solidFill>
                </a:uFill>
                <a:latin typeface="Trebuchet MS"/>
                <a:cs typeface="Trebuchet MS"/>
              </a:rPr>
              <a:t>Stereo</a:t>
            </a:r>
            <a:r>
              <a:rPr sz="900" u="sng" spc="-10" dirty="0">
                <a:uFill>
                  <a:solidFill>
                    <a:srgbClr val="0433FF"/>
                  </a:solidFill>
                </a:uFill>
                <a:latin typeface="Trebuchet MS"/>
                <a:cs typeface="Trebuchet MS"/>
              </a:rPr>
              <a:t> </a:t>
            </a:r>
            <a:r>
              <a:rPr sz="900" u="sng" spc="-50" dirty="0">
                <a:uFill>
                  <a:solidFill>
                    <a:srgbClr val="0433FF"/>
                  </a:solidFill>
                </a:uFill>
                <a:latin typeface="Trebuchet MS"/>
                <a:cs typeface="Trebuchet MS"/>
              </a:rPr>
              <a:t>System,”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IEEE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Trans.</a:t>
            </a:r>
            <a:r>
              <a:rPr sz="900" spc="-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on</a:t>
            </a:r>
            <a:r>
              <a:rPr sz="900" spc="2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Pattern Analysis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Machine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Intelligence,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15(4):353-</a:t>
            </a:r>
            <a:r>
              <a:rPr sz="900" spc="-10" dirty="0">
                <a:latin typeface="Trebuchet MS"/>
                <a:cs typeface="Trebuchet MS"/>
              </a:rPr>
              <a:t>363</a:t>
            </a:r>
            <a:r>
              <a:rPr sz="900" spc="-9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(1993).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68056" y="3668751"/>
            <a:ext cx="427228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 marR="5080" indent="-288925">
              <a:lnSpc>
                <a:spcPct val="130000"/>
              </a:lnSpc>
              <a:spcBef>
                <a:spcPts val="100"/>
              </a:spcBef>
              <a:buChar char="•"/>
              <a:tabLst>
                <a:tab pos="300990" algn="l"/>
              </a:tabLst>
            </a:pPr>
            <a:r>
              <a:rPr sz="1600" spc="-75" dirty="0">
                <a:latin typeface="Trebuchet MS"/>
                <a:cs typeface="Trebuchet MS"/>
              </a:rPr>
              <a:t>For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short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baselines,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85" dirty="0">
                <a:latin typeface="Trebuchet MS"/>
                <a:cs typeface="Trebuchet MS"/>
              </a:rPr>
              <a:t>estimated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depth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95" dirty="0">
                <a:latin typeface="Trebuchet MS"/>
                <a:cs typeface="Trebuchet MS"/>
              </a:rPr>
              <a:t>will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be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less </a:t>
            </a:r>
            <a:r>
              <a:rPr sz="1600" spc="-80" dirty="0">
                <a:latin typeface="Trebuchet MS"/>
                <a:cs typeface="Trebuchet MS"/>
              </a:rPr>
              <a:t>precise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due</a:t>
            </a:r>
            <a:r>
              <a:rPr sz="1600" spc="-135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to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narrow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triangulation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704961" y="1314427"/>
            <a:ext cx="5142865" cy="982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600"/>
              </a:lnSpc>
            </a:pPr>
            <a:r>
              <a:rPr sz="3100" spc="-150" dirty="0"/>
              <a:t>Multiple-</a:t>
            </a:r>
            <a:r>
              <a:rPr sz="3100" spc="-165" dirty="0"/>
              <a:t>baseline</a:t>
            </a:r>
            <a:r>
              <a:rPr sz="3100" spc="-185" dirty="0"/>
              <a:t> </a:t>
            </a:r>
            <a:r>
              <a:rPr sz="3100" spc="-180" dirty="0"/>
              <a:t>stereo</a:t>
            </a:r>
            <a:r>
              <a:rPr sz="3100" spc="-175" dirty="0"/>
              <a:t> </a:t>
            </a:r>
            <a:r>
              <a:rPr sz="3100" spc="-434" dirty="0"/>
              <a:t>–</a:t>
            </a:r>
            <a:r>
              <a:rPr sz="3100" spc="-185" dirty="0"/>
              <a:t> </a:t>
            </a:r>
            <a:r>
              <a:rPr sz="3100" spc="-75" dirty="0"/>
              <a:t>all </a:t>
            </a:r>
            <a:r>
              <a:rPr sz="3100" spc="-220" dirty="0"/>
              <a:t>cameras</a:t>
            </a:r>
            <a:r>
              <a:rPr sz="3100" spc="-229" dirty="0"/>
              <a:t> </a:t>
            </a:r>
            <a:r>
              <a:rPr sz="3100" spc="-140" dirty="0"/>
              <a:t>in</a:t>
            </a:r>
            <a:r>
              <a:rPr sz="3100" spc="-215" dirty="0"/>
              <a:t> </a:t>
            </a:r>
            <a:r>
              <a:rPr sz="3100" spc="-229" dirty="0"/>
              <a:t>a</a:t>
            </a:r>
            <a:r>
              <a:rPr sz="3100" spc="-220" dirty="0"/>
              <a:t> </a:t>
            </a:r>
            <a:r>
              <a:rPr sz="3100" spc="-25" dirty="0"/>
              <a:t>row</a:t>
            </a:r>
            <a:endParaRPr sz="3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6288" y="1650755"/>
            <a:ext cx="2751569" cy="472264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2651" y="1694866"/>
            <a:ext cx="3276967" cy="21637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96263" y="4098109"/>
            <a:ext cx="3318282" cy="223267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908810" y="5439128"/>
            <a:ext cx="2520315" cy="480059"/>
          </a:xfrm>
          <a:custGeom>
            <a:avLst/>
            <a:gdLst/>
            <a:ahLst/>
            <a:cxnLst/>
            <a:rect l="l" t="t" r="r" b="b"/>
            <a:pathLst>
              <a:path w="2520315" h="480060">
                <a:moveTo>
                  <a:pt x="0" y="0"/>
                </a:moveTo>
                <a:lnTo>
                  <a:pt x="2520314" y="0"/>
                </a:lnTo>
                <a:lnTo>
                  <a:pt x="2520314" y="479777"/>
                </a:lnTo>
                <a:lnTo>
                  <a:pt x="0" y="479777"/>
                </a:lnTo>
                <a:lnTo>
                  <a:pt x="0" y="0"/>
                </a:lnTo>
                <a:close/>
              </a:path>
            </a:pathLst>
          </a:custGeom>
          <a:ln w="1499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8810" y="3759904"/>
            <a:ext cx="2520315" cy="480059"/>
          </a:xfrm>
          <a:custGeom>
            <a:avLst/>
            <a:gdLst/>
            <a:ahLst/>
            <a:cxnLst/>
            <a:rect l="l" t="t" r="r" b="b"/>
            <a:pathLst>
              <a:path w="2520315" h="480060">
                <a:moveTo>
                  <a:pt x="0" y="0"/>
                </a:moveTo>
                <a:lnTo>
                  <a:pt x="2520314" y="0"/>
                </a:lnTo>
                <a:lnTo>
                  <a:pt x="2520314" y="479777"/>
                </a:lnTo>
                <a:lnTo>
                  <a:pt x="0" y="479777"/>
                </a:lnTo>
                <a:lnTo>
                  <a:pt x="0" y="0"/>
                </a:lnTo>
                <a:close/>
              </a:path>
            </a:pathLst>
          </a:custGeom>
          <a:ln w="1499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6998" y="3821447"/>
            <a:ext cx="1946370" cy="19104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8952" y="2292350"/>
            <a:ext cx="1406220" cy="1274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66998" y="2292350"/>
            <a:ext cx="1406220" cy="12742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16267" y="2292350"/>
            <a:ext cx="2022475" cy="1274445"/>
            <a:chOff x="5516267" y="2292350"/>
            <a:chExt cx="2022475" cy="127444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32384" y="2292350"/>
              <a:ext cx="1406220" cy="12742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06426" y="2802051"/>
              <a:ext cx="482600" cy="255270"/>
            </a:xfrm>
            <a:custGeom>
              <a:avLst/>
              <a:gdLst/>
              <a:ahLst/>
              <a:cxnLst/>
              <a:rect l="l" t="t" r="r" b="b"/>
              <a:pathLst>
                <a:path w="482600" h="255269">
                  <a:moveTo>
                    <a:pt x="339196" y="0"/>
                  </a:moveTo>
                  <a:lnTo>
                    <a:pt x="339196" y="63712"/>
                  </a:lnTo>
                  <a:lnTo>
                    <a:pt x="0" y="63712"/>
                  </a:lnTo>
                  <a:lnTo>
                    <a:pt x="0" y="191135"/>
                  </a:lnTo>
                  <a:lnTo>
                    <a:pt x="339196" y="191135"/>
                  </a:lnTo>
                  <a:lnTo>
                    <a:pt x="339196" y="254847"/>
                  </a:lnTo>
                  <a:lnTo>
                    <a:pt x="482014" y="127422"/>
                  </a:lnTo>
                  <a:lnTo>
                    <a:pt x="339196" y="0"/>
                  </a:lnTo>
                  <a:close/>
                </a:path>
              </a:pathLst>
            </a:custGeom>
            <a:solidFill>
              <a:srgbClr val="FF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70717" y="2865763"/>
              <a:ext cx="0" cy="127635"/>
            </a:xfrm>
            <a:custGeom>
              <a:avLst/>
              <a:gdLst/>
              <a:ahLst/>
              <a:cxnLst/>
              <a:rect l="l" t="t" r="r" b="b"/>
              <a:pathLst>
                <a:path h="127635">
                  <a:moveTo>
                    <a:pt x="0" y="0"/>
                  </a:moveTo>
                  <a:lnTo>
                    <a:pt x="0" y="127423"/>
                  </a:lnTo>
                </a:path>
              </a:pathLst>
            </a:custGeom>
            <a:ln w="39274">
              <a:solidFill>
                <a:srgbClr val="FFA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26088" y="2865763"/>
              <a:ext cx="0" cy="127635"/>
            </a:xfrm>
            <a:custGeom>
              <a:avLst/>
              <a:gdLst/>
              <a:ahLst/>
              <a:cxnLst/>
              <a:rect l="l" t="t" r="r" b="b"/>
              <a:pathLst>
                <a:path h="127635">
                  <a:moveTo>
                    <a:pt x="0" y="0"/>
                  </a:moveTo>
                  <a:lnTo>
                    <a:pt x="0" y="127423"/>
                  </a:lnTo>
                </a:path>
              </a:pathLst>
            </a:custGeom>
            <a:ln w="19641">
              <a:solidFill>
                <a:srgbClr val="FFA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330714" y="3920959"/>
            <a:ext cx="457834" cy="415925"/>
          </a:xfrm>
          <a:custGeom>
            <a:avLst/>
            <a:gdLst/>
            <a:ahLst/>
            <a:cxnLst/>
            <a:rect l="l" t="t" r="r" b="b"/>
            <a:pathLst>
              <a:path w="457835" h="415925">
                <a:moveTo>
                  <a:pt x="457428" y="380441"/>
                </a:moveTo>
                <a:lnTo>
                  <a:pt x="453771" y="242379"/>
                </a:lnTo>
                <a:lnTo>
                  <a:pt x="452247" y="184721"/>
                </a:lnTo>
                <a:lnTo>
                  <a:pt x="403885" y="242379"/>
                </a:lnTo>
                <a:lnTo>
                  <a:pt x="96710" y="0"/>
                </a:lnTo>
                <a:lnTo>
                  <a:pt x="0" y="115328"/>
                </a:lnTo>
                <a:lnTo>
                  <a:pt x="307174" y="357708"/>
                </a:lnTo>
                <a:lnTo>
                  <a:pt x="258813" y="415366"/>
                </a:lnTo>
                <a:lnTo>
                  <a:pt x="457428" y="380441"/>
                </a:lnTo>
                <a:close/>
              </a:path>
            </a:pathLst>
          </a:custGeom>
          <a:solidFill>
            <a:srgbClr val="FFA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79400" y="3920959"/>
            <a:ext cx="457834" cy="415925"/>
          </a:xfrm>
          <a:custGeom>
            <a:avLst/>
            <a:gdLst/>
            <a:ahLst/>
            <a:cxnLst/>
            <a:rect l="l" t="t" r="r" b="b"/>
            <a:pathLst>
              <a:path w="457834" h="415925">
                <a:moveTo>
                  <a:pt x="457428" y="115328"/>
                </a:moveTo>
                <a:lnTo>
                  <a:pt x="360718" y="0"/>
                </a:lnTo>
                <a:lnTo>
                  <a:pt x="53543" y="242379"/>
                </a:lnTo>
                <a:lnTo>
                  <a:pt x="5181" y="184721"/>
                </a:lnTo>
                <a:lnTo>
                  <a:pt x="0" y="380441"/>
                </a:lnTo>
                <a:lnTo>
                  <a:pt x="198615" y="415366"/>
                </a:lnTo>
                <a:lnTo>
                  <a:pt x="150253" y="357708"/>
                </a:lnTo>
                <a:lnTo>
                  <a:pt x="296405" y="242379"/>
                </a:lnTo>
                <a:lnTo>
                  <a:pt x="457428" y="115328"/>
                </a:lnTo>
                <a:close/>
              </a:path>
            </a:pathLst>
          </a:custGeom>
          <a:solidFill>
            <a:srgbClr val="FFA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72466" y="3583050"/>
            <a:ext cx="2095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0000FF"/>
                </a:solidFill>
                <a:latin typeface="Times New Roman"/>
                <a:cs typeface="Times New Roman"/>
              </a:rPr>
              <a:t>I1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0513" y="3583050"/>
            <a:ext cx="2095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0000FF"/>
                </a:solidFill>
                <a:latin typeface="Times New Roman"/>
                <a:cs typeface="Times New Roman"/>
              </a:rPr>
              <a:t>I2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5899" y="3583050"/>
            <a:ext cx="3175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0000FF"/>
                </a:solidFill>
                <a:latin typeface="Times New Roman"/>
                <a:cs typeface="Times New Roman"/>
              </a:rPr>
              <a:t>I10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95"/>
              </a:spcBef>
            </a:pPr>
            <a:r>
              <a:rPr spc="-204" dirty="0"/>
              <a:t>Multiple-</a:t>
            </a:r>
            <a:r>
              <a:rPr spc="-215" dirty="0"/>
              <a:t>baseline</a:t>
            </a:r>
            <a:r>
              <a:rPr spc="-270" dirty="0"/>
              <a:t> </a:t>
            </a:r>
            <a:r>
              <a:rPr spc="-235" dirty="0"/>
              <a:t>stereo</a:t>
            </a:r>
            <a:r>
              <a:rPr spc="-250" dirty="0"/>
              <a:t> </a:t>
            </a:r>
            <a:r>
              <a:rPr spc="-190" dirty="0"/>
              <a:t>results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81094" y="5934560"/>
            <a:ext cx="6151245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75"/>
              </a:spcBef>
            </a:pPr>
            <a:r>
              <a:rPr sz="1400" spc="-45" dirty="0">
                <a:latin typeface="Trebuchet MS"/>
                <a:cs typeface="Trebuchet MS"/>
              </a:rPr>
              <a:t>M.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Okutomi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and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215" dirty="0">
                <a:latin typeface="Trebuchet MS"/>
                <a:cs typeface="Trebuchet MS"/>
              </a:rPr>
              <a:t>T.</a:t>
            </a:r>
            <a:r>
              <a:rPr sz="1400" spc="-245" dirty="0">
                <a:latin typeface="Trebuchet MS"/>
                <a:cs typeface="Trebuchet MS"/>
              </a:rPr>
              <a:t> </a:t>
            </a:r>
            <a:r>
              <a:rPr sz="1400" spc="-70" dirty="0">
                <a:latin typeface="Trebuchet MS"/>
                <a:cs typeface="Trebuchet MS"/>
              </a:rPr>
              <a:t>Kanade,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i="1" spc="-65" dirty="0">
                <a:latin typeface="Trebuchet MS"/>
                <a:cs typeface="Trebuchet MS"/>
              </a:rPr>
              <a:t>A</a:t>
            </a:r>
            <a:r>
              <a:rPr sz="1400" i="1" spc="-114" dirty="0">
                <a:latin typeface="Trebuchet MS"/>
                <a:cs typeface="Trebuchet MS"/>
              </a:rPr>
              <a:t> </a:t>
            </a:r>
            <a:r>
              <a:rPr sz="1400" i="1" spc="-95" dirty="0">
                <a:latin typeface="Trebuchet MS"/>
                <a:cs typeface="Trebuchet MS"/>
              </a:rPr>
              <a:t>Multiple-</a:t>
            </a:r>
            <a:r>
              <a:rPr sz="1400" i="1" spc="-85" dirty="0">
                <a:latin typeface="Trebuchet MS"/>
                <a:cs typeface="Trebuchet MS"/>
              </a:rPr>
              <a:t>Baseline</a:t>
            </a:r>
            <a:r>
              <a:rPr sz="1400" i="1" spc="-135" dirty="0">
                <a:latin typeface="Trebuchet MS"/>
                <a:cs typeface="Trebuchet MS"/>
              </a:rPr>
              <a:t> </a:t>
            </a:r>
            <a:r>
              <a:rPr sz="1400" i="1" spc="-105" dirty="0">
                <a:latin typeface="Trebuchet MS"/>
                <a:cs typeface="Trebuchet MS"/>
              </a:rPr>
              <a:t>Stereo</a:t>
            </a:r>
            <a:r>
              <a:rPr sz="1400" i="1" spc="-130" dirty="0">
                <a:latin typeface="Trebuchet MS"/>
                <a:cs typeface="Trebuchet MS"/>
              </a:rPr>
              <a:t> </a:t>
            </a:r>
            <a:r>
              <a:rPr sz="1400" i="1" spc="-105" dirty="0">
                <a:latin typeface="Trebuchet MS"/>
                <a:cs typeface="Trebuchet MS"/>
              </a:rPr>
              <a:t>System,</a:t>
            </a:r>
            <a:r>
              <a:rPr sz="1400" i="1" spc="-85" dirty="0">
                <a:latin typeface="Trebuchet MS"/>
                <a:cs typeface="Trebuchet MS"/>
              </a:rPr>
              <a:t> </a:t>
            </a:r>
            <a:r>
              <a:rPr sz="1400" spc="-70" dirty="0">
                <a:latin typeface="Trebuchet MS"/>
                <a:cs typeface="Trebuchet MS"/>
              </a:rPr>
              <a:t>IEEE </a:t>
            </a:r>
            <a:r>
              <a:rPr sz="1400" spc="-100" dirty="0">
                <a:latin typeface="Trebuchet MS"/>
                <a:cs typeface="Trebuchet MS"/>
              </a:rPr>
              <a:t>Trans.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on</a:t>
            </a:r>
            <a:r>
              <a:rPr sz="1400" spc="28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Pattern </a:t>
            </a:r>
            <a:r>
              <a:rPr sz="1400" spc="-35" dirty="0">
                <a:latin typeface="Trebuchet MS"/>
                <a:cs typeface="Trebuchet MS"/>
              </a:rPr>
              <a:t>Analysis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and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Machine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65" dirty="0">
                <a:latin typeface="Trebuchet MS"/>
                <a:cs typeface="Trebuchet MS"/>
              </a:rPr>
              <a:t>Intelligence,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75" dirty="0">
                <a:latin typeface="Trebuchet MS"/>
                <a:cs typeface="Trebuchet MS"/>
              </a:rPr>
              <a:t>15(4):353-</a:t>
            </a:r>
            <a:r>
              <a:rPr sz="1400" spc="-25" dirty="0">
                <a:latin typeface="Trebuchet MS"/>
                <a:cs typeface="Trebuchet MS"/>
              </a:rPr>
              <a:t>363</a:t>
            </a:r>
            <a:r>
              <a:rPr sz="1400" spc="-13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(1993).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Multibaseline</a:t>
            </a:r>
            <a:r>
              <a:rPr spc="-229" dirty="0"/>
              <a:t> </a:t>
            </a:r>
            <a:r>
              <a:rPr spc="-204" dirty="0"/>
              <a:t>Stereo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7991" y="2350958"/>
            <a:ext cx="7994015" cy="3821429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500" spc="-100" dirty="0">
                <a:latin typeface="Trebuchet MS"/>
                <a:cs typeface="Trebuchet MS"/>
              </a:rPr>
              <a:t>Basic</a:t>
            </a:r>
            <a:r>
              <a:rPr sz="2500" spc="-17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Approach</a:t>
            </a:r>
            <a:endParaRPr sz="2500">
              <a:latin typeface="Trebuchet MS"/>
              <a:cs typeface="Trebuchet MS"/>
            </a:endParaRPr>
          </a:p>
          <a:p>
            <a:pPr marL="597535" indent="-224790">
              <a:lnSpc>
                <a:spcPct val="100000"/>
              </a:lnSpc>
              <a:spcBef>
                <a:spcPts val="590"/>
              </a:spcBef>
              <a:buFont typeface="Arial MT"/>
              <a:buChar char="–"/>
              <a:tabLst>
                <a:tab pos="597535" algn="l"/>
              </a:tabLst>
            </a:pPr>
            <a:r>
              <a:rPr sz="2200" spc="-25" dirty="0">
                <a:latin typeface="Trebuchet MS"/>
                <a:cs typeface="Trebuchet MS"/>
              </a:rPr>
              <a:t>Choose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a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reference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view</a:t>
            </a:r>
            <a:endParaRPr sz="2200">
              <a:latin typeface="Trebuchet MS"/>
              <a:cs typeface="Trebuchet MS"/>
            </a:endParaRPr>
          </a:p>
          <a:p>
            <a:pPr marL="597535" indent="-224790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597535" algn="l"/>
              </a:tabLst>
            </a:pPr>
            <a:r>
              <a:rPr sz="2200" spc="-55" dirty="0">
                <a:latin typeface="Trebuchet MS"/>
                <a:cs typeface="Trebuchet MS"/>
              </a:rPr>
              <a:t>Use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your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favorite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stereo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algorithm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BUT</a:t>
            </a:r>
            <a:endParaRPr sz="2200">
              <a:latin typeface="Trebuchet MS"/>
              <a:cs typeface="Trebuchet MS"/>
            </a:endParaRPr>
          </a:p>
          <a:p>
            <a:pPr marL="911860" lvl="1" indent="-17907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911860" algn="l"/>
              </a:tabLst>
            </a:pPr>
            <a:r>
              <a:rPr sz="1900" spc="-95" dirty="0">
                <a:latin typeface="Trebuchet MS"/>
                <a:cs typeface="Trebuchet MS"/>
              </a:rPr>
              <a:t>replace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two-</a:t>
            </a:r>
            <a:r>
              <a:rPr sz="1900" spc="-70" dirty="0">
                <a:latin typeface="Trebuchet MS"/>
                <a:cs typeface="Trebuchet MS"/>
              </a:rPr>
              <a:t>view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SSD</a:t>
            </a:r>
            <a:r>
              <a:rPr sz="1900" spc="-120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with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b="1" spc="-175" dirty="0">
                <a:solidFill>
                  <a:srgbClr val="FF0000"/>
                </a:solidFill>
                <a:latin typeface="Tahoma"/>
                <a:cs typeface="Tahoma"/>
              </a:rPr>
              <a:t>SSSD</a:t>
            </a:r>
            <a:r>
              <a:rPr sz="1900" b="1" spc="-10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over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all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baselines</a:t>
            </a:r>
            <a:endParaRPr sz="1900">
              <a:latin typeface="Trebuchet MS"/>
              <a:cs typeface="Trebuchet MS"/>
            </a:endParaRPr>
          </a:p>
          <a:p>
            <a:pPr marL="911225" marR="5080" lvl="1" indent="-179070">
              <a:lnSpc>
                <a:spcPct val="101099"/>
              </a:lnSpc>
              <a:spcBef>
                <a:spcPts val="405"/>
              </a:spcBef>
              <a:buFont typeface="Arial MT"/>
              <a:buChar char="•"/>
              <a:tabLst>
                <a:tab pos="912494" algn="l"/>
              </a:tabLst>
            </a:pPr>
            <a:r>
              <a:rPr sz="1900" b="1" spc="-204" dirty="0">
                <a:solidFill>
                  <a:srgbClr val="FF0000"/>
                </a:solidFill>
                <a:latin typeface="Tahoma"/>
                <a:cs typeface="Tahoma"/>
              </a:rPr>
              <a:t>SSSD</a:t>
            </a:r>
            <a:r>
              <a:rPr sz="1900" spc="-204" dirty="0">
                <a:latin typeface="Trebuchet MS"/>
                <a:cs typeface="Trebuchet MS"/>
              </a:rPr>
              <a:t>: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the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SSD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values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are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computed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first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for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each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pair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of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stereo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images, 	</a:t>
            </a:r>
            <a:r>
              <a:rPr sz="1900" spc="-30" dirty="0">
                <a:latin typeface="Trebuchet MS"/>
                <a:cs typeface="Trebuchet MS"/>
              </a:rPr>
              <a:t>and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then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add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all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together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from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multiple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stereo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pairs.</a:t>
            </a:r>
            <a:endParaRPr sz="19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85"/>
              </a:spcBef>
              <a:buFont typeface="Arial MT"/>
              <a:buChar char="•"/>
            </a:pP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spc="-10" dirty="0">
                <a:latin typeface="Trebuchet MS"/>
                <a:cs typeface="Trebuchet MS"/>
              </a:rPr>
              <a:t>Limitations</a:t>
            </a:r>
            <a:endParaRPr sz="2500">
              <a:latin typeface="Trebuchet MS"/>
              <a:cs typeface="Trebuchet MS"/>
            </a:endParaRPr>
          </a:p>
          <a:p>
            <a:pPr marL="597535" indent="-224790">
              <a:lnSpc>
                <a:spcPct val="100000"/>
              </a:lnSpc>
              <a:spcBef>
                <a:spcPts val="610"/>
              </a:spcBef>
              <a:buFont typeface="Arial MT"/>
              <a:buChar char="–"/>
              <a:tabLst>
                <a:tab pos="597535" algn="l"/>
              </a:tabLst>
            </a:pPr>
            <a:r>
              <a:rPr sz="2200" spc="-45" dirty="0">
                <a:latin typeface="Trebuchet MS"/>
                <a:cs typeface="Trebuchet MS"/>
              </a:rPr>
              <a:t>Only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gives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a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depth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map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(not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an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50" dirty="0">
                <a:latin typeface="Trebuchet MS"/>
                <a:cs typeface="Trebuchet MS"/>
              </a:rPr>
              <a:t>“object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model”)</a:t>
            </a:r>
            <a:endParaRPr sz="2200">
              <a:latin typeface="Trebuchet MS"/>
              <a:cs typeface="Trebuchet MS"/>
            </a:endParaRPr>
          </a:p>
          <a:p>
            <a:pPr marL="597535" indent="-224790">
              <a:lnSpc>
                <a:spcPct val="100000"/>
              </a:lnSpc>
              <a:spcBef>
                <a:spcPts val="550"/>
              </a:spcBef>
              <a:buFont typeface="Arial MT"/>
              <a:buChar char="–"/>
              <a:tabLst>
                <a:tab pos="597535" algn="l"/>
              </a:tabLst>
            </a:pPr>
            <a:r>
              <a:rPr sz="2200" spc="-105" dirty="0">
                <a:latin typeface="Trebuchet MS"/>
                <a:cs typeface="Trebuchet MS"/>
              </a:rPr>
              <a:t>Won’t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work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for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widely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distributed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views.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3384" y="1560797"/>
            <a:ext cx="2457415" cy="472264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6263" y="2670019"/>
            <a:ext cx="3318282" cy="223267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688907" y="3759905"/>
            <a:ext cx="1500505" cy="300355"/>
          </a:xfrm>
          <a:custGeom>
            <a:avLst/>
            <a:gdLst/>
            <a:ahLst/>
            <a:cxnLst/>
            <a:rect l="l" t="t" r="r" b="b"/>
            <a:pathLst>
              <a:path w="1500504" h="300354">
                <a:moveTo>
                  <a:pt x="0" y="299861"/>
                </a:moveTo>
                <a:lnTo>
                  <a:pt x="60007" y="275497"/>
                </a:lnTo>
                <a:lnTo>
                  <a:pt x="120014" y="239888"/>
                </a:lnTo>
                <a:lnTo>
                  <a:pt x="148612" y="211308"/>
                </a:lnTo>
                <a:lnTo>
                  <a:pt x="176272" y="176168"/>
                </a:lnTo>
                <a:lnTo>
                  <a:pt x="205806" y="142902"/>
                </a:lnTo>
                <a:lnTo>
                  <a:pt x="240029" y="119944"/>
                </a:lnTo>
                <a:lnTo>
                  <a:pt x="280816" y="111510"/>
                </a:lnTo>
                <a:lnTo>
                  <a:pt x="326290" y="112447"/>
                </a:lnTo>
                <a:lnTo>
                  <a:pt x="373640" y="117133"/>
                </a:lnTo>
                <a:lnTo>
                  <a:pt x="420052" y="119944"/>
                </a:lnTo>
                <a:lnTo>
                  <a:pt x="466464" y="121350"/>
                </a:lnTo>
                <a:lnTo>
                  <a:pt x="513814" y="123692"/>
                </a:lnTo>
                <a:lnTo>
                  <a:pt x="559288" y="124161"/>
                </a:lnTo>
                <a:lnTo>
                  <a:pt x="600074" y="119944"/>
                </a:lnTo>
                <a:lnTo>
                  <a:pt x="631485" y="109168"/>
                </a:lnTo>
                <a:lnTo>
                  <a:pt x="656332" y="93706"/>
                </a:lnTo>
                <a:lnTo>
                  <a:pt x="683054" y="76370"/>
                </a:lnTo>
                <a:lnTo>
                  <a:pt x="720089" y="59972"/>
                </a:lnTo>
                <a:lnTo>
                  <a:pt x="762335" y="45099"/>
                </a:lnTo>
                <a:lnTo>
                  <a:pt x="813221" y="27347"/>
                </a:lnTo>
                <a:lnTo>
                  <a:pt x="866988" y="11034"/>
                </a:lnTo>
                <a:lnTo>
                  <a:pt x="917874" y="479"/>
                </a:lnTo>
                <a:lnTo>
                  <a:pt x="960119" y="0"/>
                </a:lnTo>
                <a:lnTo>
                  <a:pt x="994342" y="17335"/>
                </a:lnTo>
                <a:lnTo>
                  <a:pt x="1016376" y="48727"/>
                </a:lnTo>
                <a:lnTo>
                  <a:pt x="1040286" y="85741"/>
                </a:lnTo>
                <a:lnTo>
                  <a:pt x="1080134" y="119944"/>
                </a:lnTo>
                <a:lnTo>
                  <a:pt x="1122501" y="142711"/>
                </a:lnTo>
                <a:lnTo>
                  <a:pt x="1175702" y="168810"/>
                </a:lnTo>
                <a:lnTo>
                  <a:pt x="1233904" y="194909"/>
                </a:lnTo>
                <a:lnTo>
                  <a:pt x="1291272" y="217676"/>
                </a:lnTo>
                <a:lnTo>
                  <a:pt x="1341973" y="233780"/>
                </a:lnTo>
                <a:lnTo>
                  <a:pt x="1380172" y="239888"/>
                </a:lnTo>
                <a:lnTo>
                  <a:pt x="1412051" y="223958"/>
                </a:lnTo>
                <a:lnTo>
                  <a:pt x="1425178" y="187413"/>
                </a:lnTo>
                <a:lnTo>
                  <a:pt x="1430803" y="147119"/>
                </a:lnTo>
                <a:lnTo>
                  <a:pt x="1440179" y="119944"/>
                </a:lnTo>
                <a:lnTo>
                  <a:pt x="1455181" y="110105"/>
                </a:lnTo>
                <a:lnTo>
                  <a:pt x="1470183" y="108699"/>
                </a:lnTo>
                <a:lnTo>
                  <a:pt x="1485185" y="112916"/>
                </a:lnTo>
                <a:lnTo>
                  <a:pt x="1500187" y="119944"/>
                </a:lnTo>
              </a:path>
            </a:pathLst>
          </a:custGeom>
          <a:ln w="2998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28900" y="4348383"/>
            <a:ext cx="1620520" cy="191770"/>
          </a:xfrm>
          <a:custGeom>
            <a:avLst/>
            <a:gdLst/>
            <a:ahLst/>
            <a:cxnLst/>
            <a:rect l="l" t="t" r="r" b="b"/>
            <a:pathLst>
              <a:path w="1620520" h="191770">
                <a:moveTo>
                  <a:pt x="0" y="191161"/>
                </a:moveTo>
                <a:lnTo>
                  <a:pt x="11485" y="154147"/>
                </a:lnTo>
                <a:lnTo>
                  <a:pt x="40083" y="91363"/>
                </a:lnTo>
                <a:lnTo>
                  <a:pt x="87198" y="64189"/>
                </a:lnTo>
                <a:lnTo>
                  <a:pt x="120014" y="67468"/>
                </a:lnTo>
                <a:lnTo>
                  <a:pt x="152831" y="72622"/>
                </a:lnTo>
                <a:lnTo>
                  <a:pt x="180022" y="71217"/>
                </a:lnTo>
                <a:lnTo>
                  <a:pt x="196430" y="59035"/>
                </a:lnTo>
                <a:lnTo>
                  <a:pt x="206275" y="41230"/>
                </a:lnTo>
                <a:lnTo>
                  <a:pt x="217995" y="23426"/>
                </a:lnTo>
                <a:lnTo>
                  <a:pt x="240029" y="11244"/>
                </a:lnTo>
                <a:lnTo>
                  <a:pt x="278003" y="4216"/>
                </a:lnTo>
                <a:lnTo>
                  <a:pt x="326290" y="0"/>
                </a:lnTo>
                <a:lnTo>
                  <a:pt x="376453" y="1405"/>
                </a:lnTo>
                <a:lnTo>
                  <a:pt x="420052" y="11244"/>
                </a:lnTo>
                <a:lnTo>
                  <a:pt x="452869" y="37014"/>
                </a:lnTo>
                <a:lnTo>
                  <a:pt x="480059" y="74965"/>
                </a:lnTo>
                <a:lnTo>
                  <a:pt x="507250" y="111042"/>
                </a:lnTo>
                <a:lnTo>
                  <a:pt x="540067" y="131189"/>
                </a:lnTo>
                <a:lnTo>
                  <a:pt x="583666" y="127440"/>
                </a:lnTo>
                <a:lnTo>
                  <a:pt x="633829" y="108699"/>
                </a:lnTo>
                <a:lnTo>
                  <a:pt x="682116" y="86210"/>
                </a:lnTo>
                <a:lnTo>
                  <a:pt x="720089" y="71217"/>
                </a:lnTo>
                <a:lnTo>
                  <a:pt x="740717" y="67000"/>
                </a:lnTo>
                <a:lnTo>
                  <a:pt x="750093" y="67468"/>
                </a:lnTo>
                <a:lnTo>
                  <a:pt x="759469" y="69811"/>
                </a:lnTo>
                <a:lnTo>
                  <a:pt x="780097" y="71217"/>
                </a:lnTo>
                <a:lnTo>
                  <a:pt x="815258" y="72622"/>
                </a:lnTo>
                <a:lnTo>
                  <a:pt x="858857" y="74965"/>
                </a:lnTo>
                <a:lnTo>
                  <a:pt x="908082" y="75433"/>
                </a:lnTo>
                <a:lnTo>
                  <a:pt x="960119" y="71217"/>
                </a:lnTo>
                <a:lnTo>
                  <a:pt x="1003325" y="61141"/>
                </a:lnTo>
                <a:lnTo>
                  <a:pt x="1048931" y="45788"/>
                </a:lnTo>
                <a:lnTo>
                  <a:pt x="1096937" y="29476"/>
                </a:lnTo>
                <a:lnTo>
                  <a:pt x="1147343" y="16522"/>
                </a:lnTo>
                <a:lnTo>
                  <a:pt x="1200149" y="11244"/>
                </a:lnTo>
                <a:lnTo>
                  <a:pt x="1248767" y="14298"/>
                </a:lnTo>
                <a:lnTo>
                  <a:pt x="1302384" y="22350"/>
                </a:lnTo>
                <a:lnTo>
                  <a:pt x="1357669" y="33734"/>
                </a:lnTo>
                <a:lnTo>
                  <a:pt x="1411287" y="46783"/>
                </a:lnTo>
                <a:lnTo>
                  <a:pt x="1459904" y="59833"/>
                </a:lnTo>
                <a:lnTo>
                  <a:pt x="1500187" y="71217"/>
                </a:lnTo>
                <a:lnTo>
                  <a:pt x="1544958" y="86210"/>
                </a:lnTo>
                <a:lnTo>
                  <a:pt x="1600746" y="116196"/>
                </a:lnTo>
                <a:lnTo>
                  <a:pt x="1620202" y="131189"/>
                </a:lnTo>
              </a:path>
            </a:pathLst>
          </a:custGeom>
          <a:ln w="2998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08885" y="4899377"/>
            <a:ext cx="1740535" cy="127635"/>
          </a:xfrm>
          <a:custGeom>
            <a:avLst/>
            <a:gdLst/>
            <a:ahLst/>
            <a:cxnLst/>
            <a:rect l="l" t="t" r="r" b="b"/>
            <a:pathLst>
              <a:path w="1740535" h="127635">
                <a:moveTo>
                  <a:pt x="0" y="119944"/>
                </a:moveTo>
                <a:lnTo>
                  <a:pt x="41489" y="79416"/>
                </a:lnTo>
                <a:lnTo>
                  <a:pt x="84385" y="43105"/>
                </a:lnTo>
                <a:lnTo>
                  <a:pt x="130094" y="15227"/>
                </a:lnTo>
                <a:lnTo>
                  <a:pt x="180022" y="0"/>
                </a:lnTo>
                <a:lnTo>
                  <a:pt x="224188" y="479"/>
                </a:lnTo>
                <a:lnTo>
                  <a:pt x="271713" y="11034"/>
                </a:lnTo>
                <a:lnTo>
                  <a:pt x="321160" y="27347"/>
                </a:lnTo>
                <a:lnTo>
                  <a:pt x="371086" y="45099"/>
                </a:lnTo>
                <a:lnTo>
                  <a:pt x="420052" y="59972"/>
                </a:lnTo>
                <a:lnTo>
                  <a:pt x="468058" y="73885"/>
                </a:lnTo>
                <a:lnTo>
                  <a:pt x="516064" y="89718"/>
                </a:lnTo>
                <a:lnTo>
                  <a:pt x="564070" y="104591"/>
                </a:lnTo>
                <a:lnTo>
                  <a:pt x="612076" y="115626"/>
                </a:lnTo>
                <a:lnTo>
                  <a:pt x="660082" y="119944"/>
                </a:lnTo>
                <a:lnTo>
                  <a:pt x="706168" y="113707"/>
                </a:lnTo>
                <a:lnTo>
                  <a:pt x="750333" y="98834"/>
                </a:lnTo>
                <a:lnTo>
                  <a:pt x="795459" y="81082"/>
                </a:lnTo>
                <a:lnTo>
                  <a:pt x="844425" y="66209"/>
                </a:lnTo>
                <a:lnTo>
                  <a:pt x="900112" y="59972"/>
                </a:lnTo>
                <a:lnTo>
                  <a:pt x="946298" y="62769"/>
                </a:lnTo>
                <a:lnTo>
                  <a:pt x="997733" y="70113"/>
                </a:lnTo>
                <a:lnTo>
                  <a:pt x="1052318" y="80429"/>
                </a:lnTo>
                <a:lnTo>
                  <a:pt x="1107951" y="92143"/>
                </a:lnTo>
                <a:lnTo>
                  <a:pt x="1162535" y="103683"/>
                </a:lnTo>
                <a:lnTo>
                  <a:pt x="1213970" y="113475"/>
                </a:lnTo>
                <a:lnTo>
                  <a:pt x="1260157" y="119944"/>
                </a:lnTo>
                <a:lnTo>
                  <a:pt x="1315844" y="124742"/>
                </a:lnTo>
                <a:lnTo>
                  <a:pt x="1364810" y="127141"/>
                </a:lnTo>
                <a:lnTo>
                  <a:pt x="1409936" y="127141"/>
                </a:lnTo>
                <a:lnTo>
                  <a:pt x="1454101" y="124742"/>
                </a:lnTo>
                <a:lnTo>
                  <a:pt x="1500187" y="119944"/>
                </a:lnTo>
                <a:lnTo>
                  <a:pt x="1548193" y="112267"/>
                </a:lnTo>
                <a:lnTo>
                  <a:pt x="1596199" y="101712"/>
                </a:lnTo>
                <a:lnTo>
                  <a:pt x="1644205" y="88998"/>
                </a:lnTo>
                <a:lnTo>
                  <a:pt x="1692211" y="74845"/>
                </a:lnTo>
                <a:lnTo>
                  <a:pt x="1740217" y="59972"/>
                </a:lnTo>
              </a:path>
            </a:pathLst>
          </a:custGeom>
          <a:ln w="2998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08885" y="5489104"/>
            <a:ext cx="1740535" cy="127635"/>
          </a:xfrm>
          <a:custGeom>
            <a:avLst/>
            <a:gdLst/>
            <a:ahLst/>
            <a:cxnLst/>
            <a:rect l="l" t="t" r="r" b="b"/>
            <a:pathLst>
              <a:path w="1740535" h="127635">
                <a:moveTo>
                  <a:pt x="0" y="119944"/>
                </a:moveTo>
                <a:lnTo>
                  <a:pt x="41489" y="79416"/>
                </a:lnTo>
                <a:lnTo>
                  <a:pt x="84385" y="43105"/>
                </a:lnTo>
                <a:lnTo>
                  <a:pt x="130094" y="15227"/>
                </a:lnTo>
                <a:lnTo>
                  <a:pt x="180022" y="0"/>
                </a:lnTo>
                <a:lnTo>
                  <a:pt x="224188" y="479"/>
                </a:lnTo>
                <a:lnTo>
                  <a:pt x="271713" y="11034"/>
                </a:lnTo>
                <a:lnTo>
                  <a:pt x="321160" y="27347"/>
                </a:lnTo>
                <a:lnTo>
                  <a:pt x="371086" y="45099"/>
                </a:lnTo>
                <a:lnTo>
                  <a:pt x="420052" y="59972"/>
                </a:lnTo>
                <a:lnTo>
                  <a:pt x="468058" y="73885"/>
                </a:lnTo>
                <a:lnTo>
                  <a:pt x="516064" y="89718"/>
                </a:lnTo>
                <a:lnTo>
                  <a:pt x="564070" y="104591"/>
                </a:lnTo>
                <a:lnTo>
                  <a:pt x="612076" y="115626"/>
                </a:lnTo>
                <a:lnTo>
                  <a:pt x="660082" y="119944"/>
                </a:lnTo>
                <a:lnTo>
                  <a:pt x="706168" y="113707"/>
                </a:lnTo>
                <a:lnTo>
                  <a:pt x="750333" y="98834"/>
                </a:lnTo>
                <a:lnTo>
                  <a:pt x="795459" y="81082"/>
                </a:lnTo>
                <a:lnTo>
                  <a:pt x="844425" y="66209"/>
                </a:lnTo>
                <a:lnTo>
                  <a:pt x="900112" y="59972"/>
                </a:lnTo>
                <a:lnTo>
                  <a:pt x="946298" y="62769"/>
                </a:lnTo>
                <a:lnTo>
                  <a:pt x="997733" y="70113"/>
                </a:lnTo>
                <a:lnTo>
                  <a:pt x="1052318" y="80429"/>
                </a:lnTo>
                <a:lnTo>
                  <a:pt x="1107951" y="92143"/>
                </a:lnTo>
                <a:lnTo>
                  <a:pt x="1162535" y="103683"/>
                </a:lnTo>
                <a:lnTo>
                  <a:pt x="1213970" y="113475"/>
                </a:lnTo>
                <a:lnTo>
                  <a:pt x="1260157" y="119944"/>
                </a:lnTo>
                <a:lnTo>
                  <a:pt x="1315844" y="124742"/>
                </a:lnTo>
                <a:lnTo>
                  <a:pt x="1364810" y="127141"/>
                </a:lnTo>
                <a:lnTo>
                  <a:pt x="1409936" y="127141"/>
                </a:lnTo>
                <a:lnTo>
                  <a:pt x="1454101" y="124742"/>
                </a:lnTo>
                <a:lnTo>
                  <a:pt x="1500187" y="119944"/>
                </a:lnTo>
                <a:lnTo>
                  <a:pt x="1548193" y="112267"/>
                </a:lnTo>
                <a:lnTo>
                  <a:pt x="1596199" y="101712"/>
                </a:lnTo>
                <a:lnTo>
                  <a:pt x="1644205" y="88998"/>
                </a:lnTo>
                <a:lnTo>
                  <a:pt x="1692211" y="74845"/>
                </a:lnTo>
                <a:lnTo>
                  <a:pt x="1740217" y="59972"/>
                </a:lnTo>
              </a:path>
            </a:pathLst>
          </a:custGeom>
          <a:ln w="2998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9222" y="2909049"/>
            <a:ext cx="1020444" cy="322580"/>
          </a:xfrm>
          <a:custGeom>
            <a:avLst/>
            <a:gdLst/>
            <a:ahLst/>
            <a:cxnLst/>
            <a:rect l="l" t="t" r="r" b="b"/>
            <a:pathLst>
              <a:path w="1020445" h="322580">
                <a:moveTo>
                  <a:pt x="0" y="22489"/>
                </a:moveTo>
                <a:lnTo>
                  <a:pt x="7969" y="8433"/>
                </a:lnTo>
                <a:lnTo>
                  <a:pt x="18752" y="0"/>
                </a:lnTo>
                <a:lnTo>
                  <a:pt x="35160" y="2811"/>
                </a:lnTo>
                <a:lnTo>
                  <a:pt x="60007" y="22489"/>
                </a:lnTo>
                <a:lnTo>
                  <a:pt x="82371" y="52059"/>
                </a:lnTo>
                <a:lnTo>
                  <a:pt x="108902" y="95788"/>
                </a:lnTo>
                <a:lnTo>
                  <a:pt x="138767" y="146182"/>
                </a:lnTo>
                <a:lnTo>
                  <a:pt x="171132" y="195742"/>
                </a:lnTo>
                <a:lnTo>
                  <a:pt x="205164" y="236973"/>
                </a:lnTo>
                <a:lnTo>
                  <a:pt x="240029" y="262378"/>
                </a:lnTo>
                <a:lnTo>
                  <a:pt x="277256" y="267653"/>
                </a:lnTo>
                <a:lnTo>
                  <a:pt x="317817" y="257936"/>
                </a:lnTo>
                <a:lnTo>
                  <a:pt x="360044" y="239888"/>
                </a:lnTo>
                <a:lnTo>
                  <a:pt x="402272" y="220175"/>
                </a:lnTo>
                <a:lnTo>
                  <a:pt x="442833" y="205460"/>
                </a:lnTo>
                <a:lnTo>
                  <a:pt x="480059" y="202406"/>
                </a:lnTo>
                <a:lnTo>
                  <a:pt x="519904" y="219678"/>
                </a:lnTo>
                <a:lnTo>
                  <a:pt x="556389" y="251823"/>
                </a:lnTo>
                <a:lnTo>
                  <a:pt x="590953" y="287326"/>
                </a:lnTo>
                <a:lnTo>
                  <a:pt x="625038" y="314674"/>
                </a:lnTo>
                <a:lnTo>
                  <a:pt x="696086" y="304598"/>
                </a:lnTo>
                <a:lnTo>
                  <a:pt x="732091" y="269095"/>
                </a:lnTo>
                <a:lnTo>
                  <a:pt x="768095" y="224476"/>
                </a:lnTo>
                <a:lnTo>
                  <a:pt x="804100" y="179376"/>
                </a:lnTo>
                <a:lnTo>
                  <a:pt x="840104" y="142434"/>
                </a:lnTo>
                <a:lnTo>
                  <a:pt x="885110" y="107528"/>
                </a:lnTo>
                <a:lnTo>
                  <a:pt x="930116" y="76839"/>
                </a:lnTo>
                <a:lnTo>
                  <a:pt x="975121" y="48961"/>
                </a:lnTo>
                <a:lnTo>
                  <a:pt x="1020127" y="22489"/>
                </a:lnTo>
              </a:path>
            </a:pathLst>
          </a:custGeom>
          <a:ln w="29987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88471" y="5043870"/>
            <a:ext cx="3576954" cy="115443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400" spc="-10" dirty="0">
                <a:latin typeface="Trebuchet MS"/>
                <a:cs typeface="Trebuchet MS"/>
              </a:rPr>
              <a:t>Some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Solutions</a:t>
            </a:r>
            <a:endParaRPr sz="1400">
              <a:latin typeface="Trebuchet MS"/>
              <a:cs typeface="Trebuchet MS"/>
            </a:endParaRPr>
          </a:p>
          <a:p>
            <a:pPr marL="597535" indent="-225425">
              <a:lnSpc>
                <a:spcPct val="100000"/>
              </a:lnSpc>
              <a:spcBef>
                <a:spcPts val="315"/>
              </a:spcBef>
              <a:buClr>
                <a:srgbClr val="EEECE1"/>
              </a:buClr>
              <a:buChar char="•"/>
              <a:tabLst>
                <a:tab pos="597535" algn="l"/>
              </a:tabLst>
            </a:pPr>
            <a:r>
              <a:rPr sz="1300" spc="-45" dirty="0">
                <a:latin typeface="Trebuchet MS"/>
                <a:cs typeface="Trebuchet MS"/>
              </a:rPr>
              <a:t>Match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only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-60" dirty="0">
                <a:latin typeface="Trebuchet MS"/>
                <a:cs typeface="Trebuchet MS"/>
              </a:rPr>
              <a:t>nearby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photos</a:t>
            </a:r>
            <a:r>
              <a:rPr sz="1300" spc="-90" dirty="0">
                <a:latin typeface="Trebuchet MS"/>
                <a:cs typeface="Trebuchet MS"/>
              </a:rPr>
              <a:t> </a:t>
            </a:r>
            <a:r>
              <a:rPr sz="1300" spc="-70" dirty="0">
                <a:latin typeface="Trebuchet MS"/>
                <a:cs typeface="Trebuchet MS"/>
              </a:rPr>
              <a:t>[Narayanan</a:t>
            </a:r>
            <a:r>
              <a:rPr sz="1300" spc="-100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98]</a:t>
            </a:r>
            <a:endParaRPr sz="1300">
              <a:latin typeface="Trebuchet MS"/>
              <a:cs typeface="Trebuchet MS"/>
            </a:endParaRPr>
          </a:p>
          <a:p>
            <a:pPr marL="597535" indent="-225425">
              <a:lnSpc>
                <a:spcPct val="100000"/>
              </a:lnSpc>
              <a:spcBef>
                <a:spcPts val="335"/>
              </a:spcBef>
              <a:buClr>
                <a:srgbClr val="EEECE1"/>
              </a:buClr>
              <a:buChar char="•"/>
              <a:tabLst>
                <a:tab pos="597535" algn="l"/>
              </a:tabLst>
            </a:pPr>
            <a:r>
              <a:rPr sz="1300" spc="-45" dirty="0">
                <a:latin typeface="Trebuchet MS"/>
                <a:cs typeface="Trebuchet MS"/>
              </a:rPr>
              <a:t>Use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NCC</a:t>
            </a:r>
            <a:r>
              <a:rPr sz="1300" spc="-125" dirty="0">
                <a:latin typeface="Trebuchet MS"/>
                <a:cs typeface="Trebuchet MS"/>
              </a:rPr>
              <a:t> </a:t>
            </a:r>
            <a:r>
              <a:rPr sz="1300" spc="-65" dirty="0">
                <a:latin typeface="Trebuchet MS"/>
                <a:cs typeface="Trebuchet MS"/>
              </a:rPr>
              <a:t>instead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65" dirty="0">
                <a:latin typeface="Trebuchet MS"/>
                <a:cs typeface="Trebuchet MS"/>
              </a:rPr>
              <a:t>of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SSD,</a:t>
            </a:r>
            <a:endParaRPr sz="1300">
              <a:latin typeface="Trebuchet MS"/>
              <a:cs typeface="Trebuchet MS"/>
            </a:endParaRPr>
          </a:p>
          <a:p>
            <a:pPr marL="597535" marR="5080">
              <a:lnSpc>
                <a:spcPts val="1490"/>
              </a:lnSpc>
              <a:spcBef>
                <a:spcPts val="155"/>
              </a:spcBef>
            </a:pPr>
            <a:r>
              <a:rPr sz="1300" spc="-40" dirty="0">
                <a:latin typeface="Trebuchet MS"/>
                <a:cs typeface="Trebuchet MS"/>
              </a:rPr>
              <a:t>Ignore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NCC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60" dirty="0">
                <a:latin typeface="Trebuchet MS"/>
                <a:cs typeface="Trebuchet MS"/>
              </a:rPr>
              <a:t>values</a:t>
            </a:r>
            <a:r>
              <a:rPr sz="1300" spc="-105" dirty="0">
                <a:latin typeface="Trebuchet MS"/>
                <a:cs typeface="Trebuchet MS"/>
              </a:rPr>
              <a:t> </a:t>
            </a:r>
            <a:r>
              <a:rPr sz="1300" spc="80" dirty="0">
                <a:latin typeface="Trebuchet MS"/>
                <a:cs typeface="Trebuchet MS"/>
              </a:rPr>
              <a:t>&gt;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55" dirty="0">
                <a:latin typeface="Trebuchet MS"/>
                <a:cs typeface="Trebuchet MS"/>
              </a:rPr>
              <a:t>threshold</a:t>
            </a:r>
            <a:r>
              <a:rPr sz="1300" spc="-120" dirty="0">
                <a:latin typeface="Trebuchet MS"/>
                <a:cs typeface="Trebuchet MS"/>
              </a:rPr>
              <a:t> </a:t>
            </a:r>
            <a:r>
              <a:rPr sz="1300" spc="-70" dirty="0">
                <a:latin typeface="Trebuchet MS"/>
                <a:cs typeface="Trebuchet MS"/>
              </a:rPr>
              <a:t>[Hernandez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&amp; </a:t>
            </a:r>
            <a:r>
              <a:rPr sz="1300" spc="-65" dirty="0">
                <a:latin typeface="Trebuchet MS"/>
                <a:cs typeface="Trebuchet MS"/>
              </a:rPr>
              <a:t>Schmitt</a:t>
            </a:r>
            <a:r>
              <a:rPr sz="1300" spc="-105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03]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53821" y="4224687"/>
            <a:ext cx="2490470" cy="1769745"/>
            <a:chOff x="1953821" y="4224687"/>
            <a:chExt cx="2490470" cy="1769745"/>
          </a:xfrm>
        </p:grpSpPr>
        <p:sp>
          <p:nvSpPr>
            <p:cNvPr id="11" name="object 11"/>
            <p:cNvSpPr/>
            <p:nvPr/>
          </p:nvSpPr>
          <p:spPr>
            <a:xfrm>
              <a:off x="1968817" y="4239683"/>
              <a:ext cx="2460625" cy="1739264"/>
            </a:xfrm>
            <a:custGeom>
              <a:avLst/>
              <a:gdLst/>
              <a:ahLst/>
              <a:cxnLst/>
              <a:rect l="l" t="t" r="r" b="b"/>
              <a:pathLst>
                <a:path w="2460625" h="1739264">
                  <a:moveTo>
                    <a:pt x="0" y="0"/>
                  </a:moveTo>
                  <a:lnTo>
                    <a:pt x="2460307" y="0"/>
                  </a:lnTo>
                  <a:lnTo>
                    <a:pt x="2460307" y="1739194"/>
                  </a:lnTo>
                  <a:lnTo>
                    <a:pt x="0" y="1739194"/>
                  </a:lnTo>
                  <a:lnTo>
                    <a:pt x="0" y="0"/>
                  </a:lnTo>
                  <a:close/>
                </a:path>
              </a:pathLst>
            </a:custGeom>
            <a:ln w="29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68817" y="4239683"/>
              <a:ext cx="2460625" cy="1739264"/>
            </a:xfrm>
            <a:custGeom>
              <a:avLst/>
              <a:gdLst/>
              <a:ahLst/>
              <a:cxnLst/>
              <a:rect l="l" t="t" r="r" b="b"/>
              <a:pathLst>
                <a:path w="2460625" h="1739264">
                  <a:moveTo>
                    <a:pt x="0" y="1739194"/>
                  </a:moveTo>
                  <a:lnTo>
                    <a:pt x="2460307" y="0"/>
                  </a:lnTo>
                </a:path>
              </a:pathLst>
            </a:custGeom>
            <a:ln w="2999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68817" y="4239683"/>
              <a:ext cx="2460625" cy="1739264"/>
            </a:xfrm>
            <a:custGeom>
              <a:avLst/>
              <a:gdLst/>
              <a:ahLst/>
              <a:cxnLst/>
              <a:rect l="l" t="t" r="r" b="b"/>
              <a:pathLst>
                <a:path w="2460625" h="1739264">
                  <a:moveTo>
                    <a:pt x="0" y="0"/>
                  </a:moveTo>
                  <a:lnTo>
                    <a:pt x="2460307" y="1739194"/>
                  </a:lnTo>
                </a:path>
              </a:pathLst>
            </a:custGeom>
            <a:ln w="2999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0160" rIns="0" bIns="0" rtlCol="0">
            <a:spAutoFit/>
          </a:bodyPr>
          <a:lstStyle/>
          <a:p>
            <a:pPr marL="4185920">
              <a:lnSpc>
                <a:spcPct val="100000"/>
              </a:lnSpc>
              <a:spcBef>
                <a:spcPts val="95"/>
              </a:spcBef>
            </a:pPr>
            <a:r>
              <a:rPr sz="2800" spc="-175" dirty="0"/>
              <a:t>Problem:</a:t>
            </a:r>
            <a:r>
              <a:rPr sz="2800" spc="-195" dirty="0"/>
              <a:t> </a:t>
            </a:r>
            <a:r>
              <a:rPr sz="2800" i="1" spc="-320" dirty="0">
                <a:solidFill>
                  <a:srgbClr val="0000FF"/>
                </a:solidFill>
                <a:latin typeface="Verdana"/>
                <a:cs typeface="Verdana"/>
              </a:rPr>
              <a:t>visibility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969" y="1516641"/>
            <a:ext cx="485330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Popular</a:t>
            </a:r>
            <a:r>
              <a:rPr spc="-290" dirty="0"/>
              <a:t> </a:t>
            </a:r>
            <a:r>
              <a:rPr spc="-240" dirty="0"/>
              <a:t>matching</a:t>
            </a:r>
            <a:r>
              <a:rPr spc="-295" dirty="0"/>
              <a:t> </a:t>
            </a:r>
            <a:r>
              <a:rPr spc="-265" dirty="0"/>
              <a:t>scores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7969" y="2216876"/>
            <a:ext cx="6334125" cy="167767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282575" indent="-269875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282575" algn="l"/>
              </a:tabLst>
            </a:pPr>
            <a:r>
              <a:rPr sz="2400" dirty="0">
                <a:latin typeface="Trebuchet MS"/>
                <a:cs typeface="Trebuchet MS"/>
              </a:rPr>
              <a:t>SSD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(Sum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of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Squared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Differences)</a:t>
            </a:r>
            <a:endParaRPr sz="24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82575" algn="l"/>
              </a:tabLst>
            </a:pPr>
            <a:r>
              <a:rPr sz="2400" spc="50" dirty="0">
                <a:latin typeface="Trebuchet MS"/>
                <a:cs typeface="Trebuchet MS"/>
              </a:rPr>
              <a:t>SAD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(Sum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of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Absolute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Differences)</a:t>
            </a:r>
            <a:endParaRPr sz="24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282575" algn="l"/>
              </a:tabLst>
            </a:pPr>
            <a:r>
              <a:rPr sz="2400" spc="-50" dirty="0">
                <a:latin typeface="Trebuchet MS"/>
                <a:cs typeface="Trebuchet MS"/>
              </a:rPr>
              <a:t>ZNCC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(Zero-</a:t>
            </a:r>
            <a:r>
              <a:rPr sz="2400" spc="-75" dirty="0">
                <a:latin typeface="Trebuchet MS"/>
                <a:cs typeface="Trebuchet MS"/>
              </a:rPr>
              <a:t>mean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Normalized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Cross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Correlation)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8013" y="5102501"/>
            <a:ext cx="4024629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6220" indent="-223520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236220" algn="l"/>
              </a:tabLst>
            </a:pPr>
            <a:r>
              <a:rPr sz="2000" spc="-10" dirty="0">
                <a:latin typeface="Trebuchet MS"/>
                <a:cs typeface="Trebuchet MS"/>
              </a:rPr>
              <a:t>where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0"/>
              </a:spcBef>
              <a:buFont typeface="Arial MT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236220" indent="-223520">
              <a:lnSpc>
                <a:spcPct val="100000"/>
              </a:lnSpc>
              <a:buFont typeface="Arial MT"/>
              <a:buChar char="–"/>
              <a:tabLst>
                <a:tab pos="236220" algn="l"/>
              </a:tabLst>
            </a:pPr>
            <a:r>
              <a:rPr sz="2000" spc="-45" dirty="0">
                <a:latin typeface="Trebuchet MS"/>
                <a:cs typeface="Trebuchet MS"/>
              </a:rPr>
              <a:t>what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advantages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might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NCC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have?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1140" y="2489097"/>
            <a:ext cx="2290450" cy="4618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1931" y="4064547"/>
            <a:ext cx="4100476" cy="6506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6746" y="5090056"/>
            <a:ext cx="1436167" cy="58923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5912" y="5081691"/>
            <a:ext cx="2284817" cy="5993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45650" y="3033347"/>
            <a:ext cx="2056974" cy="43305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40" dirty="0"/>
              <a:t>Questions?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60" dirty="0"/>
              <a:t>Plane-</a:t>
            </a:r>
            <a:r>
              <a:rPr spc="-295" dirty="0"/>
              <a:t>Sweep</a:t>
            </a:r>
            <a:r>
              <a:rPr spc="-335" dirty="0"/>
              <a:t> </a:t>
            </a:r>
            <a:r>
              <a:rPr spc="-210" dirty="0"/>
              <a:t>Stereo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6" y="2619755"/>
            <a:ext cx="1682496" cy="152704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788795" y="3988545"/>
            <a:ext cx="1795780" cy="1634489"/>
            <a:chOff x="1788795" y="3988545"/>
            <a:chExt cx="1795780" cy="1634489"/>
          </a:xfrm>
        </p:grpSpPr>
        <p:sp>
          <p:nvSpPr>
            <p:cNvPr id="5" name="object 5"/>
            <p:cNvSpPr/>
            <p:nvPr/>
          </p:nvSpPr>
          <p:spPr>
            <a:xfrm>
              <a:off x="2212598" y="3999793"/>
              <a:ext cx="1359535" cy="1559560"/>
            </a:xfrm>
            <a:custGeom>
              <a:avLst/>
              <a:gdLst/>
              <a:ahLst/>
              <a:cxnLst/>
              <a:rect l="l" t="t" r="r" b="b"/>
              <a:pathLst>
                <a:path w="1359535" h="1559560">
                  <a:moveTo>
                    <a:pt x="0" y="0"/>
                  </a:moveTo>
                  <a:lnTo>
                    <a:pt x="1358919" y="389821"/>
                  </a:lnTo>
                  <a:lnTo>
                    <a:pt x="1358919" y="1559277"/>
                  </a:lnTo>
                  <a:lnTo>
                    <a:pt x="0" y="1169456"/>
                  </a:lnTo>
                  <a:lnTo>
                    <a:pt x="0" y="0"/>
                  </a:lnTo>
                  <a:close/>
                </a:path>
              </a:pathLst>
            </a:custGeom>
            <a:ln w="22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6896" y="4451603"/>
              <a:ext cx="752856" cy="64312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92545" y="3999793"/>
              <a:ext cx="420370" cy="1619250"/>
            </a:xfrm>
            <a:custGeom>
              <a:avLst/>
              <a:gdLst/>
              <a:ahLst/>
              <a:cxnLst/>
              <a:rect l="l" t="t" r="r" b="b"/>
              <a:pathLst>
                <a:path w="420369" h="1619250">
                  <a:moveTo>
                    <a:pt x="420052" y="0"/>
                  </a:moveTo>
                  <a:lnTo>
                    <a:pt x="0" y="1619249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92545" y="5139265"/>
              <a:ext cx="420370" cy="480059"/>
            </a:xfrm>
            <a:custGeom>
              <a:avLst/>
              <a:gdLst/>
              <a:ahLst/>
              <a:cxnLst/>
              <a:rect l="l" t="t" r="r" b="b"/>
              <a:pathLst>
                <a:path w="420369" h="480060">
                  <a:moveTo>
                    <a:pt x="420052" y="0"/>
                  </a:moveTo>
                  <a:lnTo>
                    <a:pt x="0" y="479777"/>
                  </a:lnTo>
                </a:path>
              </a:pathLst>
            </a:custGeom>
            <a:ln w="7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92546" y="4393363"/>
              <a:ext cx="1788160" cy="1226185"/>
            </a:xfrm>
            <a:custGeom>
              <a:avLst/>
              <a:gdLst/>
              <a:ahLst/>
              <a:cxnLst/>
              <a:rect l="l" t="t" r="r" b="b"/>
              <a:pathLst>
                <a:path w="1788160" h="1226185">
                  <a:moveTo>
                    <a:pt x="1787723" y="0"/>
                  </a:moveTo>
                  <a:lnTo>
                    <a:pt x="0" y="1225681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2545" y="5559071"/>
              <a:ext cx="1740535" cy="60325"/>
            </a:xfrm>
            <a:custGeom>
              <a:avLst/>
              <a:gdLst/>
              <a:ahLst/>
              <a:cxnLst/>
              <a:rect l="l" t="t" r="r" b="b"/>
              <a:pathLst>
                <a:path w="1740535" h="60325">
                  <a:moveTo>
                    <a:pt x="1740217" y="0"/>
                  </a:moveTo>
                  <a:lnTo>
                    <a:pt x="0" y="59972"/>
                  </a:lnTo>
                </a:path>
              </a:pathLst>
            </a:custGeom>
            <a:ln w="74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69356" y="4139725"/>
            <a:ext cx="1748155" cy="1581785"/>
            <a:chOff x="6269356" y="4139725"/>
            <a:chExt cx="1748155" cy="1581785"/>
          </a:xfrm>
        </p:grpSpPr>
        <p:sp>
          <p:nvSpPr>
            <p:cNvPr id="12" name="object 12"/>
            <p:cNvSpPr/>
            <p:nvPr/>
          </p:nvSpPr>
          <p:spPr>
            <a:xfrm>
              <a:off x="6294358" y="4150974"/>
              <a:ext cx="1359535" cy="1559560"/>
            </a:xfrm>
            <a:custGeom>
              <a:avLst/>
              <a:gdLst/>
              <a:ahLst/>
              <a:cxnLst/>
              <a:rect l="l" t="t" r="r" b="b"/>
              <a:pathLst>
                <a:path w="1359534" h="1559560">
                  <a:moveTo>
                    <a:pt x="1358920" y="0"/>
                  </a:moveTo>
                  <a:lnTo>
                    <a:pt x="0" y="389821"/>
                  </a:lnTo>
                  <a:lnTo>
                    <a:pt x="0" y="1559277"/>
                  </a:lnTo>
                  <a:lnTo>
                    <a:pt x="1358920" y="1169456"/>
                  </a:lnTo>
                  <a:lnTo>
                    <a:pt x="1358920" y="0"/>
                  </a:lnTo>
                  <a:close/>
                </a:path>
              </a:pathLst>
            </a:custGeom>
            <a:ln w="22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74535" y="4503419"/>
              <a:ext cx="731520" cy="76504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83106" y="4544541"/>
              <a:ext cx="1730375" cy="1045844"/>
            </a:xfrm>
            <a:custGeom>
              <a:avLst/>
              <a:gdLst/>
              <a:ahLst/>
              <a:cxnLst/>
              <a:rect l="l" t="t" r="r" b="b"/>
              <a:pathLst>
                <a:path w="1730375" h="1045845">
                  <a:moveTo>
                    <a:pt x="0" y="0"/>
                  </a:moveTo>
                  <a:lnTo>
                    <a:pt x="1730216" y="1045766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73105" y="5590308"/>
              <a:ext cx="1740535" cy="120014"/>
            </a:xfrm>
            <a:custGeom>
              <a:avLst/>
              <a:gdLst/>
              <a:ahLst/>
              <a:cxnLst/>
              <a:rect l="l" t="t" r="r" b="b"/>
              <a:pathLst>
                <a:path w="1740534" h="120014">
                  <a:moveTo>
                    <a:pt x="0" y="119944"/>
                  </a:moveTo>
                  <a:lnTo>
                    <a:pt x="1740217" y="0"/>
                  </a:lnTo>
                </a:path>
              </a:pathLst>
            </a:custGeom>
            <a:ln w="74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53278" y="5290446"/>
              <a:ext cx="360045" cy="300355"/>
            </a:xfrm>
            <a:custGeom>
              <a:avLst/>
              <a:gdLst/>
              <a:ahLst/>
              <a:cxnLst/>
              <a:rect l="l" t="t" r="r" b="b"/>
              <a:pathLst>
                <a:path w="360045" h="300354">
                  <a:moveTo>
                    <a:pt x="0" y="0"/>
                  </a:moveTo>
                  <a:lnTo>
                    <a:pt x="360044" y="299861"/>
                  </a:lnTo>
                </a:path>
              </a:pathLst>
            </a:custGeom>
            <a:ln w="7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53278" y="4150974"/>
              <a:ext cx="360045" cy="1439545"/>
            </a:xfrm>
            <a:custGeom>
              <a:avLst/>
              <a:gdLst/>
              <a:ahLst/>
              <a:cxnLst/>
              <a:rect l="l" t="t" r="r" b="b"/>
              <a:pathLst>
                <a:path w="360045" h="1439545">
                  <a:moveTo>
                    <a:pt x="0" y="0"/>
                  </a:moveTo>
                  <a:lnTo>
                    <a:pt x="360044" y="1439333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221599" y="4588269"/>
            <a:ext cx="1635760" cy="1694814"/>
            <a:chOff x="4221599" y="4588269"/>
            <a:chExt cx="1635760" cy="1694814"/>
          </a:xfrm>
        </p:grpSpPr>
        <p:sp>
          <p:nvSpPr>
            <p:cNvPr id="19" name="object 19"/>
            <p:cNvSpPr/>
            <p:nvPr/>
          </p:nvSpPr>
          <p:spPr>
            <a:xfrm>
              <a:off x="4235351" y="4599516"/>
              <a:ext cx="1610360" cy="1156970"/>
            </a:xfrm>
            <a:custGeom>
              <a:avLst/>
              <a:gdLst/>
              <a:ahLst/>
              <a:cxnLst/>
              <a:rect l="l" t="t" r="r" b="b"/>
              <a:pathLst>
                <a:path w="1610360" h="1156970">
                  <a:moveTo>
                    <a:pt x="0" y="0"/>
                  </a:moveTo>
                  <a:lnTo>
                    <a:pt x="1610201" y="0"/>
                  </a:lnTo>
                  <a:lnTo>
                    <a:pt x="1610201" y="1156964"/>
                  </a:lnTo>
                  <a:lnTo>
                    <a:pt x="0" y="1156964"/>
                  </a:lnTo>
                  <a:lnTo>
                    <a:pt x="0" y="0"/>
                  </a:lnTo>
                  <a:close/>
                </a:path>
              </a:pathLst>
            </a:custGeom>
            <a:ln w="22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8952" y="4802123"/>
              <a:ext cx="801624" cy="72847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225349" y="4602016"/>
              <a:ext cx="780415" cy="1677035"/>
            </a:xfrm>
            <a:custGeom>
              <a:avLst/>
              <a:gdLst/>
              <a:ahLst/>
              <a:cxnLst/>
              <a:rect l="l" t="t" r="r" b="b"/>
              <a:pathLst>
                <a:path w="780414" h="1677035">
                  <a:moveTo>
                    <a:pt x="0" y="0"/>
                  </a:moveTo>
                  <a:lnTo>
                    <a:pt x="780097" y="1676723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05447" y="4617008"/>
              <a:ext cx="840105" cy="1661795"/>
            </a:xfrm>
            <a:custGeom>
              <a:avLst/>
              <a:gdLst/>
              <a:ahLst/>
              <a:cxnLst/>
              <a:rect l="l" t="t" r="r" b="b"/>
              <a:pathLst>
                <a:path w="840104" h="1661795">
                  <a:moveTo>
                    <a:pt x="840104" y="0"/>
                  </a:moveTo>
                  <a:lnTo>
                    <a:pt x="0" y="1661730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25349" y="5756481"/>
              <a:ext cx="780415" cy="522605"/>
            </a:xfrm>
            <a:custGeom>
              <a:avLst/>
              <a:gdLst/>
              <a:ahLst/>
              <a:cxnLst/>
              <a:rect l="l" t="t" r="r" b="b"/>
              <a:pathLst>
                <a:path w="780414" h="522604">
                  <a:moveTo>
                    <a:pt x="0" y="0"/>
                  </a:moveTo>
                  <a:lnTo>
                    <a:pt x="780097" y="522258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05447" y="5756481"/>
              <a:ext cx="840105" cy="522605"/>
            </a:xfrm>
            <a:custGeom>
              <a:avLst/>
              <a:gdLst/>
              <a:ahLst/>
              <a:cxnLst/>
              <a:rect l="l" t="t" r="r" b="b"/>
              <a:pathLst>
                <a:path w="840104" h="522604">
                  <a:moveTo>
                    <a:pt x="840104" y="0"/>
                  </a:moveTo>
                  <a:lnTo>
                    <a:pt x="0" y="522258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010228" y="5608424"/>
            <a:ext cx="76962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495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Camera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marL="114300">
              <a:lnSpc>
                <a:spcPts val="2455"/>
              </a:lnSpc>
            </a:pPr>
            <a:r>
              <a:rPr sz="2200" i="1" spc="-10" dirty="0">
                <a:latin typeface="Times New Roman"/>
                <a:cs typeface="Times New Roman"/>
              </a:rPr>
              <a:t>R</a:t>
            </a:r>
            <a:r>
              <a:rPr sz="2250" spc="-15" baseline="-18518" dirty="0">
                <a:latin typeface="Times New Roman"/>
                <a:cs typeface="Times New Roman"/>
              </a:rPr>
              <a:t>1</a:t>
            </a:r>
            <a:r>
              <a:rPr sz="2200" i="1" spc="-10" dirty="0">
                <a:latin typeface="Times New Roman"/>
                <a:cs typeface="Times New Roman"/>
              </a:rPr>
              <a:t>,t</a:t>
            </a:r>
            <a:r>
              <a:rPr sz="2250" spc="-15" baseline="-18518" dirty="0">
                <a:latin typeface="Times New Roman"/>
                <a:cs typeface="Times New Roman"/>
              </a:rPr>
              <a:t>1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05439" y="5940656"/>
            <a:ext cx="76962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95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Camera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32384" algn="ctr">
              <a:lnSpc>
                <a:spcPts val="2455"/>
              </a:lnSpc>
            </a:pPr>
            <a:r>
              <a:rPr sz="2200" i="1" spc="-10" dirty="0">
                <a:latin typeface="Times New Roman"/>
                <a:cs typeface="Times New Roman"/>
              </a:rPr>
              <a:t>R</a:t>
            </a:r>
            <a:r>
              <a:rPr sz="2250" spc="-15" baseline="-18518" dirty="0">
                <a:latin typeface="Times New Roman"/>
                <a:cs typeface="Times New Roman"/>
              </a:rPr>
              <a:t>2</a:t>
            </a:r>
            <a:r>
              <a:rPr sz="2200" i="1" spc="-10" dirty="0">
                <a:latin typeface="Times New Roman"/>
                <a:cs typeface="Times New Roman"/>
              </a:rPr>
              <a:t>,t</a:t>
            </a:r>
            <a:r>
              <a:rPr sz="2250" spc="-15" baseline="-18518" dirty="0">
                <a:latin typeface="Times New Roman"/>
                <a:cs typeface="Times New Roman"/>
              </a:rPr>
              <a:t>2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97126" y="5608424"/>
            <a:ext cx="76962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495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Camera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marL="212725">
              <a:lnSpc>
                <a:spcPts val="2455"/>
              </a:lnSpc>
            </a:pPr>
            <a:r>
              <a:rPr sz="2200" i="1" spc="-10" dirty="0">
                <a:latin typeface="Times New Roman"/>
                <a:cs typeface="Times New Roman"/>
              </a:rPr>
              <a:t>R</a:t>
            </a:r>
            <a:r>
              <a:rPr sz="2250" spc="-15" baseline="-18518" dirty="0">
                <a:latin typeface="Times New Roman"/>
                <a:cs typeface="Times New Roman"/>
              </a:rPr>
              <a:t>3</a:t>
            </a:r>
            <a:r>
              <a:rPr sz="2200" i="1" spc="-10" dirty="0">
                <a:latin typeface="Times New Roman"/>
                <a:cs typeface="Times New Roman"/>
              </a:rPr>
              <a:t>,t</a:t>
            </a:r>
            <a:r>
              <a:rPr sz="2250" spc="-15" baseline="-18518" dirty="0">
                <a:latin typeface="Times New Roman"/>
                <a:cs typeface="Times New Roman"/>
              </a:rPr>
              <a:t>3</a:t>
            </a:r>
            <a:endParaRPr sz="2250" baseline="-18518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60" dirty="0"/>
              <a:t>Plane-</a:t>
            </a:r>
            <a:r>
              <a:rPr spc="-295" dirty="0"/>
              <a:t>Sweep</a:t>
            </a:r>
            <a:r>
              <a:rPr spc="-335" dirty="0"/>
              <a:t> </a:t>
            </a:r>
            <a:r>
              <a:rPr spc="-210" dirty="0"/>
              <a:t>Stereo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89566" y="2619755"/>
            <a:ext cx="1737995" cy="1527175"/>
            <a:chOff x="3989566" y="2619755"/>
            <a:chExt cx="1737995" cy="1527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44696" y="2619755"/>
              <a:ext cx="1682496" cy="15270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9566" y="2809529"/>
              <a:ext cx="208265" cy="20816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788735" y="3988363"/>
            <a:ext cx="1795780" cy="1634489"/>
            <a:chOff x="1788735" y="3988363"/>
            <a:chExt cx="1795780" cy="1634489"/>
          </a:xfrm>
        </p:grpSpPr>
        <p:sp>
          <p:nvSpPr>
            <p:cNvPr id="7" name="object 7"/>
            <p:cNvSpPr/>
            <p:nvPr/>
          </p:nvSpPr>
          <p:spPr>
            <a:xfrm>
              <a:off x="2212598" y="3999793"/>
              <a:ext cx="1359535" cy="1559560"/>
            </a:xfrm>
            <a:custGeom>
              <a:avLst/>
              <a:gdLst/>
              <a:ahLst/>
              <a:cxnLst/>
              <a:rect l="l" t="t" r="r" b="b"/>
              <a:pathLst>
                <a:path w="1359535" h="1559560">
                  <a:moveTo>
                    <a:pt x="0" y="0"/>
                  </a:moveTo>
                  <a:lnTo>
                    <a:pt x="1358919" y="389821"/>
                  </a:lnTo>
                  <a:lnTo>
                    <a:pt x="1358919" y="1559277"/>
                  </a:lnTo>
                  <a:lnTo>
                    <a:pt x="0" y="1169456"/>
                  </a:lnTo>
                  <a:lnTo>
                    <a:pt x="0" y="0"/>
                  </a:lnTo>
                  <a:close/>
                </a:path>
              </a:pathLst>
            </a:custGeom>
            <a:ln w="22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96896" y="4451604"/>
              <a:ext cx="752856" cy="6431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92545" y="3999793"/>
              <a:ext cx="420370" cy="1619250"/>
            </a:xfrm>
            <a:custGeom>
              <a:avLst/>
              <a:gdLst/>
              <a:ahLst/>
              <a:cxnLst/>
              <a:rect l="l" t="t" r="r" b="b"/>
              <a:pathLst>
                <a:path w="420369" h="1619250">
                  <a:moveTo>
                    <a:pt x="420052" y="0"/>
                  </a:moveTo>
                  <a:lnTo>
                    <a:pt x="0" y="1619249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2545" y="5139265"/>
              <a:ext cx="420370" cy="480059"/>
            </a:xfrm>
            <a:custGeom>
              <a:avLst/>
              <a:gdLst/>
              <a:ahLst/>
              <a:cxnLst/>
              <a:rect l="l" t="t" r="r" b="b"/>
              <a:pathLst>
                <a:path w="420369" h="480060">
                  <a:moveTo>
                    <a:pt x="420052" y="0"/>
                  </a:moveTo>
                  <a:lnTo>
                    <a:pt x="0" y="479777"/>
                  </a:lnTo>
                </a:path>
              </a:pathLst>
            </a:custGeom>
            <a:ln w="7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92546" y="4393363"/>
              <a:ext cx="1788160" cy="1226185"/>
            </a:xfrm>
            <a:custGeom>
              <a:avLst/>
              <a:gdLst/>
              <a:ahLst/>
              <a:cxnLst/>
              <a:rect l="l" t="t" r="r" b="b"/>
              <a:pathLst>
                <a:path w="1788160" h="1226185">
                  <a:moveTo>
                    <a:pt x="1787723" y="0"/>
                  </a:moveTo>
                  <a:lnTo>
                    <a:pt x="0" y="1225681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92545" y="5559072"/>
              <a:ext cx="1740535" cy="60325"/>
            </a:xfrm>
            <a:custGeom>
              <a:avLst/>
              <a:gdLst/>
              <a:ahLst/>
              <a:cxnLst/>
              <a:rect l="l" t="t" r="r" b="b"/>
              <a:pathLst>
                <a:path w="1740535" h="60325">
                  <a:moveTo>
                    <a:pt x="1740217" y="0"/>
                  </a:moveTo>
                  <a:lnTo>
                    <a:pt x="0" y="59972"/>
                  </a:lnTo>
                </a:path>
              </a:pathLst>
            </a:custGeom>
            <a:ln w="74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269295" y="4139544"/>
            <a:ext cx="1748155" cy="1582420"/>
            <a:chOff x="6269295" y="4139544"/>
            <a:chExt cx="1748155" cy="1582420"/>
          </a:xfrm>
        </p:grpSpPr>
        <p:sp>
          <p:nvSpPr>
            <p:cNvPr id="14" name="object 14"/>
            <p:cNvSpPr/>
            <p:nvPr/>
          </p:nvSpPr>
          <p:spPr>
            <a:xfrm>
              <a:off x="6294358" y="4150974"/>
              <a:ext cx="1359535" cy="1559560"/>
            </a:xfrm>
            <a:custGeom>
              <a:avLst/>
              <a:gdLst/>
              <a:ahLst/>
              <a:cxnLst/>
              <a:rect l="l" t="t" r="r" b="b"/>
              <a:pathLst>
                <a:path w="1359534" h="1559560">
                  <a:moveTo>
                    <a:pt x="1358920" y="0"/>
                  </a:moveTo>
                  <a:lnTo>
                    <a:pt x="0" y="389821"/>
                  </a:lnTo>
                  <a:lnTo>
                    <a:pt x="0" y="1559277"/>
                  </a:lnTo>
                  <a:lnTo>
                    <a:pt x="1358920" y="1169456"/>
                  </a:lnTo>
                  <a:lnTo>
                    <a:pt x="1358920" y="0"/>
                  </a:lnTo>
                  <a:close/>
                </a:path>
              </a:pathLst>
            </a:custGeom>
            <a:ln w="22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4535" y="4503419"/>
              <a:ext cx="731520" cy="76504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83106" y="4544541"/>
              <a:ext cx="1730375" cy="1045844"/>
            </a:xfrm>
            <a:custGeom>
              <a:avLst/>
              <a:gdLst/>
              <a:ahLst/>
              <a:cxnLst/>
              <a:rect l="l" t="t" r="r" b="b"/>
              <a:pathLst>
                <a:path w="1730375" h="1045845">
                  <a:moveTo>
                    <a:pt x="0" y="0"/>
                  </a:moveTo>
                  <a:lnTo>
                    <a:pt x="1730216" y="1045766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73105" y="5590308"/>
              <a:ext cx="1740535" cy="120014"/>
            </a:xfrm>
            <a:custGeom>
              <a:avLst/>
              <a:gdLst/>
              <a:ahLst/>
              <a:cxnLst/>
              <a:rect l="l" t="t" r="r" b="b"/>
              <a:pathLst>
                <a:path w="1740534" h="120014">
                  <a:moveTo>
                    <a:pt x="0" y="119944"/>
                  </a:moveTo>
                  <a:lnTo>
                    <a:pt x="1740217" y="0"/>
                  </a:lnTo>
                </a:path>
              </a:pathLst>
            </a:custGeom>
            <a:ln w="74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53278" y="5290446"/>
              <a:ext cx="360045" cy="300355"/>
            </a:xfrm>
            <a:custGeom>
              <a:avLst/>
              <a:gdLst/>
              <a:ahLst/>
              <a:cxnLst/>
              <a:rect l="l" t="t" r="r" b="b"/>
              <a:pathLst>
                <a:path w="360045" h="300354">
                  <a:moveTo>
                    <a:pt x="0" y="0"/>
                  </a:moveTo>
                  <a:lnTo>
                    <a:pt x="360044" y="299861"/>
                  </a:lnTo>
                </a:path>
              </a:pathLst>
            </a:custGeom>
            <a:ln w="7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53278" y="4150974"/>
              <a:ext cx="360045" cy="1439545"/>
            </a:xfrm>
            <a:custGeom>
              <a:avLst/>
              <a:gdLst/>
              <a:ahLst/>
              <a:cxnLst/>
              <a:rect l="l" t="t" r="r" b="b"/>
              <a:pathLst>
                <a:path w="360045" h="1439545">
                  <a:moveTo>
                    <a:pt x="0" y="0"/>
                  </a:moveTo>
                  <a:lnTo>
                    <a:pt x="360044" y="1439333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221539" y="4588087"/>
            <a:ext cx="1635760" cy="1694814"/>
            <a:chOff x="4221539" y="4588087"/>
            <a:chExt cx="1635760" cy="1694814"/>
          </a:xfrm>
        </p:grpSpPr>
        <p:sp>
          <p:nvSpPr>
            <p:cNvPr id="21" name="object 21"/>
            <p:cNvSpPr/>
            <p:nvPr/>
          </p:nvSpPr>
          <p:spPr>
            <a:xfrm>
              <a:off x="4235350" y="4599517"/>
              <a:ext cx="1610360" cy="1156970"/>
            </a:xfrm>
            <a:custGeom>
              <a:avLst/>
              <a:gdLst/>
              <a:ahLst/>
              <a:cxnLst/>
              <a:rect l="l" t="t" r="r" b="b"/>
              <a:pathLst>
                <a:path w="1610360" h="1156970">
                  <a:moveTo>
                    <a:pt x="0" y="0"/>
                  </a:moveTo>
                  <a:lnTo>
                    <a:pt x="1610201" y="0"/>
                  </a:lnTo>
                  <a:lnTo>
                    <a:pt x="1610201" y="1156964"/>
                  </a:lnTo>
                  <a:lnTo>
                    <a:pt x="0" y="1156964"/>
                  </a:lnTo>
                  <a:lnTo>
                    <a:pt x="0" y="0"/>
                  </a:lnTo>
                  <a:close/>
                </a:path>
              </a:pathLst>
            </a:custGeom>
            <a:ln w="22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8951" y="4802123"/>
              <a:ext cx="801624" cy="72847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225349" y="4602016"/>
              <a:ext cx="780415" cy="1677035"/>
            </a:xfrm>
            <a:custGeom>
              <a:avLst/>
              <a:gdLst/>
              <a:ahLst/>
              <a:cxnLst/>
              <a:rect l="l" t="t" r="r" b="b"/>
              <a:pathLst>
                <a:path w="780414" h="1677035">
                  <a:moveTo>
                    <a:pt x="0" y="0"/>
                  </a:moveTo>
                  <a:lnTo>
                    <a:pt x="780097" y="1676723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05447" y="4617008"/>
              <a:ext cx="840105" cy="1661795"/>
            </a:xfrm>
            <a:custGeom>
              <a:avLst/>
              <a:gdLst/>
              <a:ahLst/>
              <a:cxnLst/>
              <a:rect l="l" t="t" r="r" b="b"/>
              <a:pathLst>
                <a:path w="840104" h="1661795">
                  <a:moveTo>
                    <a:pt x="840104" y="0"/>
                  </a:moveTo>
                  <a:lnTo>
                    <a:pt x="0" y="1661730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25349" y="5756481"/>
              <a:ext cx="780415" cy="522605"/>
            </a:xfrm>
            <a:custGeom>
              <a:avLst/>
              <a:gdLst/>
              <a:ahLst/>
              <a:cxnLst/>
              <a:rect l="l" t="t" r="r" b="b"/>
              <a:pathLst>
                <a:path w="780414" h="522604">
                  <a:moveTo>
                    <a:pt x="0" y="0"/>
                  </a:moveTo>
                  <a:lnTo>
                    <a:pt x="780097" y="522258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05447" y="5756481"/>
              <a:ext cx="840105" cy="522605"/>
            </a:xfrm>
            <a:custGeom>
              <a:avLst/>
              <a:gdLst/>
              <a:ahLst/>
              <a:cxnLst/>
              <a:rect l="l" t="t" r="r" b="b"/>
              <a:pathLst>
                <a:path w="840104" h="522604">
                  <a:moveTo>
                    <a:pt x="840104" y="0"/>
                  </a:moveTo>
                  <a:lnTo>
                    <a:pt x="0" y="522258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010228" y="5608424"/>
            <a:ext cx="76962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495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Camera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marL="114300">
              <a:lnSpc>
                <a:spcPts val="2455"/>
              </a:lnSpc>
            </a:pPr>
            <a:r>
              <a:rPr sz="2200" i="1" spc="-10" dirty="0">
                <a:latin typeface="Times New Roman"/>
                <a:cs typeface="Times New Roman"/>
              </a:rPr>
              <a:t>R</a:t>
            </a:r>
            <a:r>
              <a:rPr sz="2250" spc="-15" baseline="-18518" dirty="0">
                <a:latin typeface="Times New Roman"/>
                <a:cs typeface="Times New Roman"/>
              </a:rPr>
              <a:t>1</a:t>
            </a:r>
            <a:r>
              <a:rPr sz="2200" i="1" spc="-10" dirty="0">
                <a:latin typeface="Times New Roman"/>
                <a:cs typeface="Times New Roman"/>
              </a:rPr>
              <a:t>,t</a:t>
            </a:r>
            <a:r>
              <a:rPr sz="2250" spc="-15" baseline="-18518" dirty="0">
                <a:latin typeface="Times New Roman"/>
                <a:cs typeface="Times New Roman"/>
              </a:rPr>
              <a:t>1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05439" y="5940656"/>
            <a:ext cx="76962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95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Camera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32384" algn="ctr">
              <a:lnSpc>
                <a:spcPts val="2455"/>
              </a:lnSpc>
            </a:pPr>
            <a:r>
              <a:rPr sz="2200" i="1" spc="-10" dirty="0">
                <a:latin typeface="Times New Roman"/>
                <a:cs typeface="Times New Roman"/>
              </a:rPr>
              <a:t>R</a:t>
            </a:r>
            <a:r>
              <a:rPr sz="2250" spc="-15" baseline="-18518" dirty="0">
                <a:latin typeface="Times New Roman"/>
                <a:cs typeface="Times New Roman"/>
              </a:rPr>
              <a:t>2</a:t>
            </a:r>
            <a:r>
              <a:rPr sz="2200" i="1" spc="-10" dirty="0">
                <a:latin typeface="Times New Roman"/>
                <a:cs typeface="Times New Roman"/>
              </a:rPr>
              <a:t>,t</a:t>
            </a:r>
            <a:r>
              <a:rPr sz="2250" spc="-15" baseline="-18518" dirty="0">
                <a:latin typeface="Times New Roman"/>
                <a:cs typeface="Times New Roman"/>
              </a:rPr>
              <a:t>2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97126" y="5608424"/>
            <a:ext cx="76962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495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Camera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marL="212725">
              <a:lnSpc>
                <a:spcPts val="2455"/>
              </a:lnSpc>
            </a:pPr>
            <a:r>
              <a:rPr sz="2200" i="1" spc="-10" dirty="0">
                <a:latin typeface="Times New Roman"/>
                <a:cs typeface="Times New Roman"/>
              </a:rPr>
              <a:t>R</a:t>
            </a:r>
            <a:r>
              <a:rPr sz="2250" spc="-15" baseline="-18518" dirty="0">
                <a:latin typeface="Times New Roman"/>
                <a:cs typeface="Times New Roman"/>
              </a:rPr>
              <a:t>3</a:t>
            </a:r>
            <a:r>
              <a:rPr sz="2200" i="1" spc="-10" dirty="0">
                <a:latin typeface="Times New Roman"/>
                <a:cs typeface="Times New Roman"/>
              </a:rPr>
              <a:t>,t</a:t>
            </a:r>
            <a:r>
              <a:rPr sz="2250" spc="-15" baseline="-18518" dirty="0">
                <a:latin typeface="Times New Roman"/>
                <a:cs typeface="Times New Roman"/>
              </a:rPr>
              <a:t>3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92459" y="2664056"/>
            <a:ext cx="1230630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22860">
              <a:lnSpc>
                <a:spcPct val="101400"/>
              </a:lnSpc>
              <a:spcBef>
                <a:spcPts val="75"/>
              </a:spcBef>
            </a:pPr>
            <a:r>
              <a:rPr sz="1400" spc="-20" dirty="0">
                <a:latin typeface="Trebuchet MS"/>
                <a:cs typeface="Trebuchet MS"/>
              </a:rPr>
              <a:t>Proposed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point </a:t>
            </a:r>
            <a:r>
              <a:rPr sz="1400" spc="-85" dirty="0">
                <a:latin typeface="Trebuchet MS"/>
                <a:cs typeface="Trebuchet MS"/>
              </a:rPr>
              <a:t>at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spc="-70" dirty="0">
                <a:latin typeface="Trebuchet MS"/>
                <a:cs typeface="Trebuchet MS"/>
              </a:rPr>
              <a:t>correct </a:t>
            </a:r>
            <a:r>
              <a:rPr sz="1400" spc="-20" dirty="0">
                <a:latin typeface="Trebuchet MS"/>
                <a:cs typeface="Trebuchet MS"/>
              </a:rPr>
              <a:t>depth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78206" y="4545099"/>
            <a:ext cx="108891" cy="10883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51511" y="4905307"/>
            <a:ext cx="108891" cy="10883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71204" y="4587954"/>
            <a:ext cx="108891" cy="10883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3685710" y="4316072"/>
            <a:ext cx="21945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latin typeface="Trebuchet MS"/>
                <a:cs typeface="Trebuchet MS"/>
              </a:rPr>
              <a:t>Photo-</a:t>
            </a:r>
            <a:r>
              <a:rPr sz="1400" spc="-40" dirty="0">
                <a:latin typeface="Trebuchet MS"/>
                <a:cs typeface="Trebuchet MS"/>
              </a:rPr>
              <a:t>consistent</a:t>
            </a:r>
            <a:r>
              <a:rPr sz="1400" spc="3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projections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60" dirty="0"/>
              <a:t>Plane-</a:t>
            </a:r>
            <a:r>
              <a:rPr spc="-295" dirty="0"/>
              <a:t>Sweep</a:t>
            </a:r>
            <a:r>
              <a:rPr spc="-335" dirty="0"/>
              <a:t> </a:t>
            </a:r>
            <a:r>
              <a:rPr spc="-210" dirty="0"/>
              <a:t>Stereo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696" y="2619755"/>
            <a:ext cx="1682496" cy="152704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788735" y="3988363"/>
            <a:ext cx="1795780" cy="1634489"/>
            <a:chOff x="1788735" y="3988363"/>
            <a:chExt cx="1795780" cy="1634489"/>
          </a:xfrm>
        </p:grpSpPr>
        <p:sp>
          <p:nvSpPr>
            <p:cNvPr id="5" name="object 5"/>
            <p:cNvSpPr/>
            <p:nvPr/>
          </p:nvSpPr>
          <p:spPr>
            <a:xfrm>
              <a:off x="2212598" y="3999793"/>
              <a:ext cx="1359535" cy="1559560"/>
            </a:xfrm>
            <a:custGeom>
              <a:avLst/>
              <a:gdLst/>
              <a:ahLst/>
              <a:cxnLst/>
              <a:rect l="l" t="t" r="r" b="b"/>
              <a:pathLst>
                <a:path w="1359535" h="1559560">
                  <a:moveTo>
                    <a:pt x="0" y="0"/>
                  </a:moveTo>
                  <a:lnTo>
                    <a:pt x="1358919" y="389821"/>
                  </a:lnTo>
                  <a:lnTo>
                    <a:pt x="1358919" y="1559277"/>
                  </a:lnTo>
                  <a:lnTo>
                    <a:pt x="0" y="1169456"/>
                  </a:lnTo>
                  <a:lnTo>
                    <a:pt x="0" y="0"/>
                  </a:lnTo>
                  <a:close/>
                </a:path>
              </a:pathLst>
            </a:custGeom>
            <a:ln w="22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6896" y="4451604"/>
              <a:ext cx="752856" cy="64312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92545" y="3999793"/>
              <a:ext cx="420370" cy="1619250"/>
            </a:xfrm>
            <a:custGeom>
              <a:avLst/>
              <a:gdLst/>
              <a:ahLst/>
              <a:cxnLst/>
              <a:rect l="l" t="t" r="r" b="b"/>
              <a:pathLst>
                <a:path w="420369" h="1619250">
                  <a:moveTo>
                    <a:pt x="420052" y="0"/>
                  </a:moveTo>
                  <a:lnTo>
                    <a:pt x="0" y="1619249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92545" y="5139265"/>
              <a:ext cx="420370" cy="480059"/>
            </a:xfrm>
            <a:custGeom>
              <a:avLst/>
              <a:gdLst/>
              <a:ahLst/>
              <a:cxnLst/>
              <a:rect l="l" t="t" r="r" b="b"/>
              <a:pathLst>
                <a:path w="420369" h="480060">
                  <a:moveTo>
                    <a:pt x="420052" y="0"/>
                  </a:moveTo>
                  <a:lnTo>
                    <a:pt x="0" y="479777"/>
                  </a:lnTo>
                </a:path>
              </a:pathLst>
            </a:custGeom>
            <a:ln w="7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92546" y="4393363"/>
              <a:ext cx="1788160" cy="1226185"/>
            </a:xfrm>
            <a:custGeom>
              <a:avLst/>
              <a:gdLst/>
              <a:ahLst/>
              <a:cxnLst/>
              <a:rect l="l" t="t" r="r" b="b"/>
              <a:pathLst>
                <a:path w="1788160" h="1226185">
                  <a:moveTo>
                    <a:pt x="1787723" y="0"/>
                  </a:moveTo>
                  <a:lnTo>
                    <a:pt x="0" y="1225681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2545" y="5559072"/>
              <a:ext cx="1740535" cy="60325"/>
            </a:xfrm>
            <a:custGeom>
              <a:avLst/>
              <a:gdLst/>
              <a:ahLst/>
              <a:cxnLst/>
              <a:rect l="l" t="t" r="r" b="b"/>
              <a:pathLst>
                <a:path w="1740535" h="60325">
                  <a:moveTo>
                    <a:pt x="1740217" y="0"/>
                  </a:moveTo>
                  <a:lnTo>
                    <a:pt x="0" y="59972"/>
                  </a:lnTo>
                </a:path>
              </a:pathLst>
            </a:custGeom>
            <a:ln w="74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69295" y="4139544"/>
            <a:ext cx="1748155" cy="1582420"/>
            <a:chOff x="6269295" y="4139544"/>
            <a:chExt cx="1748155" cy="1582420"/>
          </a:xfrm>
        </p:grpSpPr>
        <p:sp>
          <p:nvSpPr>
            <p:cNvPr id="12" name="object 12"/>
            <p:cNvSpPr/>
            <p:nvPr/>
          </p:nvSpPr>
          <p:spPr>
            <a:xfrm>
              <a:off x="6294358" y="4150974"/>
              <a:ext cx="1359535" cy="1559560"/>
            </a:xfrm>
            <a:custGeom>
              <a:avLst/>
              <a:gdLst/>
              <a:ahLst/>
              <a:cxnLst/>
              <a:rect l="l" t="t" r="r" b="b"/>
              <a:pathLst>
                <a:path w="1359534" h="1559560">
                  <a:moveTo>
                    <a:pt x="1358920" y="0"/>
                  </a:moveTo>
                  <a:lnTo>
                    <a:pt x="0" y="389821"/>
                  </a:lnTo>
                  <a:lnTo>
                    <a:pt x="0" y="1559277"/>
                  </a:lnTo>
                  <a:lnTo>
                    <a:pt x="1358920" y="1169456"/>
                  </a:lnTo>
                  <a:lnTo>
                    <a:pt x="1358920" y="0"/>
                  </a:lnTo>
                  <a:close/>
                </a:path>
              </a:pathLst>
            </a:custGeom>
            <a:ln w="22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74535" y="4503419"/>
              <a:ext cx="731520" cy="76504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83106" y="4544541"/>
              <a:ext cx="1730375" cy="1045844"/>
            </a:xfrm>
            <a:custGeom>
              <a:avLst/>
              <a:gdLst/>
              <a:ahLst/>
              <a:cxnLst/>
              <a:rect l="l" t="t" r="r" b="b"/>
              <a:pathLst>
                <a:path w="1730375" h="1045845">
                  <a:moveTo>
                    <a:pt x="0" y="0"/>
                  </a:moveTo>
                  <a:lnTo>
                    <a:pt x="1730216" y="1045766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73105" y="5590308"/>
              <a:ext cx="1740535" cy="120014"/>
            </a:xfrm>
            <a:custGeom>
              <a:avLst/>
              <a:gdLst/>
              <a:ahLst/>
              <a:cxnLst/>
              <a:rect l="l" t="t" r="r" b="b"/>
              <a:pathLst>
                <a:path w="1740534" h="120014">
                  <a:moveTo>
                    <a:pt x="0" y="119944"/>
                  </a:moveTo>
                  <a:lnTo>
                    <a:pt x="1740217" y="0"/>
                  </a:lnTo>
                </a:path>
              </a:pathLst>
            </a:custGeom>
            <a:ln w="74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53278" y="5290446"/>
              <a:ext cx="360045" cy="300355"/>
            </a:xfrm>
            <a:custGeom>
              <a:avLst/>
              <a:gdLst/>
              <a:ahLst/>
              <a:cxnLst/>
              <a:rect l="l" t="t" r="r" b="b"/>
              <a:pathLst>
                <a:path w="360045" h="300354">
                  <a:moveTo>
                    <a:pt x="0" y="0"/>
                  </a:moveTo>
                  <a:lnTo>
                    <a:pt x="360044" y="299861"/>
                  </a:lnTo>
                </a:path>
              </a:pathLst>
            </a:custGeom>
            <a:ln w="7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53278" y="4150974"/>
              <a:ext cx="360045" cy="1439545"/>
            </a:xfrm>
            <a:custGeom>
              <a:avLst/>
              <a:gdLst/>
              <a:ahLst/>
              <a:cxnLst/>
              <a:rect l="l" t="t" r="r" b="b"/>
              <a:pathLst>
                <a:path w="360045" h="1439545">
                  <a:moveTo>
                    <a:pt x="0" y="0"/>
                  </a:moveTo>
                  <a:lnTo>
                    <a:pt x="360044" y="1439333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221539" y="4588087"/>
            <a:ext cx="1635760" cy="1694814"/>
            <a:chOff x="4221539" y="4588087"/>
            <a:chExt cx="1635760" cy="1694814"/>
          </a:xfrm>
        </p:grpSpPr>
        <p:sp>
          <p:nvSpPr>
            <p:cNvPr id="19" name="object 19"/>
            <p:cNvSpPr/>
            <p:nvPr/>
          </p:nvSpPr>
          <p:spPr>
            <a:xfrm>
              <a:off x="4235350" y="4599517"/>
              <a:ext cx="1610360" cy="1156970"/>
            </a:xfrm>
            <a:custGeom>
              <a:avLst/>
              <a:gdLst/>
              <a:ahLst/>
              <a:cxnLst/>
              <a:rect l="l" t="t" r="r" b="b"/>
              <a:pathLst>
                <a:path w="1610360" h="1156970">
                  <a:moveTo>
                    <a:pt x="0" y="0"/>
                  </a:moveTo>
                  <a:lnTo>
                    <a:pt x="1610201" y="0"/>
                  </a:lnTo>
                  <a:lnTo>
                    <a:pt x="1610201" y="1156964"/>
                  </a:lnTo>
                  <a:lnTo>
                    <a:pt x="0" y="1156964"/>
                  </a:lnTo>
                  <a:lnTo>
                    <a:pt x="0" y="0"/>
                  </a:lnTo>
                  <a:close/>
                </a:path>
              </a:pathLst>
            </a:custGeom>
            <a:ln w="22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8951" y="4802123"/>
              <a:ext cx="801624" cy="72847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225349" y="4602016"/>
              <a:ext cx="780415" cy="1677035"/>
            </a:xfrm>
            <a:custGeom>
              <a:avLst/>
              <a:gdLst/>
              <a:ahLst/>
              <a:cxnLst/>
              <a:rect l="l" t="t" r="r" b="b"/>
              <a:pathLst>
                <a:path w="780414" h="1677035">
                  <a:moveTo>
                    <a:pt x="0" y="0"/>
                  </a:moveTo>
                  <a:lnTo>
                    <a:pt x="780097" y="1676723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05447" y="4617008"/>
              <a:ext cx="840105" cy="1661795"/>
            </a:xfrm>
            <a:custGeom>
              <a:avLst/>
              <a:gdLst/>
              <a:ahLst/>
              <a:cxnLst/>
              <a:rect l="l" t="t" r="r" b="b"/>
              <a:pathLst>
                <a:path w="840104" h="1661795">
                  <a:moveTo>
                    <a:pt x="840104" y="0"/>
                  </a:moveTo>
                  <a:lnTo>
                    <a:pt x="0" y="1661730"/>
                  </a:lnTo>
                </a:path>
              </a:pathLst>
            </a:custGeom>
            <a:ln w="7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25349" y="5756481"/>
              <a:ext cx="780415" cy="522605"/>
            </a:xfrm>
            <a:custGeom>
              <a:avLst/>
              <a:gdLst/>
              <a:ahLst/>
              <a:cxnLst/>
              <a:rect l="l" t="t" r="r" b="b"/>
              <a:pathLst>
                <a:path w="780414" h="522604">
                  <a:moveTo>
                    <a:pt x="0" y="0"/>
                  </a:moveTo>
                  <a:lnTo>
                    <a:pt x="780097" y="522258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05447" y="5756481"/>
              <a:ext cx="840105" cy="522605"/>
            </a:xfrm>
            <a:custGeom>
              <a:avLst/>
              <a:gdLst/>
              <a:ahLst/>
              <a:cxnLst/>
              <a:rect l="l" t="t" r="r" b="b"/>
              <a:pathLst>
                <a:path w="840104" h="522604">
                  <a:moveTo>
                    <a:pt x="840104" y="0"/>
                  </a:moveTo>
                  <a:lnTo>
                    <a:pt x="0" y="522258"/>
                  </a:lnTo>
                </a:path>
              </a:pathLst>
            </a:custGeom>
            <a:ln w="74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010228" y="5608424"/>
            <a:ext cx="76962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495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Camera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marL="114300">
              <a:lnSpc>
                <a:spcPts val="2455"/>
              </a:lnSpc>
            </a:pPr>
            <a:r>
              <a:rPr sz="2200" i="1" spc="-10" dirty="0">
                <a:latin typeface="Times New Roman"/>
                <a:cs typeface="Times New Roman"/>
              </a:rPr>
              <a:t>R</a:t>
            </a:r>
            <a:r>
              <a:rPr sz="2250" spc="-15" baseline="-18518" dirty="0">
                <a:latin typeface="Times New Roman"/>
                <a:cs typeface="Times New Roman"/>
              </a:rPr>
              <a:t>1</a:t>
            </a:r>
            <a:r>
              <a:rPr sz="2200" i="1" spc="-10" dirty="0">
                <a:latin typeface="Times New Roman"/>
                <a:cs typeface="Times New Roman"/>
              </a:rPr>
              <a:t>,t</a:t>
            </a:r>
            <a:r>
              <a:rPr sz="2250" spc="-15" baseline="-18518" dirty="0">
                <a:latin typeface="Times New Roman"/>
                <a:cs typeface="Times New Roman"/>
              </a:rPr>
              <a:t>1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05439" y="5940656"/>
            <a:ext cx="76962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95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Camera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32384" algn="ctr">
              <a:lnSpc>
                <a:spcPts val="2455"/>
              </a:lnSpc>
            </a:pPr>
            <a:r>
              <a:rPr sz="2200" i="1" spc="-10" dirty="0">
                <a:latin typeface="Times New Roman"/>
                <a:cs typeface="Times New Roman"/>
              </a:rPr>
              <a:t>R</a:t>
            </a:r>
            <a:r>
              <a:rPr sz="2250" spc="-15" baseline="-18518" dirty="0">
                <a:latin typeface="Times New Roman"/>
                <a:cs typeface="Times New Roman"/>
              </a:rPr>
              <a:t>2</a:t>
            </a:r>
            <a:r>
              <a:rPr sz="2200" i="1" spc="-10" dirty="0">
                <a:latin typeface="Times New Roman"/>
                <a:cs typeface="Times New Roman"/>
              </a:rPr>
              <a:t>,t</a:t>
            </a:r>
            <a:r>
              <a:rPr sz="2250" spc="-15" baseline="-18518" dirty="0">
                <a:latin typeface="Times New Roman"/>
                <a:cs typeface="Times New Roman"/>
              </a:rPr>
              <a:t>2</a:t>
            </a:r>
            <a:endParaRPr sz="2250" baseline="-1851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97126" y="5608424"/>
            <a:ext cx="76962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495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Camera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marL="212725">
              <a:lnSpc>
                <a:spcPts val="2455"/>
              </a:lnSpc>
            </a:pPr>
            <a:r>
              <a:rPr sz="2200" i="1" spc="-10" dirty="0">
                <a:latin typeface="Times New Roman"/>
                <a:cs typeface="Times New Roman"/>
              </a:rPr>
              <a:t>R</a:t>
            </a:r>
            <a:r>
              <a:rPr sz="2250" spc="-15" baseline="-18518" dirty="0">
                <a:latin typeface="Times New Roman"/>
                <a:cs typeface="Times New Roman"/>
              </a:rPr>
              <a:t>3</a:t>
            </a:r>
            <a:r>
              <a:rPr sz="2200" i="1" spc="-10" dirty="0">
                <a:latin typeface="Times New Roman"/>
                <a:cs typeface="Times New Roman"/>
              </a:rPr>
              <a:t>,t</a:t>
            </a:r>
            <a:r>
              <a:rPr sz="2250" spc="-15" baseline="-18518" dirty="0">
                <a:latin typeface="Times New Roman"/>
                <a:cs typeface="Times New Roman"/>
              </a:rPr>
              <a:t>3</a:t>
            </a:r>
            <a:endParaRPr sz="2250" baseline="-18518">
              <a:latin typeface="Times New Roman"/>
              <a:cs typeface="Times New Roman"/>
            </a:endParaRPr>
          </a:p>
        </p:txBody>
      </p: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68014" y="2176800"/>
            <a:ext cx="208265" cy="20816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162116" y="2359256"/>
            <a:ext cx="1369695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02870" marR="5080" indent="-90805">
              <a:lnSpc>
                <a:spcPct val="101400"/>
              </a:lnSpc>
              <a:spcBef>
                <a:spcPts val="75"/>
              </a:spcBef>
            </a:pPr>
            <a:r>
              <a:rPr sz="1400" spc="-20" dirty="0">
                <a:latin typeface="Trebuchet MS"/>
                <a:cs typeface="Trebuchet MS"/>
              </a:rPr>
              <a:t>Proposed</a:t>
            </a:r>
            <a:r>
              <a:rPr sz="1400" spc="-7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point</a:t>
            </a:r>
            <a:r>
              <a:rPr sz="1400" spc="-7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at </a:t>
            </a:r>
            <a:r>
              <a:rPr sz="1400" spc="-60" dirty="0">
                <a:latin typeface="Trebuchet MS"/>
                <a:cs typeface="Trebuchet MS"/>
              </a:rPr>
              <a:t>incorrect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depth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21363" y="4232185"/>
            <a:ext cx="108891" cy="10883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51511" y="4905307"/>
            <a:ext cx="108891" cy="10883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48047" y="4412101"/>
            <a:ext cx="108891" cy="108835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3790722" y="4316072"/>
            <a:ext cx="2336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latin typeface="Trebuchet MS"/>
                <a:cs typeface="Trebuchet MS"/>
              </a:rPr>
              <a:t>Photo-</a:t>
            </a:r>
            <a:r>
              <a:rPr sz="1400" spc="-35" dirty="0">
                <a:latin typeface="Trebuchet MS"/>
                <a:cs typeface="Trebuchet MS"/>
              </a:rPr>
              <a:t>inconsistent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projections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60" dirty="0"/>
              <a:t>Plane-</a:t>
            </a:r>
            <a:r>
              <a:rPr spc="-295" dirty="0"/>
              <a:t>Sweep</a:t>
            </a:r>
            <a:r>
              <a:rPr spc="-335" dirty="0"/>
              <a:t> </a:t>
            </a:r>
            <a:r>
              <a:rPr spc="-210" dirty="0"/>
              <a:t>Stereo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2575" marR="611505" indent="-27051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82575" algn="l"/>
              </a:tabLst>
            </a:pPr>
            <a:r>
              <a:rPr spc="-45" dirty="0"/>
              <a:t>Sweep</a:t>
            </a:r>
            <a:r>
              <a:rPr spc="-170" dirty="0"/>
              <a:t> </a:t>
            </a:r>
            <a:r>
              <a:rPr spc="-110" dirty="0"/>
              <a:t>family</a:t>
            </a:r>
            <a:r>
              <a:rPr spc="-175" dirty="0"/>
              <a:t> </a:t>
            </a:r>
            <a:r>
              <a:rPr spc="-90" dirty="0"/>
              <a:t>of</a:t>
            </a:r>
            <a:r>
              <a:rPr spc="-175" dirty="0"/>
              <a:t> </a:t>
            </a:r>
            <a:r>
              <a:rPr spc="-65" dirty="0"/>
              <a:t>planes</a:t>
            </a:r>
            <a:r>
              <a:rPr spc="-180" dirty="0"/>
              <a:t> </a:t>
            </a:r>
            <a:r>
              <a:rPr spc="-120" dirty="0"/>
              <a:t>parallel</a:t>
            </a:r>
            <a:r>
              <a:rPr spc="-185" dirty="0"/>
              <a:t> </a:t>
            </a:r>
            <a:r>
              <a:rPr spc="-75" dirty="0"/>
              <a:t>to</a:t>
            </a:r>
            <a:r>
              <a:rPr spc="-170" dirty="0"/>
              <a:t> </a:t>
            </a:r>
            <a:r>
              <a:rPr spc="-95" dirty="0"/>
              <a:t>the</a:t>
            </a:r>
            <a:r>
              <a:rPr spc="-175" dirty="0"/>
              <a:t> </a:t>
            </a:r>
            <a:r>
              <a:rPr spc="-125" dirty="0"/>
              <a:t>reference</a:t>
            </a:r>
            <a:r>
              <a:rPr spc="-180" dirty="0"/>
              <a:t> </a:t>
            </a:r>
            <a:r>
              <a:rPr spc="-40" dirty="0"/>
              <a:t>camera </a:t>
            </a:r>
            <a:r>
              <a:rPr spc="-45" dirty="0"/>
              <a:t>image</a:t>
            </a:r>
            <a:r>
              <a:rPr spc="-190" dirty="0"/>
              <a:t> </a:t>
            </a:r>
            <a:r>
              <a:rPr spc="-20" dirty="0"/>
              <a:t>plane</a:t>
            </a:r>
          </a:p>
          <a:p>
            <a:pPr marL="282575" marR="5080" indent="-27051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82575" algn="l"/>
              </a:tabLst>
            </a:pPr>
            <a:r>
              <a:rPr spc="-120" dirty="0"/>
              <a:t>Reproject</a:t>
            </a:r>
            <a:r>
              <a:rPr spc="-170" dirty="0"/>
              <a:t> </a:t>
            </a:r>
            <a:r>
              <a:rPr spc="-20" dirty="0"/>
              <a:t>neighbors</a:t>
            </a:r>
            <a:r>
              <a:rPr spc="-170" dirty="0"/>
              <a:t> </a:t>
            </a:r>
            <a:r>
              <a:rPr spc="-20" dirty="0"/>
              <a:t>onto</a:t>
            </a:r>
            <a:r>
              <a:rPr spc="-155" dirty="0"/>
              <a:t> </a:t>
            </a:r>
            <a:r>
              <a:rPr spc="-90" dirty="0"/>
              <a:t>each</a:t>
            </a:r>
            <a:r>
              <a:rPr spc="-165" dirty="0"/>
              <a:t> </a:t>
            </a:r>
            <a:r>
              <a:rPr spc="-70" dirty="0"/>
              <a:t>plane</a:t>
            </a:r>
            <a:r>
              <a:rPr spc="-165" dirty="0"/>
              <a:t> </a:t>
            </a:r>
            <a:r>
              <a:rPr spc="-125" dirty="0"/>
              <a:t>(via</a:t>
            </a:r>
            <a:r>
              <a:rPr spc="-170" dirty="0"/>
              <a:t> </a:t>
            </a:r>
            <a:r>
              <a:rPr spc="-25" dirty="0"/>
              <a:t>homography)</a:t>
            </a:r>
            <a:r>
              <a:rPr spc="-165" dirty="0"/>
              <a:t> </a:t>
            </a:r>
            <a:r>
              <a:rPr spc="-25" dirty="0"/>
              <a:t>and </a:t>
            </a:r>
            <a:r>
              <a:rPr spc="-70" dirty="0"/>
              <a:t>compare</a:t>
            </a:r>
            <a:r>
              <a:rPr spc="-155" dirty="0"/>
              <a:t> </a:t>
            </a:r>
            <a:r>
              <a:rPr spc="-10" dirty="0"/>
              <a:t>reprojections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80709" y="4423014"/>
            <a:ext cx="4758690" cy="2012314"/>
            <a:chOff x="2680709" y="4423014"/>
            <a:chExt cx="4758690" cy="201231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0709" y="4423014"/>
              <a:ext cx="4758469" cy="20108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77878" y="6144389"/>
              <a:ext cx="1440180" cy="290830"/>
            </a:xfrm>
            <a:custGeom>
              <a:avLst/>
              <a:gdLst/>
              <a:ahLst/>
              <a:cxnLst/>
              <a:rect l="l" t="t" r="r" b="b"/>
              <a:pathLst>
                <a:path w="1440179" h="290829">
                  <a:moveTo>
                    <a:pt x="1439600" y="0"/>
                  </a:moveTo>
                  <a:lnTo>
                    <a:pt x="0" y="0"/>
                  </a:lnTo>
                  <a:lnTo>
                    <a:pt x="0" y="290677"/>
                  </a:lnTo>
                  <a:lnTo>
                    <a:pt x="1439600" y="290677"/>
                  </a:lnTo>
                  <a:lnTo>
                    <a:pt x="143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37187" y="6150968"/>
            <a:ext cx="13290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0" dirty="0">
                <a:latin typeface="Trebuchet MS"/>
                <a:cs typeface="Trebuchet MS"/>
              </a:rPr>
              <a:t>reference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camera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562" y="5861408"/>
            <a:ext cx="1439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neighbor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60" dirty="0">
                <a:latin typeface="Trebuchet MS"/>
                <a:cs typeface="Trebuchet MS"/>
              </a:rPr>
              <a:t>camera</a:t>
            </a:r>
            <a:r>
              <a:rPr sz="1400" spc="-8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70302" y="5634079"/>
            <a:ext cx="889000" cy="259715"/>
            <a:chOff x="3370302" y="5634079"/>
            <a:chExt cx="889000" cy="259715"/>
          </a:xfrm>
        </p:grpSpPr>
        <p:sp>
          <p:nvSpPr>
            <p:cNvPr id="10" name="object 10"/>
            <p:cNvSpPr/>
            <p:nvPr/>
          </p:nvSpPr>
          <p:spPr>
            <a:xfrm>
              <a:off x="3380298" y="5644075"/>
              <a:ext cx="869315" cy="240029"/>
            </a:xfrm>
            <a:custGeom>
              <a:avLst/>
              <a:gdLst/>
              <a:ahLst/>
              <a:cxnLst/>
              <a:rect l="l" t="t" r="r" b="b"/>
              <a:pathLst>
                <a:path w="869314" h="240029">
                  <a:moveTo>
                    <a:pt x="868805" y="0"/>
                  </a:moveTo>
                  <a:lnTo>
                    <a:pt x="0" y="0"/>
                  </a:lnTo>
                  <a:lnTo>
                    <a:pt x="0" y="239469"/>
                  </a:lnTo>
                  <a:lnTo>
                    <a:pt x="868805" y="239469"/>
                  </a:lnTo>
                  <a:lnTo>
                    <a:pt x="8688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80298" y="5644075"/>
              <a:ext cx="869315" cy="240029"/>
            </a:xfrm>
            <a:custGeom>
              <a:avLst/>
              <a:gdLst/>
              <a:ahLst/>
              <a:cxnLst/>
              <a:rect l="l" t="t" r="r" b="b"/>
              <a:pathLst>
                <a:path w="869314" h="240029">
                  <a:moveTo>
                    <a:pt x="0" y="0"/>
                  </a:moveTo>
                  <a:lnTo>
                    <a:pt x="868805" y="0"/>
                  </a:lnTo>
                  <a:lnTo>
                    <a:pt x="868805" y="239469"/>
                  </a:lnTo>
                  <a:lnTo>
                    <a:pt x="0" y="239469"/>
                  </a:lnTo>
                  <a:lnTo>
                    <a:pt x="0" y="0"/>
                  </a:lnTo>
                  <a:close/>
                </a:path>
              </a:pathLst>
            </a:custGeom>
            <a:ln w="19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28726" y="5891888"/>
            <a:ext cx="1439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neighbor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60" dirty="0">
                <a:latin typeface="Trebuchet MS"/>
                <a:cs typeface="Trebuchet MS"/>
              </a:rPr>
              <a:t>camera</a:t>
            </a:r>
            <a:r>
              <a:rPr sz="1400" spc="-8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60" dirty="0"/>
              <a:t>Plane-</a:t>
            </a:r>
            <a:r>
              <a:rPr spc="-295" dirty="0"/>
              <a:t>Sweep</a:t>
            </a:r>
            <a:r>
              <a:rPr spc="-335" dirty="0"/>
              <a:t> </a:t>
            </a:r>
            <a:r>
              <a:rPr spc="-210" dirty="0"/>
              <a:t>Stereo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7422" y="2361995"/>
            <a:ext cx="2222212" cy="16792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8093" y="2361995"/>
            <a:ext cx="2222212" cy="16792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8764" y="2361995"/>
            <a:ext cx="2222212" cy="167922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57679" y="4081876"/>
            <a:ext cx="11461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90" dirty="0">
                <a:latin typeface="Trebuchet MS"/>
                <a:cs typeface="Trebuchet MS"/>
              </a:rPr>
              <a:t>Reference</a:t>
            </a:r>
            <a:r>
              <a:rPr sz="1300" spc="-75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image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265" y="4081876"/>
            <a:ext cx="10325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latin typeface="Trebuchet MS"/>
                <a:cs typeface="Trebuchet MS"/>
              </a:rPr>
              <a:t>Right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neighbor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5239" y="4081876"/>
            <a:ext cx="9309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0" dirty="0">
                <a:latin typeface="Trebuchet MS"/>
                <a:cs typeface="Trebuchet MS"/>
              </a:rPr>
              <a:t>Left</a:t>
            </a:r>
            <a:r>
              <a:rPr sz="1300" spc="-110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neighbor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6429" y="6142325"/>
            <a:ext cx="1910080" cy="4279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11480" marR="5080" indent="-399415">
              <a:lnSpc>
                <a:spcPct val="103099"/>
              </a:lnSpc>
              <a:spcBef>
                <a:spcPts val="50"/>
              </a:spcBef>
            </a:pPr>
            <a:r>
              <a:rPr sz="1300" spc="-100" dirty="0">
                <a:latin typeface="Trebuchet MS"/>
                <a:cs typeface="Trebuchet MS"/>
              </a:rPr>
              <a:t>Left</a:t>
            </a:r>
            <a:r>
              <a:rPr sz="1300" spc="-90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neighbor</a:t>
            </a:r>
            <a:r>
              <a:rPr sz="1300" spc="-80" dirty="0">
                <a:latin typeface="Trebuchet MS"/>
                <a:cs typeface="Trebuchet MS"/>
              </a:rPr>
              <a:t> projected</a:t>
            </a:r>
            <a:r>
              <a:rPr sz="1300" spc="-95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into </a:t>
            </a:r>
            <a:r>
              <a:rPr sz="1300" spc="-90" dirty="0">
                <a:latin typeface="Trebuchet MS"/>
                <a:cs typeface="Trebuchet MS"/>
              </a:rPr>
              <a:t>reference</a:t>
            </a:r>
            <a:r>
              <a:rPr sz="1300" spc="-85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image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8766" y="4478755"/>
            <a:ext cx="2222212" cy="167922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3769" y="4478755"/>
            <a:ext cx="2222212" cy="167922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394455" y="6139276"/>
            <a:ext cx="2011680" cy="4248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61645" marR="5080" indent="-449580">
              <a:lnSpc>
                <a:spcPct val="101499"/>
              </a:lnSpc>
              <a:spcBef>
                <a:spcPts val="75"/>
              </a:spcBef>
            </a:pPr>
            <a:r>
              <a:rPr sz="1300" spc="-50" dirty="0">
                <a:latin typeface="Trebuchet MS"/>
                <a:cs typeface="Trebuchet MS"/>
              </a:rPr>
              <a:t>Right</a:t>
            </a:r>
            <a:r>
              <a:rPr sz="1300" spc="-90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neighbor</a:t>
            </a:r>
            <a:r>
              <a:rPr sz="1300" spc="-85" dirty="0">
                <a:latin typeface="Trebuchet MS"/>
                <a:cs typeface="Trebuchet MS"/>
              </a:rPr>
              <a:t> </a:t>
            </a:r>
            <a:r>
              <a:rPr sz="1300" spc="-80" dirty="0">
                <a:latin typeface="Trebuchet MS"/>
                <a:cs typeface="Trebuchet MS"/>
              </a:rPr>
              <a:t>projected</a:t>
            </a:r>
            <a:r>
              <a:rPr sz="1300" spc="-95" dirty="0">
                <a:latin typeface="Trebuchet MS"/>
                <a:cs typeface="Trebuchet MS"/>
              </a:rPr>
              <a:t> </a:t>
            </a:r>
            <a:r>
              <a:rPr sz="1300" spc="-30" dirty="0">
                <a:latin typeface="Trebuchet MS"/>
                <a:cs typeface="Trebuchet MS"/>
              </a:rPr>
              <a:t>into </a:t>
            </a:r>
            <a:r>
              <a:rPr sz="1300" spc="-90" dirty="0">
                <a:latin typeface="Trebuchet MS"/>
                <a:cs typeface="Trebuchet MS"/>
              </a:rPr>
              <a:t>reference</a:t>
            </a:r>
            <a:r>
              <a:rPr sz="1300" spc="-85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image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18094" y="4478755"/>
            <a:ext cx="2222212" cy="167922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975917" y="6148420"/>
            <a:ext cx="20701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latin typeface="Trebuchet MS"/>
                <a:cs typeface="Trebuchet MS"/>
              </a:rPr>
              <a:t>Average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images</a:t>
            </a:r>
            <a:r>
              <a:rPr sz="1300" spc="-105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on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70" dirty="0">
                <a:latin typeface="Trebuchet MS"/>
                <a:cs typeface="Trebuchet MS"/>
              </a:rPr>
              <a:t>each</a:t>
            </a:r>
            <a:r>
              <a:rPr sz="1300" spc="-114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plane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5896" y="2455164"/>
            <a:ext cx="2258568" cy="30083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2864" y="2964179"/>
            <a:ext cx="1255776" cy="16733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68367" y="2964179"/>
            <a:ext cx="1255776" cy="16733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7360" y="2964179"/>
            <a:ext cx="1258824" cy="167335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619228" y="3549684"/>
            <a:ext cx="511175" cy="501650"/>
            <a:chOff x="5619228" y="3549684"/>
            <a:chExt cx="511175" cy="501650"/>
          </a:xfrm>
        </p:grpSpPr>
        <p:sp>
          <p:nvSpPr>
            <p:cNvPr id="7" name="object 7"/>
            <p:cNvSpPr/>
            <p:nvPr/>
          </p:nvSpPr>
          <p:spPr>
            <a:xfrm>
              <a:off x="5630476" y="3560932"/>
              <a:ext cx="488950" cy="479425"/>
            </a:xfrm>
            <a:custGeom>
              <a:avLst/>
              <a:gdLst/>
              <a:ahLst/>
              <a:cxnLst/>
              <a:rect l="l" t="t" r="r" b="b"/>
              <a:pathLst>
                <a:path w="488950" h="479425">
                  <a:moveTo>
                    <a:pt x="248653" y="0"/>
                  </a:moveTo>
                  <a:lnTo>
                    <a:pt x="248653" y="115755"/>
                  </a:lnTo>
                  <a:lnTo>
                    <a:pt x="0" y="115755"/>
                  </a:lnTo>
                  <a:lnTo>
                    <a:pt x="0" y="363313"/>
                  </a:lnTo>
                  <a:lnTo>
                    <a:pt x="248653" y="363313"/>
                  </a:lnTo>
                  <a:lnTo>
                    <a:pt x="248653" y="479069"/>
                  </a:lnTo>
                  <a:lnTo>
                    <a:pt x="488327" y="239534"/>
                  </a:lnTo>
                  <a:lnTo>
                    <a:pt x="248653" y="0"/>
                  </a:lnTo>
                  <a:close/>
                </a:path>
              </a:pathLst>
            </a:custGeom>
            <a:solidFill>
              <a:srgbClr val="CF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30476" y="3560932"/>
              <a:ext cx="488950" cy="479425"/>
            </a:xfrm>
            <a:custGeom>
              <a:avLst/>
              <a:gdLst/>
              <a:ahLst/>
              <a:cxnLst/>
              <a:rect l="l" t="t" r="r" b="b"/>
              <a:pathLst>
                <a:path w="488950" h="479425">
                  <a:moveTo>
                    <a:pt x="0" y="115755"/>
                  </a:moveTo>
                  <a:lnTo>
                    <a:pt x="248653" y="115755"/>
                  </a:lnTo>
                  <a:lnTo>
                    <a:pt x="248653" y="0"/>
                  </a:lnTo>
                  <a:lnTo>
                    <a:pt x="488328" y="239534"/>
                  </a:lnTo>
                  <a:lnTo>
                    <a:pt x="248653" y="479069"/>
                  </a:lnTo>
                  <a:lnTo>
                    <a:pt x="248653" y="363314"/>
                  </a:lnTo>
                  <a:lnTo>
                    <a:pt x="0" y="363314"/>
                  </a:lnTo>
                  <a:lnTo>
                    <a:pt x="0" y="115755"/>
                  </a:lnTo>
                  <a:close/>
                </a:path>
              </a:pathLst>
            </a:custGeom>
            <a:ln w="224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89977" y="4604086"/>
            <a:ext cx="1003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65" dirty="0">
                <a:latin typeface="Trebuchet MS"/>
                <a:cs typeface="Trebuchet MS"/>
              </a:rPr>
              <a:t>Reference</a:t>
            </a:r>
            <a:r>
              <a:rPr sz="1100" spc="-2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image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4019" y="4604086"/>
            <a:ext cx="904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latin typeface="Trebuchet MS"/>
                <a:cs typeface="Trebuchet MS"/>
              </a:rPr>
              <a:t>Right</a:t>
            </a:r>
            <a:r>
              <a:rPr sz="1100" spc="-7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neighbor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190" y="4604086"/>
            <a:ext cx="8178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75" dirty="0">
                <a:latin typeface="Trebuchet MS"/>
                <a:cs typeface="Trebuchet MS"/>
              </a:rPr>
              <a:t>Left</a:t>
            </a:r>
            <a:r>
              <a:rPr sz="1100" spc="-6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neighbor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8149" y="5472765"/>
            <a:ext cx="197294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36550" marR="5080" indent="-324485">
              <a:lnSpc>
                <a:spcPts val="1300"/>
              </a:lnSpc>
              <a:spcBef>
                <a:spcPts val="160"/>
              </a:spcBef>
            </a:pPr>
            <a:r>
              <a:rPr sz="1100" spc="-50" dirty="0">
                <a:latin typeface="Trebuchet MS"/>
                <a:cs typeface="Trebuchet MS"/>
              </a:rPr>
              <a:t>Planar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image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Trebuchet MS"/>
                <a:cs typeface="Trebuchet MS"/>
              </a:rPr>
              <a:t>reprojections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swept </a:t>
            </a:r>
            <a:r>
              <a:rPr sz="1100" spc="-40" dirty="0">
                <a:latin typeface="Trebuchet MS"/>
                <a:cs typeface="Trebuchet MS"/>
              </a:rPr>
              <a:t>over</a:t>
            </a:r>
            <a:r>
              <a:rPr sz="1100" spc="-7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depth</a:t>
            </a:r>
            <a:r>
              <a:rPr sz="1100" spc="-7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(averaged)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Another</a:t>
            </a:r>
            <a:r>
              <a:rPr spc="-300" dirty="0"/>
              <a:t> </a:t>
            </a:r>
            <a:r>
              <a:rPr spc="-220" dirty="0"/>
              <a:t>example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4880" y="2732532"/>
            <a:ext cx="1987550" cy="2453640"/>
            <a:chOff x="944880" y="2732532"/>
            <a:chExt cx="1987550" cy="2453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880" y="2732532"/>
              <a:ext cx="1840992" cy="24536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4509" y="4471077"/>
              <a:ext cx="86824" cy="867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14156" y="4539213"/>
              <a:ext cx="817880" cy="453390"/>
            </a:xfrm>
            <a:custGeom>
              <a:avLst/>
              <a:gdLst/>
              <a:ahLst/>
              <a:cxnLst/>
              <a:rect l="l" t="t" r="r" b="b"/>
              <a:pathLst>
                <a:path w="817880" h="453389">
                  <a:moveTo>
                    <a:pt x="763419" y="427259"/>
                  </a:moveTo>
                  <a:lnTo>
                    <a:pt x="750742" y="450236"/>
                  </a:lnTo>
                  <a:lnTo>
                    <a:pt x="817778" y="452935"/>
                  </a:lnTo>
                  <a:lnTo>
                    <a:pt x="803406" y="432085"/>
                  </a:lnTo>
                  <a:lnTo>
                    <a:pt x="772176" y="432085"/>
                  </a:lnTo>
                  <a:lnTo>
                    <a:pt x="763419" y="427259"/>
                  </a:lnTo>
                  <a:close/>
                </a:path>
                <a:path w="817880" h="453389">
                  <a:moveTo>
                    <a:pt x="767040" y="420695"/>
                  </a:moveTo>
                  <a:lnTo>
                    <a:pt x="763419" y="427259"/>
                  </a:lnTo>
                  <a:lnTo>
                    <a:pt x="772176" y="432085"/>
                  </a:lnTo>
                  <a:lnTo>
                    <a:pt x="775797" y="425521"/>
                  </a:lnTo>
                  <a:lnTo>
                    <a:pt x="767040" y="420695"/>
                  </a:lnTo>
                  <a:close/>
                </a:path>
                <a:path w="817880" h="453389">
                  <a:moveTo>
                    <a:pt x="779717" y="397718"/>
                  </a:moveTo>
                  <a:lnTo>
                    <a:pt x="767040" y="420695"/>
                  </a:lnTo>
                  <a:lnTo>
                    <a:pt x="775797" y="425521"/>
                  </a:lnTo>
                  <a:lnTo>
                    <a:pt x="772176" y="432085"/>
                  </a:lnTo>
                  <a:lnTo>
                    <a:pt x="803406" y="432085"/>
                  </a:lnTo>
                  <a:lnTo>
                    <a:pt x="779717" y="397718"/>
                  </a:lnTo>
                  <a:close/>
                </a:path>
                <a:path w="817880" h="453389">
                  <a:moveTo>
                    <a:pt x="3620" y="0"/>
                  </a:moveTo>
                  <a:lnTo>
                    <a:pt x="0" y="6564"/>
                  </a:lnTo>
                  <a:lnTo>
                    <a:pt x="763419" y="427259"/>
                  </a:lnTo>
                  <a:lnTo>
                    <a:pt x="767040" y="420695"/>
                  </a:lnTo>
                  <a:lnTo>
                    <a:pt x="3620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62710" y="5201494"/>
            <a:ext cx="1003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65" dirty="0">
                <a:latin typeface="Trebuchet MS"/>
                <a:cs typeface="Trebuchet MS"/>
              </a:rPr>
              <a:t>Reference</a:t>
            </a:r>
            <a:r>
              <a:rPr sz="1100" spc="-2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image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17213" y="4579620"/>
            <a:ext cx="1280795" cy="972819"/>
            <a:chOff x="3017213" y="4579620"/>
            <a:chExt cx="1280795" cy="97281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4575" y="4579620"/>
              <a:ext cx="1213103" cy="9723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17213" y="4589104"/>
              <a:ext cx="60325" cy="881380"/>
            </a:xfrm>
            <a:custGeom>
              <a:avLst/>
              <a:gdLst/>
              <a:ahLst/>
              <a:cxnLst/>
              <a:rect l="l" t="t" r="r" b="b"/>
              <a:pathLst>
                <a:path w="60325" h="881379">
                  <a:moveTo>
                    <a:pt x="33754" y="49977"/>
                  </a:moveTo>
                  <a:lnTo>
                    <a:pt x="26253" y="49977"/>
                  </a:lnTo>
                  <a:lnTo>
                    <a:pt x="26253" y="880847"/>
                  </a:lnTo>
                  <a:lnTo>
                    <a:pt x="33755" y="880847"/>
                  </a:lnTo>
                  <a:lnTo>
                    <a:pt x="33754" y="49977"/>
                  </a:lnTo>
                  <a:close/>
                </a:path>
                <a:path w="60325" h="881379">
                  <a:moveTo>
                    <a:pt x="30003" y="0"/>
                  </a:moveTo>
                  <a:lnTo>
                    <a:pt x="0" y="59971"/>
                  </a:lnTo>
                  <a:lnTo>
                    <a:pt x="26253" y="59971"/>
                  </a:lnTo>
                  <a:lnTo>
                    <a:pt x="26253" y="49977"/>
                  </a:lnTo>
                  <a:lnTo>
                    <a:pt x="55007" y="49977"/>
                  </a:lnTo>
                  <a:lnTo>
                    <a:pt x="30003" y="0"/>
                  </a:lnTo>
                  <a:close/>
                </a:path>
                <a:path w="60325" h="881379">
                  <a:moveTo>
                    <a:pt x="55007" y="49977"/>
                  </a:moveTo>
                  <a:lnTo>
                    <a:pt x="33754" y="49977"/>
                  </a:lnTo>
                  <a:lnTo>
                    <a:pt x="33754" y="59971"/>
                  </a:lnTo>
                  <a:lnTo>
                    <a:pt x="60007" y="59971"/>
                  </a:lnTo>
                  <a:lnTo>
                    <a:pt x="55007" y="499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062540" y="5642579"/>
            <a:ext cx="1147445" cy="60325"/>
          </a:xfrm>
          <a:custGeom>
            <a:avLst/>
            <a:gdLst/>
            <a:ahLst/>
            <a:cxnLst/>
            <a:rect l="l" t="t" r="r" b="b"/>
            <a:pathLst>
              <a:path w="1147445" h="60325">
                <a:moveTo>
                  <a:pt x="1087192" y="0"/>
                </a:moveTo>
                <a:lnTo>
                  <a:pt x="1087192" y="59971"/>
                </a:lnTo>
                <a:lnTo>
                  <a:pt x="1139697" y="33735"/>
                </a:lnTo>
                <a:lnTo>
                  <a:pt x="1097193" y="33735"/>
                </a:lnTo>
                <a:lnTo>
                  <a:pt x="1097193" y="26238"/>
                </a:lnTo>
                <a:lnTo>
                  <a:pt x="1139699" y="26238"/>
                </a:lnTo>
                <a:lnTo>
                  <a:pt x="1087192" y="0"/>
                </a:lnTo>
                <a:close/>
              </a:path>
              <a:path w="1147445" h="60325">
                <a:moveTo>
                  <a:pt x="1087192" y="26238"/>
                </a:moveTo>
                <a:lnTo>
                  <a:pt x="0" y="26238"/>
                </a:lnTo>
                <a:lnTo>
                  <a:pt x="0" y="33735"/>
                </a:lnTo>
                <a:lnTo>
                  <a:pt x="1087192" y="33735"/>
                </a:lnTo>
                <a:lnTo>
                  <a:pt x="1087192" y="26238"/>
                </a:lnTo>
                <a:close/>
              </a:path>
              <a:path w="1147445" h="60325">
                <a:moveTo>
                  <a:pt x="1139699" y="26238"/>
                </a:moveTo>
                <a:lnTo>
                  <a:pt x="1097193" y="26238"/>
                </a:lnTo>
                <a:lnTo>
                  <a:pt x="1097193" y="33735"/>
                </a:lnTo>
                <a:lnTo>
                  <a:pt x="1139697" y="33735"/>
                </a:lnTo>
                <a:lnTo>
                  <a:pt x="1147199" y="29985"/>
                </a:lnTo>
                <a:lnTo>
                  <a:pt x="1139699" y="262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23426" y="5580947"/>
            <a:ext cx="1263015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955"/>
              </a:lnSpc>
              <a:spcBef>
                <a:spcPts val="100"/>
              </a:spcBef>
            </a:pPr>
            <a:r>
              <a:rPr sz="800" spc="-10" dirty="0">
                <a:latin typeface="Trebuchet MS"/>
                <a:cs typeface="Trebuchet MS"/>
              </a:rPr>
              <a:t>depth</a:t>
            </a:r>
            <a:endParaRPr sz="800">
              <a:latin typeface="Trebuchet MS"/>
              <a:cs typeface="Trebuchet MS"/>
            </a:endParaRPr>
          </a:p>
          <a:p>
            <a:pPr marL="64769" marR="488315" indent="-52705">
              <a:lnSpc>
                <a:spcPts val="1320"/>
              </a:lnSpc>
              <a:spcBef>
                <a:spcPts val="35"/>
              </a:spcBef>
            </a:pPr>
            <a:r>
              <a:rPr sz="1100" spc="-25" dirty="0">
                <a:latin typeface="Trebuchet MS"/>
                <a:cs typeface="Trebuchet MS"/>
              </a:rPr>
              <a:t>Single</a:t>
            </a:r>
            <a:r>
              <a:rPr sz="1100" spc="-55" dirty="0">
                <a:latin typeface="Trebuchet MS"/>
                <a:cs typeface="Trebuchet MS"/>
              </a:rPr>
              <a:t> </a:t>
            </a:r>
            <a:r>
              <a:rPr sz="1100" spc="-65" dirty="0">
                <a:latin typeface="Trebuchet MS"/>
                <a:cs typeface="Trebuchet MS"/>
              </a:rPr>
              <a:t>pixel’s </a:t>
            </a:r>
            <a:r>
              <a:rPr sz="1100" spc="-45" dirty="0">
                <a:latin typeface="Trebuchet MS"/>
                <a:cs typeface="Trebuchet MS"/>
              </a:rPr>
              <a:t>cost</a:t>
            </a:r>
            <a:r>
              <a:rPr sz="1100" spc="-7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profile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3892" y="4410515"/>
            <a:ext cx="2057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latin typeface="Trebuchet MS"/>
                <a:cs typeface="Trebuchet MS"/>
              </a:rPr>
              <a:t>cost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20184" y="2732532"/>
            <a:ext cx="1783080" cy="2453640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939123" y="3319527"/>
            <a:ext cx="1395095" cy="512445"/>
            <a:chOff x="2939123" y="3319527"/>
            <a:chExt cx="1395095" cy="512445"/>
          </a:xfrm>
        </p:grpSpPr>
        <p:sp>
          <p:nvSpPr>
            <p:cNvPr id="15" name="object 15"/>
            <p:cNvSpPr/>
            <p:nvPr/>
          </p:nvSpPr>
          <p:spPr>
            <a:xfrm>
              <a:off x="2942871" y="3323276"/>
              <a:ext cx="1387475" cy="504825"/>
            </a:xfrm>
            <a:custGeom>
              <a:avLst/>
              <a:gdLst/>
              <a:ahLst/>
              <a:cxnLst/>
              <a:rect l="l" t="t" r="r" b="b"/>
              <a:pathLst>
                <a:path w="1387475" h="504825">
                  <a:moveTo>
                    <a:pt x="1128582" y="0"/>
                  </a:moveTo>
                  <a:lnTo>
                    <a:pt x="1144930" y="112942"/>
                  </a:lnTo>
                  <a:lnTo>
                    <a:pt x="0" y="278465"/>
                  </a:lnTo>
                  <a:lnTo>
                    <a:pt x="32696" y="504352"/>
                  </a:lnTo>
                  <a:lnTo>
                    <a:pt x="1177625" y="338829"/>
                  </a:lnTo>
                  <a:lnTo>
                    <a:pt x="1193972" y="451772"/>
                  </a:lnTo>
                  <a:lnTo>
                    <a:pt x="1387295" y="193211"/>
                  </a:lnTo>
                  <a:lnTo>
                    <a:pt x="1128582" y="0"/>
                  </a:lnTo>
                  <a:close/>
                </a:path>
              </a:pathLst>
            </a:custGeom>
            <a:solidFill>
              <a:srgbClr val="C9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42871" y="3323276"/>
              <a:ext cx="1387475" cy="504825"/>
            </a:xfrm>
            <a:custGeom>
              <a:avLst/>
              <a:gdLst/>
              <a:ahLst/>
              <a:cxnLst/>
              <a:rect l="l" t="t" r="r" b="b"/>
              <a:pathLst>
                <a:path w="1387475" h="504825">
                  <a:moveTo>
                    <a:pt x="0" y="278465"/>
                  </a:moveTo>
                  <a:lnTo>
                    <a:pt x="1144930" y="112942"/>
                  </a:lnTo>
                  <a:lnTo>
                    <a:pt x="1128582" y="0"/>
                  </a:lnTo>
                  <a:lnTo>
                    <a:pt x="1387295" y="193211"/>
                  </a:lnTo>
                  <a:lnTo>
                    <a:pt x="1193972" y="451772"/>
                  </a:lnTo>
                  <a:lnTo>
                    <a:pt x="1177625" y="338829"/>
                  </a:lnTo>
                  <a:lnTo>
                    <a:pt x="32694" y="504352"/>
                  </a:lnTo>
                  <a:lnTo>
                    <a:pt x="0" y="278465"/>
                  </a:lnTo>
                  <a:close/>
                </a:path>
              </a:pathLst>
            </a:custGeom>
            <a:ln w="7497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 rot="21120000">
            <a:off x="3216340" y="3554241"/>
            <a:ext cx="743492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100" spc="-50" dirty="0">
                <a:latin typeface="Trebuchet MS"/>
                <a:cs typeface="Trebuchet MS"/>
              </a:rPr>
              <a:t>Plane</a:t>
            </a:r>
            <a:r>
              <a:rPr sz="1100" spc="-6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rebuchet MS"/>
                <a:cs typeface="Trebuchet MS"/>
              </a:rPr>
              <a:t>sweep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05795" y="5201494"/>
            <a:ext cx="977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Trebuchet MS"/>
                <a:cs typeface="Trebuchet MS"/>
              </a:rPr>
              <a:t>Full</a:t>
            </a:r>
            <a:r>
              <a:rPr sz="1100" spc="-75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cost</a:t>
            </a:r>
            <a:r>
              <a:rPr sz="1100" spc="-7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volume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43919" y="2418588"/>
            <a:ext cx="3087370" cy="2966085"/>
            <a:chOff x="6443919" y="2418588"/>
            <a:chExt cx="3087370" cy="296608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3008" y="2418588"/>
              <a:ext cx="2228088" cy="29657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47668" y="3639960"/>
              <a:ext cx="922019" cy="642620"/>
            </a:xfrm>
            <a:custGeom>
              <a:avLst/>
              <a:gdLst/>
              <a:ahLst/>
              <a:cxnLst/>
              <a:rect l="l" t="t" r="r" b="b"/>
              <a:pathLst>
                <a:path w="922020" h="642620">
                  <a:moveTo>
                    <a:pt x="600590" y="0"/>
                  </a:moveTo>
                  <a:lnTo>
                    <a:pt x="600590" y="160521"/>
                  </a:lnTo>
                  <a:lnTo>
                    <a:pt x="0" y="160521"/>
                  </a:lnTo>
                  <a:lnTo>
                    <a:pt x="0" y="481566"/>
                  </a:lnTo>
                  <a:lnTo>
                    <a:pt x="600590" y="481566"/>
                  </a:lnTo>
                  <a:lnTo>
                    <a:pt x="600590" y="642089"/>
                  </a:lnTo>
                  <a:lnTo>
                    <a:pt x="921824" y="321044"/>
                  </a:lnTo>
                  <a:lnTo>
                    <a:pt x="600590" y="0"/>
                  </a:lnTo>
                  <a:close/>
                </a:path>
              </a:pathLst>
            </a:custGeom>
            <a:solidFill>
              <a:srgbClr val="C9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47668" y="3639960"/>
              <a:ext cx="922019" cy="642620"/>
            </a:xfrm>
            <a:custGeom>
              <a:avLst/>
              <a:gdLst/>
              <a:ahLst/>
              <a:cxnLst/>
              <a:rect l="l" t="t" r="r" b="b"/>
              <a:pathLst>
                <a:path w="922020" h="642620">
                  <a:moveTo>
                    <a:pt x="0" y="160522"/>
                  </a:moveTo>
                  <a:lnTo>
                    <a:pt x="600591" y="160522"/>
                  </a:lnTo>
                  <a:lnTo>
                    <a:pt x="600591" y="0"/>
                  </a:lnTo>
                  <a:lnTo>
                    <a:pt x="921824" y="321044"/>
                  </a:lnTo>
                  <a:lnTo>
                    <a:pt x="600591" y="642089"/>
                  </a:lnTo>
                  <a:lnTo>
                    <a:pt x="600591" y="481566"/>
                  </a:lnTo>
                  <a:lnTo>
                    <a:pt x="0" y="481566"/>
                  </a:lnTo>
                  <a:lnTo>
                    <a:pt x="0" y="160522"/>
                  </a:lnTo>
                  <a:close/>
                </a:path>
              </a:pathLst>
            </a:custGeom>
            <a:ln w="7497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56164" y="3800414"/>
            <a:ext cx="547370" cy="29083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34620" marR="5080" indent="-122555">
              <a:lnSpc>
                <a:spcPts val="1010"/>
              </a:lnSpc>
              <a:spcBef>
                <a:spcPts val="190"/>
              </a:spcBef>
            </a:pPr>
            <a:r>
              <a:rPr sz="900" spc="-30" dirty="0">
                <a:latin typeface="Trebuchet MS"/>
                <a:cs typeface="Trebuchet MS"/>
              </a:rPr>
              <a:t>Depth</a:t>
            </a:r>
            <a:r>
              <a:rPr sz="900" spc="-70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map </a:t>
            </a:r>
            <a:r>
              <a:rPr sz="900" spc="-10" dirty="0">
                <a:latin typeface="Trebuchet MS"/>
                <a:cs typeface="Trebuchet MS"/>
              </a:rPr>
              <a:t>solver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45637" y="4370819"/>
            <a:ext cx="848994" cy="281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marR="5080" indent="-80010">
              <a:lnSpc>
                <a:spcPct val="105000"/>
              </a:lnSpc>
              <a:spcBef>
                <a:spcPts val="100"/>
              </a:spcBef>
            </a:pPr>
            <a:r>
              <a:rPr sz="800" spc="-60" dirty="0">
                <a:latin typeface="Trebuchet MS"/>
                <a:cs typeface="Trebuchet MS"/>
              </a:rPr>
              <a:t>(Belief</a:t>
            </a:r>
            <a:r>
              <a:rPr sz="800" spc="-40" dirty="0">
                <a:latin typeface="Trebuchet MS"/>
                <a:cs typeface="Trebuchet MS"/>
              </a:rPr>
              <a:t> </a:t>
            </a:r>
            <a:r>
              <a:rPr sz="800" spc="-35" dirty="0">
                <a:latin typeface="Trebuchet MS"/>
                <a:cs typeface="Trebuchet MS"/>
              </a:rPr>
              <a:t>propagation, </a:t>
            </a:r>
            <a:r>
              <a:rPr sz="800" spc="-20" dirty="0">
                <a:latin typeface="Trebuchet MS"/>
                <a:cs typeface="Trebuchet MS"/>
              </a:rPr>
              <a:t>graph</a:t>
            </a:r>
            <a:r>
              <a:rPr sz="800" spc="-55" dirty="0">
                <a:latin typeface="Trebuchet MS"/>
                <a:cs typeface="Trebuchet MS"/>
              </a:rPr>
              <a:t> </a:t>
            </a:r>
            <a:r>
              <a:rPr sz="800" spc="-60" dirty="0">
                <a:latin typeface="Trebuchet MS"/>
                <a:cs typeface="Trebuchet MS"/>
              </a:rPr>
              <a:t>cuts,</a:t>
            </a:r>
            <a:r>
              <a:rPr sz="800" spc="-40" dirty="0">
                <a:latin typeface="Trebuchet MS"/>
                <a:cs typeface="Trebuchet MS"/>
              </a:rPr>
              <a:t> </a:t>
            </a:r>
            <a:r>
              <a:rPr sz="800" spc="-10" dirty="0">
                <a:latin typeface="Trebuchet MS"/>
                <a:cs typeface="Trebuchet MS"/>
              </a:rPr>
              <a:t>etc.)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767969" y="1516641"/>
            <a:ext cx="564642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40" dirty="0"/>
              <a:t>Cost</a:t>
            </a:r>
            <a:r>
              <a:rPr spc="-320" dirty="0"/>
              <a:t> </a:t>
            </a:r>
            <a:r>
              <a:rPr spc="-229" dirty="0"/>
              <a:t>Volumes</a:t>
            </a:r>
            <a:r>
              <a:rPr spc="-310" dirty="0"/>
              <a:t> </a:t>
            </a:r>
            <a:r>
              <a:rPr spc="-409" dirty="0"/>
              <a:t>-</a:t>
            </a:r>
            <a:r>
              <a:rPr spc="-805" dirty="0"/>
              <a:t>&gt;</a:t>
            </a:r>
            <a:r>
              <a:rPr spc="-325" dirty="0"/>
              <a:t> </a:t>
            </a:r>
            <a:r>
              <a:rPr spc="-220" dirty="0"/>
              <a:t>Depth</a:t>
            </a:r>
            <a:r>
              <a:rPr spc="-320" dirty="0"/>
              <a:t> </a:t>
            </a:r>
            <a:r>
              <a:rPr spc="-160" dirty="0"/>
              <a:t>Maps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Fusing</a:t>
            </a:r>
            <a:r>
              <a:rPr spc="-300" dirty="0"/>
              <a:t> </a:t>
            </a:r>
            <a:r>
              <a:rPr spc="-190" dirty="0"/>
              <a:t>multiple</a:t>
            </a:r>
            <a:r>
              <a:rPr spc="-295" dirty="0"/>
              <a:t> </a:t>
            </a:r>
            <a:r>
              <a:rPr spc="-195" dirty="0"/>
              <a:t>depth</a:t>
            </a:r>
            <a:r>
              <a:rPr spc="-295" dirty="0"/>
              <a:t> </a:t>
            </a:r>
            <a:r>
              <a:rPr spc="-290" dirty="0"/>
              <a:t>maps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7969" y="2359622"/>
            <a:ext cx="5290185" cy="9398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2575" indent="-26987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-40" dirty="0">
                <a:latin typeface="Trebuchet MS"/>
                <a:cs typeface="Trebuchet MS"/>
              </a:rPr>
              <a:t>Compute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depth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map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per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image</a:t>
            </a:r>
            <a:endParaRPr sz="2500">
              <a:latin typeface="Trebuchet MS"/>
              <a:cs typeface="Trebuchet MS"/>
            </a:endParaRPr>
          </a:p>
          <a:p>
            <a:pPr marL="282575" indent="-26987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82575" algn="l"/>
              </a:tabLst>
            </a:pPr>
            <a:r>
              <a:rPr sz="2500" spc="-60" dirty="0">
                <a:latin typeface="Trebuchet MS"/>
                <a:cs typeface="Trebuchet MS"/>
              </a:rPr>
              <a:t>Fuse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the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50" dirty="0">
                <a:latin typeface="Trebuchet MS"/>
                <a:cs typeface="Trebuchet MS"/>
              </a:rPr>
              <a:t>depth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30" dirty="0">
                <a:latin typeface="Trebuchet MS"/>
                <a:cs typeface="Trebuchet MS"/>
              </a:rPr>
              <a:t>maps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into</a:t>
            </a:r>
            <a:r>
              <a:rPr sz="2500" spc="-170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a</a:t>
            </a:r>
            <a:r>
              <a:rPr sz="2500" spc="-18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3D</a:t>
            </a:r>
            <a:r>
              <a:rPr sz="2500" spc="-18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model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8822" y="3703156"/>
            <a:ext cx="3217901" cy="23239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23722" y="6164662"/>
            <a:ext cx="168846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latin typeface="Trebuchet MS"/>
                <a:cs typeface="Trebuchet MS"/>
              </a:rPr>
              <a:t>Figures</a:t>
            </a:r>
            <a:r>
              <a:rPr sz="1100" spc="-7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by</a:t>
            </a:r>
            <a:r>
              <a:rPr sz="1100" spc="-6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Carlos</a:t>
            </a:r>
            <a:r>
              <a:rPr sz="1100" spc="-6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Hernandez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Another</a:t>
            </a:r>
            <a:r>
              <a:rPr spc="-300" dirty="0"/>
              <a:t> </a:t>
            </a:r>
            <a:r>
              <a:rPr spc="-240" dirty="0"/>
              <a:t>approach:</a:t>
            </a:r>
            <a:r>
              <a:rPr spc="-285" dirty="0"/>
              <a:t> </a:t>
            </a:r>
            <a:r>
              <a:rPr spc="-340" dirty="0"/>
              <a:t>NeRF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7969" y="2424355"/>
            <a:ext cx="78022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2575" marR="5080" indent="-27051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82575" algn="l"/>
              </a:tabLst>
            </a:pPr>
            <a:r>
              <a:rPr sz="2400" spc="-114" dirty="0">
                <a:latin typeface="Trebuchet MS"/>
                <a:cs typeface="Trebuchet MS"/>
              </a:rPr>
              <a:t>Represent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scenes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functions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from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254" dirty="0">
                <a:latin typeface="Trebuchet MS"/>
                <a:cs typeface="Trebuchet MS"/>
              </a:rPr>
              <a:t>(x,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y,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z)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RGB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and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alpha </a:t>
            </a:r>
            <a:r>
              <a:rPr sz="2400" spc="-145" dirty="0">
                <a:latin typeface="Trebuchet MS"/>
                <a:cs typeface="Trebuchet MS"/>
              </a:rPr>
              <a:t>(transparency),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use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volume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rendering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render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images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3460043"/>
            <a:ext cx="2520315" cy="1919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9046" y="3460043"/>
            <a:ext cx="2520315" cy="191911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9417" y="3460043"/>
            <a:ext cx="2520314" cy="19191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47041" y="5565752"/>
            <a:ext cx="7719695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6575" marR="1161415" indent="-306451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333333"/>
                </a:solidFill>
                <a:latin typeface="Lucida Sans Unicode"/>
                <a:cs typeface="Lucida Sans Unicode"/>
              </a:rPr>
              <a:t>NeRF:</a:t>
            </a:r>
            <a:r>
              <a:rPr sz="1400" spc="-70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Lucida Sans Unicode"/>
                <a:cs typeface="Lucida Sans Unicode"/>
              </a:rPr>
              <a:t>Representing</a:t>
            </a:r>
            <a:r>
              <a:rPr sz="1400" spc="-60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Lucida Sans Unicode"/>
                <a:cs typeface="Lucida Sans Unicode"/>
              </a:rPr>
              <a:t>Scenes</a:t>
            </a:r>
            <a:r>
              <a:rPr sz="1400" spc="-5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Lucida Sans Unicode"/>
                <a:cs typeface="Lucida Sans Unicode"/>
              </a:rPr>
              <a:t>as</a:t>
            </a:r>
            <a:r>
              <a:rPr sz="1400" spc="-60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Lucida Sans Unicode"/>
                <a:cs typeface="Lucida Sans Unicode"/>
              </a:rPr>
              <a:t>Neural</a:t>
            </a:r>
            <a:r>
              <a:rPr sz="1400" spc="-70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Lucida Sans Unicode"/>
                <a:cs typeface="Lucida Sans Unicode"/>
              </a:rPr>
              <a:t>Radiance</a:t>
            </a:r>
            <a:r>
              <a:rPr sz="1400" spc="-5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Fields</a:t>
            </a:r>
            <a:r>
              <a:rPr sz="1400" spc="-60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Lucida Sans Unicode"/>
                <a:cs typeface="Lucida Sans Unicode"/>
              </a:rPr>
              <a:t>for</a:t>
            </a:r>
            <a:r>
              <a:rPr sz="1400" spc="-5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View</a:t>
            </a:r>
            <a:r>
              <a:rPr sz="1400" spc="-60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Synthesis,</a:t>
            </a:r>
            <a:r>
              <a:rPr sz="1400" spc="-70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Lucida Sans Unicode"/>
                <a:cs typeface="Lucida Sans Unicode"/>
              </a:rPr>
              <a:t>ECCV 2020</a:t>
            </a:r>
            <a:endParaRPr sz="1400">
              <a:latin typeface="Lucida Sans Unicode"/>
              <a:cs typeface="Lucida Sans Unicode"/>
            </a:endParaRPr>
          </a:p>
          <a:p>
            <a:pPr marL="4853940">
              <a:lnSpc>
                <a:spcPct val="100000"/>
              </a:lnSpc>
              <a:spcBef>
                <a:spcPts val="1820"/>
              </a:spcBef>
            </a:pPr>
            <a:r>
              <a:rPr sz="140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</a:rPr>
              <a:t>https://</a:t>
            </a:r>
            <a:r>
              <a:rPr sz="1400" u="sng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5"/>
              </a:rPr>
              <a:t>www.matthewtancik.com/nerf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329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spc="-240"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828</Words>
  <Application>Microsoft Office PowerPoint</Application>
  <PresentationFormat>自定义</PresentationFormat>
  <Paragraphs>158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 MT</vt:lpstr>
      <vt:lpstr>Calibri</vt:lpstr>
      <vt:lpstr>Lucida Sans Unicode</vt:lpstr>
      <vt:lpstr>Tahoma</vt:lpstr>
      <vt:lpstr>Times New Roman</vt:lpstr>
      <vt:lpstr>Trebuchet MS</vt:lpstr>
      <vt:lpstr>Verdana</vt:lpstr>
      <vt:lpstr>Office Theme</vt:lpstr>
      <vt:lpstr>CS5187: Vision and Image Multi-view stereo</vt:lpstr>
      <vt:lpstr>Before: Binocular (Two-View) Stereo</vt:lpstr>
      <vt:lpstr>Now: Multi-view Stereo</vt:lpstr>
      <vt:lpstr>Multi-view Stereo</vt:lpstr>
      <vt:lpstr>Multi-view Stereo</vt:lpstr>
      <vt:lpstr>Applications</vt:lpstr>
      <vt:lpstr>PowerPoint 演示文稿</vt:lpstr>
      <vt:lpstr>PowerPoint 演示文稿</vt:lpstr>
      <vt:lpstr>PowerPoint 演示文稿</vt:lpstr>
      <vt:lpstr>Application: Virtual Reality Video</vt:lpstr>
      <vt:lpstr>Multi-view stereo: Basic idea</vt:lpstr>
      <vt:lpstr>Multi-view stereo: Basic idea</vt:lpstr>
      <vt:lpstr>Multi-view stereo: Basic idea</vt:lpstr>
      <vt:lpstr>Multi-view stereo: Basic idea</vt:lpstr>
      <vt:lpstr>Multi-view stereo: advantages</vt:lpstr>
      <vt:lpstr>Choosing a single stereo baseline</vt:lpstr>
      <vt:lpstr>The Effect of Baseline on Depth Estimation</vt:lpstr>
      <vt:lpstr>Multiple-baseline stereo – all cameras in a row</vt:lpstr>
      <vt:lpstr>PowerPoint 演示文稿</vt:lpstr>
      <vt:lpstr>Multiple-baseline stereo results</vt:lpstr>
      <vt:lpstr>Multibaseline Stereo</vt:lpstr>
      <vt:lpstr>Problem: visibility</vt:lpstr>
      <vt:lpstr>Popular matching scores</vt:lpstr>
      <vt:lpstr>Questions?</vt:lpstr>
      <vt:lpstr>Plane-Sweep Stereo</vt:lpstr>
      <vt:lpstr>Plane-Sweep Stereo</vt:lpstr>
      <vt:lpstr>Plane-Sweep Stereo</vt:lpstr>
      <vt:lpstr>Plane-Sweep Stereo</vt:lpstr>
      <vt:lpstr>Plane-Sweep Stereo</vt:lpstr>
      <vt:lpstr>Another example</vt:lpstr>
      <vt:lpstr>Cost Volumes -&gt; Depth Maps</vt:lpstr>
      <vt:lpstr>Fusing multiple depth maps</vt:lpstr>
      <vt:lpstr>Another approach: NeRF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Zhiyu ZHU 朱智宇</cp:lastModifiedBy>
  <cp:revision>3</cp:revision>
  <dcterms:created xsi:type="dcterms:W3CDTF">2026-03-16T13:44:25Z</dcterms:created>
  <dcterms:modified xsi:type="dcterms:W3CDTF">2026-03-16T14:18:18Z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2025-03-14T00:00:00Z</vt:filetime>
  </property>
  <property fmtid="{D5CDD505-2E9C-101B-9397-08002B2CF9AE}" pid="3" name="Creator">
    <vt:lpwstr>PowerPoint</vt:lpwstr>
  </property>
  <property fmtid="{D5CDD505-2E9C-101B-9397-08002B2CF9AE}" pid="4" name="LastSaved">
    <vt:filetime>2026-03-16T00:00:00Z</vt:filetime>
  </property>
  <property fmtid="{D5CDD505-2E9C-101B-9397-08002B2CF9AE}" pid="5" name="Producer">
    <vt:lpwstr>macOS Version 15.2 (Build 24C101) Quartz PDFContext</vt:lpwstr>
  </property>
</Properties>
</file>