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384" r:id="rId3"/>
    <p:sldId id="387" r:id="rId4"/>
    <p:sldId id="504" r:id="rId5"/>
    <p:sldId id="386" r:id="rId6"/>
    <p:sldId id="388" r:id="rId7"/>
    <p:sldId id="389" r:id="rId8"/>
    <p:sldId id="390" r:id="rId9"/>
    <p:sldId id="487" r:id="rId10"/>
    <p:sldId id="381" r:id="rId11"/>
    <p:sldId id="382" r:id="rId12"/>
    <p:sldId id="391" r:id="rId13"/>
    <p:sldId id="392" r:id="rId14"/>
    <p:sldId id="393" r:id="rId15"/>
    <p:sldId id="394" r:id="rId16"/>
    <p:sldId id="395" r:id="rId17"/>
    <p:sldId id="490" r:id="rId18"/>
    <p:sldId id="491" r:id="rId19"/>
    <p:sldId id="399" r:id="rId20"/>
    <p:sldId id="397" r:id="rId21"/>
    <p:sldId id="400" r:id="rId22"/>
    <p:sldId id="401" r:id="rId23"/>
    <p:sldId id="402" r:id="rId24"/>
    <p:sldId id="403" r:id="rId25"/>
    <p:sldId id="421" r:id="rId26"/>
    <p:sldId id="422" r:id="rId27"/>
    <p:sldId id="423" r:id="rId28"/>
    <p:sldId id="425" r:id="rId29"/>
    <p:sldId id="426" r:id="rId30"/>
    <p:sldId id="427" r:id="rId31"/>
    <p:sldId id="406" r:id="rId32"/>
    <p:sldId id="407" r:id="rId33"/>
    <p:sldId id="408" r:id="rId34"/>
    <p:sldId id="409" r:id="rId35"/>
    <p:sldId id="428" r:id="rId36"/>
    <p:sldId id="410" r:id="rId37"/>
    <p:sldId id="411" r:id="rId38"/>
    <p:sldId id="412" r:id="rId39"/>
    <p:sldId id="559" r:id="rId40"/>
    <p:sldId id="413" r:id="rId41"/>
    <p:sldId id="414" r:id="rId42"/>
    <p:sldId id="415" r:id="rId43"/>
    <p:sldId id="416" r:id="rId44"/>
    <p:sldId id="417" r:id="rId45"/>
    <p:sldId id="418" r:id="rId46"/>
    <p:sldId id="433" r:id="rId47"/>
    <p:sldId id="489" r:id="rId48"/>
    <p:sldId id="492" r:id="rId49"/>
    <p:sldId id="453" r:id="rId50"/>
  </p:sldIdLst>
  <p:sldSz cx="12192000" cy="6858000"/>
  <p:notesSz cx="7010400" cy="9296400"/>
  <p:embeddedFontLst>
    <p:embeddedFont>
      <p:font typeface="Myriad Pro" panose="020B0503030403020204" charset="0"/>
      <p:regular r:id="rId53"/>
      <p:bold r:id="rId54"/>
      <p:italic r:id="rId55"/>
      <p:boldItalic r:id="rId56"/>
    </p:embeddedFont>
  </p:embeddedFontLst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72" autoAdjust="0"/>
    <p:restoredTop sz="94444" autoAdjust="0"/>
  </p:normalViewPr>
  <p:slideViewPr>
    <p:cSldViewPr>
      <p:cViewPr>
        <p:scale>
          <a:sx n="100" d="100"/>
          <a:sy n="100" d="100"/>
        </p:scale>
        <p:origin x="2106" y="11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09C86-0DB4-461E-B411-3132234C96B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52C4-BC4B-4C71-991C-7B2020479D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18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4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18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D67658-14C2-47C4-936A-8FE44F66EAA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5A9006-87B5-46C9-9E96-6AA3839CC93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0BA7A5-3491-45A6-9E3B-1789197AE14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06E027-5420-4928-A7CA-206C85BCA02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A4FA31-BD45-48EE-A48C-D81D0958128A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63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16130" indent="-275434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0173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42433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98312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2382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86451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0521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74590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CA7259D7-E5BB-D846-879C-4547B909DCAB}" type="slidenum">
              <a:rPr lang="en-US">
                <a:solidFill>
                  <a:srgbClr val="000000"/>
                </a:solidFill>
              </a:rPr>
              <a:pPr/>
              <a:t>18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652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High level idea is that corners are good.  You want to find windows that contain strong gradients AND gradients oriented in more than one direction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05B9E7-BA07-45C5-BE07-494D64FD9992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30C4D-B644-4BF1-B862-380B3F44348A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3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F3CD5-5F33-4E00-8631-D02E0087863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F3CD5-5F33-4E00-8631-D02E008786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F3CD5-5F33-4E00-8631-D02E0087863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B4F949-82A5-4D3D-BD83-D7F98958187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BF356B-C23D-4938-AA88-87895EC5400D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42F8AC-5B45-42CB-9735-3EB7A7C8F90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5325"/>
            <a:ext cx="6169025" cy="3470275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46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de-DE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1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10363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B3AFC3-A5AA-492E-B41C-C8BA041F4B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97536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19200"/>
            <a:ext cx="5689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02400" y="1219200"/>
            <a:ext cx="56896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02400" y="3543300"/>
            <a:ext cx="56896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8174D5-6B2C-2D42-A241-F9712B6542BD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K. Grauman, B. Leibe</a:t>
            </a:r>
          </a:p>
        </p:txBody>
      </p:sp>
    </p:spTree>
    <p:extLst>
      <p:ext uri="{BB962C8B-B14F-4D97-AF65-F5344CB8AC3E}">
        <p14:creationId xmlns:p14="http://schemas.microsoft.com/office/powerpoint/2010/main" val="319600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ce.com/nasa-perseverance-rover-first-panorama-mar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culturalinstitute/beta/project/gigapixels" TargetMode="External"/><Relationship Id="rId2" Type="http://schemas.openxmlformats.org/officeDocument/2006/relationships/hyperlink" Target="http://gigapan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.jpeg"/><Relationship Id="rId7" Type="http://schemas.openxmlformats.org/officeDocument/2006/relationships/image" Target="../media/image2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5.xml"/><Relationship Id="rId7" Type="http://schemas.openxmlformats.org/officeDocument/2006/relationships/image" Target="../media/image3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3.png"/><Relationship Id="rId4" Type="http://schemas.openxmlformats.org/officeDocument/2006/relationships/tags" Target="../tags/tag6.xml"/><Relationship Id="rId9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37.png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38.png"/><Relationship Id="rId11" Type="http://schemas.openxmlformats.org/officeDocument/2006/relationships/image" Target="../media/image50.png"/><Relationship Id="rId5" Type="http://schemas.openxmlformats.org/officeDocument/2006/relationships/image" Target="../media/image37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12.xml"/><Relationship Id="rId7" Type="http://schemas.openxmlformats.org/officeDocument/2006/relationships/image" Target="../media/image5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6.png"/><Relationship Id="rId5" Type="http://schemas.openxmlformats.org/officeDocument/2006/relationships/tags" Target="../tags/tag14.xml"/><Relationship Id="rId10" Type="http://schemas.openxmlformats.org/officeDocument/2006/relationships/image" Target="../media/image55.png"/><Relationship Id="rId4" Type="http://schemas.openxmlformats.org/officeDocument/2006/relationships/tags" Target="../tags/tag13.xml"/><Relationship Id="rId9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57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59.png"/><Relationship Id="rId5" Type="http://schemas.openxmlformats.org/officeDocument/2006/relationships/image" Target="../media/image62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0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oleObject" Target="../embeddings/oleObject5.bin"/><Relationship Id="rId10" Type="http://schemas.openxmlformats.org/officeDocument/2006/relationships/image" Target="../media/image85.png"/><Relationship Id="rId4" Type="http://schemas.openxmlformats.org/officeDocument/2006/relationships/image" Target="../media/image79.wmf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9525000" cy="146957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Local features &amp; Harris corner detection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6200" y="-16427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CS5187: Vision &amp; </a:t>
            </a:r>
            <a:r>
              <a:rPr lang="en-US" altLang="zh-CN" sz="4400" b="1" dirty="0">
                <a:latin typeface="+mj-lt"/>
                <a:ea typeface="+mj-ea"/>
                <a:cs typeface="+mj-cs"/>
              </a:rPr>
              <a:t>Image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228600" y="1600200"/>
            <a:ext cx="126492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C:\snavely\work\teaching\09Fa-CS6610\projects\misc\features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9757" y="2867711"/>
            <a:ext cx="8586984" cy="30758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Today: Feature extraction—Corners and blobs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2" name="Picture 5" descr="Sunflowers2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6800" y="1727200"/>
            <a:ext cx="4140200" cy="4140200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22533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1" y="1682750"/>
            <a:ext cx="4092575" cy="41846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6918"/>
            <a:ext cx="9829800" cy="1143000"/>
          </a:xfrm>
        </p:spPr>
        <p:txBody>
          <a:bodyPr>
            <a:normAutofit/>
          </a:bodyPr>
          <a:lstStyle/>
          <a:p>
            <a:r>
              <a:rPr lang="en-US" dirty="0"/>
              <a:t>Motivation: Automatic panoramas</a:t>
            </a:r>
          </a:p>
        </p:txBody>
      </p:sp>
      <p:pic>
        <p:nvPicPr>
          <p:cNvPr id="2088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1457" y="4222518"/>
            <a:ext cx="8469086" cy="2352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89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8509" y="1076012"/>
            <a:ext cx="8111440" cy="2986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own Arrow 6"/>
          <p:cNvSpPr/>
          <p:nvPr/>
        </p:nvSpPr>
        <p:spPr>
          <a:xfrm>
            <a:off x="5660571" y="3733798"/>
            <a:ext cx="762000" cy="587828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8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284994" y="6581002"/>
            <a:ext cx="1383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Credit: Matt Brown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48A9-739F-4F5A-8BBD-7B4C60FF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Panorama stitching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1376F8-28CB-4620-BD7A-DDDC80053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623"/>
            <a:ext cx="12192000" cy="359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3F3035-383A-4389-93FE-F3A0A7367FDD}"/>
              </a:ext>
            </a:extLst>
          </p:cNvPr>
          <p:cNvSpPr txBox="1"/>
          <p:nvPr/>
        </p:nvSpPr>
        <p:spPr>
          <a:xfrm>
            <a:off x="2057400" y="5334000"/>
            <a:ext cx="807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Panorama captured by </a:t>
            </a:r>
            <a:r>
              <a:rPr lang="en-US" sz="2400" dirty="0" err="1"/>
              <a:t>Perseverence</a:t>
            </a:r>
            <a:r>
              <a:rPr lang="en-US" sz="2400" dirty="0"/>
              <a:t> Rover, Feb. 20, 2021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D3971-2008-4F58-9C51-4CA0652C9212}"/>
              </a:ext>
            </a:extLst>
          </p:cNvPr>
          <p:cNvSpPr txBox="1"/>
          <p:nvPr/>
        </p:nvSpPr>
        <p:spPr>
          <a:xfrm>
            <a:off x="4342356" y="6412468"/>
            <a:ext cx="777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3"/>
              </a:rPr>
              <a:t>https://www.space.com/nasa-perseverance-rover-first-panorama-mars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05000" y="4811477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GigaPan</a:t>
            </a:r>
            <a:r>
              <a:rPr lang="en-US" sz="2200" dirty="0"/>
              <a:t>:</a:t>
            </a:r>
          </a:p>
          <a:p>
            <a:r>
              <a:rPr lang="en-US" sz="2200" dirty="0">
                <a:hlinkClick r:id="rId2"/>
              </a:rPr>
              <a:t>http://gigapan.com/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1905000" y="5627950"/>
            <a:ext cx="79999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Also see Google Zoom Views: </a:t>
            </a:r>
          </a:p>
          <a:p>
            <a:r>
              <a:rPr lang="en-US" sz="2200" dirty="0">
                <a:hlinkClick r:id="rId3"/>
              </a:rPr>
              <a:t>https://www.google.com/culturalinstitute/beta/project/gigapixels</a:t>
            </a:r>
            <a:r>
              <a:rPr lang="en-US" sz="2200" dirty="0"/>
              <a:t> </a:t>
            </a:r>
          </a:p>
        </p:txBody>
      </p:sp>
      <p:pic>
        <p:nvPicPr>
          <p:cNvPr id="2078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2280473"/>
            <a:ext cx="9144000" cy="2437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Automatic panoramas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extract features?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Motivation: panorama stitching</a:t>
            </a:r>
          </a:p>
          <a:p>
            <a:pPr lvl="1"/>
            <a:r>
              <a:rPr lang="en-US"/>
              <a:t>We have two images – how do we combine them?</a:t>
            </a:r>
          </a:p>
        </p:txBody>
      </p:sp>
      <p:pic>
        <p:nvPicPr>
          <p:cNvPr id="23556" name="Picture 4" descr="image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3970" y="2906508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7" name="Picture 5" descr="image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93970" y="2906508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6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3972" y="2909887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7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3972" y="2909888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extract features?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dirty="0"/>
              <a:t>Motivation: panorama stitching</a:t>
            </a:r>
          </a:p>
          <a:p>
            <a:pPr lvl="1"/>
            <a:r>
              <a:rPr lang="en-US" dirty="0"/>
              <a:t>We have two images – how do we combine them?</a:t>
            </a:r>
          </a:p>
        </p:txBody>
      </p:sp>
      <p:sp>
        <p:nvSpPr>
          <p:cNvPr id="24582" name="Text Box 14"/>
          <p:cNvSpPr txBox="1">
            <a:spLocks noChangeArrowheads="1"/>
          </p:cNvSpPr>
          <p:nvPr/>
        </p:nvSpPr>
        <p:spPr bwMode="auto">
          <a:xfrm>
            <a:off x="2749097" y="5685513"/>
            <a:ext cx="23598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Step 1: extract features</a:t>
            </a:r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764972" y="5957877"/>
            <a:ext cx="22967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Step 2: match features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835072" y="3830638"/>
            <a:ext cx="2759075" cy="1514475"/>
            <a:chOff x="2072" y="1924"/>
            <a:chExt cx="1738" cy="954"/>
          </a:xfrm>
        </p:grpSpPr>
        <p:sp>
          <p:nvSpPr>
            <p:cNvPr id="24586" name="Line 8"/>
            <p:cNvSpPr>
              <a:spLocks noChangeShapeType="1"/>
            </p:cNvSpPr>
            <p:nvPr/>
          </p:nvSpPr>
          <p:spPr bwMode="auto">
            <a:xfrm flipV="1">
              <a:off x="2072" y="1924"/>
              <a:ext cx="1200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Line 9"/>
            <p:cNvSpPr>
              <a:spLocks noChangeShapeType="1"/>
            </p:cNvSpPr>
            <p:nvPr/>
          </p:nvSpPr>
          <p:spPr bwMode="auto">
            <a:xfrm>
              <a:off x="2666" y="2094"/>
              <a:ext cx="1144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Line 10"/>
            <p:cNvSpPr>
              <a:spLocks noChangeShapeType="1"/>
            </p:cNvSpPr>
            <p:nvPr/>
          </p:nvSpPr>
          <p:spPr bwMode="auto">
            <a:xfrm flipV="1">
              <a:off x="2346" y="2788"/>
              <a:ext cx="1070" cy="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11"/>
            <p:cNvSpPr>
              <a:spLocks/>
            </p:cNvSpPr>
            <p:nvPr/>
          </p:nvSpPr>
          <p:spPr bwMode="auto">
            <a:xfrm>
              <a:off x="2617" y="2415"/>
              <a:ext cx="1092" cy="30"/>
            </a:xfrm>
            <a:custGeom>
              <a:avLst/>
              <a:gdLst>
                <a:gd name="T0" fmla="*/ 0 w 1092"/>
                <a:gd name="T1" fmla="*/ 30 h 30"/>
                <a:gd name="T2" fmla="*/ 1092 w 1092"/>
                <a:gd name="T3" fmla="*/ 0 h 30"/>
                <a:gd name="T4" fmla="*/ 0 60000 65536"/>
                <a:gd name="T5" fmla="*/ 0 60000 65536"/>
                <a:gd name="T6" fmla="*/ 0 w 1092"/>
                <a:gd name="T7" fmla="*/ 0 h 30"/>
                <a:gd name="T8" fmla="*/ 1092 w 1092"/>
                <a:gd name="T9" fmla="*/ 30 h 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92" h="30">
                  <a:moveTo>
                    <a:pt x="0" y="30"/>
                  </a:moveTo>
                  <a:lnTo>
                    <a:pt x="1092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Line 12"/>
            <p:cNvSpPr>
              <a:spLocks noChangeShapeType="1"/>
            </p:cNvSpPr>
            <p:nvPr/>
          </p:nvSpPr>
          <p:spPr bwMode="auto">
            <a:xfrm flipV="1">
              <a:off x="2170" y="2236"/>
              <a:ext cx="1150" cy="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17"/>
            <p:cNvSpPr>
              <a:spLocks/>
            </p:cNvSpPr>
            <p:nvPr/>
          </p:nvSpPr>
          <p:spPr bwMode="auto">
            <a:xfrm>
              <a:off x="2530" y="2617"/>
              <a:ext cx="1017" cy="65"/>
            </a:xfrm>
            <a:custGeom>
              <a:avLst/>
              <a:gdLst>
                <a:gd name="T0" fmla="*/ 0 w 1017"/>
                <a:gd name="T1" fmla="*/ 65 h 65"/>
                <a:gd name="T2" fmla="*/ 1017 w 1017"/>
                <a:gd name="T3" fmla="*/ 0 h 65"/>
                <a:gd name="T4" fmla="*/ 0 60000 65536"/>
                <a:gd name="T5" fmla="*/ 0 60000 65536"/>
                <a:gd name="T6" fmla="*/ 0 w 1017"/>
                <a:gd name="T7" fmla="*/ 0 h 65"/>
                <a:gd name="T8" fmla="*/ 1017 w 1017"/>
                <a:gd name="T9" fmla="*/ 65 h 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17" h="65">
                  <a:moveTo>
                    <a:pt x="0" y="65"/>
                  </a:moveTo>
                  <a:lnTo>
                    <a:pt x="1017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extract features?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dirty="0"/>
              <a:t>Motivation: panorama stitching</a:t>
            </a:r>
          </a:p>
          <a:p>
            <a:pPr lvl="1"/>
            <a:r>
              <a:rPr lang="en-US" dirty="0"/>
              <a:t>We have two images – how do we combine them?</a:t>
            </a:r>
          </a:p>
        </p:txBody>
      </p:sp>
      <p:pic>
        <p:nvPicPr>
          <p:cNvPr id="25607" name="Picture 16" descr="homograp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3828" y="2732311"/>
            <a:ext cx="5691187" cy="284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2749097" y="5685513"/>
            <a:ext cx="23598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Step 1: extract features</a:t>
            </a: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2764972" y="5957877"/>
            <a:ext cx="22967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Step 2: match features</a:t>
            </a: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2764970" y="6230020"/>
            <a:ext cx="20477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Step 3: align images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Visual 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(aka Simultaneous Localization and Mapping)</a:t>
            </a:r>
          </a:p>
        </p:txBody>
      </p:sp>
      <p:pic>
        <p:nvPicPr>
          <p:cNvPr id="230402" name="Picture 2" descr="phone.jpg (937×357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7" y="2590800"/>
            <a:ext cx="8924925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47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these images overlap?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TextBox 6"/>
          <p:cNvSpPr txBox="1">
            <a:spLocks noChangeArrowheads="1"/>
          </p:cNvSpPr>
          <p:nvPr/>
        </p:nvSpPr>
        <p:spPr bwMode="auto">
          <a:xfrm>
            <a:off x="4305300" y="5910264"/>
            <a:ext cx="3619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/>
              <a:t>NASA Mars Rover images</a:t>
            </a:r>
          </a:p>
          <a:p>
            <a:pPr algn="ctr"/>
            <a:r>
              <a:rPr lang="en-US" sz="1600" dirty="0"/>
              <a:t>with SIFT feature matches</a:t>
            </a:r>
          </a:p>
        </p:txBody>
      </p:sp>
      <p:sp>
        <p:nvSpPr>
          <p:cNvPr id="215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Answer below </a:t>
            </a:r>
            <a:r>
              <a:rPr lang="en-US" sz="2400"/>
              <a:t>(look for tiny colored squares…)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matching for object search</a:t>
            </a:r>
          </a:p>
        </p:txBody>
      </p:sp>
      <p:pic>
        <p:nvPicPr>
          <p:cNvPr id="5" name="Picture 5" descr="featExtrac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8914" y="1850571"/>
            <a:ext cx="2846388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featExtract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0314" y="1971221"/>
            <a:ext cx="4419600" cy="353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matching</a:t>
            </a:r>
          </a:p>
        </p:txBody>
      </p:sp>
      <p:pic>
        <p:nvPicPr>
          <p:cNvPr id="9" name="Picture 5" descr="featExtrac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8914" y="1850571"/>
            <a:ext cx="2846388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 descr="featExtract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0314" y="1971221"/>
            <a:ext cx="4419600" cy="353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8" descr="featData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3297" y="5016955"/>
            <a:ext cx="1590675" cy="15906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606" name="Picture 7" descr="featData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15126" y="5041674"/>
            <a:ext cx="1590675" cy="15986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607" name="Right Arrow 13"/>
          <p:cNvSpPr>
            <a:spLocks noChangeArrowheads="1"/>
          </p:cNvSpPr>
          <p:nvPr/>
        </p:nvSpPr>
        <p:spPr bwMode="auto">
          <a:xfrm rot="2384758">
            <a:off x="4148450" y="4599679"/>
            <a:ext cx="753985" cy="68580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608" name="Right Arrow 14"/>
          <p:cNvSpPr>
            <a:spLocks noChangeArrowheads="1"/>
          </p:cNvSpPr>
          <p:nvPr/>
        </p:nvSpPr>
        <p:spPr bwMode="auto">
          <a:xfrm rot="7715876">
            <a:off x="7733507" y="4607646"/>
            <a:ext cx="686703" cy="68580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9557"/>
            <a:ext cx="10714038" cy="838200"/>
          </a:xfrm>
        </p:spPr>
        <p:txBody>
          <a:bodyPr/>
          <a:lstStyle/>
          <a:p>
            <a:pPr algn="l"/>
            <a:r>
              <a:rPr lang="en-US" b="1" dirty="0"/>
              <a:t>Invariant local features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143000"/>
            <a:ext cx="10134600" cy="167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Find features that are invariant to transformations</a:t>
            </a:r>
          </a:p>
          <a:p>
            <a:pPr lvl="1"/>
            <a:r>
              <a:rPr lang="en-US" sz="2200" dirty="0"/>
              <a:t>geometric invariance:  translation, rotation, scale</a:t>
            </a:r>
          </a:p>
          <a:p>
            <a:pPr lvl="1"/>
            <a:r>
              <a:rPr lang="en-US" sz="2200" dirty="0"/>
              <a:t>photometric invariance:  brightness, exposure, …</a:t>
            </a:r>
          </a:p>
        </p:txBody>
      </p:sp>
      <p:pic>
        <p:nvPicPr>
          <p:cNvPr id="26628" name="Picture 4" descr="sift-fea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09801" y="2667000"/>
            <a:ext cx="7559675" cy="3640137"/>
          </a:xfrm>
          <a:noFill/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029205" y="6397624"/>
            <a:ext cx="2017155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dirty="0"/>
              <a:t>Feature Descriptors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 of local features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dirty="0"/>
              <a:t>Locality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dirty="0"/>
              <a:t>features are local, so robust to occlusion and clutter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dirty="0"/>
              <a:t>Quantity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dirty="0"/>
              <a:t>hundreds or thousands in a single image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dirty="0"/>
              <a:t>Distinctiveness: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dirty="0"/>
              <a:t>can differentiate a large database of objects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dirty="0"/>
              <a:t>Efficiency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dirty="0"/>
              <a:t>real-time performance achievable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motivation…  </a:t>
            </a:r>
            <a:endParaRPr lang="ru-RU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1"/>
            <a:ext cx="5943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 dirty="0"/>
              <a:t>Feature points are used for:</a:t>
            </a:r>
          </a:p>
          <a:p>
            <a:pPr lvl="1"/>
            <a:r>
              <a:rPr lang="en-US" sz="2400" dirty="0"/>
              <a:t>Image alignment </a:t>
            </a:r>
            <a:r>
              <a:rPr lang="en-US" sz="2000" dirty="0"/>
              <a:t>(e.g., mosaics)</a:t>
            </a:r>
          </a:p>
          <a:p>
            <a:pPr lvl="1"/>
            <a:r>
              <a:rPr lang="en-US" sz="2400" dirty="0"/>
              <a:t>3D reconstruction</a:t>
            </a:r>
          </a:p>
          <a:p>
            <a:pPr lvl="1"/>
            <a:r>
              <a:rPr lang="en-US" sz="2400" dirty="0"/>
              <a:t>Motion tracking </a:t>
            </a:r>
            <a:r>
              <a:rPr lang="en-US" sz="2000" dirty="0"/>
              <a:t>(e.g. for AR)</a:t>
            </a:r>
          </a:p>
          <a:p>
            <a:pPr lvl="1"/>
            <a:r>
              <a:rPr lang="en-US" sz="2400" dirty="0"/>
              <a:t>Object recognition</a:t>
            </a:r>
          </a:p>
          <a:p>
            <a:pPr lvl="1"/>
            <a:r>
              <a:rPr lang="en-US" sz="2400" dirty="0"/>
              <a:t>Image retrieval</a:t>
            </a:r>
          </a:p>
          <a:p>
            <a:pPr lvl="1"/>
            <a:r>
              <a:rPr lang="en-US" sz="2400" dirty="0"/>
              <a:t>Robot/car navigation</a:t>
            </a:r>
          </a:p>
          <a:p>
            <a:pPr lvl="1"/>
            <a:r>
              <a:rPr lang="en-US" sz="2400" dirty="0"/>
              <a:t>… other</a:t>
            </a:r>
            <a:endParaRPr lang="ru-R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95EF6-5A38-4E10-8A82-610C4CAA7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514600"/>
            <a:ext cx="4572000" cy="2571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b="1" dirty="0"/>
              <a:t>1. Feature detection</a:t>
            </a:r>
            <a:r>
              <a:rPr lang="en-US" dirty="0"/>
              <a:t>: find it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b="1" dirty="0"/>
              <a:t>2. Feature descriptor</a:t>
            </a:r>
            <a:r>
              <a:rPr lang="en-US" dirty="0"/>
              <a:t>: represent it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b="1" dirty="0"/>
              <a:t>3. Feature matching</a:t>
            </a:r>
            <a:r>
              <a:rPr lang="en-US" dirty="0"/>
              <a:t>: match it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b="1" dirty="0"/>
              <a:t>Feature tracking:</a:t>
            </a:r>
            <a:r>
              <a:rPr lang="en-US" dirty="0"/>
              <a:t> track it, when motion</a:t>
            </a:r>
          </a:p>
        </p:txBody>
      </p:sp>
    </p:spTree>
    <p:extLst>
      <p:ext uri="{BB962C8B-B14F-4D97-AF65-F5344CB8AC3E}">
        <p14:creationId xmlns:p14="http://schemas.microsoft.com/office/powerpoint/2010/main" val="2915332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210800" cy="1143000"/>
          </a:xfrm>
        </p:spPr>
        <p:txBody>
          <a:bodyPr/>
          <a:lstStyle/>
          <a:p>
            <a:pPr eaLnBrk="1" hangingPunct="1"/>
            <a:r>
              <a:rPr lang="en-US" dirty="0"/>
              <a:t>Local features: 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264737"/>
            <a:ext cx="4952999" cy="50598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Tx/>
              <a:buAutoNum type="arabicParenR"/>
            </a:pPr>
            <a:r>
              <a:rPr lang="en-US" sz="2800" b="1" dirty="0">
                <a:latin typeface="+mj-lt"/>
              </a:rPr>
              <a:t>Detection</a:t>
            </a:r>
            <a:r>
              <a:rPr lang="en-US" sz="2800" dirty="0">
                <a:latin typeface="+mj-lt"/>
              </a:rPr>
              <a:t>: Identify the interest points</a:t>
            </a: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r>
              <a:rPr lang="en-US" sz="2800" b="1" dirty="0">
                <a:latin typeface="+mj-lt"/>
              </a:rPr>
              <a:t>Description</a:t>
            </a:r>
            <a:r>
              <a:rPr lang="en-US" sz="2800" dirty="0">
                <a:latin typeface="+mj-lt"/>
              </a:rPr>
              <a:t>: Extract vector feature descriptor surrounding each interest point</a:t>
            </a: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r>
              <a:rPr lang="en-US" sz="2800" b="1" dirty="0">
                <a:latin typeface="+mj-lt"/>
              </a:rPr>
              <a:t>Matching</a:t>
            </a:r>
            <a:r>
              <a:rPr lang="en-US" sz="2800" dirty="0">
                <a:latin typeface="+mj-lt"/>
              </a:rPr>
              <a:t>: Determine correspondence between descriptors in two views</a:t>
            </a:r>
          </a:p>
        </p:txBody>
      </p:sp>
      <p:pic>
        <p:nvPicPr>
          <p:cNvPr id="114692" name="Picture 4" descr="SIF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066800"/>
            <a:ext cx="24384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SIF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971800"/>
            <a:ext cx="24384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0"/>
          <p:cNvGrpSpPr>
            <a:grpSpLocks noChangeAspect="1"/>
          </p:cNvGrpSpPr>
          <p:nvPr/>
        </p:nvGrpSpPr>
        <p:grpSpPr bwMode="auto">
          <a:xfrm>
            <a:off x="6355299" y="2982914"/>
            <a:ext cx="2306638" cy="1131887"/>
            <a:chOff x="4191000" y="4216493"/>
            <a:chExt cx="2667000" cy="1308192"/>
          </a:xfrm>
        </p:grpSpPr>
        <p:sp>
          <p:nvSpPr>
            <p:cNvPr id="8" name="Rectangle 7"/>
            <p:cNvSpPr/>
            <p:nvPr/>
          </p:nvSpPr>
          <p:spPr bwMode="auto">
            <a:xfrm rot="20018806">
              <a:off x="6065059" y="5082505"/>
              <a:ext cx="411155" cy="442180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114709" name="Object 2"/>
            <p:cNvGraphicFramePr>
              <a:graphicFrameLocks noChangeAspect="1"/>
            </p:cNvGraphicFramePr>
            <p:nvPr/>
          </p:nvGraphicFramePr>
          <p:xfrm>
            <a:off x="4191000" y="4216493"/>
            <a:ext cx="2667000" cy="60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66800" imgH="241300" progId="Equation.3">
                    <p:embed/>
                  </p:oleObj>
                </mc:Choice>
                <mc:Fallback>
                  <p:oleObj name="Equation" r:id="rId4" imgW="1066800" imgH="241300" progId="Equation.3">
                    <p:embed/>
                    <p:pic>
                      <p:nvPicPr>
                        <p:cNvPr id="11470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4216493"/>
                          <a:ext cx="2667000" cy="603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4710" name="Shape 17"/>
            <p:cNvCxnSpPr>
              <a:cxnSpLocks noChangeShapeType="1"/>
              <a:stCxn id="8" idx="1"/>
            </p:cNvCxnSpPr>
            <p:nvPr/>
          </p:nvCxnSpPr>
          <p:spPr bwMode="auto">
            <a:xfrm rot="10800000">
              <a:off x="5410201" y="4648201"/>
              <a:ext cx="675407" cy="746517"/>
            </a:xfrm>
            <a:prstGeom prst="curvedConnector2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8242300" y="3352801"/>
            <a:ext cx="2425700" cy="1984375"/>
            <a:chOff x="7042516" y="4800600"/>
            <a:chExt cx="2794000" cy="2232025"/>
          </a:xfrm>
        </p:grpSpPr>
        <p:grpSp>
          <p:nvGrpSpPr>
            <p:cNvPr id="114704" name="Group 11"/>
            <p:cNvGrpSpPr>
              <a:grpSpLocks/>
            </p:cNvGrpSpPr>
            <p:nvPr/>
          </p:nvGrpSpPr>
          <p:grpSpPr bwMode="auto">
            <a:xfrm>
              <a:off x="7042516" y="4800600"/>
              <a:ext cx="2794000" cy="2232025"/>
              <a:chOff x="7042516" y="4800600"/>
              <a:chExt cx="2794000" cy="2232025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7470393" y="4800600"/>
                <a:ext cx="530275" cy="533901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solidFill>
                    <a:srgbClr val="000000"/>
                  </a:solidFill>
                  <a:latin typeface="Arial"/>
                </a:endParaRPr>
              </a:p>
            </p:txBody>
          </p:sp>
          <p:graphicFrame>
            <p:nvGraphicFramePr>
              <p:cNvPr id="114707" name="Object 3"/>
              <p:cNvGraphicFramePr>
                <a:graphicFrameLocks noChangeAspect="1"/>
              </p:cNvGraphicFramePr>
              <p:nvPr/>
            </p:nvGraphicFramePr>
            <p:xfrm>
              <a:off x="7042516" y="6429375"/>
              <a:ext cx="2794000" cy="603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117600" imgH="241300" progId="Equation.3">
                      <p:embed/>
                    </p:oleObj>
                  </mc:Choice>
                  <mc:Fallback>
                    <p:oleObj name="Equation" r:id="rId6" imgW="1117600" imgH="241300" progId="Equation.3">
                      <p:embed/>
                      <p:pic>
                        <p:nvPicPr>
                          <p:cNvPr id="114707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2516" y="6429375"/>
                            <a:ext cx="2794000" cy="603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14705" name="Curved Connector 19"/>
            <p:cNvCxnSpPr>
              <a:cxnSpLocks noChangeShapeType="1"/>
            </p:cNvCxnSpPr>
            <p:nvPr/>
          </p:nvCxnSpPr>
          <p:spPr bwMode="auto">
            <a:xfrm rot="5400000">
              <a:off x="6866069" y="5846896"/>
              <a:ext cx="1266829" cy="241036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6324600" y="5391150"/>
            <a:ext cx="4343400" cy="1162050"/>
            <a:chOff x="4800600" y="5391912"/>
            <a:chExt cx="4343400" cy="1161288"/>
          </a:xfrm>
        </p:grpSpPr>
        <p:pic>
          <p:nvPicPr>
            <p:cNvPr id="114698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5391912"/>
              <a:ext cx="2121408" cy="1161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699" name="Picture 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1052" y="5395686"/>
              <a:ext cx="2132948" cy="115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4700" name="Straight Arrow Connector 27"/>
            <p:cNvCxnSpPr>
              <a:cxnSpLocks noChangeShapeType="1"/>
            </p:cNvCxnSpPr>
            <p:nvPr/>
          </p:nvCxnSpPr>
          <p:spPr bwMode="auto">
            <a:xfrm flipV="1">
              <a:off x="5562600" y="5562600"/>
              <a:ext cx="1981200" cy="2286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701" name="Straight Arrow Connector 28"/>
            <p:cNvCxnSpPr>
              <a:cxnSpLocks noChangeShapeType="1"/>
            </p:cNvCxnSpPr>
            <p:nvPr/>
          </p:nvCxnSpPr>
          <p:spPr bwMode="auto">
            <a:xfrm>
              <a:off x="6629400" y="5943600"/>
              <a:ext cx="2133600" cy="1588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702" name="Straight Arrow Connector 31"/>
            <p:cNvCxnSpPr>
              <a:cxnSpLocks noChangeShapeType="1"/>
            </p:cNvCxnSpPr>
            <p:nvPr/>
          </p:nvCxnSpPr>
          <p:spPr bwMode="auto">
            <a:xfrm>
              <a:off x="5410200" y="6248400"/>
              <a:ext cx="2133600" cy="1588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703" name="Straight Arrow Connector 32"/>
            <p:cNvCxnSpPr>
              <a:cxnSpLocks noChangeShapeType="1"/>
            </p:cNvCxnSpPr>
            <p:nvPr/>
          </p:nvCxnSpPr>
          <p:spPr bwMode="auto">
            <a:xfrm flipV="1">
              <a:off x="5334000" y="5791200"/>
              <a:ext cx="2133600" cy="2286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" name="TextBox 22"/>
          <p:cNvSpPr txBox="1"/>
          <p:nvPr/>
        </p:nvSpPr>
        <p:spPr>
          <a:xfrm>
            <a:off x="9982200" y="6571700"/>
            <a:ext cx="22098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000000"/>
                </a:solidFill>
                <a:latin typeface="+mj-lt"/>
              </a:rPr>
              <a:t>Credit: Kristen </a:t>
            </a:r>
            <a:r>
              <a:rPr lang="en-US" sz="1200" dirty="0" err="1">
                <a:solidFill>
                  <a:srgbClr val="000000"/>
                </a:solidFill>
                <a:latin typeface="+mj-lt"/>
              </a:rPr>
              <a:t>Grauman</a:t>
            </a:r>
            <a:endParaRPr lang="en-US" sz="12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960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5"/>
          <p:cNvSpPr>
            <a:spLocks noChangeArrowheads="1"/>
          </p:cNvSpPr>
          <p:nvPr/>
        </p:nvSpPr>
        <p:spPr bwMode="auto">
          <a:xfrm>
            <a:off x="5867400" y="4114800"/>
            <a:ext cx="152400" cy="1524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Rectangle 9"/>
          <p:cNvSpPr>
            <a:spLocks noChangeArrowheads="1"/>
          </p:cNvSpPr>
          <p:nvPr/>
        </p:nvSpPr>
        <p:spPr bwMode="auto">
          <a:xfrm>
            <a:off x="5257800" y="6291040"/>
            <a:ext cx="17027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Snoop demo</a:t>
            </a:r>
            <a:endParaRPr lang="en-US" sz="2000" baseline="-25000">
              <a:latin typeface="Arial" charset="0"/>
            </a:endParaRPr>
          </a:p>
        </p:txBody>
      </p:sp>
      <p:pic>
        <p:nvPicPr>
          <p:cNvPr id="6" name="Picture 2" descr="C:\snavely\work\teaching\09Fa-CS6610\lectures\lec02\images\b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9890" y="-745463"/>
            <a:ext cx="12318090" cy="8348926"/>
          </a:xfrm>
          <a:prstGeom prst="rect">
            <a:avLst/>
          </a:prstGeom>
          <a:noFill/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152400"/>
            <a:ext cx="10972800" cy="1143000"/>
          </a:xfrm>
        </p:spPr>
        <p:txBody>
          <a:bodyPr/>
          <a:lstStyle/>
          <a:p>
            <a:r>
              <a:rPr lang="en-US" dirty="0"/>
              <a:t>What makes a good feature?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Want uniqueness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Look for image regions that are unusual</a:t>
            </a:r>
          </a:p>
          <a:p>
            <a:pPr lvl="1"/>
            <a:r>
              <a:rPr lang="en-US" dirty="0"/>
              <a:t>Lead to unambiguous matches in other images</a:t>
            </a:r>
          </a:p>
          <a:p>
            <a:pPr lvl="1"/>
            <a:endParaRPr lang="en-US" dirty="0"/>
          </a:p>
          <a:p>
            <a:pPr>
              <a:buFontTx/>
              <a:buNone/>
            </a:pPr>
            <a:r>
              <a:rPr lang="en-US" dirty="0"/>
              <a:t>How to define “unusual”?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measures of uniqueness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dirty="0"/>
              <a:t>Suppose we only consider a small window of pixels</a:t>
            </a:r>
          </a:p>
          <a:p>
            <a:pPr lvl="1"/>
            <a:r>
              <a:rPr lang="en-US" sz="2400" dirty="0"/>
              <a:t>What defines whether a feature is a good or bad candidate?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057400" y="3200400"/>
            <a:ext cx="2362200" cy="2209800"/>
            <a:chOff x="533400" y="2413000"/>
            <a:chExt cx="2362200" cy="2209800"/>
          </a:xfrm>
        </p:grpSpPr>
        <p:sp>
          <p:nvSpPr>
            <p:cNvPr id="31748" name="Rectangle 3"/>
            <p:cNvSpPr>
              <a:spLocks noChangeArrowheads="1"/>
            </p:cNvSpPr>
            <p:nvPr/>
          </p:nvSpPr>
          <p:spPr bwMode="auto">
            <a:xfrm>
              <a:off x="533400" y="2413000"/>
              <a:ext cx="2362200" cy="22098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1" name="Freeform 41"/>
            <p:cNvSpPr>
              <a:spLocks/>
            </p:cNvSpPr>
            <p:nvPr/>
          </p:nvSpPr>
          <p:spPr bwMode="auto">
            <a:xfrm>
              <a:off x="990600" y="2794000"/>
              <a:ext cx="1600200" cy="1447800"/>
            </a:xfrm>
            <a:custGeom>
              <a:avLst/>
              <a:gdLst>
                <a:gd name="T0" fmla="*/ 0 w 1008"/>
                <a:gd name="T1" fmla="*/ 2147483647 h 912"/>
                <a:gd name="T2" fmla="*/ 0 w 1008"/>
                <a:gd name="T3" fmla="*/ 0 h 912"/>
                <a:gd name="T4" fmla="*/ 2147483647 w 1008"/>
                <a:gd name="T5" fmla="*/ 2147483647 h 912"/>
                <a:gd name="T6" fmla="*/ 0 60000 65536"/>
                <a:gd name="T7" fmla="*/ 0 60000 65536"/>
                <a:gd name="T8" fmla="*/ 0 60000 65536"/>
                <a:gd name="T9" fmla="*/ 0 w 1008"/>
                <a:gd name="T10" fmla="*/ 0 h 912"/>
                <a:gd name="T11" fmla="*/ 1008 w 1008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912">
                  <a:moveTo>
                    <a:pt x="0" y="912"/>
                  </a:moveTo>
                  <a:lnTo>
                    <a:pt x="0" y="0"/>
                  </a:lnTo>
                  <a:lnTo>
                    <a:pt x="1008" y="528"/>
                  </a:lnTo>
                </a:path>
              </a:pathLst>
            </a:cu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52" name="Rectangle 46"/>
            <p:cNvSpPr>
              <a:spLocks noChangeArrowheads="1"/>
            </p:cNvSpPr>
            <p:nvPr/>
          </p:nvSpPr>
          <p:spPr bwMode="auto">
            <a:xfrm>
              <a:off x="1309688" y="3524250"/>
              <a:ext cx="485775" cy="4699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953000" y="3200400"/>
            <a:ext cx="2362200" cy="2209800"/>
            <a:chOff x="3429000" y="2413000"/>
            <a:chExt cx="2362200" cy="2209800"/>
          </a:xfrm>
        </p:grpSpPr>
        <p:grpSp>
          <p:nvGrpSpPr>
            <p:cNvPr id="2" name="Group 42"/>
            <p:cNvGrpSpPr>
              <a:grpSpLocks/>
            </p:cNvGrpSpPr>
            <p:nvPr/>
          </p:nvGrpSpPr>
          <p:grpSpPr bwMode="auto">
            <a:xfrm>
              <a:off x="3429000" y="2413000"/>
              <a:ext cx="2362200" cy="2209800"/>
              <a:chOff x="2208" y="1104"/>
              <a:chExt cx="1488" cy="1392"/>
            </a:xfrm>
          </p:grpSpPr>
          <p:sp>
            <p:nvSpPr>
              <p:cNvPr id="31758" name="Rectangle 43"/>
              <p:cNvSpPr>
                <a:spLocks noChangeArrowheads="1"/>
              </p:cNvSpPr>
              <p:nvPr/>
            </p:nvSpPr>
            <p:spPr bwMode="auto">
              <a:xfrm>
                <a:off x="2208" y="1104"/>
                <a:ext cx="1488" cy="13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59" name="Freeform 44"/>
              <p:cNvSpPr>
                <a:spLocks/>
              </p:cNvSpPr>
              <p:nvPr/>
            </p:nvSpPr>
            <p:spPr bwMode="auto">
              <a:xfrm>
                <a:off x="2496" y="1344"/>
                <a:ext cx="1008" cy="912"/>
              </a:xfrm>
              <a:custGeom>
                <a:avLst/>
                <a:gdLst>
                  <a:gd name="T0" fmla="*/ 0 w 1008"/>
                  <a:gd name="T1" fmla="*/ 912 h 912"/>
                  <a:gd name="T2" fmla="*/ 0 w 1008"/>
                  <a:gd name="T3" fmla="*/ 0 h 912"/>
                  <a:gd name="T4" fmla="*/ 1008 w 1008"/>
                  <a:gd name="T5" fmla="*/ 528 h 912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912"/>
                  <a:gd name="T11" fmla="*/ 1008 w 1008"/>
                  <a:gd name="T12" fmla="*/ 912 h 9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8" h="912">
                    <a:moveTo>
                      <a:pt x="0" y="912"/>
                    </a:moveTo>
                    <a:lnTo>
                      <a:pt x="0" y="0"/>
                    </a:lnTo>
                    <a:lnTo>
                      <a:pt x="1008" y="528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53" name="Rectangle 9"/>
            <p:cNvSpPr>
              <a:spLocks noChangeArrowheads="1"/>
            </p:cNvSpPr>
            <p:nvPr/>
          </p:nvSpPr>
          <p:spPr bwMode="auto">
            <a:xfrm>
              <a:off x="3629025" y="3352800"/>
              <a:ext cx="485775" cy="4699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772400" y="3200400"/>
            <a:ext cx="2362200" cy="2209800"/>
            <a:chOff x="6248400" y="2413000"/>
            <a:chExt cx="2362200" cy="2209800"/>
          </a:xfrm>
        </p:grpSpPr>
        <p:grpSp>
          <p:nvGrpSpPr>
            <p:cNvPr id="3" name="Group 94"/>
            <p:cNvGrpSpPr>
              <a:grpSpLocks/>
            </p:cNvGrpSpPr>
            <p:nvPr/>
          </p:nvGrpSpPr>
          <p:grpSpPr bwMode="auto">
            <a:xfrm>
              <a:off x="6248400" y="2413000"/>
              <a:ext cx="2362200" cy="2209800"/>
              <a:chOff x="2208" y="1104"/>
              <a:chExt cx="1488" cy="1392"/>
            </a:xfrm>
          </p:grpSpPr>
          <p:sp>
            <p:nvSpPr>
              <p:cNvPr id="31756" name="Rectangle 95"/>
              <p:cNvSpPr>
                <a:spLocks noChangeArrowheads="1"/>
              </p:cNvSpPr>
              <p:nvPr/>
            </p:nvSpPr>
            <p:spPr bwMode="auto">
              <a:xfrm>
                <a:off x="2208" y="1104"/>
                <a:ext cx="1488" cy="13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57" name="Freeform 96"/>
              <p:cNvSpPr>
                <a:spLocks/>
              </p:cNvSpPr>
              <p:nvPr/>
            </p:nvSpPr>
            <p:spPr bwMode="auto">
              <a:xfrm>
                <a:off x="2496" y="1344"/>
                <a:ext cx="1008" cy="912"/>
              </a:xfrm>
              <a:custGeom>
                <a:avLst/>
                <a:gdLst>
                  <a:gd name="T0" fmla="*/ 0 w 1008"/>
                  <a:gd name="T1" fmla="*/ 912 h 912"/>
                  <a:gd name="T2" fmla="*/ 0 w 1008"/>
                  <a:gd name="T3" fmla="*/ 0 h 912"/>
                  <a:gd name="T4" fmla="*/ 1008 w 1008"/>
                  <a:gd name="T5" fmla="*/ 528 h 912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912"/>
                  <a:gd name="T11" fmla="*/ 1008 w 1008"/>
                  <a:gd name="T12" fmla="*/ 912 h 9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8" h="912">
                    <a:moveTo>
                      <a:pt x="0" y="912"/>
                    </a:moveTo>
                    <a:lnTo>
                      <a:pt x="0" y="0"/>
                    </a:lnTo>
                    <a:lnTo>
                      <a:pt x="1008" y="528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54" name="Rectangle 10"/>
            <p:cNvSpPr>
              <a:spLocks noChangeArrowheads="1"/>
            </p:cNvSpPr>
            <p:nvPr/>
          </p:nvSpPr>
          <p:spPr bwMode="auto">
            <a:xfrm>
              <a:off x="6477000" y="2590800"/>
              <a:ext cx="485775" cy="4699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8153400" y="6553199"/>
            <a:ext cx="3962400" cy="480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200" dirty="0"/>
              <a:t>Credit: S. Seitz, D. </a:t>
            </a:r>
            <a:r>
              <a:rPr lang="en-US" sz="1200" dirty="0" err="1"/>
              <a:t>Frolova</a:t>
            </a:r>
            <a:r>
              <a:rPr lang="en-US" sz="1200" dirty="0"/>
              <a:t>, D. </a:t>
            </a:r>
            <a:r>
              <a:rPr lang="en-US" sz="1200" dirty="0" err="1"/>
              <a:t>Simakov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Local measures of uniqueness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4953000" y="3200400"/>
            <a:ext cx="2362200" cy="2209800"/>
            <a:chOff x="3429000" y="3886200"/>
            <a:chExt cx="2362200" cy="2209800"/>
          </a:xfrm>
        </p:grpSpPr>
        <p:grpSp>
          <p:nvGrpSpPr>
            <p:cNvPr id="2" name="Group 42"/>
            <p:cNvGrpSpPr>
              <a:grpSpLocks/>
            </p:cNvGrpSpPr>
            <p:nvPr/>
          </p:nvGrpSpPr>
          <p:grpSpPr bwMode="auto">
            <a:xfrm>
              <a:off x="3429000" y="3886200"/>
              <a:ext cx="2362200" cy="2209800"/>
              <a:chOff x="2208" y="1104"/>
              <a:chExt cx="1488" cy="1392"/>
            </a:xfrm>
          </p:grpSpPr>
          <p:sp>
            <p:nvSpPr>
              <p:cNvPr id="33824" name="Rectangle 43"/>
              <p:cNvSpPr>
                <a:spLocks noChangeArrowheads="1"/>
              </p:cNvSpPr>
              <p:nvPr/>
            </p:nvSpPr>
            <p:spPr bwMode="auto">
              <a:xfrm>
                <a:off x="2208" y="1104"/>
                <a:ext cx="1488" cy="13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5" name="Freeform 44"/>
              <p:cNvSpPr>
                <a:spLocks/>
              </p:cNvSpPr>
              <p:nvPr/>
            </p:nvSpPr>
            <p:spPr bwMode="auto">
              <a:xfrm>
                <a:off x="2496" y="1344"/>
                <a:ext cx="1008" cy="912"/>
              </a:xfrm>
              <a:custGeom>
                <a:avLst/>
                <a:gdLst>
                  <a:gd name="T0" fmla="*/ 0 w 1008"/>
                  <a:gd name="T1" fmla="*/ 912 h 912"/>
                  <a:gd name="T2" fmla="*/ 0 w 1008"/>
                  <a:gd name="T3" fmla="*/ 0 h 912"/>
                  <a:gd name="T4" fmla="*/ 1008 w 1008"/>
                  <a:gd name="T5" fmla="*/ 528 h 912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912"/>
                  <a:gd name="T11" fmla="*/ 1008 w 1008"/>
                  <a:gd name="T12" fmla="*/ 912 h 9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8" h="912">
                    <a:moveTo>
                      <a:pt x="0" y="912"/>
                    </a:moveTo>
                    <a:lnTo>
                      <a:pt x="0" y="0"/>
                    </a:lnTo>
                    <a:lnTo>
                      <a:pt x="1008" y="528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" name="Group 45"/>
            <p:cNvGrpSpPr>
              <a:grpSpLocks/>
            </p:cNvGrpSpPr>
            <p:nvPr/>
          </p:nvGrpSpPr>
          <p:grpSpPr bwMode="auto">
            <a:xfrm>
              <a:off x="3505200" y="4724400"/>
              <a:ext cx="703263" cy="677863"/>
              <a:chOff x="892" y="1801"/>
              <a:chExt cx="443" cy="427"/>
            </a:xfrm>
          </p:grpSpPr>
          <p:sp>
            <p:nvSpPr>
              <p:cNvPr id="33819" name="Rectangle 46"/>
              <p:cNvSpPr>
                <a:spLocks noChangeArrowheads="1"/>
              </p:cNvSpPr>
              <p:nvPr/>
            </p:nvSpPr>
            <p:spPr bwMode="auto">
              <a:xfrm>
                <a:off x="960" y="1872"/>
                <a:ext cx="306" cy="296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Line 47"/>
              <p:cNvSpPr>
                <a:spLocks noChangeShapeType="1"/>
              </p:cNvSpPr>
              <p:nvPr/>
            </p:nvSpPr>
            <p:spPr bwMode="auto">
              <a:xfrm flipV="1">
                <a:off x="1263" y="1811"/>
                <a:ext cx="57" cy="6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1" name="Line 48"/>
              <p:cNvSpPr>
                <a:spLocks noChangeShapeType="1"/>
              </p:cNvSpPr>
              <p:nvPr/>
            </p:nvSpPr>
            <p:spPr bwMode="auto">
              <a:xfrm>
                <a:off x="1275" y="2169"/>
                <a:ext cx="60" cy="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2" name="Line 49"/>
              <p:cNvSpPr>
                <a:spLocks noChangeShapeType="1"/>
              </p:cNvSpPr>
              <p:nvPr/>
            </p:nvSpPr>
            <p:spPr bwMode="auto">
              <a:xfrm flipH="1">
                <a:off x="892" y="2170"/>
                <a:ext cx="68" cy="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3" name="Line 50"/>
              <p:cNvSpPr>
                <a:spLocks noChangeShapeType="1"/>
              </p:cNvSpPr>
              <p:nvPr/>
            </p:nvSpPr>
            <p:spPr bwMode="auto">
              <a:xfrm flipH="1" flipV="1">
                <a:off x="898" y="1801"/>
                <a:ext cx="62" cy="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2057400" y="3200400"/>
            <a:ext cx="2362200" cy="2209800"/>
            <a:chOff x="533400" y="3886200"/>
            <a:chExt cx="2362200" cy="2209800"/>
          </a:xfrm>
        </p:grpSpPr>
        <p:sp>
          <p:nvSpPr>
            <p:cNvPr id="33795" name="Rectangle 3"/>
            <p:cNvSpPr>
              <a:spLocks noChangeArrowheads="1"/>
            </p:cNvSpPr>
            <p:nvPr/>
          </p:nvSpPr>
          <p:spPr bwMode="auto">
            <a:xfrm>
              <a:off x="533400" y="3886200"/>
              <a:ext cx="2362200" cy="22098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99" name="Freeform 41"/>
            <p:cNvSpPr>
              <a:spLocks/>
            </p:cNvSpPr>
            <p:nvPr/>
          </p:nvSpPr>
          <p:spPr bwMode="auto">
            <a:xfrm>
              <a:off x="990600" y="4267200"/>
              <a:ext cx="1600200" cy="1447800"/>
            </a:xfrm>
            <a:custGeom>
              <a:avLst/>
              <a:gdLst>
                <a:gd name="T0" fmla="*/ 0 w 1008"/>
                <a:gd name="T1" fmla="*/ 2147483647 h 912"/>
                <a:gd name="T2" fmla="*/ 0 w 1008"/>
                <a:gd name="T3" fmla="*/ 0 h 912"/>
                <a:gd name="T4" fmla="*/ 2147483647 w 1008"/>
                <a:gd name="T5" fmla="*/ 2147483647 h 912"/>
                <a:gd name="T6" fmla="*/ 0 60000 65536"/>
                <a:gd name="T7" fmla="*/ 0 60000 65536"/>
                <a:gd name="T8" fmla="*/ 0 60000 65536"/>
                <a:gd name="T9" fmla="*/ 0 w 1008"/>
                <a:gd name="T10" fmla="*/ 0 h 912"/>
                <a:gd name="T11" fmla="*/ 1008 w 1008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912">
                  <a:moveTo>
                    <a:pt x="0" y="912"/>
                  </a:moveTo>
                  <a:lnTo>
                    <a:pt x="0" y="0"/>
                  </a:lnTo>
                  <a:lnTo>
                    <a:pt x="1008" y="528"/>
                  </a:lnTo>
                </a:path>
              </a:pathLst>
            </a:cu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201738" y="4884738"/>
              <a:ext cx="703262" cy="677862"/>
              <a:chOff x="892" y="1801"/>
              <a:chExt cx="443" cy="427"/>
            </a:xfrm>
          </p:grpSpPr>
          <p:sp>
            <p:nvSpPr>
              <p:cNvPr id="33812" name="Rectangle 46"/>
              <p:cNvSpPr>
                <a:spLocks noChangeArrowheads="1"/>
              </p:cNvSpPr>
              <p:nvPr/>
            </p:nvSpPr>
            <p:spPr bwMode="auto">
              <a:xfrm>
                <a:off x="960" y="1872"/>
                <a:ext cx="306" cy="296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" name="Line 47"/>
              <p:cNvSpPr>
                <a:spLocks noChangeShapeType="1"/>
              </p:cNvSpPr>
              <p:nvPr/>
            </p:nvSpPr>
            <p:spPr bwMode="auto">
              <a:xfrm flipV="1">
                <a:off x="1263" y="1811"/>
                <a:ext cx="57" cy="6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4" name="Line 48"/>
              <p:cNvSpPr>
                <a:spLocks noChangeShapeType="1"/>
              </p:cNvSpPr>
              <p:nvPr/>
            </p:nvSpPr>
            <p:spPr bwMode="auto">
              <a:xfrm>
                <a:off x="1275" y="2169"/>
                <a:ext cx="60" cy="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5" name="Line 49"/>
              <p:cNvSpPr>
                <a:spLocks noChangeShapeType="1"/>
              </p:cNvSpPr>
              <p:nvPr/>
            </p:nvSpPr>
            <p:spPr bwMode="auto">
              <a:xfrm flipH="1">
                <a:off x="892" y="2170"/>
                <a:ext cx="68" cy="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6" name="Line 50"/>
              <p:cNvSpPr>
                <a:spLocks noChangeShapeType="1"/>
              </p:cNvSpPr>
              <p:nvPr/>
            </p:nvSpPr>
            <p:spPr bwMode="auto">
              <a:xfrm flipH="1" flipV="1">
                <a:off x="898" y="1801"/>
                <a:ext cx="62" cy="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7" name="Group 36"/>
          <p:cNvGrpSpPr/>
          <p:nvPr/>
        </p:nvGrpSpPr>
        <p:grpSpPr>
          <a:xfrm>
            <a:off x="7772400" y="3200400"/>
            <a:ext cx="2362200" cy="2209800"/>
            <a:chOff x="6248400" y="3886200"/>
            <a:chExt cx="2362200" cy="2209800"/>
          </a:xfrm>
        </p:grpSpPr>
        <p:grpSp>
          <p:nvGrpSpPr>
            <p:cNvPr id="4" name="Group 94"/>
            <p:cNvGrpSpPr>
              <a:grpSpLocks/>
            </p:cNvGrpSpPr>
            <p:nvPr/>
          </p:nvGrpSpPr>
          <p:grpSpPr bwMode="auto">
            <a:xfrm>
              <a:off x="6248400" y="3886200"/>
              <a:ext cx="2362200" cy="2209800"/>
              <a:chOff x="2208" y="1104"/>
              <a:chExt cx="1488" cy="1392"/>
            </a:xfrm>
          </p:grpSpPr>
          <p:sp>
            <p:nvSpPr>
              <p:cNvPr id="33817" name="Rectangle 95"/>
              <p:cNvSpPr>
                <a:spLocks noChangeArrowheads="1"/>
              </p:cNvSpPr>
              <p:nvPr/>
            </p:nvSpPr>
            <p:spPr bwMode="auto">
              <a:xfrm>
                <a:off x="2208" y="1104"/>
                <a:ext cx="1488" cy="13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8" name="Freeform 96"/>
              <p:cNvSpPr>
                <a:spLocks/>
              </p:cNvSpPr>
              <p:nvPr/>
            </p:nvSpPr>
            <p:spPr bwMode="auto">
              <a:xfrm>
                <a:off x="2496" y="1344"/>
                <a:ext cx="1008" cy="912"/>
              </a:xfrm>
              <a:custGeom>
                <a:avLst/>
                <a:gdLst>
                  <a:gd name="T0" fmla="*/ 0 w 1008"/>
                  <a:gd name="T1" fmla="*/ 912 h 912"/>
                  <a:gd name="T2" fmla="*/ 0 w 1008"/>
                  <a:gd name="T3" fmla="*/ 0 h 912"/>
                  <a:gd name="T4" fmla="*/ 1008 w 1008"/>
                  <a:gd name="T5" fmla="*/ 528 h 912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912"/>
                  <a:gd name="T11" fmla="*/ 1008 w 1008"/>
                  <a:gd name="T12" fmla="*/ 912 h 9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8" h="912">
                    <a:moveTo>
                      <a:pt x="0" y="912"/>
                    </a:moveTo>
                    <a:lnTo>
                      <a:pt x="0" y="0"/>
                    </a:lnTo>
                    <a:lnTo>
                      <a:pt x="1008" y="528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6383338" y="3962400"/>
              <a:ext cx="703262" cy="677863"/>
              <a:chOff x="892" y="1801"/>
              <a:chExt cx="443" cy="427"/>
            </a:xfrm>
          </p:grpSpPr>
          <p:sp>
            <p:nvSpPr>
              <p:cNvPr id="33807" name="Rectangle 46"/>
              <p:cNvSpPr>
                <a:spLocks noChangeArrowheads="1"/>
              </p:cNvSpPr>
              <p:nvPr/>
            </p:nvSpPr>
            <p:spPr bwMode="auto">
              <a:xfrm>
                <a:off x="960" y="1872"/>
                <a:ext cx="306" cy="296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08" name="Line 47"/>
              <p:cNvSpPr>
                <a:spLocks noChangeShapeType="1"/>
              </p:cNvSpPr>
              <p:nvPr/>
            </p:nvSpPr>
            <p:spPr bwMode="auto">
              <a:xfrm flipV="1">
                <a:off x="1263" y="1811"/>
                <a:ext cx="57" cy="6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09" name="Line 48"/>
              <p:cNvSpPr>
                <a:spLocks noChangeShapeType="1"/>
              </p:cNvSpPr>
              <p:nvPr/>
            </p:nvSpPr>
            <p:spPr bwMode="auto">
              <a:xfrm>
                <a:off x="1275" y="2169"/>
                <a:ext cx="60" cy="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0" name="Line 49"/>
              <p:cNvSpPr>
                <a:spLocks noChangeShapeType="1"/>
              </p:cNvSpPr>
              <p:nvPr/>
            </p:nvSpPr>
            <p:spPr bwMode="auto">
              <a:xfrm flipH="1">
                <a:off x="892" y="2170"/>
                <a:ext cx="68" cy="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1" name="Line 50"/>
              <p:cNvSpPr>
                <a:spLocks noChangeShapeType="1"/>
              </p:cNvSpPr>
              <p:nvPr/>
            </p:nvSpPr>
            <p:spPr bwMode="auto">
              <a:xfrm flipH="1" flipV="1">
                <a:off x="898" y="1801"/>
                <a:ext cx="62" cy="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3802" name="Text Box 4"/>
          <p:cNvSpPr txBox="1">
            <a:spLocks noChangeArrowheads="1"/>
          </p:cNvSpPr>
          <p:nvPr/>
        </p:nvSpPr>
        <p:spPr bwMode="auto">
          <a:xfrm>
            <a:off x="2286000" y="5384800"/>
            <a:ext cx="20574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99"/>
                </a:solidFill>
                <a:cs typeface="Times New Roman" pitchFamily="18" charset="0"/>
              </a:rPr>
              <a:t>“flat”</a:t>
            </a:r>
            <a:r>
              <a:rPr lang="en-US" sz="2000" dirty="0">
                <a:cs typeface="Times New Roman" pitchFamily="18" charset="0"/>
              </a:rPr>
              <a:t> region:</a:t>
            </a:r>
            <a:br>
              <a:rPr lang="en-US" sz="2000" dirty="0">
                <a:cs typeface="Times New Roman" pitchFamily="18" charset="0"/>
              </a:rPr>
            </a:br>
            <a:r>
              <a:rPr lang="en-US" sz="2000" dirty="0">
                <a:cs typeface="Times New Roman" pitchFamily="18" charset="0"/>
              </a:rPr>
              <a:t>no change in all directions</a:t>
            </a:r>
            <a:endParaRPr lang="ru-RU" sz="2000" dirty="0">
              <a:cs typeface="Times New Roman" pitchFamily="18" charset="0"/>
            </a:endParaRPr>
          </a:p>
        </p:txBody>
      </p:sp>
      <p:sp>
        <p:nvSpPr>
          <p:cNvPr id="33803" name="Text Box 93"/>
          <p:cNvSpPr txBox="1">
            <a:spLocks noChangeArrowheads="1"/>
          </p:cNvSpPr>
          <p:nvPr/>
        </p:nvSpPr>
        <p:spPr bwMode="auto">
          <a:xfrm>
            <a:off x="4953000" y="5384800"/>
            <a:ext cx="24384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99"/>
                </a:solidFill>
                <a:cs typeface="Times New Roman" pitchFamily="18" charset="0"/>
              </a:rPr>
              <a:t>“edge”</a:t>
            </a:r>
            <a:r>
              <a:rPr lang="en-US" sz="2000" dirty="0">
                <a:cs typeface="Times New Roman" pitchFamily="18" charset="0"/>
              </a:rPr>
              <a:t>:  </a:t>
            </a:r>
          </a:p>
          <a:p>
            <a:r>
              <a:rPr lang="en-US" sz="2000" dirty="0">
                <a:cs typeface="Times New Roman" pitchFamily="18" charset="0"/>
              </a:rPr>
              <a:t>no change along the edge direction</a:t>
            </a:r>
            <a:endParaRPr lang="ru-RU" sz="2000" dirty="0">
              <a:cs typeface="Times New Roman" pitchFamily="18" charset="0"/>
            </a:endParaRPr>
          </a:p>
        </p:txBody>
      </p:sp>
      <p:sp>
        <p:nvSpPr>
          <p:cNvPr id="33804" name="Text Box 145"/>
          <p:cNvSpPr txBox="1">
            <a:spLocks noChangeArrowheads="1"/>
          </p:cNvSpPr>
          <p:nvPr/>
        </p:nvSpPr>
        <p:spPr bwMode="auto">
          <a:xfrm>
            <a:off x="7772400" y="5359400"/>
            <a:ext cx="24384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99"/>
                </a:solidFill>
                <a:cs typeface="Times New Roman" pitchFamily="18" charset="0"/>
              </a:rPr>
              <a:t>“corner”</a:t>
            </a:r>
            <a:r>
              <a:rPr lang="en-US" sz="2000" dirty="0">
                <a:cs typeface="Times New Roman" pitchFamily="18" charset="0"/>
              </a:rPr>
              <a:t>:</a:t>
            </a:r>
            <a:br>
              <a:rPr lang="en-US" sz="2000" dirty="0">
                <a:cs typeface="Times New Roman" pitchFamily="18" charset="0"/>
              </a:rPr>
            </a:br>
            <a:r>
              <a:rPr lang="en-US" sz="2000" dirty="0">
                <a:cs typeface="Times New Roman" pitchFamily="18" charset="0"/>
              </a:rPr>
              <a:t>significant change in all directions</a:t>
            </a:r>
            <a:endParaRPr lang="ru-RU" sz="2000" dirty="0">
              <a:cs typeface="Times New Roman" pitchFamily="18" charset="0"/>
            </a:endParaRP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1295400" y="1600201"/>
            <a:ext cx="9601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/>
              <a:t>How does the window change when you shift it?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/>
              <a:t>Shifting the window in any direction causes a big change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8153400" y="6553200"/>
            <a:ext cx="3276600" cy="397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200" dirty="0"/>
              <a:t>Credit: S. Seitz, D. </a:t>
            </a:r>
            <a:r>
              <a:rPr lang="en-US" sz="1200" dirty="0" err="1"/>
              <a:t>Frolova</a:t>
            </a:r>
            <a:r>
              <a:rPr lang="en-US" sz="1200" dirty="0"/>
              <a:t>, D. </a:t>
            </a:r>
            <a:r>
              <a:rPr lang="en-US" sz="1200" dirty="0" err="1"/>
              <a:t>Simakov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"/>
          <p:cNvSpPr>
            <a:spLocks noChangeArrowheads="1"/>
          </p:cNvSpPr>
          <p:nvPr/>
        </p:nvSpPr>
        <p:spPr bwMode="auto">
          <a:xfrm>
            <a:off x="765207" y="1600200"/>
            <a:ext cx="9216993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Consider shifting the window </a:t>
            </a:r>
            <a:r>
              <a:rPr lang="en-US" sz="2800" i="1" dirty="0"/>
              <a:t>W</a:t>
            </a:r>
            <a:r>
              <a:rPr lang="en-US" sz="2800" dirty="0"/>
              <a:t> by (</a:t>
            </a:r>
            <a:r>
              <a:rPr lang="en-US" sz="2800" i="1" dirty="0" err="1"/>
              <a:t>u,v</a:t>
            </a:r>
            <a:r>
              <a:rPr lang="en-US" sz="2800" dirty="0"/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how do the pixels in W change?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compare each pixel before and after by</a:t>
            </a:r>
            <a:br>
              <a:rPr lang="en-US" sz="2400" dirty="0"/>
            </a:br>
            <a:r>
              <a:rPr lang="en-US" sz="2400" dirty="0"/>
              <a:t>summing up the squared differences (SSD)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this defines an SSD “error” </a:t>
            </a:r>
            <a:r>
              <a:rPr lang="en-US" sz="2400" i="1" dirty="0"/>
              <a:t>E</a:t>
            </a:r>
            <a:r>
              <a:rPr lang="en-US" sz="2400" dirty="0"/>
              <a:t>(</a:t>
            </a:r>
            <a:r>
              <a:rPr lang="en-US" sz="2400" i="1" dirty="0" err="1"/>
              <a:t>u,v</a:t>
            </a:r>
            <a:r>
              <a:rPr lang="en-US" sz="2400" dirty="0"/>
              <a:t>):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800" dirty="0"/>
          </a:p>
          <a:p>
            <a:pPr lvl="1">
              <a:spcBef>
                <a:spcPct val="20000"/>
              </a:spcBef>
            </a:pPr>
            <a:endParaRPr lang="en-US" sz="2800" dirty="0"/>
          </a:p>
          <a:p>
            <a:pPr lvl="1">
              <a:spcBef>
                <a:spcPct val="20000"/>
              </a:spcBef>
            </a:pPr>
            <a:endParaRPr lang="en-US" sz="12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We are pretty happy if this error is high for some offset (</a:t>
            </a:r>
            <a:r>
              <a:rPr lang="en-US" sz="2400" i="1" dirty="0"/>
              <a:t>u, v</a:t>
            </a:r>
            <a:r>
              <a:rPr lang="en-US" sz="2400" dirty="0"/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We are very happy if this error is high </a:t>
            </a:r>
            <a:r>
              <a:rPr lang="en-US" sz="2400" i="1" dirty="0"/>
              <a:t>for all offsets </a:t>
            </a:r>
            <a:r>
              <a:rPr lang="en-US" sz="2400" dirty="0"/>
              <a:t>(</a:t>
            </a:r>
            <a:r>
              <a:rPr lang="en-US" sz="2400" i="1" dirty="0" err="1"/>
              <a:t>u</a:t>
            </a:r>
            <a:r>
              <a:rPr lang="en-US" sz="2400" dirty="0" err="1"/>
              <a:t>,</a:t>
            </a:r>
            <a:r>
              <a:rPr lang="en-US" sz="2400" i="1" dirty="0" err="1"/>
              <a:t>v</a:t>
            </a:r>
            <a:r>
              <a:rPr lang="en-US" sz="2400" dirty="0"/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But, slow to compute exactly for each pixel and each offset (</a:t>
            </a:r>
            <a:r>
              <a:rPr lang="en-US" sz="2400" i="1" dirty="0" err="1"/>
              <a:t>u</a:t>
            </a:r>
            <a:r>
              <a:rPr lang="en-US" sz="2400" dirty="0" err="1"/>
              <a:t>,</a:t>
            </a:r>
            <a:r>
              <a:rPr lang="en-US" sz="2400" i="1" dirty="0" err="1"/>
              <a:t>v</a:t>
            </a:r>
            <a:r>
              <a:rPr lang="en-US" sz="2400" dirty="0"/>
              <a:t>)</a:t>
            </a:r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Harris corner detection:  the math</a:t>
            </a:r>
          </a:p>
        </p:txBody>
      </p:sp>
      <p:pic>
        <p:nvPicPr>
          <p:cNvPr id="34820" name="Picture 35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22408" y="4038600"/>
            <a:ext cx="650240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8382000" y="2057400"/>
            <a:ext cx="2362200" cy="2209800"/>
            <a:chOff x="2208" y="1104"/>
            <a:chExt cx="1488" cy="1392"/>
          </a:xfrm>
        </p:grpSpPr>
        <p:sp>
          <p:nvSpPr>
            <p:cNvPr id="34826" name="Rectangle 43"/>
            <p:cNvSpPr>
              <a:spLocks noChangeArrowheads="1"/>
            </p:cNvSpPr>
            <p:nvPr/>
          </p:nvSpPr>
          <p:spPr bwMode="auto">
            <a:xfrm>
              <a:off x="2208" y="1104"/>
              <a:ext cx="1488" cy="139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7" name="Freeform 44"/>
            <p:cNvSpPr>
              <a:spLocks/>
            </p:cNvSpPr>
            <p:nvPr/>
          </p:nvSpPr>
          <p:spPr bwMode="auto">
            <a:xfrm>
              <a:off x="2592" y="1344"/>
              <a:ext cx="1008" cy="912"/>
            </a:xfrm>
            <a:custGeom>
              <a:avLst/>
              <a:gdLst>
                <a:gd name="T0" fmla="*/ 0 w 1008"/>
                <a:gd name="T1" fmla="*/ 912 h 912"/>
                <a:gd name="T2" fmla="*/ 0 w 1008"/>
                <a:gd name="T3" fmla="*/ 0 h 912"/>
                <a:gd name="T4" fmla="*/ 1008 w 1008"/>
                <a:gd name="T5" fmla="*/ 528 h 912"/>
                <a:gd name="T6" fmla="*/ 0 60000 65536"/>
                <a:gd name="T7" fmla="*/ 0 60000 65536"/>
                <a:gd name="T8" fmla="*/ 0 60000 65536"/>
                <a:gd name="T9" fmla="*/ 0 w 1008"/>
                <a:gd name="T10" fmla="*/ 0 h 912"/>
                <a:gd name="T11" fmla="*/ 1008 w 1008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912">
                  <a:moveTo>
                    <a:pt x="0" y="912"/>
                  </a:moveTo>
                  <a:lnTo>
                    <a:pt x="0" y="0"/>
                  </a:lnTo>
                  <a:lnTo>
                    <a:pt x="1008" y="528"/>
                  </a:lnTo>
                </a:path>
              </a:pathLst>
            </a:cu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22" name="Rectangle 46"/>
          <p:cNvSpPr>
            <a:spLocks noChangeArrowheads="1"/>
          </p:cNvSpPr>
          <p:nvPr/>
        </p:nvSpPr>
        <p:spPr bwMode="auto">
          <a:xfrm>
            <a:off x="8718551" y="3008313"/>
            <a:ext cx="485775" cy="4699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8915401" y="3263900"/>
            <a:ext cx="485775" cy="4699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4824" name="Straight Arrow Connector 27"/>
          <p:cNvCxnSpPr>
            <a:cxnSpLocks noChangeShapeType="1"/>
          </p:cNvCxnSpPr>
          <p:nvPr/>
        </p:nvCxnSpPr>
        <p:spPr bwMode="auto">
          <a:xfrm rot="16200000" flipH="1">
            <a:off x="8689182" y="3037682"/>
            <a:ext cx="255587" cy="196850"/>
          </a:xfrm>
          <a:prstGeom prst="straightConnector1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</p:spPr>
      </p:cxn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8950082" y="2974978"/>
            <a:ext cx="320922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200" i="1" dirty="0"/>
              <a:t>W</a:t>
            </a:r>
            <a:endParaRPr lang="en-US" sz="1400" i="1" baseline="-25000" dirty="0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8524569" y="3070281"/>
            <a:ext cx="372218" cy="20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200" baseline="-25000" dirty="0"/>
              <a:t>(</a:t>
            </a:r>
            <a:r>
              <a:rPr lang="en-US" sz="1200" baseline="-25000" dirty="0" err="1"/>
              <a:t>u,v</a:t>
            </a:r>
            <a:r>
              <a:rPr lang="en-US" sz="1200" baseline="-25000" dirty="0"/>
              <a:t>)</a:t>
            </a:r>
            <a:endParaRPr lang="en-US" sz="14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41369-0427-415C-B5DC-B84561C61C30}"/>
              </a:ext>
            </a:extLst>
          </p:cNvPr>
          <p:cNvSpPr txBox="1"/>
          <p:nvPr/>
        </p:nvSpPr>
        <p:spPr>
          <a:xfrm>
            <a:off x="8077200" y="6334781"/>
            <a:ext cx="434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02122"/>
                </a:solidFill>
                <a:effectLst/>
                <a:latin typeface="+mj-lt"/>
              </a:rPr>
              <a:t>Chris Harris and Mike Stephens (1988). "A Combined Corner and Edge Detector". </a:t>
            </a:r>
            <a:r>
              <a:rPr lang="en-US" sz="1400" b="0" i="1" dirty="0" err="1">
                <a:solidFill>
                  <a:srgbClr val="202122"/>
                </a:solidFill>
                <a:effectLst/>
                <a:latin typeface="+mj-lt"/>
              </a:rPr>
              <a:t>Alvey</a:t>
            </a:r>
            <a:r>
              <a:rPr lang="en-US" sz="1400" b="0" i="1" dirty="0">
                <a:solidFill>
                  <a:srgbClr val="202122"/>
                </a:solidFill>
                <a:effectLst/>
                <a:latin typeface="+mj-lt"/>
              </a:rPr>
              <a:t> Vision Conference</a:t>
            </a:r>
            <a:r>
              <a:rPr lang="en-US" sz="1400" b="0" i="0" dirty="0">
                <a:solidFill>
                  <a:srgbClr val="202122"/>
                </a:solidFill>
                <a:effectLst/>
                <a:latin typeface="+mj-lt"/>
              </a:rPr>
              <a:t>.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"/>
          <p:cNvSpPr>
            <a:spLocks noChangeArrowheads="1"/>
          </p:cNvSpPr>
          <p:nvPr/>
        </p:nvSpPr>
        <p:spPr bwMode="auto">
          <a:xfrm>
            <a:off x="1600200" y="1295400"/>
            <a:ext cx="9372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/>
              <a:t>Taylor Series expansion of </a:t>
            </a:r>
            <a:r>
              <a:rPr lang="en-US" sz="2000" i="1" dirty="0"/>
              <a:t>I</a:t>
            </a:r>
            <a:r>
              <a:rPr lang="en-US" sz="2000" dirty="0"/>
              <a:t>:</a:t>
            </a:r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r>
              <a:rPr lang="en-US" sz="2000" dirty="0"/>
              <a:t>If the motion (</a:t>
            </a:r>
            <a:r>
              <a:rPr lang="en-US" sz="2000" i="1" dirty="0"/>
              <a:t>u</a:t>
            </a:r>
            <a:r>
              <a:rPr lang="en-US" sz="2000" dirty="0"/>
              <a:t>,</a:t>
            </a:r>
            <a:r>
              <a:rPr lang="en-US" sz="2000" i="1" dirty="0"/>
              <a:t> v</a:t>
            </a:r>
            <a:r>
              <a:rPr lang="en-US" sz="2000" dirty="0"/>
              <a:t>) is small, then first order approximation is good</a:t>
            </a:r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r>
              <a:rPr lang="en-US" sz="2000" dirty="0"/>
              <a:t>Plugging this into the formula on the previous slide…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</p:txBody>
      </p:sp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motion assumption</a:t>
            </a:r>
          </a:p>
        </p:txBody>
      </p:sp>
      <p:pic>
        <p:nvPicPr>
          <p:cNvPr id="36868" name="Content Placeholder 10" descr="Edittex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>
          <a:xfrm>
            <a:off x="2460172" y="2895600"/>
            <a:ext cx="5257800" cy="471488"/>
          </a:xfrm>
        </p:spPr>
      </p:pic>
      <p:pic>
        <p:nvPicPr>
          <p:cNvPr id="36869" name="Picture 14" descr="Edittex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14600" y="1752600"/>
            <a:ext cx="779145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0" name="Picture 22" descr="Edittex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670426" y="3352800"/>
            <a:ext cx="3254375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1" name="Picture 7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477126" y="4267200"/>
            <a:ext cx="2657475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detection:  the math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219200" y="1981200"/>
            <a:ext cx="6705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Consider shifting the window </a:t>
            </a:r>
            <a:r>
              <a:rPr lang="en-US" sz="2800" i="1" dirty="0"/>
              <a:t>W</a:t>
            </a:r>
            <a:r>
              <a:rPr lang="en-US" sz="2800" dirty="0"/>
              <a:t> by (</a:t>
            </a:r>
            <a:r>
              <a:rPr lang="en-US" sz="2800" i="1" dirty="0" err="1"/>
              <a:t>u,v</a:t>
            </a:r>
            <a:r>
              <a:rPr lang="en-US" sz="2800" dirty="0"/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define an SSD “error” </a:t>
            </a:r>
            <a:r>
              <a:rPr lang="en-US" sz="2400" i="1" dirty="0"/>
              <a:t>E(</a:t>
            </a:r>
            <a:r>
              <a:rPr lang="en-US" sz="2400" i="1" dirty="0" err="1"/>
              <a:t>u,v</a:t>
            </a:r>
            <a:r>
              <a:rPr lang="en-US" sz="2400" i="1" dirty="0"/>
              <a:t>)</a:t>
            </a:r>
            <a:r>
              <a:rPr lang="en-US" sz="2400" dirty="0"/>
              <a:t>: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800" dirty="0"/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8077200" y="1371600"/>
            <a:ext cx="2362200" cy="2209800"/>
            <a:chOff x="2208" y="1104"/>
            <a:chExt cx="1488" cy="1392"/>
          </a:xfrm>
        </p:grpSpPr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2208" y="1104"/>
              <a:ext cx="1488" cy="139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44"/>
            <p:cNvSpPr>
              <a:spLocks/>
            </p:cNvSpPr>
            <p:nvPr/>
          </p:nvSpPr>
          <p:spPr bwMode="auto">
            <a:xfrm>
              <a:off x="2592" y="1344"/>
              <a:ext cx="1008" cy="912"/>
            </a:xfrm>
            <a:custGeom>
              <a:avLst/>
              <a:gdLst>
                <a:gd name="T0" fmla="*/ 0 w 1008"/>
                <a:gd name="T1" fmla="*/ 912 h 912"/>
                <a:gd name="T2" fmla="*/ 0 w 1008"/>
                <a:gd name="T3" fmla="*/ 0 h 912"/>
                <a:gd name="T4" fmla="*/ 1008 w 1008"/>
                <a:gd name="T5" fmla="*/ 528 h 912"/>
                <a:gd name="T6" fmla="*/ 0 60000 65536"/>
                <a:gd name="T7" fmla="*/ 0 60000 65536"/>
                <a:gd name="T8" fmla="*/ 0 60000 65536"/>
                <a:gd name="T9" fmla="*/ 0 w 1008"/>
                <a:gd name="T10" fmla="*/ 0 h 912"/>
                <a:gd name="T11" fmla="*/ 1008 w 1008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912">
                  <a:moveTo>
                    <a:pt x="0" y="912"/>
                  </a:moveTo>
                  <a:lnTo>
                    <a:pt x="0" y="0"/>
                  </a:lnTo>
                  <a:lnTo>
                    <a:pt x="1008" y="528"/>
                  </a:lnTo>
                </a:path>
              </a:pathLst>
            </a:cu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8413751" y="2322513"/>
            <a:ext cx="485775" cy="4699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8610601" y="2578100"/>
            <a:ext cx="485775" cy="4699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8" name="Straight Arrow Connector 27"/>
          <p:cNvCxnSpPr>
            <a:cxnSpLocks noChangeShapeType="1"/>
          </p:cNvCxnSpPr>
          <p:nvPr/>
        </p:nvCxnSpPr>
        <p:spPr bwMode="auto">
          <a:xfrm rot="16200000" flipH="1">
            <a:off x="8384382" y="2351882"/>
            <a:ext cx="255587" cy="196850"/>
          </a:xfrm>
          <a:prstGeom prst="straightConnector1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</p:spPr>
      </p:cxnSp>
      <p:pic>
        <p:nvPicPr>
          <p:cNvPr id="211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1" y="3886201"/>
            <a:ext cx="7251653" cy="90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19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4800600"/>
            <a:ext cx="6278398" cy="935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19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22916" y="5730968"/>
            <a:ext cx="3719512" cy="898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8645282" y="2286000"/>
            <a:ext cx="320922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200" i="1" dirty="0"/>
              <a:t>W</a:t>
            </a:r>
            <a:endParaRPr lang="en-US" sz="1400" i="1" baseline="-25000" dirty="0"/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8219769" y="2381303"/>
            <a:ext cx="372218" cy="20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200" baseline="-25000" dirty="0"/>
              <a:t>(</a:t>
            </a:r>
            <a:r>
              <a:rPr lang="en-US" sz="1200" baseline="-25000" dirty="0" err="1"/>
              <a:t>u,v</a:t>
            </a:r>
            <a:r>
              <a:rPr lang="en-US" sz="1200" baseline="-25000" dirty="0"/>
              <a:t>)</a:t>
            </a:r>
            <a:endParaRPr lang="en-US" sz="1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detection:  the math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295400" y="1981200"/>
            <a:ext cx="7239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Consider shifting the window </a:t>
            </a:r>
            <a:r>
              <a:rPr lang="en-US" sz="2800" i="1" dirty="0"/>
              <a:t>W</a:t>
            </a:r>
            <a:r>
              <a:rPr lang="en-US" sz="2800" dirty="0"/>
              <a:t> by (</a:t>
            </a:r>
            <a:r>
              <a:rPr lang="en-US" sz="2800" i="1" dirty="0" err="1"/>
              <a:t>u,v</a:t>
            </a:r>
            <a:r>
              <a:rPr lang="en-US" sz="2800" dirty="0"/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define an SSD “error” </a:t>
            </a:r>
            <a:r>
              <a:rPr lang="en-US" sz="2400" i="1" dirty="0"/>
              <a:t>E(</a:t>
            </a:r>
            <a:r>
              <a:rPr lang="en-US" sz="2400" i="1" dirty="0" err="1"/>
              <a:t>u,v</a:t>
            </a:r>
            <a:r>
              <a:rPr lang="en-US" sz="2400" i="1" dirty="0"/>
              <a:t>)</a:t>
            </a:r>
            <a:r>
              <a:rPr lang="en-US" sz="2400" dirty="0"/>
              <a:t>: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800" dirty="0"/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8077200" y="1371600"/>
            <a:ext cx="2362200" cy="2209800"/>
            <a:chOff x="2208" y="1104"/>
            <a:chExt cx="1488" cy="1392"/>
          </a:xfrm>
        </p:grpSpPr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2208" y="1104"/>
              <a:ext cx="1488" cy="139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44"/>
            <p:cNvSpPr>
              <a:spLocks/>
            </p:cNvSpPr>
            <p:nvPr/>
          </p:nvSpPr>
          <p:spPr bwMode="auto">
            <a:xfrm>
              <a:off x="2592" y="1344"/>
              <a:ext cx="1008" cy="912"/>
            </a:xfrm>
            <a:custGeom>
              <a:avLst/>
              <a:gdLst>
                <a:gd name="T0" fmla="*/ 0 w 1008"/>
                <a:gd name="T1" fmla="*/ 912 h 912"/>
                <a:gd name="T2" fmla="*/ 0 w 1008"/>
                <a:gd name="T3" fmla="*/ 0 h 912"/>
                <a:gd name="T4" fmla="*/ 1008 w 1008"/>
                <a:gd name="T5" fmla="*/ 528 h 912"/>
                <a:gd name="T6" fmla="*/ 0 60000 65536"/>
                <a:gd name="T7" fmla="*/ 0 60000 65536"/>
                <a:gd name="T8" fmla="*/ 0 60000 65536"/>
                <a:gd name="T9" fmla="*/ 0 w 1008"/>
                <a:gd name="T10" fmla="*/ 0 h 912"/>
                <a:gd name="T11" fmla="*/ 1008 w 1008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912">
                  <a:moveTo>
                    <a:pt x="0" y="912"/>
                  </a:moveTo>
                  <a:lnTo>
                    <a:pt x="0" y="0"/>
                  </a:lnTo>
                  <a:lnTo>
                    <a:pt x="1008" y="528"/>
                  </a:lnTo>
                </a:path>
              </a:pathLst>
            </a:cu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8413751" y="2322513"/>
            <a:ext cx="485775" cy="4699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8610601" y="2578100"/>
            <a:ext cx="485775" cy="4699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8" name="Straight Arrow Connector 27"/>
          <p:cNvCxnSpPr>
            <a:cxnSpLocks noChangeShapeType="1"/>
          </p:cNvCxnSpPr>
          <p:nvPr/>
        </p:nvCxnSpPr>
        <p:spPr bwMode="auto">
          <a:xfrm rot="16200000" flipH="1">
            <a:off x="8384382" y="2351882"/>
            <a:ext cx="255587" cy="196850"/>
          </a:xfrm>
          <a:prstGeom prst="straightConnector1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</p:spPr>
      </p:cxnSp>
      <p:pic>
        <p:nvPicPr>
          <p:cNvPr id="2129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0354" y="5096152"/>
            <a:ext cx="2072528" cy="816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29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09131" y="5096152"/>
            <a:ext cx="2385174" cy="85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29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70554" y="5096152"/>
            <a:ext cx="2057400" cy="79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19"/>
          <p:cNvSpPr/>
          <p:nvPr/>
        </p:nvSpPr>
        <p:spPr>
          <a:xfrm>
            <a:off x="974555" y="6020096"/>
            <a:ext cx="8855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Thus, </a:t>
            </a:r>
            <a:r>
              <a:rPr lang="en-US" sz="2400" i="1" dirty="0"/>
              <a:t>E</a:t>
            </a:r>
            <a:r>
              <a:rPr lang="en-US" sz="2400" dirty="0"/>
              <a:t>(</a:t>
            </a:r>
            <a:r>
              <a:rPr lang="en-US" sz="2400" i="1" dirty="0" err="1"/>
              <a:t>u</a:t>
            </a:r>
            <a:r>
              <a:rPr lang="en-US" sz="2400" dirty="0" err="1"/>
              <a:t>,</a:t>
            </a:r>
            <a:r>
              <a:rPr lang="en-US" sz="2400" i="1" dirty="0" err="1"/>
              <a:t>v</a:t>
            </a:r>
            <a:r>
              <a:rPr lang="en-US" sz="2400" dirty="0"/>
              <a:t>) is locally approximated as a quadratic error function</a:t>
            </a:r>
          </a:p>
        </p:txBody>
      </p:sp>
      <p:pic>
        <p:nvPicPr>
          <p:cNvPr id="2129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84296" y="3276600"/>
            <a:ext cx="5638659" cy="1528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8645282" y="2286000"/>
            <a:ext cx="320922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200" i="1" dirty="0"/>
              <a:t>W</a:t>
            </a:r>
            <a:endParaRPr lang="en-US" sz="1400" i="1" baseline="-25000" dirty="0"/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8219769" y="2381303"/>
            <a:ext cx="372218" cy="20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200" baseline="-25000" dirty="0"/>
              <a:t>(</a:t>
            </a:r>
            <a:r>
              <a:rPr lang="en-US" sz="1200" baseline="-25000" dirty="0" err="1"/>
              <a:t>u,v</a:t>
            </a:r>
            <a:r>
              <a:rPr lang="en-US" sz="1200" baseline="-25000" dirty="0"/>
              <a:t>)</a:t>
            </a:r>
            <a:endParaRPr lang="en-US" sz="1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1447800" y="1173163"/>
            <a:ext cx="861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/>
              <a:t>The surface </a:t>
            </a:r>
            <a:r>
              <a:rPr lang="en-US" sz="2400" i="1" dirty="0"/>
              <a:t>E</a:t>
            </a:r>
            <a:r>
              <a:rPr lang="en-US" sz="2400" dirty="0"/>
              <a:t>(</a:t>
            </a:r>
            <a:r>
              <a:rPr lang="en-US" sz="2400" i="1" dirty="0" err="1"/>
              <a:t>u</a:t>
            </a:r>
            <a:r>
              <a:rPr lang="en-US" sz="2400" dirty="0" err="1"/>
              <a:t>,</a:t>
            </a:r>
            <a:r>
              <a:rPr lang="en-US" sz="2400" i="1" dirty="0" err="1"/>
              <a:t>v</a:t>
            </a:r>
            <a:r>
              <a:rPr lang="en-US" sz="2400" dirty="0"/>
              <a:t>) is locally approximated by a quadratic form. </a:t>
            </a:r>
          </a:p>
        </p:txBody>
      </p:sp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>
          <a:xfrm>
            <a:off x="569925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The second moment matrix</a:t>
            </a:r>
          </a:p>
        </p:txBody>
      </p:sp>
      <p:pic>
        <p:nvPicPr>
          <p:cNvPr id="5126" name="Picture 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91400" y="3886201"/>
            <a:ext cx="2895600" cy="276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402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5001" y="1676400"/>
            <a:ext cx="5559449" cy="585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1981200" y="2362200"/>
            <a:ext cx="6324600" cy="976021"/>
            <a:chOff x="838200" y="2667000"/>
            <a:chExt cx="7108372" cy="1096974"/>
          </a:xfrm>
        </p:grpSpPr>
        <p:pic>
          <p:nvPicPr>
            <p:cNvPr id="214020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143000" y="2667000"/>
              <a:ext cx="6803572" cy="1096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838200" y="2667002"/>
              <a:ext cx="1676400" cy="10667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62449" y="3588602"/>
            <a:ext cx="1811772" cy="71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29716" y="4572000"/>
            <a:ext cx="2085084" cy="74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161497" y="5559111"/>
            <a:ext cx="1798548" cy="69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Left Brace 17"/>
          <p:cNvSpPr>
            <a:spLocks/>
          </p:cNvSpPr>
          <p:nvPr/>
        </p:nvSpPr>
        <p:spPr bwMode="auto">
          <a:xfrm rot="-5400000">
            <a:off x="6242050" y="2820252"/>
            <a:ext cx="304800" cy="1536700"/>
          </a:xfrm>
          <a:prstGeom prst="leftBrace">
            <a:avLst>
              <a:gd name="adj1" fmla="val 83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20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72200" y="3893403"/>
            <a:ext cx="45720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4905524" y="6172200"/>
            <a:ext cx="3247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Let’s try to understand its shape.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1" y="457201"/>
            <a:ext cx="6053407" cy="976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90133" y="2906291"/>
            <a:ext cx="1811772" cy="71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57400" y="3889689"/>
            <a:ext cx="2085084" cy="74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89181" y="4876800"/>
            <a:ext cx="1798548" cy="69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Left Brace 17"/>
          <p:cNvSpPr>
            <a:spLocks/>
          </p:cNvSpPr>
          <p:nvPr/>
        </p:nvSpPr>
        <p:spPr bwMode="auto">
          <a:xfrm rot="-5400000">
            <a:off x="6864350" y="908050"/>
            <a:ext cx="304800" cy="1536700"/>
          </a:xfrm>
          <a:prstGeom prst="leftBrace">
            <a:avLst>
              <a:gd name="adj1" fmla="val 83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20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94500" y="1981201"/>
            <a:ext cx="45720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0" name="Group 19"/>
          <p:cNvGrpSpPr/>
          <p:nvPr/>
        </p:nvGrpSpPr>
        <p:grpSpPr>
          <a:xfrm>
            <a:off x="4772704" y="3048000"/>
            <a:ext cx="2362200" cy="2209800"/>
            <a:chOff x="3429000" y="2413000"/>
            <a:chExt cx="2362200" cy="2209800"/>
          </a:xfrm>
        </p:grpSpPr>
        <p:grpSp>
          <p:nvGrpSpPr>
            <p:cNvPr id="21" name="Group 42"/>
            <p:cNvGrpSpPr>
              <a:grpSpLocks/>
            </p:cNvGrpSpPr>
            <p:nvPr/>
          </p:nvGrpSpPr>
          <p:grpSpPr bwMode="auto">
            <a:xfrm>
              <a:off x="3429000" y="2413000"/>
              <a:ext cx="2362200" cy="2209800"/>
              <a:chOff x="2208" y="1104"/>
              <a:chExt cx="1488" cy="1392"/>
            </a:xfrm>
          </p:grpSpPr>
          <p:sp>
            <p:nvSpPr>
              <p:cNvPr id="23" name="Rectangle 43"/>
              <p:cNvSpPr>
                <a:spLocks noChangeArrowheads="1"/>
              </p:cNvSpPr>
              <p:nvPr/>
            </p:nvSpPr>
            <p:spPr bwMode="auto">
              <a:xfrm>
                <a:off x="2208" y="1104"/>
                <a:ext cx="1488" cy="13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Freeform 44"/>
              <p:cNvSpPr>
                <a:spLocks/>
              </p:cNvSpPr>
              <p:nvPr/>
            </p:nvSpPr>
            <p:spPr bwMode="auto">
              <a:xfrm>
                <a:off x="2496" y="1344"/>
                <a:ext cx="1008" cy="912"/>
              </a:xfrm>
              <a:custGeom>
                <a:avLst/>
                <a:gdLst>
                  <a:gd name="T0" fmla="*/ 0 w 1008"/>
                  <a:gd name="T1" fmla="*/ 912 h 912"/>
                  <a:gd name="T2" fmla="*/ 0 w 1008"/>
                  <a:gd name="T3" fmla="*/ 0 h 912"/>
                  <a:gd name="T4" fmla="*/ 1008 w 1008"/>
                  <a:gd name="T5" fmla="*/ 528 h 912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912"/>
                  <a:gd name="T11" fmla="*/ 1008 w 1008"/>
                  <a:gd name="T12" fmla="*/ 912 h 912"/>
                  <a:gd name="connsiteX0" fmla="*/ 0 w 1008"/>
                  <a:gd name="connsiteY0" fmla="*/ 912 h 912"/>
                  <a:gd name="connsiteX1" fmla="*/ 0 w 1008"/>
                  <a:gd name="connsiteY1" fmla="*/ 0 h 912"/>
                  <a:gd name="connsiteX2" fmla="*/ 1008 w 1008"/>
                  <a:gd name="connsiteY2" fmla="*/ 0 h 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8" h="912">
                    <a:moveTo>
                      <a:pt x="0" y="912"/>
                    </a:moveTo>
                    <a:lnTo>
                      <a:pt x="0" y="0"/>
                    </a:lnTo>
                    <a:lnTo>
                      <a:pt x="1008" y="0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4419600" y="2554514"/>
              <a:ext cx="485775" cy="4699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394854" y="5410200"/>
            <a:ext cx="1777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Horizontal edge: </a:t>
            </a:r>
          </a:p>
        </p:txBody>
      </p:sp>
      <p:pic>
        <p:nvPicPr>
          <p:cNvPr id="216067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231390" y="5399314"/>
            <a:ext cx="106624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6070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620001" y="2895600"/>
            <a:ext cx="286870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7" name="Group 26"/>
          <p:cNvGrpSpPr/>
          <p:nvPr/>
        </p:nvGrpSpPr>
        <p:grpSpPr>
          <a:xfrm>
            <a:off x="7467600" y="4038600"/>
            <a:ext cx="3429000" cy="2400300"/>
            <a:chOff x="5943600" y="4038600"/>
            <a:chExt cx="3429000" cy="2400300"/>
          </a:xfrm>
        </p:grpSpPr>
        <p:pic>
          <p:nvPicPr>
            <p:cNvPr id="216071" name="Picture 7" descr="C:\snavely\work\teaching\09Fa-CS6610\lectures\lec03\plots\xplot.png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943600" y="4038600"/>
              <a:ext cx="3429000" cy="2400300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 flipH="1">
              <a:off x="6781800" y="6031468"/>
              <a:ext cx="411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flipH="1">
              <a:off x="8675914" y="5672240"/>
              <a:ext cx="411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41572" y="4397828"/>
              <a:ext cx="721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E(</a:t>
              </a:r>
              <a:r>
                <a:rPr lang="en-US" dirty="0" err="1"/>
                <a:t>u,v</a:t>
              </a:r>
              <a:r>
                <a:rPr lang="en-US" dirty="0"/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1" y="457201"/>
            <a:ext cx="6053407" cy="976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90133" y="2906291"/>
            <a:ext cx="1811772" cy="71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57400" y="3889689"/>
            <a:ext cx="2085084" cy="74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89181" y="4876800"/>
            <a:ext cx="1798548" cy="69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Left Brace 17"/>
          <p:cNvSpPr>
            <a:spLocks/>
          </p:cNvSpPr>
          <p:nvPr/>
        </p:nvSpPr>
        <p:spPr bwMode="auto">
          <a:xfrm rot="-5400000">
            <a:off x="6864350" y="908050"/>
            <a:ext cx="304800" cy="1536700"/>
          </a:xfrm>
          <a:prstGeom prst="leftBrace">
            <a:avLst>
              <a:gd name="adj1" fmla="val 83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20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94500" y="1981201"/>
            <a:ext cx="45720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9"/>
          <p:cNvGrpSpPr/>
          <p:nvPr/>
        </p:nvGrpSpPr>
        <p:grpSpPr>
          <a:xfrm>
            <a:off x="4779388" y="3048000"/>
            <a:ext cx="2362200" cy="2209800"/>
            <a:chOff x="3429000" y="2413000"/>
            <a:chExt cx="2362200" cy="2209800"/>
          </a:xfrm>
        </p:grpSpPr>
        <p:grpSp>
          <p:nvGrpSpPr>
            <p:cNvPr id="3" name="Group 42"/>
            <p:cNvGrpSpPr>
              <a:grpSpLocks/>
            </p:cNvGrpSpPr>
            <p:nvPr/>
          </p:nvGrpSpPr>
          <p:grpSpPr bwMode="auto">
            <a:xfrm>
              <a:off x="3429000" y="2413000"/>
              <a:ext cx="2362200" cy="2209800"/>
              <a:chOff x="2208" y="1104"/>
              <a:chExt cx="1488" cy="1392"/>
            </a:xfrm>
          </p:grpSpPr>
          <p:sp>
            <p:nvSpPr>
              <p:cNvPr id="23" name="Rectangle 43"/>
              <p:cNvSpPr>
                <a:spLocks noChangeArrowheads="1"/>
              </p:cNvSpPr>
              <p:nvPr/>
            </p:nvSpPr>
            <p:spPr bwMode="auto">
              <a:xfrm>
                <a:off x="2208" y="1104"/>
                <a:ext cx="1488" cy="13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Freeform 44"/>
              <p:cNvSpPr>
                <a:spLocks/>
              </p:cNvSpPr>
              <p:nvPr/>
            </p:nvSpPr>
            <p:spPr bwMode="auto">
              <a:xfrm>
                <a:off x="2496" y="1344"/>
                <a:ext cx="1008" cy="912"/>
              </a:xfrm>
              <a:custGeom>
                <a:avLst/>
                <a:gdLst>
                  <a:gd name="T0" fmla="*/ 0 w 1008"/>
                  <a:gd name="T1" fmla="*/ 912 h 912"/>
                  <a:gd name="T2" fmla="*/ 0 w 1008"/>
                  <a:gd name="T3" fmla="*/ 0 h 912"/>
                  <a:gd name="T4" fmla="*/ 1008 w 1008"/>
                  <a:gd name="T5" fmla="*/ 528 h 912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912"/>
                  <a:gd name="T11" fmla="*/ 1008 w 1008"/>
                  <a:gd name="T12" fmla="*/ 912 h 912"/>
                  <a:gd name="connsiteX0" fmla="*/ 0 w 1008"/>
                  <a:gd name="connsiteY0" fmla="*/ 912 h 912"/>
                  <a:gd name="connsiteX1" fmla="*/ 0 w 1008"/>
                  <a:gd name="connsiteY1" fmla="*/ 0 h 912"/>
                  <a:gd name="connsiteX2" fmla="*/ 1008 w 1008"/>
                  <a:gd name="connsiteY2" fmla="*/ 0 h 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8" h="912">
                    <a:moveTo>
                      <a:pt x="0" y="912"/>
                    </a:moveTo>
                    <a:lnTo>
                      <a:pt x="0" y="0"/>
                    </a:lnTo>
                    <a:lnTo>
                      <a:pt x="1008" y="0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3635270" y="3338286"/>
              <a:ext cx="485775" cy="4699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724400" y="5410200"/>
            <a:ext cx="1517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Vertical edge: </a:t>
            </a:r>
          </a:p>
        </p:txBody>
      </p:sp>
      <p:pic>
        <p:nvPicPr>
          <p:cNvPr id="217090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200774" y="5380430"/>
            <a:ext cx="1114426" cy="43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7091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543801" y="2819401"/>
            <a:ext cx="2928937" cy="1196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" name="Group 20"/>
          <p:cNvGrpSpPr/>
          <p:nvPr/>
        </p:nvGrpSpPr>
        <p:grpSpPr>
          <a:xfrm>
            <a:off x="7467600" y="4038600"/>
            <a:ext cx="3429000" cy="2400300"/>
            <a:chOff x="5943600" y="4038600"/>
            <a:chExt cx="3429000" cy="2400300"/>
          </a:xfrm>
        </p:grpSpPr>
        <p:pic>
          <p:nvPicPr>
            <p:cNvPr id="216072" name="Picture 8" descr="C:\snavely\work\teaching\09Fa-CS6610\lectures\lec03\plots\yplot.png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943600" y="4038600"/>
              <a:ext cx="3429000" cy="2400300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 flipH="1">
              <a:off x="6751319" y="6019800"/>
              <a:ext cx="411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flipH="1">
              <a:off x="8675914" y="5672240"/>
              <a:ext cx="411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19800" y="4278868"/>
              <a:ext cx="721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E(</a:t>
              </a:r>
              <a:r>
                <a:rPr lang="en-US" dirty="0" err="1"/>
                <a:t>u,v</a:t>
              </a:r>
              <a:r>
                <a:rPr lang="en-US" dirty="0"/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case</a:t>
            </a:r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2209800" y="1446074"/>
            <a:ext cx="7315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/>
              <a:t>We can visualize </a:t>
            </a:r>
            <a:r>
              <a:rPr lang="en-US" sz="2400" i="1" dirty="0"/>
              <a:t>H</a:t>
            </a:r>
            <a:r>
              <a:rPr lang="en-US" sz="2400" dirty="0"/>
              <a:t> as an ellipse with axis lengths determined by the </a:t>
            </a:r>
            <a:r>
              <a:rPr lang="en-US" sz="2400" i="1" dirty="0"/>
              <a:t>eigenvalues</a:t>
            </a:r>
            <a:r>
              <a:rPr lang="en-US" sz="2400" dirty="0"/>
              <a:t> of </a:t>
            </a:r>
            <a:r>
              <a:rPr lang="en-US" sz="2400" i="1" dirty="0"/>
              <a:t>H</a:t>
            </a:r>
            <a:r>
              <a:rPr lang="en-US" sz="2400" dirty="0"/>
              <a:t> and orientation determined by the </a:t>
            </a:r>
            <a:r>
              <a:rPr lang="en-US" sz="2400" i="1" dirty="0"/>
              <a:t>eigenvectors </a:t>
            </a:r>
            <a:r>
              <a:rPr lang="en-US" sz="2400" dirty="0"/>
              <a:t>of </a:t>
            </a:r>
            <a:r>
              <a:rPr lang="en-US" sz="2400" i="1" dirty="0"/>
              <a:t>H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873626" y="3657600"/>
            <a:ext cx="5489575" cy="2878138"/>
            <a:chOff x="2254" y="2352"/>
            <a:chExt cx="3458" cy="1813"/>
          </a:xfrm>
        </p:grpSpPr>
        <p:sp>
          <p:nvSpPr>
            <p:cNvPr id="7177" name="Text Box 8"/>
            <p:cNvSpPr txBox="1">
              <a:spLocks noChangeArrowheads="1"/>
            </p:cNvSpPr>
            <p:nvPr/>
          </p:nvSpPr>
          <p:spPr bwMode="auto">
            <a:xfrm>
              <a:off x="4704" y="2736"/>
              <a:ext cx="1008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solidFill>
                    <a:srgbClr val="FF3300"/>
                  </a:solidFill>
                  <a:cs typeface="Times New Roman" pitchFamily="18" charset="0"/>
                </a:rPr>
                <a:t>direction of the slowest change</a:t>
              </a:r>
              <a:endParaRPr lang="ru-RU" sz="1600">
                <a:solidFill>
                  <a:srgbClr val="FF3300"/>
                </a:solidFill>
                <a:cs typeface="Times New Roman" pitchFamily="18" charset="0"/>
              </a:endParaRPr>
            </a:p>
          </p:txBody>
        </p:sp>
        <p:sp>
          <p:nvSpPr>
            <p:cNvPr id="7178" name="Text Box 9"/>
            <p:cNvSpPr txBox="1">
              <a:spLocks noChangeArrowheads="1"/>
            </p:cNvSpPr>
            <p:nvPr/>
          </p:nvSpPr>
          <p:spPr bwMode="auto">
            <a:xfrm>
              <a:off x="2688" y="2352"/>
              <a:ext cx="105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solidFill>
                    <a:srgbClr val="0033CC"/>
                  </a:solidFill>
                  <a:cs typeface="Times New Roman" pitchFamily="18" charset="0"/>
                </a:rPr>
                <a:t>direction of the fastest change</a:t>
              </a:r>
              <a:endParaRPr lang="ru-RU" sz="1600">
                <a:solidFill>
                  <a:srgbClr val="0033CC"/>
                </a:solidFill>
                <a:cs typeface="Times New Roman" pitchFamily="18" charset="0"/>
              </a:endParaRPr>
            </a:p>
          </p:txBody>
        </p:sp>
        <p:sp>
          <p:nvSpPr>
            <p:cNvPr id="7179" name="Oval 11"/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80" name="Line 12"/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1" name="Line 13"/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AutoShape 14"/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AutoShape 15"/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Rectangle 16"/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max</a:t>
              </a:r>
              <a:r>
                <a:rPr lang="en-US" sz="24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 dirty="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185" name="Rectangle 17"/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min</a:t>
              </a:r>
              <a:r>
                <a:rPr lang="en-US" sz="24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endParaRPr>
            </a:p>
          </p:txBody>
        </p:sp>
      </p:grpSp>
      <p:graphicFrame>
        <p:nvGraphicFramePr>
          <p:cNvPr id="7171" name="Object 18"/>
          <p:cNvGraphicFramePr>
            <a:graphicFrameLocks noGrp="1" noChangeAspect="1"/>
          </p:cNvGraphicFramePr>
          <p:nvPr>
            <p:ph idx="1"/>
          </p:nvPr>
        </p:nvGraphicFramePr>
        <p:xfrm>
          <a:off x="1930401" y="4111329"/>
          <a:ext cx="2690813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457200" progId="Equation.3">
                  <p:embed/>
                </p:oleObj>
              </mc:Choice>
              <mc:Fallback>
                <p:oleObj name="Equation" r:id="rId3" imgW="1333440" imgH="457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4111329"/>
                        <a:ext cx="2690813" cy="922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Text Box 20"/>
          <p:cNvSpPr txBox="1">
            <a:spLocks noChangeArrowheads="1"/>
          </p:cNvSpPr>
          <p:nvPr/>
        </p:nvSpPr>
        <p:spPr bwMode="auto">
          <a:xfrm>
            <a:off x="1828800" y="3581401"/>
            <a:ext cx="22513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Ellipse equation: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1" y="3352801"/>
            <a:ext cx="3084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max</a:t>
            </a:r>
            <a:r>
              <a:rPr lang="en-US" sz="2400" dirty="0">
                <a:latin typeface="+mj-lt"/>
                <a:cs typeface="Times New Roman" pitchFamily="18" charset="0"/>
                <a:sym typeface="Symbol" pitchFamily="18" charset="2"/>
              </a:rPr>
              <a:t>,</a:t>
            </a:r>
            <a:r>
              <a:rPr lang="en-US" sz="24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min</a:t>
            </a:r>
            <a:r>
              <a:rPr lang="ru-RU" sz="24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: </a:t>
            </a:r>
            <a:r>
              <a:rPr lang="en-US" dirty="0" err="1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eigenvalues</a:t>
            </a:r>
            <a:r>
              <a:rPr lang="en-US" dirty="0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 of </a:t>
            </a:r>
            <a:r>
              <a:rPr lang="en-US" i="1" dirty="0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H</a:t>
            </a:r>
            <a:endParaRPr lang="en-US" i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Quick eigenvalue/eigenvector review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1981200" y="1447801"/>
            <a:ext cx="8229600" cy="467836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000" dirty="0"/>
              <a:t>The </a:t>
            </a:r>
            <a:r>
              <a:rPr lang="en-US" sz="2000" b="1" dirty="0"/>
              <a:t>eigenvectors</a:t>
            </a:r>
            <a:r>
              <a:rPr lang="en-US" sz="2000" dirty="0"/>
              <a:t> of a matrix </a:t>
            </a:r>
            <a:r>
              <a:rPr lang="en-US" sz="2000" b="1" dirty="0"/>
              <a:t>A</a:t>
            </a:r>
            <a:r>
              <a:rPr lang="en-US" sz="2000" dirty="0"/>
              <a:t> are the vectors </a:t>
            </a:r>
            <a:r>
              <a:rPr lang="en-US" sz="2000" b="1" dirty="0"/>
              <a:t>x</a:t>
            </a:r>
            <a:r>
              <a:rPr lang="en-US" sz="2000" dirty="0"/>
              <a:t> that satisfy: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sz="2000" dirty="0"/>
              <a:t>The scalar </a:t>
            </a:r>
            <a:r>
              <a:rPr lang="en-US" sz="2000" dirty="0">
                <a:sym typeface="Symbol" pitchFamily="18" charset="2"/>
              </a:rPr>
              <a:t> </a:t>
            </a:r>
            <a:r>
              <a:rPr lang="en-US" sz="2000" dirty="0"/>
              <a:t>is the </a:t>
            </a:r>
            <a:r>
              <a:rPr lang="en-US" sz="2000" b="1" dirty="0" err="1"/>
              <a:t>eigenvalue</a:t>
            </a:r>
            <a:r>
              <a:rPr lang="en-US" sz="2000" dirty="0"/>
              <a:t> corresponding to </a:t>
            </a:r>
            <a:r>
              <a:rPr lang="en-US" sz="2000" b="1" dirty="0"/>
              <a:t>x</a:t>
            </a:r>
          </a:p>
          <a:p>
            <a:pPr lvl="1"/>
            <a:r>
              <a:rPr lang="en-US" sz="1800" dirty="0"/>
              <a:t>The </a:t>
            </a:r>
            <a:r>
              <a:rPr lang="en-US" sz="1800" dirty="0" err="1"/>
              <a:t>eigenvalues</a:t>
            </a:r>
            <a:r>
              <a:rPr lang="en-US" sz="1800" dirty="0"/>
              <a:t> are found by solving: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In our case, </a:t>
            </a:r>
            <a:r>
              <a:rPr lang="en-US" sz="1800" b="1" i="1" dirty="0"/>
              <a:t>A</a:t>
            </a:r>
            <a:r>
              <a:rPr lang="en-US" sz="1800" i="1" dirty="0"/>
              <a:t> = </a:t>
            </a:r>
            <a:r>
              <a:rPr lang="en-US" sz="1800" b="1" i="1" dirty="0"/>
              <a:t>H</a:t>
            </a:r>
            <a:r>
              <a:rPr lang="en-US" sz="1800" dirty="0"/>
              <a:t> is a 2x2 matrix, so we have</a:t>
            </a:r>
          </a:p>
          <a:p>
            <a:pPr lvl="1"/>
            <a:endParaRPr lang="en-US" sz="1800" dirty="0"/>
          </a:p>
          <a:p>
            <a:pPr lvl="1">
              <a:buFontTx/>
              <a:buNone/>
            </a:pPr>
            <a:endParaRPr lang="en-US" sz="1800" dirty="0"/>
          </a:p>
          <a:p>
            <a:pPr lvl="1"/>
            <a:r>
              <a:rPr lang="en-US" sz="1800" dirty="0"/>
              <a:t>The solution: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>
              <a:buFontTx/>
              <a:buNone/>
            </a:pPr>
            <a:r>
              <a:rPr lang="en-US" sz="2000" dirty="0"/>
              <a:t>Once you know </a:t>
            </a:r>
            <a:r>
              <a:rPr lang="en-US" sz="2000" dirty="0">
                <a:sym typeface="Symbol" pitchFamily="18" charset="2"/>
              </a:rPr>
              <a:t>, you find </a:t>
            </a:r>
            <a:r>
              <a:rPr lang="en-US" sz="2000" b="1" dirty="0">
                <a:sym typeface="Symbol" pitchFamily="18" charset="2"/>
              </a:rPr>
              <a:t>x</a:t>
            </a:r>
            <a:r>
              <a:rPr lang="en-US" sz="2000" dirty="0">
                <a:sym typeface="Symbol" pitchFamily="18" charset="2"/>
              </a:rPr>
              <a:t> by solving</a:t>
            </a:r>
            <a:endParaRPr lang="en-US" sz="2000" dirty="0"/>
          </a:p>
        </p:txBody>
      </p:sp>
      <p:pic>
        <p:nvPicPr>
          <p:cNvPr id="40964" name="Picture 5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09344" y="1981201"/>
            <a:ext cx="17526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7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384675" y="3249456"/>
            <a:ext cx="2449512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6" name="Picture 9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132264" y="4146550"/>
            <a:ext cx="2954337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7" name="Picture 15" descr="TP_tmp.em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443288" y="5106988"/>
            <a:ext cx="5776912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8" name="Picture 17" descr="TP_tmp.emf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1288" y="6096000"/>
            <a:ext cx="3668712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detection:  the math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1371600" y="4343401"/>
            <a:ext cx="9601200" cy="218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 err="1"/>
              <a:t>Eigenvalues</a:t>
            </a:r>
            <a:r>
              <a:rPr lang="en-US" sz="2000" dirty="0"/>
              <a:t> and eigenvectors of H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Define shift directions with the smallest and largest change in error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 err="1"/>
              <a:t>x</a:t>
            </a:r>
            <a:r>
              <a:rPr lang="en-US" sz="2000" baseline="-25000" dirty="0" err="1"/>
              <a:t>max</a:t>
            </a:r>
            <a:r>
              <a:rPr lang="en-US" sz="2000" dirty="0"/>
              <a:t> = direction of largest increase in </a:t>
            </a:r>
            <a:r>
              <a:rPr lang="en-US" sz="2000" i="1" dirty="0"/>
              <a:t>E</a:t>
            </a: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sym typeface="Symbol" pitchFamily="18" charset="2"/>
              </a:rPr>
              <a:t></a:t>
            </a:r>
            <a:r>
              <a:rPr lang="en-US" sz="2000" baseline="-25000" dirty="0">
                <a:sym typeface="Symbol" pitchFamily="18" charset="2"/>
              </a:rPr>
              <a:t>max</a:t>
            </a:r>
            <a:r>
              <a:rPr lang="en-US" sz="2000" dirty="0"/>
              <a:t> = amount of increase in direction </a:t>
            </a:r>
            <a:r>
              <a:rPr lang="en-US" sz="2000" dirty="0" err="1"/>
              <a:t>x</a:t>
            </a:r>
            <a:r>
              <a:rPr lang="en-US" sz="2000" baseline="-25000" dirty="0" err="1"/>
              <a:t>max</a:t>
            </a:r>
            <a:endParaRPr lang="en-US" sz="2000" baseline="-25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 err="1"/>
              <a:t>x</a:t>
            </a:r>
            <a:r>
              <a:rPr lang="en-US" sz="2000" baseline="-25000" dirty="0" err="1"/>
              <a:t>min</a:t>
            </a:r>
            <a:r>
              <a:rPr lang="en-US" sz="2000" dirty="0"/>
              <a:t> = direction of smallest increase in </a:t>
            </a:r>
            <a:r>
              <a:rPr lang="en-US" sz="2000" i="1" dirty="0"/>
              <a:t>E</a:t>
            </a:r>
            <a:r>
              <a:rPr lang="en-US" sz="2000" dirty="0"/>
              <a:t> 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sym typeface="Symbol" pitchFamily="18" charset="2"/>
              </a:rPr>
              <a:t></a:t>
            </a:r>
            <a:r>
              <a:rPr lang="en-US" sz="2000" baseline="-25000" dirty="0"/>
              <a:t>min</a:t>
            </a:r>
            <a:r>
              <a:rPr lang="en-US" sz="2000" dirty="0"/>
              <a:t> = amount of increase in direction </a:t>
            </a:r>
            <a:r>
              <a:rPr lang="en-US" sz="2000" dirty="0" err="1"/>
              <a:t>x</a:t>
            </a:r>
            <a:r>
              <a:rPr lang="en-US" sz="2000" baseline="-25000" dirty="0" err="1"/>
              <a:t>min</a:t>
            </a:r>
            <a:endParaRPr lang="en-US" sz="2000" baseline="-25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01699C-081E-4221-A671-F1110CFF6EE8}"/>
              </a:ext>
            </a:extLst>
          </p:cNvPr>
          <p:cNvGrpSpPr/>
          <p:nvPr/>
        </p:nvGrpSpPr>
        <p:grpSpPr>
          <a:xfrm>
            <a:off x="3124200" y="2667000"/>
            <a:ext cx="2743200" cy="1447800"/>
            <a:chOff x="1600200" y="2667000"/>
            <a:chExt cx="2743200" cy="1447800"/>
          </a:xfrm>
        </p:grpSpPr>
        <p:sp>
          <p:nvSpPr>
            <p:cNvPr id="41986" name="Freeform 44"/>
            <p:cNvSpPr>
              <a:spLocks/>
            </p:cNvSpPr>
            <p:nvPr/>
          </p:nvSpPr>
          <p:spPr bwMode="auto">
            <a:xfrm>
              <a:off x="2743200" y="2667000"/>
              <a:ext cx="1600200" cy="1447800"/>
            </a:xfrm>
            <a:custGeom>
              <a:avLst/>
              <a:gdLst>
                <a:gd name="T0" fmla="*/ 0 w 1008"/>
                <a:gd name="T1" fmla="*/ 2147483647 h 912"/>
                <a:gd name="T2" fmla="*/ 0 w 1008"/>
                <a:gd name="T3" fmla="*/ 0 h 912"/>
                <a:gd name="T4" fmla="*/ 2147483647 w 1008"/>
                <a:gd name="T5" fmla="*/ 2147483647 h 912"/>
                <a:gd name="T6" fmla="*/ 0 60000 65536"/>
                <a:gd name="T7" fmla="*/ 0 60000 65536"/>
                <a:gd name="T8" fmla="*/ 0 60000 65536"/>
                <a:gd name="T9" fmla="*/ 0 w 1008"/>
                <a:gd name="T10" fmla="*/ 0 h 912"/>
                <a:gd name="T11" fmla="*/ 1008 w 1008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912">
                  <a:moveTo>
                    <a:pt x="0" y="912"/>
                  </a:moveTo>
                  <a:lnTo>
                    <a:pt x="0" y="0"/>
                  </a:lnTo>
                  <a:lnTo>
                    <a:pt x="1008" y="528"/>
                  </a:lnTo>
                </a:path>
              </a:pathLst>
            </a:cu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87" name="Rectangle 46"/>
            <p:cNvSpPr>
              <a:spLocks noChangeArrowheads="1"/>
            </p:cNvSpPr>
            <p:nvPr/>
          </p:nvSpPr>
          <p:spPr bwMode="auto">
            <a:xfrm>
              <a:off x="2470150" y="3389313"/>
              <a:ext cx="485775" cy="4699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1988" name="Straight Arrow Connector 27"/>
            <p:cNvCxnSpPr>
              <a:cxnSpLocks noChangeShapeType="1"/>
            </p:cNvCxnSpPr>
            <p:nvPr/>
          </p:nvCxnSpPr>
          <p:spPr bwMode="auto">
            <a:xfrm flipV="1">
              <a:off x="2715491" y="3125788"/>
              <a:ext cx="15009" cy="485630"/>
            </a:xfrm>
            <a:prstGeom prst="straightConnector1">
              <a:avLst/>
            </a:prstGeom>
            <a:noFill/>
            <a:ln w="57150">
              <a:solidFill>
                <a:srgbClr val="0066FF"/>
              </a:solidFill>
              <a:round/>
              <a:headEnd/>
              <a:tailEnd type="arrow" w="med" len="med"/>
            </a:ln>
          </p:spPr>
        </p:cxnSp>
        <p:cxnSp>
          <p:nvCxnSpPr>
            <p:cNvPr id="41989" name="Straight Arrow Connector 30"/>
            <p:cNvCxnSpPr>
              <a:cxnSpLocks noChangeShapeType="1"/>
              <a:endCxn id="41997" idx="2"/>
            </p:cNvCxnSpPr>
            <p:nvPr/>
          </p:nvCxnSpPr>
          <p:spPr bwMode="auto">
            <a:xfrm flipH="1" flipV="1">
              <a:off x="2209800" y="3619500"/>
              <a:ext cx="505691" cy="1155"/>
            </a:xfrm>
            <a:prstGeom prst="straightConnector1">
              <a:avLst/>
            </a:prstGeom>
            <a:noFill/>
            <a:ln w="57150">
              <a:solidFill>
                <a:srgbClr val="0066FF"/>
              </a:solidFill>
              <a:round/>
              <a:headEnd/>
              <a:tailEnd type="arrow" w="med" len="med"/>
            </a:ln>
          </p:spPr>
        </p:cxnSp>
        <p:sp>
          <p:nvSpPr>
            <p:cNvPr id="41996" name="Oval 25"/>
            <p:cNvSpPr>
              <a:spLocks noChangeArrowheads="1"/>
            </p:cNvSpPr>
            <p:nvPr/>
          </p:nvSpPr>
          <p:spPr bwMode="auto">
            <a:xfrm>
              <a:off x="2666999" y="3562927"/>
              <a:ext cx="113146" cy="11314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7" name="Oval 26"/>
            <p:cNvSpPr>
              <a:spLocks noChangeArrowheads="1"/>
            </p:cNvSpPr>
            <p:nvPr/>
          </p:nvSpPr>
          <p:spPr bwMode="auto">
            <a:xfrm>
              <a:off x="2209800" y="3124200"/>
              <a:ext cx="990600" cy="990600"/>
            </a:xfrm>
            <a:prstGeom prst="ellips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8" name="Rectangle 9"/>
            <p:cNvSpPr>
              <a:spLocks noChangeArrowheads="1"/>
            </p:cNvSpPr>
            <p:nvPr/>
          </p:nvSpPr>
          <p:spPr bwMode="auto">
            <a:xfrm>
              <a:off x="2133600" y="2698750"/>
              <a:ext cx="611065" cy="3416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dirty="0">
                  <a:solidFill>
                    <a:srgbClr val="0066FF"/>
                  </a:solidFill>
                  <a:latin typeface="Arial" charset="0"/>
                </a:rPr>
                <a:t> </a:t>
              </a:r>
              <a:r>
                <a:rPr lang="en-US" dirty="0" err="1">
                  <a:solidFill>
                    <a:srgbClr val="0066FF"/>
                  </a:solidFill>
                  <a:latin typeface="Arial" charset="0"/>
                </a:rPr>
                <a:t>x</a:t>
              </a:r>
              <a:r>
                <a:rPr lang="en-US" baseline="-25000" dirty="0" err="1">
                  <a:solidFill>
                    <a:srgbClr val="0066FF"/>
                  </a:solidFill>
                  <a:latin typeface="Arial" charset="0"/>
                </a:rPr>
                <a:t>min</a:t>
              </a:r>
              <a:endParaRPr lang="en-US" baseline="-25000" dirty="0">
                <a:solidFill>
                  <a:srgbClr val="0066FF"/>
                </a:solidFill>
                <a:latin typeface="Arial" charset="0"/>
              </a:endParaRPr>
            </a:p>
          </p:txBody>
        </p:sp>
        <p:sp>
          <p:nvSpPr>
            <p:cNvPr id="41999" name="Rectangle 15"/>
            <p:cNvSpPr>
              <a:spLocks noChangeArrowheads="1"/>
            </p:cNvSpPr>
            <p:nvPr/>
          </p:nvSpPr>
          <p:spPr bwMode="auto">
            <a:xfrm>
              <a:off x="1600200" y="3460750"/>
              <a:ext cx="654346" cy="3416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dirty="0">
                  <a:solidFill>
                    <a:srgbClr val="0066FF"/>
                  </a:solidFill>
                  <a:latin typeface="Arial" charset="0"/>
                </a:rPr>
                <a:t> </a:t>
              </a:r>
              <a:r>
                <a:rPr lang="en-US" dirty="0" err="1">
                  <a:solidFill>
                    <a:srgbClr val="0066FF"/>
                  </a:solidFill>
                  <a:latin typeface="Arial" charset="0"/>
                </a:rPr>
                <a:t>x</a:t>
              </a:r>
              <a:r>
                <a:rPr lang="en-US" baseline="-25000" dirty="0" err="1">
                  <a:solidFill>
                    <a:srgbClr val="0066FF"/>
                  </a:solidFill>
                  <a:latin typeface="Arial" charset="0"/>
                </a:rPr>
                <a:t>max</a:t>
              </a:r>
              <a:endParaRPr lang="en-US" baseline="-25000" dirty="0">
                <a:solidFill>
                  <a:srgbClr val="0066FF"/>
                </a:solidFill>
                <a:latin typeface="Arial" charset="0"/>
              </a:endParaRPr>
            </a:p>
          </p:txBody>
        </p:sp>
      </p:grpSp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1" y="1447801"/>
            <a:ext cx="6053407" cy="976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Left Brace 17"/>
          <p:cNvSpPr>
            <a:spLocks/>
          </p:cNvSpPr>
          <p:nvPr/>
        </p:nvSpPr>
        <p:spPr bwMode="auto">
          <a:xfrm rot="-5400000">
            <a:off x="6864350" y="1898650"/>
            <a:ext cx="304800" cy="1536700"/>
          </a:xfrm>
          <a:prstGeom prst="leftBrace">
            <a:avLst>
              <a:gd name="adj1" fmla="val 83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0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94500" y="2971801"/>
            <a:ext cx="45720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913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96200" y="3200400"/>
            <a:ext cx="2419350" cy="869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detection:  the math</a:t>
            </a:r>
          </a:p>
        </p:txBody>
      </p:sp>
      <p:sp>
        <p:nvSpPr>
          <p:cNvPr id="44035" name="Rectangle 10"/>
          <p:cNvSpPr>
            <a:spLocks noChangeArrowheads="1"/>
          </p:cNvSpPr>
          <p:nvPr/>
        </p:nvSpPr>
        <p:spPr bwMode="auto">
          <a:xfrm>
            <a:off x="2209800" y="13716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/>
              <a:t>How are </a:t>
            </a:r>
            <a:r>
              <a:rPr lang="en-US" sz="2000" dirty="0">
                <a:sym typeface="Symbol" pitchFamily="18" charset="2"/>
              </a:rPr>
              <a:t></a:t>
            </a:r>
            <a:r>
              <a:rPr lang="en-US" sz="2000" baseline="-25000" dirty="0">
                <a:sym typeface="Symbol" pitchFamily="18" charset="2"/>
              </a:rPr>
              <a:t>max</a:t>
            </a:r>
            <a:r>
              <a:rPr lang="en-US" sz="2000" dirty="0">
                <a:sym typeface="Symbol" pitchFamily="18" charset="2"/>
              </a:rPr>
              <a:t>, </a:t>
            </a:r>
            <a:r>
              <a:rPr lang="en-US" sz="2000" dirty="0" err="1">
                <a:sym typeface="Symbol" pitchFamily="18" charset="2"/>
              </a:rPr>
              <a:t>x</a:t>
            </a:r>
            <a:r>
              <a:rPr lang="en-US" sz="2000" baseline="-25000" dirty="0" err="1">
                <a:sym typeface="Symbol" pitchFamily="18" charset="2"/>
              </a:rPr>
              <a:t>max</a:t>
            </a:r>
            <a:r>
              <a:rPr lang="en-US" sz="2000" dirty="0">
                <a:sym typeface="Symbol" pitchFamily="18" charset="2"/>
              </a:rPr>
              <a:t>, </a:t>
            </a:r>
            <a:r>
              <a:rPr lang="en-US" sz="2000" baseline="-25000" dirty="0">
                <a:sym typeface="Symbol" pitchFamily="18" charset="2"/>
              </a:rPr>
              <a:t>min</a:t>
            </a:r>
            <a:r>
              <a:rPr lang="en-US" sz="2000" dirty="0">
                <a:sym typeface="Symbol" pitchFamily="18" charset="2"/>
              </a:rPr>
              <a:t>, and </a:t>
            </a:r>
            <a:r>
              <a:rPr lang="en-US" sz="2000" dirty="0" err="1">
                <a:sym typeface="Symbol" pitchFamily="18" charset="2"/>
              </a:rPr>
              <a:t>x</a:t>
            </a:r>
            <a:r>
              <a:rPr lang="en-US" sz="2000" baseline="-25000" dirty="0" err="1">
                <a:sym typeface="Symbol" pitchFamily="18" charset="2"/>
              </a:rPr>
              <a:t>min</a:t>
            </a:r>
            <a:r>
              <a:rPr lang="en-US" sz="2000" dirty="0">
                <a:sym typeface="Symbol" pitchFamily="18" charset="2"/>
              </a:rPr>
              <a:t> relevant for feature detection?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>
                <a:sym typeface="Symbol" pitchFamily="18" charset="2"/>
              </a:rPr>
              <a:t>What’s our feature scoring function?</a:t>
            </a: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  <a:p>
            <a:pPr marL="342900" indent="-342900">
              <a:spcBef>
                <a:spcPct val="20000"/>
              </a:spcBef>
            </a:pP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detection:  the math</a:t>
            </a:r>
          </a:p>
        </p:txBody>
      </p:sp>
      <p:sp>
        <p:nvSpPr>
          <p:cNvPr id="45059" name="Rectangle 10"/>
          <p:cNvSpPr>
            <a:spLocks noChangeArrowheads="1"/>
          </p:cNvSpPr>
          <p:nvPr/>
        </p:nvSpPr>
        <p:spPr bwMode="auto">
          <a:xfrm>
            <a:off x="2209800" y="914400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dirty="0">
              <a:latin typeface="Arial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752600" y="3427413"/>
            <a:ext cx="2762250" cy="3313112"/>
            <a:chOff x="228600" y="3427413"/>
            <a:chExt cx="2762250" cy="3313112"/>
          </a:xfrm>
        </p:grpSpPr>
        <p:pic>
          <p:nvPicPr>
            <p:cNvPr id="45060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8600" y="3427413"/>
              <a:ext cx="2762250" cy="27622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45065" name="Picture 11" descr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47800" y="6381750"/>
              <a:ext cx="269875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209800" y="13716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/>
              <a:t>How are </a:t>
            </a:r>
            <a:r>
              <a:rPr lang="en-US" sz="2000" dirty="0">
                <a:sym typeface="Symbol" pitchFamily="18" charset="2"/>
              </a:rPr>
              <a:t></a:t>
            </a:r>
            <a:r>
              <a:rPr lang="en-US" sz="2000" baseline="-25000" dirty="0">
                <a:sym typeface="Symbol" pitchFamily="18" charset="2"/>
              </a:rPr>
              <a:t>max</a:t>
            </a:r>
            <a:r>
              <a:rPr lang="en-US" sz="2000" dirty="0">
                <a:sym typeface="Symbol" pitchFamily="18" charset="2"/>
              </a:rPr>
              <a:t>, </a:t>
            </a:r>
            <a:r>
              <a:rPr lang="en-US" sz="2000" dirty="0" err="1">
                <a:sym typeface="Symbol" pitchFamily="18" charset="2"/>
              </a:rPr>
              <a:t>x</a:t>
            </a:r>
            <a:r>
              <a:rPr lang="en-US" sz="2000" baseline="-25000" dirty="0" err="1">
                <a:sym typeface="Symbol" pitchFamily="18" charset="2"/>
              </a:rPr>
              <a:t>max</a:t>
            </a:r>
            <a:r>
              <a:rPr lang="en-US" sz="2000" dirty="0">
                <a:sym typeface="Symbol" pitchFamily="18" charset="2"/>
              </a:rPr>
              <a:t>, </a:t>
            </a:r>
            <a:r>
              <a:rPr lang="en-US" sz="2000" baseline="-25000" dirty="0">
                <a:sym typeface="Symbol" pitchFamily="18" charset="2"/>
              </a:rPr>
              <a:t>min</a:t>
            </a:r>
            <a:r>
              <a:rPr lang="en-US" sz="2000" dirty="0">
                <a:sym typeface="Symbol" pitchFamily="18" charset="2"/>
              </a:rPr>
              <a:t>, and </a:t>
            </a:r>
            <a:r>
              <a:rPr lang="en-US" sz="2000" dirty="0" err="1">
                <a:sym typeface="Symbol" pitchFamily="18" charset="2"/>
              </a:rPr>
              <a:t>x</a:t>
            </a:r>
            <a:r>
              <a:rPr lang="en-US" sz="2000" baseline="-25000" dirty="0" err="1">
                <a:sym typeface="Symbol" pitchFamily="18" charset="2"/>
              </a:rPr>
              <a:t>min</a:t>
            </a:r>
            <a:r>
              <a:rPr lang="en-US" sz="2000" dirty="0">
                <a:sym typeface="Symbol" pitchFamily="18" charset="2"/>
              </a:rPr>
              <a:t> relevant for feature detection?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>
                <a:sym typeface="Symbol" pitchFamily="18" charset="2"/>
              </a:rPr>
              <a:t>What’s our feature scoring function?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/>
              <a:t>Want </a:t>
            </a:r>
            <a:r>
              <a:rPr lang="en-US" sz="2000" i="1" dirty="0"/>
              <a:t>E</a:t>
            </a:r>
            <a:r>
              <a:rPr lang="en-US" sz="2000" dirty="0"/>
              <a:t>(</a:t>
            </a:r>
            <a:r>
              <a:rPr lang="en-US" sz="2000" i="1" dirty="0" err="1"/>
              <a:t>u</a:t>
            </a:r>
            <a:r>
              <a:rPr lang="en-US" sz="2000" dirty="0" err="1"/>
              <a:t>,</a:t>
            </a:r>
            <a:r>
              <a:rPr lang="en-US" sz="2000" i="1" dirty="0" err="1"/>
              <a:t>v</a:t>
            </a:r>
            <a:r>
              <a:rPr lang="en-US" sz="2000" dirty="0"/>
              <a:t>) to be large for small shifts in all directions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/>
              <a:t>the minimum of </a:t>
            </a:r>
            <a:r>
              <a:rPr lang="en-US" sz="2000" i="1" dirty="0"/>
              <a:t>E</a:t>
            </a:r>
            <a:r>
              <a:rPr lang="en-US" sz="2000" dirty="0"/>
              <a:t>(</a:t>
            </a:r>
            <a:r>
              <a:rPr lang="en-US" sz="2000" i="1" dirty="0" err="1"/>
              <a:t>u</a:t>
            </a:r>
            <a:r>
              <a:rPr lang="en-US" sz="2000" dirty="0" err="1"/>
              <a:t>,</a:t>
            </a:r>
            <a:r>
              <a:rPr lang="en-US" sz="2000" i="1" dirty="0" err="1"/>
              <a:t>v</a:t>
            </a:r>
            <a:r>
              <a:rPr lang="en-US" sz="2000" dirty="0"/>
              <a:t>) should be large, over all unit vectors [</a:t>
            </a:r>
            <a:r>
              <a:rPr lang="en-US" sz="2000" i="1" dirty="0"/>
              <a:t>u v</a:t>
            </a:r>
            <a:r>
              <a:rPr lang="en-US" sz="2000" dirty="0"/>
              <a:t>]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/>
              <a:t>this minimum is given by the smaller </a:t>
            </a:r>
            <a:r>
              <a:rPr lang="en-US" sz="2000" dirty="0" err="1"/>
              <a:t>eigenvalue</a:t>
            </a:r>
            <a:r>
              <a:rPr lang="en-US" sz="2000" dirty="0"/>
              <a:t> (</a:t>
            </a:r>
            <a:r>
              <a:rPr lang="en-US" sz="2000" dirty="0">
                <a:sym typeface="Symbol" pitchFamily="18" charset="2"/>
              </a:rPr>
              <a:t></a:t>
            </a:r>
            <a:r>
              <a:rPr lang="en-US" sz="2000" baseline="-25000" dirty="0"/>
              <a:t>min</a:t>
            </a:r>
            <a:r>
              <a:rPr lang="en-US" sz="2000" dirty="0"/>
              <a:t>) of </a:t>
            </a:r>
            <a:r>
              <a:rPr lang="en-US" sz="2000" i="1" dirty="0"/>
              <a:t>H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705350" y="3427413"/>
            <a:ext cx="2762250" cy="3302000"/>
            <a:chOff x="3181350" y="3427413"/>
            <a:chExt cx="2762250" cy="3302000"/>
          </a:xfrm>
        </p:grpSpPr>
        <p:pic>
          <p:nvPicPr>
            <p:cNvPr id="4506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181350" y="3427413"/>
              <a:ext cx="2762250" cy="276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0162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114800" y="6248400"/>
              <a:ext cx="1009650" cy="481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3" name="Group 12"/>
          <p:cNvGrpSpPr/>
          <p:nvPr/>
        </p:nvGrpSpPr>
        <p:grpSpPr>
          <a:xfrm>
            <a:off x="7620000" y="3427414"/>
            <a:ext cx="2762250" cy="3301999"/>
            <a:chOff x="6096000" y="3427413"/>
            <a:chExt cx="2762250" cy="3301999"/>
          </a:xfrm>
        </p:grpSpPr>
        <p:pic>
          <p:nvPicPr>
            <p:cNvPr id="45062" name="Picture 6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096000" y="3427413"/>
              <a:ext cx="2762250" cy="276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0163" name="Picture 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062788" y="6248400"/>
              <a:ext cx="938212" cy="481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/>
          <p:cNvSpPr>
            <a:spLocks noChangeArrowheads="1"/>
          </p:cNvSpPr>
          <p:nvPr/>
        </p:nvSpPr>
        <p:spPr bwMode="auto">
          <a:xfrm>
            <a:off x="2362200" y="4800600"/>
            <a:ext cx="3124200" cy="1219200"/>
          </a:xfrm>
          <a:prstGeom prst="rightArrowCallout">
            <a:avLst>
              <a:gd name="adj1" fmla="val 25000"/>
              <a:gd name="adj2" fmla="val 24093"/>
              <a:gd name="adj3" fmla="val 41581"/>
              <a:gd name="adj4" fmla="val 7566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Interpreting the eigenvalues</a:t>
            </a:r>
            <a:endParaRPr lang="ru-RU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5562600" y="1752600"/>
            <a:ext cx="4343400" cy="4343400"/>
          </a:xfrm>
          <a:prstGeom prst="rect">
            <a:avLst/>
          </a:prstGeom>
          <a:solidFill>
            <a:srgbClr val="F38F6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9296400" y="6096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ru-RU" sz="240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+mj-lt"/>
                <a:cs typeface="Times New Roman" pitchFamily="18" charset="0"/>
                <a:sym typeface="Symbol" pitchFamily="18" charset="2"/>
              </a:rPr>
              <a:t>1</a:t>
            </a:r>
            <a:endParaRPr lang="ru-RU" sz="2400" baseline="-25000">
              <a:latin typeface="+mj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4648200" y="18288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ru-RU" sz="240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+mj-lt"/>
                <a:cs typeface="Times New Roman" pitchFamily="18" charset="0"/>
                <a:sym typeface="Symbol" pitchFamily="18" charset="2"/>
              </a:rPr>
              <a:t>2</a:t>
            </a:r>
            <a:endParaRPr lang="ru-RU" sz="2400" baseline="-25000">
              <a:latin typeface="+mj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9703" name="Freeform 7"/>
          <p:cNvSpPr>
            <a:spLocks/>
          </p:cNvSpPr>
          <p:nvPr/>
        </p:nvSpPr>
        <p:spPr bwMode="auto">
          <a:xfrm>
            <a:off x="6019800" y="1752600"/>
            <a:ext cx="3886200" cy="3937000"/>
          </a:xfrm>
          <a:custGeom>
            <a:avLst/>
            <a:gdLst>
              <a:gd name="T0" fmla="*/ 0 w 2448"/>
              <a:gd name="T1" fmla="*/ 2147483647 h 2480"/>
              <a:gd name="T2" fmla="*/ 1693545118 w 2448"/>
              <a:gd name="T3" fmla="*/ 0 h 2480"/>
              <a:gd name="T4" fmla="*/ 2147483647 w 2448"/>
              <a:gd name="T5" fmla="*/ 0 h 2480"/>
              <a:gd name="T6" fmla="*/ 2147483647 w 2448"/>
              <a:gd name="T7" fmla="*/ 2147483647 h 2480"/>
              <a:gd name="T8" fmla="*/ 1398687351 w 2448"/>
              <a:gd name="T9" fmla="*/ 2147483647 h 2480"/>
              <a:gd name="T10" fmla="*/ 0 w 2448"/>
              <a:gd name="T11" fmla="*/ 2147483647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48"/>
              <a:gd name="T19" fmla="*/ 0 h 2480"/>
              <a:gd name="T20" fmla="*/ 2448 w 2448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48" h="2480">
                <a:moveTo>
                  <a:pt x="0" y="1920"/>
                </a:moveTo>
                <a:lnTo>
                  <a:pt x="672" y="0"/>
                </a:lnTo>
                <a:lnTo>
                  <a:pt x="2448" y="0"/>
                </a:lnTo>
                <a:lnTo>
                  <a:pt x="2448" y="1872"/>
                </a:lnTo>
                <a:lnTo>
                  <a:pt x="555" y="2480"/>
                </a:lnTo>
                <a:lnTo>
                  <a:pt x="0" y="192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29704" name="AutoShape 8"/>
          <p:cNvSpPr>
            <a:spLocks noChangeArrowheads="1"/>
          </p:cNvSpPr>
          <p:nvPr/>
        </p:nvSpPr>
        <p:spPr bwMode="auto">
          <a:xfrm>
            <a:off x="5562601" y="4343400"/>
            <a:ext cx="1749425" cy="1752600"/>
          </a:xfrm>
          <a:prstGeom prst="rtTriangle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7086600" y="2362201"/>
            <a:ext cx="266700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 dirty="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“Corner”</a:t>
            </a:r>
            <a:br>
              <a:rPr lang="en-US" sz="2400" dirty="0">
                <a:latin typeface="+mj-lt"/>
                <a:cs typeface="Times New Roman" pitchFamily="18" charset="0"/>
                <a:sym typeface="Symbol" pitchFamily="18" charset="2"/>
              </a:rPr>
            </a:br>
            <a:r>
              <a:rPr lang="ru-RU" sz="2400" dirty="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latin typeface="+mj-lt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 and </a:t>
            </a:r>
            <a:r>
              <a:rPr lang="ru-RU" sz="2400" dirty="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latin typeface="+mj-lt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 are large,</a:t>
            </a:r>
            <a:b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</a:b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 dirty="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latin typeface="+mj-lt"/>
                <a:cs typeface="Times New Roman" pitchFamily="18" charset="0"/>
                <a:sym typeface="Symbol" pitchFamily="18" charset="2"/>
              </a:rPr>
              <a:t>1 </a:t>
            </a:r>
            <a:r>
              <a:rPr lang="en-US" sz="2400" dirty="0">
                <a:latin typeface="+mj-lt"/>
                <a:cs typeface="Times New Roman" pitchFamily="18" charset="0"/>
                <a:sym typeface="Symbol" pitchFamily="18" charset="2"/>
              </a:rPr>
              <a:t>~ </a:t>
            </a:r>
            <a:r>
              <a:rPr lang="ru-RU" sz="2400" dirty="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latin typeface="+mj-lt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;</a:t>
            </a:r>
            <a:b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</a:br>
            <a:r>
              <a:rPr lang="en-US" sz="2400" i="1" dirty="0">
                <a:latin typeface="+mj-lt"/>
                <a:cs typeface="Times New Roman" pitchFamily="18" charset="0"/>
                <a:sym typeface="Symbol" pitchFamily="18" charset="2"/>
              </a:rPr>
              <a:t>E</a:t>
            </a: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 increases in all directions</a:t>
            </a:r>
            <a:endParaRPr lang="ru-RU" sz="2000" dirty="0">
              <a:latin typeface="+mj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2438400" y="4800601"/>
            <a:ext cx="23622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ru-RU" sz="2400" dirty="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latin typeface="+mj-lt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 and </a:t>
            </a:r>
            <a:r>
              <a:rPr lang="ru-RU" sz="2400" dirty="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latin typeface="+mj-lt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 are small;</a:t>
            </a:r>
            <a:b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</a:br>
            <a:r>
              <a:rPr lang="en-US" sz="2400" i="1" dirty="0">
                <a:latin typeface="+mj-lt"/>
                <a:cs typeface="Times New Roman" pitchFamily="18" charset="0"/>
                <a:sym typeface="Symbol" pitchFamily="18" charset="2"/>
              </a:rPr>
              <a:t>E</a:t>
            </a:r>
            <a:r>
              <a:rPr lang="en-US" sz="2000" dirty="0">
                <a:latin typeface="+mj-lt"/>
                <a:cs typeface="Times New Roman" pitchFamily="18" charset="0"/>
                <a:sym typeface="Symbol" pitchFamily="18" charset="2"/>
              </a:rPr>
              <a:t> is almost constant in all directions</a:t>
            </a:r>
            <a:endParaRPr lang="ru-RU" sz="2000" dirty="0">
              <a:latin typeface="+mj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8686800" y="5105401"/>
            <a:ext cx="129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latin typeface="+mj-lt"/>
                <a:cs typeface="Times New Roman" pitchFamily="18" charset="0"/>
                <a:sym typeface="Symbol" pitchFamily="18" charset="2"/>
              </a:rPr>
            </a:br>
            <a:r>
              <a:rPr lang="ru-RU" sz="240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+mj-lt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>
                <a:latin typeface="+mj-lt"/>
                <a:cs typeface="Times New Roman" pitchFamily="18" charset="0"/>
                <a:sym typeface="Symbol" pitchFamily="18" charset="2"/>
              </a:rPr>
              <a:t> &gt;&gt; </a:t>
            </a:r>
            <a:r>
              <a:rPr lang="ru-RU" sz="240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+mj-lt"/>
                <a:cs typeface="Times New Roman" pitchFamily="18" charset="0"/>
                <a:sym typeface="Symbol" pitchFamily="18" charset="2"/>
              </a:rPr>
              <a:t>2</a:t>
            </a:r>
            <a:endParaRPr lang="ru-RU" sz="2000">
              <a:latin typeface="+mj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5638800" y="1905001"/>
            <a:ext cx="129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latin typeface="+mj-lt"/>
                <a:cs typeface="Times New Roman" pitchFamily="18" charset="0"/>
                <a:sym typeface="Symbol" pitchFamily="18" charset="2"/>
              </a:rPr>
            </a:br>
            <a:r>
              <a:rPr lang="ru-RU" sz="240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+mj-lt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>
                <a:latin typeface="+mj-lt"/>
                <a:cs typeface="Times New Roman" pitchFamily="18" charset="0"/>
                <a:sym typeface="Symbol" pitchFamily="18" charset="2"/>
              </a:rPr>
              <a:t> &gt;&gt; </a:t>
            </a:r>
            <a:r>
              <a:rPr lang="ru-RU" sz="2400"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+mj-lt"/>
                <a:cs typeface="Times New Roman" pitchFamily="18" charset="0"/>
                <a:sym typeface="Symbol" pitchFamily="18" charset="2"/>
              </a:rPr>
              <a:t>1</a:t>
            </a:r>
            <a:endParaRPr lang="ru-RU" sz="2000">
              <a:latin typeface="+mj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5486400" y="5181601"/>
            <a:ext cx="121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40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“Flat” region</a:t>
            </a:r>
            <a:endParaRPr lang="ru-RU" sz="2400">
              <a:solidFill>
                <a:srgbClr val="0033CC"/>
              </a:solidFill>
              <a:latin typeface="+mj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2057400" y="126365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cs typeface="Times New Roman" pitchFamily="18" charset="0"/>
              </a:rPr>
              <a:t>Classification of image points using </a:t>
            </a:r>
            <a:r>
              <a:rPr lang="en-US" dirty="0" err="1">
                <a:cs typeface="Times New Roman" pitchFamily="18" charset="0"/>
              </a:rPr>
              <a:t>eigenvalues</a:t>
            </a:r>
            <a:r>
              <a:rPr lang="en-US" dirty="0">
                <a:cs typeface="Times New Roman" pitchFamily="18" charset="0"/>
              </a:rPr>
              <a:t> of </a:t>
            </a:r>
            <a:r>
              <a:rPr lang="en-US" i="1" dirty="0">
                <a:cs typeface="Times New Roman" pitchFamily="18" charset="0"/>
              </a:rPr>
              <a:t>M</a:t>
            </a:r>
            <a:r>
              <a:rPr lang="en-US" dirty="0">
                <a:cs typeface="Times New Roman" pitchFamily="18" charset="0"/>
              </a:rPr>
              <a:t>:</a:t>
            </a:r>
            <a:endParaRPr lang="ru-RU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 summary</a:t>
            </a:r>
            <a:endParaRPr lang="ru-RU" dirty="0"/>
          </a:p>
        </p:txBody>
      </p:sp>
      <p:sp>
        <p:nvSpPr>
          <p:cNvPr id="46089" name="Rectangle 10"/>
          <p:cNvSpPr>
            <a:spLocks noChangeArrowheads="1"/>
          </p:cNvSpPr>
          <p:nvPr/>
        </p:nvSpPr>
        <p:spPr bwMode="auto">
          <a:xfrm>
            <a:off x="685800" y="1219200"/>
            <a:ext cx="9067800" cy="214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1" dirty="0"/>
              <a:t>Here’s what you do: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Compute the gradient at each point in the image</a:t>
            </a: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For each pixel:</a:t>
            </a:r>
          </a:p>
          <a:p>
            <a:pPr marL="1200150" lvl="2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Create the </a:t>
            </a:r>
            <a:r>
              <a:rPr lang="en-US" i="1" dirty="0"/>
              <a:t>H</a:t>
            </a:r>
            <a:r>
              <a:rPr lang="en-US" dirty="0"/>
              <a:t> matrix from nearby gradient values</a:t>
            </a:r>
          </a:p>
          <a:p>
            <a:pPr marL="1200150" lvl="2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Compute the </a:t>
            </a:r>
            <a:r>
              <a:rPr lang="en-US" dirty="0" err="1"/>
              <a:t>eigenvalues</a:t>
            </a:r>
            <a:r>
              <a:rPr lang="en-US" dirty="0"/>
              <a:t>. </a:t>
            </a:r>
          </a:p>
          <a:p>
            <a:pPr marL="1200150" lvl="2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Find points with large response (</a:t>
            </a:r>
            <a:r>
              <a:rPr lang="en-US" dirty="0">
                <a:sym typeface="Symbol" pitchFamily="18" charset="2"/>
              </a:rPr>
              <a:t></a:t>
            </a:r>
            <a:r>
              <a:rPr lang="en-US" baseline="-25000" dirty="0">
                <a:sym typeface="Symbol" pitchFamily="18" charset="2"/>
              </a:rPr>
              <a:t>min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&gt; threshold)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Choose those points where </a:t>
            </a:r>
            <a:r>
              <a:rPr lang="en-US" dirty="0">
                <a:sym typeface="Symbol" pitchFamily="18" charset="2"/>
              </a:rPr>
              <a:t></a:t>
            </a:r>
            <a:r>
              <a:rPr lang="en-US" baseline="-25000" dirty="0">
                <a:sym typeface="Symbol" pitchFamily="18" charset="2"/>
              </a:rPr>
              <a:t>min </a:t>
            </a:r>
            <a:r>
              <a:rPr lang="en-US" dirty="0"/>
              <a:t>is a local maximum as features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7A2FE6-9C0A-409A-9ECA-A8C3821C8BE6}"/>
              </a:ext>
            </a:extLst>
          </p:cNvPr>
          <p:cNvGrpSpPr/>
          <p:nvPr/>
        </p:nvGrpSpPr>
        <p:grpSpPr>
          <a:xfrm>
            <a:off x="1752600" y="3657600"/>
            <a:ext cx="8629650" cy="3144147"/>
            <a:chOff x="1752600" y="3657600"/>
            <a:chExt cx="8629650" cy="3144147"/>
          </a:xfrm>
        </p:grpSpPr>
        <p:pic>
          <p:nvPicPr>
            <p:cNvPr id="46083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52600" y="3657600"/>
              <a:ext cx="2762250" cy="27622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46084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05350" y="3657600"/>
              <a:ext cx="2762250" cy="276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6085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620000" y="3657600"/>
              <a:ext cx="2762250" cy="276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6088" name="Picture 11" descr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042625" y="6518263"/>
              <a:ext cx="182200" cy="242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802804" y="6477001"/>
              <a:ext cx="681642" cy="3247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8739188" y="6477000"/>
              <a:ext cx="633412" cy="3247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E8DE71DD-50A6-4547-96FC-14F978F4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80804" y="1600200"/>
            <a:ext cx="4096796" cy="1001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 summary</a:t>
            </a:r>
            <a:endParaRPr lang="ru-RU" dirty="0"/>
          </a:p>
        </p:txBody>
      </p:sp>
      <p:pic>
        <p:nvPicPr>
          <p:cNvPr id="4710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0" y="3633788"/>
            <a:ext cx="27622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3729038"/>
            <a:ext cx="2566988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0" name="Rectangle 12"/>
          <p:cNvSpPr>
            <a:spLocks noChangeArrowheads="1"/>
          </p:cNvSpPr>
          <p:nvPr/>
        </p:nvSpPr>
        <p:spPr bwMode="auto">
          <a:xfrm>
            <a:off x="8048625" y="4614863"/>
            <a:ext cx="228600" cy="228600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7111" name="Straight Arrow Connector 20"/>
          <p:cNvCxnSpPr>
            <a:cxnSpLocks noChangeShapeType="1"/>
          </p:cNvCxnSpPr>
          <p:nvPr/>
        </p:nvCxnSpPr>
        <p:spPr bwMode="auto">
          <a:xfrm rot="10800000">
            <a:off x="6148389" y="3729039"/>
            <a:ext cx="2128837" cy="8858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47112" name="Straight Arrow Connector 22"/>
          <p:cNvCxnSpPr>
            <a:cxnSpLocks noChangeShapeType="1"/>
          </p:cNvCxnSpPr>
          <p:nvPr/>
        </p:nvCxnSpPr>
        <p:spPr bwMode="auto">
          <a:xfrm rot="10800000" flipV="1">
            <a:off x="6148389" y="4843464"/>
            <a:ext cx="2128837" cy="15335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</p:cxn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23312" y="6424901"/>
            <a:ext cx="725488" cy="371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85800" y="1219200"/>
            <a:ext cx="9067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1" dirty="0"/>
              <a:t>Here’s what you do: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Compute the gradient at each point in the image</a:t>
            </a: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For each pixel:</a:t>
            </a:r>
          </a:p>
          <a:p>
            <a:pPr marL="1200150" lvl="2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Create the </a:t>
            </a:r>
            <a:r>
              <a:rPr lang="en-US" i="1" dirty="0"/>
              <a:t>H</a:t>
            </a:r>
            <a:r>
              <a:rPr lang="en-US" dirty="0"/>
              <a:t> matrix from nearby gradient values</a:t>
            </a:r>
          </a:p>
          <a:p>
            <a:pPr marL="1200150" lvl="2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Compute the </a:t>
            </a:r>
            <a:r>
              <a:rPr lang="en-US" dirty="0" err="1"/>
              <a:t>eigenvalues</a:t>
            </a:r>
            <a:r>
              <a:rPr lang="en-US" dirty="0"/>
              <a:t>. </a:t>
            </a:r>
          </a:p>
          <a:p>
            <a:pPr marL="1200150" lvl="2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Find points with large response (</a:t>
            </a:r>
            <a:r>
              <a:rPr lang="en-US" dirty="0">
                <a:sym typeface="Symbol" pitchFamily="18" charset="2"/>
              </a:rPr>
              <a:t></a:t>
            </a:r>
            <a:r>
              <a:rPr lang="en-US" baseline="-25000" dirty="0">
                <a:sym typeface="Symbol" pitchFamily="18" charset="2"/>
              </a:rPr>
              <a:t>min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&gt; threshold)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Choose those points where </a:t>
            </a:r>
            <a:r>
              <a:rPr lang="en-US" dirty="0">
                <a:sym typeface="Symbol" pitchFamily="18" charset="2"/>
              </a:rPr>
              <a:t></a:t>
            </a:r>
            <a:r>
              <a:rPr lang="en-US" baseline="-25000" dirty="0">
                <a:sym typeface="Symbol" pitchFamily="18" charset="2"/>
              </a:rPr>
              <a:t>min </a:t>
            </a:r>
            <a:r>
              <a:rPr lang="en-US" dirty="0"/>
              <a:t>is a local maximum as features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  <p:sp>
        <p:nvSpPr>
          <p:cNvPr id="47114" name="Rectangle 24"/>
          <p:cNvSpPr>
            <a:spLocks noChangeArrowheads="1"/>
          </p:cNvSpPr>
          <p:nvPr/>
        </p:nvSpPr>
        <p:spPr bwMode="auto">
          <a:xfrm>
            <a:off x="1371600" y="2909454"/>
            <a:ext cx="6864350" cy="30480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Harris operator</a:t>
            </a:r>
            <a:endParaRPr lang="ru-RU" dirty="0"/>
          </a:p>
        </p:txBody>
      </p:sp>
      <p:sp>
        <p:nvSpPr>
          <p:cNvPr id="48131" name="Rectangle 5"/>
          <p:cNvSpPr>
            <a:spLocks noChangeArrowheads="1"/>
          </p:cNvSpPr>
          <p:nvPr/>
        </p:nvSpPr>
        <p:spPr bwMode="auto">
          <a:xfrm>
            <a:off x="2209800" y="1752600"/>
            <a:ext cx="8153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>
                <a:sym typeface="Symbol" pitchFamily="18" charset="2"/>
              </a:rPr>
              <a:t></a:t>
            </a:r>
            <a:r>
              <a:rPr lang="en-US" sz="2000" baseline="-25000" dirty="0">
                <a:sym typeface="Symbol" pitchFamily="18" charset="2"/>
              </a:rPr>
              <a:t>min </a:t>
            </a:r>
            <a:r>
              <a:rPr lang="en-US" sz="2000" dirty="0"/>
              <a:t>is a variant of the “Harris operator” for feature detection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The </a:t>
            </a:r>
            <a:r>
              <a:rPr lang="en-US" sz="2000" i="1" dirty="0"/>
              <a:t>trace</a:t>
            </a:r>
            <a:r>
              <a:rPr lang="en-US" sz="2000" dirty="0"/>
              <a:t> is the sum of the diagonals, i.e., </a:t>
            </a:r>
            <a:r>
              <a:rPr lang="en-US" sz="2000" i="1" dirty="0"/>
              <a:t>trace(H) = h</a:t>
            </a:r>
            <a:r>
              <a:rPr lang="en-US" sz="2000" i="1" baseline="-25000" dirty="0"/>
              <a:t>11</a:t>
            </a:r>
            <a:r>
              <a:rPr lang="en-US" sz="2000" i="1" dirty="0"/>
              <a:t> + h</a:t>
            </a:r>
            <a:r>
              <a:rPr lang="en-US" sz="2000" i="1" baseline="-25000" dirty="0"/>
              <a:t>22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Very similar to </a:t>
            </a:r>
            <a:r>
              <a:rPr lang="en-US" sz="2000" dirty="0">
                <a:sym typeface="Symbol" pitchFamily="18" charset="2"/>
              </a:rPr>
              <a:t></a:t>
            </a:r>
            <a:r>
              <a:rPr lang="en-US" sz="2000" baseline="-25000" dirty="0">
                <a:sym typeface="Symbol" pitchFamily="18" charset="2"/>
              </a:rPr>
              <a:t>min </a:t>
            </a:r>
            <a:r>
              <a:rPr lang="en-US" sz="2000" dirty="0"/>
              <a:t>but less expensive (no square root)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Called the </a:t>
            </a:r>
            <a:r>
              <a:rPr lang="en-US" sz="2000" i="1" dirty="0"/>
              <a:t>Harris Corner Detector</a:t>
            </a:r>
            <a:r>
              <a:rPr lang="en-US" sz="2000" dirty="0"/>
              <a:t> or </a:t>
            </a:r>
            <a:r>
              <a:rPr lang="en-US" sz="2000" i="1" dirty="0"/>
              <a:t>Harris Operator</a:t>
            </a: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Lots of other detectors, this is one of the most popular</a:t>
            </a:r>
            <a:endParaRPr lang="en-US" sz="2400" dirty="0"/>
          </a:p>
        </p:txBody>
      </p:sp>
      <p:pic>
        <p:nvPicPr>
          <p:cNvPr id="48132" name="Picture 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59325" y="2438401"/>
            <a:ext cx="1892300" cy="74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Picture 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10088" y="3352800"/>
            <a:ext cx="2881312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BF9D-130F-44F9-A8B9-6E175AC9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Harris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3B83-8343-46BA-B431-4ED976BE3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use an alternate definition of the Harris operator: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7319D-5DE8-4A57-9755-B0DCD1543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236" y="3003374"/>
            <a:ext cx="9561528" cy="85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78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/>
              <a:t>The Harris operator</a:t>
            </a:r>
            <a:endParaRPr lang="ru-RU" dirty="0"/>
          </a:p>
        </p:txBody>
      </p:sp>
      <p:pic>
        <p:nvPicPr>
          <p:cNvPr id="4915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3943350"/>
            <a:ext cx="27622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4038600"/>
            <a:ext cx="2566988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8" name="Rectangle 12"/>
          <p:cNvSpPr>
            <a:spLocks noChangeArrowheads="1"/>
          </p:cNvSpPr>
          <p:nvPr/>
        </p:nvSpPr>
        <p:spPr bwMode="auto">
          <a:xfrm>
            <a:off x="6829425" y="4924425"/>
            <a:ext cx="228600" cy="228600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9159" name="Straight Arrow Connector 20"/>
          <p:cNvCxnSpPr>
            <a:cxnSpLocks noChangeShapeType="1"/>
          </p:cNvCxnSpPr>
          <p:nvPr/>
        </p:nvCxnSpPr>
        <p:spPr bwMode="auto">
          <a:xfrm rot="10800000">
            <a:off x="4929189" y="4038601"/>
            <a:ext cx="2128837" cy="8858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49160" name="Straight Arrow Connector 22"/>
          <p:cNvCxnSpPr>
            <a:cxnSpLocks noChangeShapeType="1"/>
          </p:cNvCxnSpPr>
          <p:nvPr/>
        </p:nvCxnSpPr>
        <p:spPr bwMode="auto">
          <a:xfrm rot="10800000" flipV="1">
            <a:off x="4929189" y="5153026"/>
            <a:ext cx="2128837" cy="15335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</p:cxnSp>
      <p:pic>
        <p:nvPicPr>
          <p:cNvPr id="4916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99214" y="1066800"/>
            <a:ext cx="2744787" cy="274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62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95550" y="1066800"/>
            <a:ext cx="2457450" cy="273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63" name="Rectangle 13"/>
          <p:cNvSpPr>
            <a:spLocks noChangeArrowheads="1"/>
          </p:cNvSpPr>
          <p:nvPr/>
        </p:nvSpPr>
        <p:spPr bwMode="auto">
          <a:xfrm>
            <a:off x="6829425" y="2028825"/>
            <a:ext cx="228600" cy="228600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9164" name="Straight Arrow Connector 14"/>
          <p:cNvCxnSpPr>
            <a:cxnSpLocks noChangeShapeType="1"/>
          </p:cNvCxnSpPr>
          <p:nvPr/>
        </p:nvCxnSpPr>
        <p:spPr bwMode="auto">
          <a:xfrm rot="10800000">
            <a:off x="4929189" y="1143001"/>
            <a:ext cx="2128837" cy="8858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49165" name="Straight Arrow Connector 15"/>
          <p:cNvCxnSpPr>
            <a:cxnSpLocks noChangeShapeType="1"/>
          </p:cNvCxnSpPr>
          <p:nvPr/>
        </p:nvCxnSpPr>
        <p:spPr bwMode="auto">
          <a:xfrm rot="10800000" flipV="1">
            <a:off x="4929189" y="2257426"/>
            <a:ext cx="2128837" cy="15335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49166" name="Rectangle 9"/>
          <p:cNvSpPr>
            <a:spLocks noChangeArrowheads="1"/>
          </p:cNvSpPr>
          <p:nvPr/>
        </p:nvSpPr>
        <p:spPr bwMode="auto">
          <a:xfrm>
            <a:off x="9220200" y="2133601"/>
            <a:ext cx="1064522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+mj-lt"/>
              </a:rPr>
              <a:t>Harris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operator</a:t>
            </a: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296400" y="5105400"/>
            <a:ext cx="93821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3" descr="cows_step0"/>
          <p:cNvPicPr>
            <a:picLocks noChangeAspect="1" noChangeArrowheads="1"/>
          </p:cNvPicPr>
          <p:nvPr/>
        </p:nvPicPr>
        <p:blipFill>
          <a:blip r:embed="rId2" cstate="print">
            <a:lum bright="12000" contrast="18000"/>
          </a:blip>
          <a:srcRect/>
          <a:stretch>
            <a:fillRect/>
          </a:stretch>
        </p:blipFill>
        <p:spPr bwMode="auto">
          <a:xfrm>
            <a:off x="2057400" y="1295400"/>
            <a:ext cx="8153400" cy="527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Harris detector example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 descr="cows_step1_corner_respon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295401"/>
            <a:ext cx="8153400" cy="526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 value (red high, blue low)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4" descr="cows_step2_thres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295401"/>
            <a:ext cx="8153400" cy="526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Threshold (f &gt; value)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4" descr="cows_step3_thresh&amp;max"/>
          <p:cNvPicPr>
            <a:picLocks noChangeAspect="1" noChangeArrowheads="1"/>
          </p:cNvPicPr>
          <p:nvPr/>
        </p:nvPicPr>
        <p:blipFill>
          <a:blip r:embed="rId2" cstate="print">
            <a:lum bright="24000" contrast="72000"/>
            <a:grayscl/>
            <a:biLevel thresh="50000"/>
          </a:blip>
          <a:srcRect/>
          <a:stretch>
            <a:fillRect/>
          </a:stretch>
        </p:blipFill>
        <p:spPr bwMode="auto">
          <a:xfrm>
            <a:off x="2057400" y="1295400"/>
            <a:ext cx="8153400" cy="525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1" name="Rectangle 5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11277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Find local maxima of f (non-max suppression)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 descr="cows_step4_harris"/>
          <p:cNvPicPr>
            <a:picLocks noChangeAspect="1" noChangeArrowheads="1"/>
          </p:cNvPicPr>
          <p:nvPr/>
        </p:nvPicPr>
        <p:blipFill>
          <a:blip r:embed="rId2" cstate="print">
            <a:lum bright="12000" contrast="18000"/>
          </a:blip>
          <a:srcRect/>
          <a:stretch>
            <a:fillRect/>
          </a:stretch>
        </p:blipFill>
        <p:spPr bwMode="auto">
          <a:xfrm>
            <a:off x="2057400" y="1295400"/>
            <a:ext cx="815340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Harris features (in red)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Weighting the derivatives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practice, using a simple window </a:t>
            </a:r>
            <a:r>
              <a:rPr lang="en-US" i="1" dirty="0"/>
              <a:t>W</a:t>
            </a:r>
            <a:r>
              <a:rPr lang="en-US" dirty="0"/>
              <a:t> doesn’t work too well</a:t>
            </a:r>
          </a:p>
          <a:p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Instead, we’ll </a:t>
            </a:r>
            <a:r>
              <a:rPr lang="en-US" i="1" dirty="0"/>
              <a:t>weight</a:t>
            </a:r>
            <a:r>
              <a:rPr lang="en-US" dirty="0"/>
              <a:t> each derivative value based on its distance from the center pixel</a:t>
            </a:r>
          </a:p>
        </p:txBody>
      </p:sp>
      <p:pic>
        <p:nvPicPr>
          <p:cNvPr id="221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339322"/>
            <a:ext cx="4096796" cy="1001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11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6026" y="5081514"/>
            <a:ext cx="4752974" cy="1014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58200" y="5105400"/>
            <a:ext cx="990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118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31826" y="6096000"/>
            <a:ext cx="664574" cy="328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36536"/>
            <a:ext cx="9753600" cy="89852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Harris Detector – Recap </a:t>
            </a:r>
            <a:r>
              <a:rPr lang="pl-PL" sz="3600" dirty="0"/>
              <a:t>[Harris88]</a:t>
            </a:r>
            <a:endParaRPr lang="en-US" sz="3600" dirty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5029200" cy="695328"/>
          </a:xfrm>
        </p:spPr>
        <p:txBody>
          <a:bodyPr/>
          <a:lstStyle/>
          <a:p>
            <a:pPr marL="0" indent="0">
              <a:buNone/>
            </a:pPr>
            <a:r>
              <a:rPr lang="pl-PL" dirty="0">
                <a:latin typeface="+mj-lt"/>
              </a:rPr>
              <a:t>Second moment </a:t>
            </a:r>
            <a:r>
              <a:rPr lang="pl-PL" dirty="0" err="1">
                <a:latin typeface="+mj-lt"/>
              </a:rPr>
              <a:t>matrix</a:t>
            </a:r>
            <a:endParaRPr lang="en-US" dirty="0">
              <a:latin typeface="+mj-lt"/>
            </a:endParaRPr>
          </a:p>
        </p:txBody>
      </p:sp>
      <p:graphicFrame>
        <p:nvGraphicFramePr>
          <p:cNvPr id="14336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743216"/>
              </p:ext>
            </p:extLst>
          </p:nvPr>
        </p:nvGraphicFramePr>
        <p:xfrm>
          <a:off x="887414" y="2157414"/>
          <a:ext cx="37607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54300" imgH="508000" progId="Equation.3">
                  <p:embed/>
                </p:oleObj>
              </mc:Choice>
              <mc:Fallback>
                <p:oleObj name="Equation" r:id="rId3" imgW="2654300" imgH="508000" progId="Equation.3">
                  <p:embed/>
                  <p:pic>
                    <p:nvPicPr>
                      <p:cNvPr id="14336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4" y="2157414"/>
                        <a:ext cx="37607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FC89FF0-07AA-7F4A-B995-B9C5ACB99442}" type="slidenum">
              <a:rPr lang="de-DE" sz="1200">
                <a:solidFill>
                  <a:srgbClr val="898989"/>
                </a:solidFill>
                <a:latin typeface="Calibri" charset="0"/>
              </a:rPr>
              <a:pPr eaLnBrk="1" hangingPunct="1"/>
              <a:t>47</a:t>
            </a:fld>
            <a:endParaRPr lang="de-DE" sz="1200">
              <a:solidFill>
                <a:srgbClr val="898989"/>
              </a:solidFill>
              <a:latin typeface="Calibri" charset="0"/>
            </a:endParaRPr>
          </a:p>
        </p:txBody>
      </p:sp>
      <p:pic>
        <p:nvPicPr>
          <p:cNvPr id="14336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5" y="1233489"/>
            <a:ext cx="1079500" cy="839787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3" name="Text Box 9"/>
          <p:cNvSpPr txBox="1">
            <a:spLocks noChangeArrowheads="1"/>
          </p:cNvSpPr>
          <p:nvPr/>
        </p:nvSpPr>
        <p:spPr bwMode="auto">
          <a:xfrm>
            <a:off x="6489701" y="2132014"/>
            <a:ext cx="18002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600" dirty="0">
                <a:solidFill>
                  <a:srgbClr val="000000"/>
                </a:solidFill>
                <a:latin typeface="+mj-lt"/>
              </a:rPr>
              <a:t>1. Image derivatives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204" name="Text Box 10"/>
          <p:cNvSpPr txBox="1">
            <a:spLocks noChangeArrowheads="1"/>
          </p:cNvSpPr>
          <p:nvPr/>
        </p:nvSpPr>
        <p:spPr bwMode="auto">
          <a:xfrm>
            <a:off x="5197475" y="3106739"/>
            <a:ext cx="1943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600">
                <a:solidFill>
                  <a:srgbClr val="000000"/>
                </a:solidFill>
                <a:latin typeface="+mj-lt"/>
              </a:rPr>
              <a:t>2. Square of derivatives</a:t>
            </a:r>
            <a:endParaRPr lang="en-US" sz="1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205" name="Text Box 11"/>
          <p:cNvSpPr txBox="1">
            <a:spLocks noChangeArrowheads="1"/>
          </p:cNvSpPr>
          <p:nvPr/>
        </p:nvSpPr>
        <p:spPr bwMode="auto">
          <a:xfrm>
            <a:off x="5160964" y="3970339"/>
            <a:ext cx="19446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600">
                <a:solidFill>
                  <a:srgbClr val="000000"/>
                </a:solidFill>
                <a:latin typeface="+mj-lt"/>
              </a:rPr>
              <a:t>3. Gaussian </a:t>
            </a:r>
            <a:br>
              <a:rPr lang="pl-PL" sz="1600">
                <a:solidFill>
                  <a:srgbClr val="000000"/>
                </a:solidFill>
                <a:latin typeface="+mj-lt"/>
              </a:rPr>
            </a:br>
            <a:r>
              <a:rPr lang="pl-PL" sz="1600">
                <a:solidFill>
                  <a:srgbClr val="000000"/>
                </a:solidFill>
                <a:latin typeface="+mj-lt"/>
              </a:rPr>
              <a:t>    filter </a:t>
            </a:r>
            <a:r>
              <a:rPr lang="pl-PL" sz="1600" i="1">
                <a:solidFill>
                  <a:srgbClr val="000000"/>
                </a:solidFill>
                <a:latin typeface="+mj-lt"/>
              </a:rPr>
              <a:t>g(s</a:t>
            </a:r>
            <a:r>
              <a:rPr lang="pl-PL" sz="1600" i="1" baseline="-25000">
                <a:solidFill>
                  <a:srgbClr val="000000"/>
                </a:solidFill>
                <a:latin typeface="+mj-lt"/>
              </a:rPr>
              <a:t>I</a:t>
            </a:r>
            <a:r>
              <a:rPr lang="pl-PL" sz="1600" i="1">
                <a:solidFill>
                  <a:srgbClr val="000000"/>
                </a:solidFill>
                <a:latin typeface="+mj-lt"/>
              </a:rPr>
              <a:t>)</a:t>
            </a:r>
            <a:endParaRPr lang="en-US" sz="1600" i="1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969251" y="2133600"/>
            <a:ext cx="2519363" cy="865188"/>
            <a:chOff x="3356" y="1638"/>
            <a:chExt cx="2041" cy="756"/>
          </a:xfrm>
        </p:grpSpPr>
        <p:pic>
          <p:nvPicPr>
            <p:cNvPr id="143391" name="Picture 1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" y="1684"/>
              <a:ext cx="907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143392" name="Picture 1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1" y="1684"/>
              <a:ext cx="918" cy="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143393" name="Text Box 15"/>
            <p:cNvSpPr txBox="1">
              <a:spLocks noChangeArrowheads="1"/>
            </p:cNvSpPr>
            <p:nvPr/>
          </p:nvSpPr>
          <p:spPr bwMode="auto">
            <a:xfrm>
              <a:off x="4059" y="1638"/>
              <a:ext cx="363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l-PL" sz="1800" i="1">
                  <a:solidFill>
                    <a:srgbClr val="FFFFFF"/>
                  </a:solidFill>
                </a:rPr>
                <a:t>I</a:t>
              </a:r>
              <a:r>
                <a:rPr lang="pl-PL" sz="1800" i="1" baseline="-25000">
                  <a:solidFill>
                    <a:srgbClr val="FFFFFF"/>
                  </a:solidFill>
                </a:rPr>
                <a:t>x</a:t>
              </a:r>
              <a:endParaRPr lang="en-US" sz="1800" i="1" baseline="-25000">
                <a:solidFill>
                  <a:srgbClr val="FFFFFF"/>
                </a:solidFill>
              </a:endParaRPr>
            </a:p>
          </p:txBody>
        </p:sp>
        <p:sp>
          <p:nvSpPr>
            <p:cNvPr id="143394" name="Text Box 16"/>
            <p:cNvSpPr txBox="1">
              <a:spLocks noChangeArrowheads="1"/>
            </p:cNvSpPr>
            <p:nvPr/>
          </p:nvSpPr>
          <p:spPr bwMode="auto">
            <a:xfrm>
              <a:off x="5034" y="1638"/>
              <a:ext cx="363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l-PL" sz="1800" i="1">
                  <a:solidFill>
                    <a:srgbClr val="FFFFFF"/>
                  </a:solidFill>
                </a:rPr>
                <a:t>I</a:t>
              </a:r>
              <a:r>
                <a:rPr lang="pl-PL" sz="1800" i="1" baseline="-25000">
                  <a:solidFill>
                    <a:srgbClr val="FFFFFF"/>
                  </a:solidFill>
                </a:rPr>
                <a:t>y</a:t>
              </a:r>
              <a:endParaRPr lang="en-US" sz="1800" i="1" baseline="-25000">
                <a:solidFill>
                  <a:srgbClr val="FFFFFF"/>
                </a:solidFill>
              </a:endParaRPr>
            </a:p>
          </p:txBody>
        </p:sp>
      </p:grpSp>
      <p:pic>
        <p:nvPicPr>
          <p:cNvPr id="8207" name="Picture 1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12251" y="3025776"/>
            <a:ext cx="1196975" cy="836613"/>
          </a:xfrm>
        </p:spPr>
      </p:pic>
      <p:pic>
        <p:nvPicPr>
          <p:cNvPr id="8208" name="Picture 1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6" y="3033713"/>
            <a:ext cx="11969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209" name="Picture 1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3033713"/>
            <a:ext cx="11953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210" name="Text Box 20"/>
          <p:cNvSpPr txBox="1">
            <a:spLocks noChangeArrowheads="1"/>
          </p:cNvSpPr>
          <p:nvPr/>
        </p:nvSpPr>
        <p:spPr bwMode="auto">
          <a:xfrm>
            <a:off x="7466014" y="2987675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i="1">
                <a:solidFill>
                  <a:srgbClr val="FFFFFF"/>
                </a:solidFill>
              </a:rPr>
              <a:t>I</a:t>
            </a:r>
            <a:r>
              <a:rPr lang="pl-PL" sz="1800" i="1" baseline="-25000">
                <a:solidFill>
                  <a:srgbClr val="FFFFFF"/>
                </a:solidFill>
              </a:rPr>
              <a:t>x</a:t>
            </a:r>
            <a:r>
              <a:rPr lang="pl-PL" sz="1800" i="1" baseline="30000">
                <a:solidFill>
                  <a:srgbClr val="FFFFFF"/>
                </a:solidFill>
              </a:rPr>
              <a:t>2</a:t>
            </a:r>
            <a:endParaRPr lang="en-US" sz="1800" i="1" baseline="30000">
              <a:solidFill>
                <a:srgbClr val="FFFFFF"/>
              </a:solidFill>
            </a:endParaRPr>
          </a:p>
        </p:txBody>
      </p:sp>
      <p:sp>
        <p:nvSpPr>
          <p:cNvPr id="8211" name="Text Box 21"/>
          <p:cNvSpPr txBox="1">
            <a:spLocks noChangeArrowheads="1"/>
          </p:cNvSpPr>
          <p:nvPr/>
        </p:nvSpPr>
        <p:spPr bwMode="auto">
          <a:xfrm>
            <a:off x="8689976" y="2962275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i="1">
                <a:solidFill>
                  <a:srgbClr val="FFFFFF"/>
                </a:solidFill>
              </a:rPr>
              <a:t>I</a:t>
            </a:r>
            <a:r>
              <a:rPr lang="pl-PL" sz="1800" i="1" baseline="-25000">
                <a:solidFill>
                  <a:srgbClr val="FFFFFF"/>
                </a:solidFill>
              </a:rPr>
              <a:t>y</a:t>
            </a:r>
            <a:r>
              <a:rPr lang="pl-PL" sz="1800" i="1" baseline="30000">
                <a:solidFill>
                  <a:srgbClr val="FFFFFF"/>
                </a:solidFill>
              </a:rPr>
              <a:t>2</a:t>
            </a:r>
            <a:endParaRPr lang="en-US" sz="1800" i="1" baseline="30000">
              <a:solidFill>
                <a:srgbClr val="FFFFFF"/>
              </a:solidFill>
            </a:endParaRPr>
          </a:p>
        </p:txBody>
      </p:sp>
      <p:sp>
        <p:nvSpPr>
          <p:cNvPr id="8212" name="Text Box 22"/>
          <p:cNvSpPr txBox="1">
            <a:spLocks noChangeArrowheads="1"/>
          </p:cNvSpPr>
          <p:nvPr/>
        </p:nvSpPr>
        <p:spPr bwMode="auto">
          <a:xfrm>
            <a:off x="9842501" y="2962275"/>
            <a:ext cx="538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i="1">
                <a:solidFill>
                  <a:srgbClr val="FFFFFF"/>
                </a:solidFill>
              </a:rPr>
              <a:t>I</a:t>
            </a:r>
            <a:r>
              <a:rPr lang="pl-PL" sz="1800" i="1" baseline="-25000">
                <a:solidFill>
                  <a:srgbClr val="FFFFFF"/>
                </a:solidFill>
              </a:rPr>
              <a:t>x</a:t>
            </a:r>
            <a:r>
              <a:rPr lang="pl-PL" sz="1800" i="1">
                <a:solidFill>
                  <a:srgbClr val="FFFFFF"/>
                </a:solidFill>
              </a:rPr>
              <a:t>I</a:t>
            </a:r>
            <a:r>
              <a:rPr lang="pl-PL" sz="1800" i="1" baseline="-25000">
                <a:solidFill>
                  <a:srgbClr val="FFFFFF"/>
                </a:solidFill>
              </a:rPr>
              <a:t>y</a:t>
            </a:r>
            <a:endParaRPr lang="en-US" sz="1800" i="1" baseline="-25000">
              <a:solidFill>
                <a:srgbClr val="FFFFFF"/>
              </a:solidFill>
            </a:endParaRPr>
          </a:p>
        </p:txBody>
      </p:sp>
      <p:pic>
        <p:nvPicPr>
          <p:cNvPr id="8213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4" y="3933826"/>
            <a:ext cx="1182687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214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9" y="3933826"/>
            <a:ext cx="1182687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215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775" y="3933825"/>
            <a:ext cx="1182688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216" name="Text Box 23"/>
          <p:cNvSpPr txBox="1">
            <a:spLocks noChangeArrowheads="1"/>
          </p:cNvSpPr>
          <p:nvPr/>
        </p:nvSpPr>
        <p:spPr bwMode="auto">
          <a:xfrm>
            <a:off x="7162800" y="3962400"/>
            <a:ext cx="922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i="1">
                <a:solidFill>
                  <a:srgbClr val="FFFFFF"/>
                </a:solidFill>
              </a:rPr>
              <a:t>g(I</a:t>
            </a:r>
            <a:r>
              <a:rPr lang="pl-PL" sz="1800" i="1" baseline="-25000">
                <a:solidFill>
                  <a:srgbClr val="FFFFFF"/>
                </a:solidFill>
              </a:rPr>
              <a:t>x</a:t>
            </a:r>
            <a:r>
              <a:rPr lang="pl-PL" sz="1800" i="1" baseline="30000">
                <a:solidFill>
                  <a:srgbClr val="FFFFFF"/>
                </a:solidFill>
              </a:rPr>
              <a:t>2</a:t>
            </a:r>
            <a:r>
              <a:rPr lang="pl-PL" sz="1800" i="1">
                <a:solidFill>
                  <a:srgbClr val="FFFFFF"/>
                </a:solidFill>
              </a:rPr>
              <a:t>)</a:t>
            </a:r>
            <a:endParaRPr lang="en-US" sz="1800" i="1">
              <a:solidFill>
                <a:srgbClr val="FFFFFF"/>
              </a:solidFill>
            </a:endParaRPr>
          </a:p>
        </p:txBody>
      </p:sp>
      <p:sp>
        <p:nvSpPr>
          <p:cNvPr id="8217" name="Text Box 24"/>
          <p:cNvSpPr txBox="1">
            <a:spLocks noChangeArrowheads="1"/>
          </p:cNvSpPr>
          <p:nvPr/>
        </p:nvSpPr>
        <p:spPr bwMode="auto">
          <a:xfrm>
            <a:off x="8382001" y="3962400"/>
            <a:ext cx="925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i="1">
                <a:solidFill>
                  <a:srgbClr val="FFFFFF"/>
                </a:solidFill>
              </a:rPr>
              <a:t>g(I</a:t>
            </a:r>
            <a:r>
              <a:rPr lang="pl-PL" sz="1800" i="1" baseline="-25000">
                <a:solidFill>
                  <a:srgbClr val="FFFFFF"/>
                </a:solidFill>
              </a:rPr>
              <a:t>y</a:t>
            </a:r>
            <a:r>
              <a:rPr lang="pl-PL" sz="1800" i="1" baseline="30000">
                <a:solidFill>
                  <a:srgbClr val="FFFFFF"/>
                </a:solidFill>
              </a:rPr>
              <a:t>2</a:t>
            </a:r>
            <a:r>
              <a:rPr lang="pl-PL" sz="1800" i="1">
                <a:solidFill>
                  <a:srgbClr val="FFFFFF"/>
                </a:solidFill>
              </a:rPr>
              <a:t>)</a:t>
            </a:r>
            <a:endParaRPr lang="en-US" sz="1800" i="1">
              <a:solidFill>
                <a:srgbClr val="FFFFFF"/>
              </a:solidFill>
            </a:endParaRPr>
          </a:p>
        </p:txBody>
      </p:sp>
      <p:sp>
        <p:nvSpPr>
          <p:cNvPr id="8218" name="Text Box 25"/>
          <p:cNvSpPr txBox="1">
            <a:spLocks noChangeArrowheads="1"/>
          </p:cNvSpPr>
          <p:nvPr/>
        </p:nvSpPr>
        <p:spPr bwMode="auto">
          <a:xfrm>
            <a:off x="9559926" y="3886200"/>
            <a:ext cx="925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i="1">
                <a:solidFill>
                  <a:srgbClr val="FFFFFF"/>
                </a:solidFill>
              </a:rPr>
              <a:t>g(I</a:t>
            </a:r>
            <a:r>
              <a:rPr lang="pl-PL" sz="1800" i="1" baseline="-25000">
                <a:solidFill>
                  <a:srgbClr val="FFFFFF"/>
                </a:solidFill>
              </a:rPr>
              <a:t>x</a:t>
            </a:r>
            <a:r>
              <a:rPr lang="pl-PL" sz="1800" i="1">
                <a:solidFill>
                  <a:srgbClr val="FFFFFF"/>
                </a:solidFill>
              </a:rPr>
              <a:t>I</a:t>
            </a:r>
            <a:r>
              <a:rPr lang="pl-PL" sz="1800" i="1" baseline="-25000">
                <a:solidFill>
                  <a:srgbClr val="FFFFFF"/>
                </a:solidFill>
              </a:rPr>
              <a:t>y</a:t>
            </a:r>
            <a:r>
              <a:rPr lang="pl-PL" sz="1800" i="1">
                <a:solidFill>
                  <a:srgbClr val="FFFFFF"/>
                </a:solidFill>
              </a:rPr>
              <a:t>)</a:t>
            </a:r>
            <a:endParaRPr lang="en-US" sz="1800" i="1">
              <a:solidFill>
                <a:srgbClr val="FFFFFF"/>
              </a:solidFill>
            </a:endParaRPr>
          </a:p>
        </p:txBody>
      </p:sp>
      <p:pic>
        <p:nvPicPr>
          <p:cNvPr id="8219" name="Picture 2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301" y="4868864"/>
            <a:ext cx="24479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220" name="Text Box 30"/>
          <p:cNvSpPr txBox="1">
            <a:spLocks noChangeArrowheads="1"/>
          </p:cNvSpPr>
          <p:nvPr/>
        </p:nvSpPr>
        <p:spPr bwMode="auto">
          <a:xfrm>
            <a:off x="2063750" y="5040312"/>
            <a:ext cx="563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dirty="0">
                <a:solidFill>
                  <a:srgbClr val="000000"/>
                </a:solidFill>
                <a:latin typeface="+mj-lt"/>
              </a:rPr>
              <a:t>4. Cornerness function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– </a:t>
            </a:r>
            <a:r>
              <a:rPr lang="pl-PL" sz="1800" dirty="0">
                <a:solidFill>
                  <a:srgbClr val="000000"/>
                </a:solidFill>
                <a:latin typeface="+mj-lt"/>
              </a:rPr>
              <a:t>both eigenvalues are strong</a:t>
            </a:r>
            <a:endParaRPr lang="en-US" sz="1800" i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221" name="Text Box 31"/>
          <p:cNvSpPr txBox="1">
            <a:spLocks noChangeArrowheads="1"/>
          </p:cNvSpPr>
          <p:nvPr/>
        </p:nvSpPr>
        <p:spPr bwMode="auto">
          <a:xfrm>
            <a:off x="9742488" y="6400800"/>
            <a:ext cx="925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i="1">
                <a:solidFill>
                  <a:srgbClr val="FFFFFF"/>
                </a:solidFill>
              </a:rPr>
              <a:t>har</a:t>
            </a:r>
            <a:endParaRPr lang="en-US" sz="1800" i="1">
              <a:solidFill>
                <a:srgbClr val="FFFFFF"/>
              </a:solidFill>
            </a:endParaRPr>
          </a:p>
        </p:txBody>
      </p:sp>
      <p:sp>
        <p:nvSpPr>
          <p:cNvPr id="8222" name="Text Box 32"/>
          <p:cNvSpPr txBox="1">
            <a:spLocks noChangeArrowheads="1"/>
          </p:cNvSpPr>
          <p:nvPr/>
        </p:nvSpPr>
        <p:spPr bwMode="auto">
          <a:xfrm>
            <a:off x="2063750" y="6342064"/>
            <a:ext cx="4679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>
                <a:solidFill>
                  <a:srgbClr val="000000"/>
                </a:solidFill>
                <a:latin typeface="+mj-lt"/>
              </a:rPr>
              <a:t>5. Non-maxima suppression</a:t>
            </a:r>
            <a:endParaRPr lang="en-US" sz="1800" i="1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2181226" y="3505201"/>
          <a:ext cx="14763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66800" imgH="457200" progId="Equation.3">
                  <p:embed/>
                </p:oleObj>
              </mc:Choice>
              <mc:Fallback>
                <p:oleObj name="Equation" r:id="rId15" imgW="1066800" imgH="457200" progId="Equation.3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226" y="3505201"/>
                        <a:ext cx="14763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67D967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0A5859B7-DB83-D2C0-DED6-879446F4A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231901"/>
            <a:ext cx="14795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0. Input image</a:t>
            </a:r>
          </a:p>
        </p:txBody>
      </p:sp>
    </p:spTree>
    <p:extLst>
      <p:ext uri="{BB962C8B-B14F-4D97-AF65-F5344CB8AC3E}">
        <p14:creationId xmlns:p14="http://schemas.microsoft.com/office/powerpoint/2010/main" val="388084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/>
      <p:bldP spid="8204" grpId="0"/>
      <p:bldP spid="8205" grpId="0"/>
      <p:bldP spid="8210" grpId="0"/>
      <p:bldP spid="8211" grpId="0"/>
      <p:bldP spid="8212" grpId="0"/>
      <p:bldP spid="8216" grpId="0"/>
      <p:bldP spid="8217" grpId="0"/>
      <p:bldP spid="8218" grpId="0"/>
      <p:bldP spid="8220" grpId="0"/>
      <p:bldP spid="8221" grpId="0"/>
      <p:bldP spid="82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Harris Corners – Why so complicated?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7637"/>
            <a:ext cx="10515600" cy="4983163"/>
          </a:xfrm>
        </p:spPr>
        <p:txBody>
          <a:bodyPr/>
          <a:lstStyle/>
          <a:p>
            <a:r>
              <a:rPr lang="en-US" dirty="0"/>
              <a:t>Can’t we just check for regions with lots of gradients in the x and y directions?</a:t>
            </a:r>
          </a:p>
          <a:p>
            <a:pPr lvl="1"/>
            <a:r>
              <a:rPr lang="en-US" dirty="0"/>
              <a:t>No! A diagonal line would satisfy that criteria</a:t>
            </a:r>
          </a:p>
        </p:txBody>
      </p:sp>
      <p:sp>
        <p:nvSpPr>
          <p:cNvPr id="4" name="Rectangle 3"/>
          <p:cNvSpPr/>
          <p:nvPr/>
        </p:nvSpPr>
        <p:spPr>
          <a:xfrm rot="18900000">
            <a:off x="4703522" y="3138748"/>
            <a:ext cx="1573460" cy="3179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63321" y="3278559"/>
            <a:ext cx="1905000" cy="19807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68321" y="3254749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Window</a:t>
            </a:r>
          </a:p>
        </p:txBody>
      </p:sp>
    </p:spTree>
    <p:extLst>
      <p:ext uri="{BB962C8B-B14F-4D97-AF65-F5344CB8AC3E}">
        <p14:creationId xmlns:p14="http://schemas.microsoft.com/office/powerpoint/2010/main" val="1725221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0.1412"/>
  <p:tag name="SLIDO_PRESENTATION_ID" val="00000000-0000-0000-0000-000000000000"/>
  <p:tag name="SLIDO_EVENT_UUID" val="80d5803d-2bb1-4236-9383-8ab26c238e16"/>
  <p:tag name="SLIDO_EVENT_SECTION_UUID" val="1256bb7d-06a7-41f0-a504-84db595e598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E(u,v) = \sum_{(x,y) \in W} {[I(x+u, y+v) - I(x,y)]}^2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91"/>
  <p:tag name="PICTUREFILESIZE" val="101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I(x+u, y+v) \approx I(x,y) +  \frac{\partial I}{\partial x} u + \frac{\partial I}{\partial y}v$&#10;\end{document}&#10;"/>
  <p:tag name="FILENAME" val="Edittex"/>
  <p:tag name="FORMAT" val="bmpmono"/>
  <p:tag name="RES" val="1200"/>
  <p:tag name="BLEND" val="0"/>
  <p:tag name="TRANSPARENT" val="0"/>
  <p:tag name="TBUG" val="0"/>
  <p:tag name="ALLOWFS" val="0"/>
  <p:tag name="ORIGWIDTH" val="357"/>
  <p:tag name="PICTUREFILESIZE" val="396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I(x+u, y+v) = I(x,y) +  \frac{\partial I}{\partial x} u + \frac{\partial I}{\partial y}v + \mbox{higher order terms}$&#10;\end{document}&#10;"/>
  <p:tag name="FILENAME" val="Edittex"/>
  <p:tag name="FORMAT" val="bmpmono"/>
  <p:tag name="RES" val="1200"/>
  <p:tag name="BLEND" val="0"/>
  <p:tag name="TRANSPARENT" val="0"/>
  <p:tag name="TBUG" val="0"/>
  <p:tag name="ALLOWFS" val="0"/>
  <p:tag name="ORIGWIDTH" val="529"/>
  <p:tag name="PICTUREFILESIZE" val="58849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approx I(x,y) +  [I_x~I_y] &#10;\left[&#10;\begin{array}{c}&#10;u \\&#10;v&#10;\end{array}&#10;\right]&#10;$&#10;\end{document}&#10;"/>
  <p:tag name="FILENAME" val="Edittex"/>
  <p:tag name="FORMAT" val="bmpmono"/>
  <p:tag name="RES" val="1200"/>
  <p:tag name="BLEND" val="0"/>
  <p:tag name="TRANSPARENT" val="0"/>
  <p:tag name="TBUG" val="0"/>
  <p:tag name="ALLOWFS" val="0"/>
  <p:tag name="ORIGWIDTH" val="221"/>
  <p:tag name="PICTUREFILESIZE" val="40977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shorthand:  $I_x = \frac{\partial I}{\partial x}$&#10;\end{document}&#10;"/>
  <p:tag name="EXTERNALNAME" val="Edittex"/>
  <p:tag name="BLEND" val="False"/>
  <p:tag name="TRANSPARENT" val="False"/>
  <p:tag name="BITMAPFORMAT" val="bmp16m"/>
  <p:tag name="DEBUGINTERACTIVE" val="True"/>
  <p:tag name="ORIGWIDTH" val="708.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H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"/>
  <p:tag name="PICTUREFILESIZE" val="39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H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"/>
  <p:tag name="PICTUREFILESIZE" val="39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H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"/>
  <p:tag name="PICTUREFILESIZE" val="39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Ax = \lambda x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9"/>
  <p:tag name="PICTUREFILESIZE" val="15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det(A - \lambda I) = 0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70"/>
  <p:tag name="PICTUREFILESIZE" val="286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det&#10;\left[&#10;\begin{array}{cc}&#10;h_{11} - \lambda &amp; h_{12} \\&#10;h_{21} &amp; h_{22} - \lambda \\&#10;\end{array}&#10;\right] = 0&#10;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28"/>
  <p:tag name="PICTUREFILESIZE" val="596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lambda_{\pm} = \frac{1}{2}&#10;\left[&#10;(h_{11} + h_{22}) \pm &#10;\sqrt{4 h_{12} h_{21} + {(h_{11} - h_{22})}^2}&#10;\right]&#10;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11"/>
  <p:tag name="PICTUREFILESIZE" val="890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&#10;\left[&#10;\begin{array}{cc}&#10;h_{11} - \lambda &amp; h_{12} \\&#10;h_{21} &amp; h_{22} - \lambda \\&#10;\end{array}&#10;\right]&#10;\left[&#10;\begin{array}{c}&#10;x \\&#10;y \\&#10;\end{array}&#10;\right]&#10; = 0&#10;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39"/>
  <p:tag name="PICTUREFILESIZE" val="58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H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"/>
  <p:tag name="PICTUREFILESIZE" val="39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I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6"/>
  <p:tag name="PICTUREFILESIZE" val="29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I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6"/>
  <p:tag name="PICTUREFILESIZE" val="29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f = \frac{\lambda_1 \lambda_2}{\lambda_1 + \lambda_2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0"/>
  <p:tag name="PICTUREFILESIZE" val="774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determinant(H)}{trace (H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2"/>
  <p:tag name="PICTUREFILESIZE" val="1552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22494</TotalTime>
  <Words>1583</Words>
  <Application>Microsoft Office PowerPoint</Application>
  <PresentationFormat>宽屏</PresentationFormat>
  <Paragraphs>283</Paragraphs>
  <Slides>49</Slides>
  <Notes>18</Notes>
  <HiddenSlides>1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6" baseType="lpstr">
      <vt:lpstr>Calibri</vt:lpstr>
      <vt:lpstr>Times New Roman</vt:lpstr>
      <vt:lpstr>Symbol</vt:lpstr>
      <vt:lpstr>Myriad Pro</vt:lpstr>
      <vt:lpstr>Arial</vt:lpstr>
      <vt:lpstr>Office Theme</vt:lpstr>
      <vt:lpstr>Equation</vt:lpstr>
      <vt:lpstr>Local features &amp; Harris corner detection</vt:lpstr>
      <vt:lpstr>Today: Feature extraction—Corners and blobs</vt:lpstr>
      <vt:lpstr>Motivation: Automatic panoramas</vt:lpstr>
      <vt:lpstr>Panorama stitching</vt:lpstr>
      <vt:lpstr>Motivation: Automatic panoramas</vt:lpstr>
      <vt:lpstr>Why extract features?</vt:lpstr>
      <vt:lpstr>Why extract features?</vt:lpstr>
      <vt:lpstr>Why extract features?</vt:lpstr>
      <vt:lpstr>Application: Visual SLAM</vt:lpstr>
      <vt:lpstr>Do these images overlap?</vt:lpstr>
      <vt:lpstr>Answer below (look for tiny colored squares…)</vt:lpstr>
      <vt:lpstr>Feature matching for object search</vt:lpstr>
      <vt:lpstr>Feature matching</vt:lpstr>
      <vt:lpstr>Invariant local features</vt:lpstr>
      <vt:lpstr>Advantages of local features</vt:lpstr>
      <vt:lpstr>More motivation…  </vt:lpstr>
      <vt:lpstr>Approach</vt:lpstr>
      <vt:lpstr>Local features: main components</vt:lpstr>
      <vt:lpstr>What makes a good feature?</vt:lpstr>
      <vt:lpstr>Want uniqueness</vt:lpstr>
      <vt:lpstr>Local measures of uniqueness</vt:lpstr>
      <vt:lpstr>Local measures of uniqueness</vt:lpstr>
      <vt:lpstr>Harris corner detection:  the math</vt:lpstr>
      <vt:lpstr>Small motion assumption</vt:lpstr>
      <vt:lpstr>Corner detection:  the math</vt:lpstr>
      <vt:lpstr>Corner detection:  the math</vt:lpstr>
      <vt:lpstr>The second moment matrix</vt:lpstr>
      <vt:lpstr>PowerPoint 演示文稿</vt:lpstr>
      <vt:lpstr>PowerPoint 演示文稿</vt:lpstr>
      <vt:lpstr>General case</vt:lpstr>
      <vt:lpstr>Quick eigenvalue/eigenvector review</vt:lpstr>
      <vt:lpstr>Corner detection:  the math</vt:lpstr>
      <vt:lpstr>Corner detection:  the math</vt:lpstr>
      <vt:lpstr>Corner detection:  the math</vt:lpstr>
      <vt:lpstr>Interpreting the eigenvalues</vt:lpstr>
      <vt:lpstr>Corner detection summary</vt:lpstr>
      <vt:lpstr>Corner detection summary</vt:lpstr>
      <vt:lpstr>The Harris operator</vt:lpstr>
      <vt:lpstr>Alternate Harris operator</vt:lpstr>
      <vt:lpstr>The Harris operator</vt:lpstr>
      <vt:lpstr>Harris detector example</vt:lpstr>
      <vt:lpstr>f value (red high, blue low)</vt:lpstr>
      <vt:lpstr>Threshold (f &gt; value) </vt:lpstr>
      <vt:lpstr>Find local maxima of f (non-max suppression)</vt:lpstr>
      <vt:lpstr>Harris features (in red)</vt:lpstr>
      <vt:lpstr>Weighting the derivatives</vt:lpstr>
      <vt:lpstr>Harris Detector – Recap [Harris88]</vt:lpstr>
      <vt:lpstr>Harris Corners – Why so complicated?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Local features &amp; Harris corner detection</dc:title>
  <dc:creator>Noah Snavely</dc:creator>
  <cp:lastModifiedBy>Zhiyu ZHU 朱智宇</cp:lastModifiedBy>
  <cp:revision>514</cp:revision>
  <dcterms:created xsi:type="dcterms:W3CDTF">2009-08-25T02:47:59Z</dcterms:created>
  <dcterms:modified xsi:type="dcterms:W3CDTF">2026-02-03T04:24:06Z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0.17.0.1412</vt:lpwstr>
  </property>
</Properties>
</file>