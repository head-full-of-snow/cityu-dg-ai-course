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3" r:id="rId3"/>
    <p:sldId id="259" r:id="rId4"/>
    <p:sldId id="266" r:id="rId5"/>
    <p:sldId id="265" r:id="rId6"/>
    <p:sldId id="267" r:id="rId7"/>
    <p:sldId id="268" r:id="rId8"/>
    <p:sldId id="269" r:id="rId9"/>
    <p:sldId id="270" r:id="rId10"/>
    <p:sldId id="271" r:id="rId11"/>
    <p:sldId id="281" r:id="rId12"/>
    <p:sldId id="272" r:id="rId13"/>
    <p:sldId id="276" r:id="rId14"/>
    <p:sldId id="275" r:id="rId15"/>
    <p:sldId id="273" r:id="rId16"/>
    <p:sldId id="274" r:id="rId17"/>
    <p:sldId id="278" r:id="rId18"/>
    <p:sldId id="279" r:id="rId19"/>
    <p:sldId id="280" r:id="rId20"/>
    <p:sldId id="277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B85"/>
    <a:srgbClr val="0A1F3A"/>
    <a:srgbClr val="B11117"/>
    <a:srgbClr val="B1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70266"/>
  </p:normalViewPr>
  <p:slideViewPr>
    <p:cSldViewPr snapToGrid="0">
      <p:cViewPr varScale="1">
        <p:scale>
          <a:sx n="71" d="100"/>
          <a:sy n="71" d="100"/>
        </p:scale>
        <p:origin x="920" y="168"/>
      </p:cViewPr>
      <p:guideLst/>
    </p:cSldViewPr>
  </p:slideViewPr>
  <p:notesTextViewPr>
    <p:cViewPr>
      <p:scale>
        <a:sx n="120" d="100"/>
        <a:sy n="1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41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64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7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1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62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665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46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53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313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55CB-48EE-77B8-32FB-EF0B895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F5F5E-C499-ED17-E284-E8BE84F37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5A1BA8-5F37-09F8-3C97-54C29B932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B0599-68D0-8340-C3E0-D6A09DAE9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27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784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F158-B8E6-9546-2875-E1E15434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5D22C9-0A3E-BC55-322E-15B070360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2EDB36-E239-466A-91D0-EC19E530A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EC164-D8B8-74DC-221F-D20C7ECAE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944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6A68-A35B-C078-B0DA-6C392696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D230C2-8AF8-F4A4-EB9F-5E5ED1BAD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BBFF75-0158-F649-6117-24FB23996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ADB5D1-9F05-DF48-6713-E9E5AE80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004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496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79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069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55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463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968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95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1584" y="3593554"/>
            <a:ext cx="6773244" cy="101977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6000" b="0" cap="none" spc="0">
                <a:ln w="0"/>
                <a:solidFill>
                  <a:srgbClr val="B1111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2784529"/>
            <a:ext cx="5770563" cy="25986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378630" y="1738423"/>
            <a:ext cx="7975169" cy="458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513667" y="387458"/>
            <a:ext cx="984013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462" y="1866820"/>
            <a:ext cx="10367075" cy="43944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912462" y="418455"/>
            <a:ext cx="10367075" cy="9092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92257" y="697424"/>
            <a:ext cx="7284204" cy="495945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38087" y="2887851"/>
            <a:ext cx="2941449" cy="27690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14766" y="1575660"/>
            <a:ext cx="11065790" cy="48535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6"/>
          <p:cNvSpPr>
            <a:spLocks noGrp="1"/>
          </p:cNvSpPr>
          <p:nvPr>
            <p:ph type="title" hasCustomPrompt="1"/>
          </p:nvPr>
        </p:nvSpPr>
        <p:spPr>
          <a:xfrm>
            <a:off x="614766" y="428786"/>
            <a:ext cx="936614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576446" y="1560162"/>
            <a:ext cx="5104109" cy="38487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-67159" y="2665708"/>
            <a:ext cx="4546169" cy="1911457"/>
          </a:xfrm>
          <a:prstGeom prst="rect">
            <a:avLst/>
          </a:prstGeom>
        </p:spPr>
        <p:txBody>
          <a:bodyPr/>
          <a:lstStyle>
            <a:lvl1pPr algn="ctr">
              <a:defRPr sz="5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526754" y="2782403"/>
            <a:ext cx="6462982" cy="1293193"/>
          </a:xfrm>
          <a:prstGeom prst="rect">
            <a:avLst/>
          </a:prstGeom>
        </p:spPr>
        <p:txBody>
          <a:bodyPr/>
          <a:lstStyle>
            <a:lvl1pPr algn="ctr"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You!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12" Type="http://schemas.microsoft.com/office/2007/relationships/hdphoto" Target="../media/hdphoto5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9" Type="http://schemas.openxmlformats.org/officeDocument/2006/relationships/image" Target="../media/image3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2636052" y="3613785"/>
            <a:ext cx="9471025" cy="1655445"/>
          </a:xfrm>
          <a:prstGeom prst="rect">
            <a:avLst/>
          </a:prstGeom>
        </p:spPr>
        <p:txBody>
          <a:bodyPr/>
          <a:lstStyle/>
          <a:p>
            <a:r>
              <a:rPr lang="en-US" altLang="zh-CN" sz="4400" b="1" dirty="0"/>
              <a:t>Introduction to Intelligent Systems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75195" y="407670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E07A4F"/>
                </a:solidFill>
                <a:latin typeface="Inter"/>
                <a:ea typeface="Inter"/>
              </a:rPr>
              <a:t>INTELLIGENT SYSTEMS · Tutorial 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09995" y="5269230"/>
            <a:ext cx="1508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1F3A"/>
                </a:solidFill>
                <a:cs typeface="Times New Roman" panose="02020503050405090304" charset="0"/>
              </a:rPr>
              <a:t>Dan 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952457" y="2545225"/>
            <a:ext cx="7975169" cy="24410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600" b="1" dirty="0">
                <a:solidFill>
                  <a:srgbClr val="0A1F3A"/>
                </a:solidFill>
              </a:rPr>
              <a:t>Email</a:t>
            </a:r>
            <a:r>
              <a:rPr lang="en-US" sz="3600" dirty="0">
                <a:solidFill>
                  <a:srgbClr val="0A1F3A"/>
                </a:solidFill>
              </a:rPr>
              <a:t>: </a:t>
            </a:r>
            <a:r>
              <a:rPr lang="en-US" sz="3600" dirty="0" err="1">
                <a:solidFill>
                  <a:srgbClr val="0A1F3A"/>
                </a:solidFill>
              </a:rPr>
              <a:t>dan.su@cityu.edu.hk</a:t>
            </a:r>
            <a:endParaRPr lang="en-US" sz="3600" dirty="0">
              <a:solidFill>
                <a:srgbClr val="0A1F3A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A1F3A"/>
                </a:solidFill>
              </a:rPr>
              <a:t>Contact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2462" y="402336"/>
            <a:ext cx="10367075" cy="945751"/>
          </a:xfrm>
        </p:spPr>
        <p:txBody>
          <a:bodyPr/>
          <a:lstStyle/>
          <a:p>
            <a:r>
              <a:rPr lang="en-US" sz="3600" b="1" dirty="0">
                <a:solidFill>
                  <a:srgbClr val="0A1F3A"/>
                </a:solidFill>
              </a:rPr>
              <a:t>Question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2A0D06-DA55-F48F-828F-2F9791AD1D06}"/>
              </a:ext>
            </a:extLst>
          </p:cNvPr>
          <p:cNvSpPr txBox="1"/>
          <p:nvPr/>
        </p:nvSpPr>
        <p:spPr>
          <a:xfrm>
            <a:off x="1741714" y="2199382"/>
            <a:ext cx="9405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3200" b="1" dirty="0">
                <a:solidFill>
                  <a:srgbClr val="0A1F3A"/>
                </a:solidFill>
              </a:rPr>
              <a:t>Name one “intelligent” system</a:t>
            </a:r>
            <a:r>
              <a:rPr kumimoji="1" lang="zh-CN" altLang="en-US" sz="3200" b="1" dirty="0">
                <a:solidFill>
                  <a:srgbClr val="0A1F3A"/>
                </a:solidFill>
              </a:rPr>
              <a:t> </a:t>
            </a:r>
            <a:r>
              <a:rPr kumimoji="1" lang="en" altLang="zh-CN" sz="3200" b="1" dirty="0">
                <a:solidFill>
                  <a:srgbClr val="0A1F3A"/>
                </a:solidFill>
              </a:rPr>
              <a:t>you used today.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EE27D59-23E9-3DFC-B523-3B1FE282124C}"/>
              </a:ext>
            </a:extLst>
          </p:cNvPr>
          <p:cNvSpPr/>
          <p:nvPr/>
        </p:nvSpPr>
        <p:spPr>
          <a:xfrm>
            <a:off x="1095015" y="3840818"/>
            <a:ext cx="1632857" cy="3618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4B19F63-74C5-C4A7-56E9-057BF2D436F5}"/>
              </a:ext>
            </a:extLst>
          </p:cNvPr>
          <p:cNvSpPr/>
          <p:nvPr/>
        </p:nvSpPr>
        <p:spPr>
          <a:xfrm>
            <a:off x="3104491" y="3840818"/>
            <a:ext cx="1632857" cy="3618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DDBA0A5-0A53-1ED9-36FC-865619A6CB88}"/>
              </a:ext>
            </a:extLst>
          </p:cNvPr>
          <p:cNvSpPr/>
          <p:nvPr/>
        </p:nvSpPr>
        <p:spPr>
          <a:xfrm>
            <a:off x="5113967" y="3840818"/>
            <a:ext cx="1632857" cy="3618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ECE4EF1-56FC-BE25-B8C3-C09A542FB7DB}"/>
              </a:ext>
            </a:extLst>
          </p:cNvPr>
          <p:cNvSpPr/>
          <p:nvPr/>
        </p:nvSpPr>
        <p:spPr>
          <a:xfrm>
            <a:off x="7123443" y="3840818"/>
            <a:ext cx="1632857" cy="3618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5B18517-5C3E-31D8-5535-65A7F676A1F7}"/>
              </a:ext>
            </a:extLst>
          </p:cNvPr>
          <p:cNvSpPr/>
          <p:nvPr/>
        </p:nvSpPr>
        <p:spPr>
          <a:xfrm>
            <a:off x="9132918" y="3840818"/>
            <a:ext cx="1632857" cy="36181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951A49B-7CB8-2F2A-7D31-F71F2AF6FAA9}"/>
              </a:ext>
            </a:extLst>
          </p:cNvPr>
          <p:cNvSpPr txBox="1"/>
          <p:nvPr/>
        </p:nvSpPr>
        <p:spPr>
          <a:xfrm>
            <a:off x="943246" y="3776963"/>
            <a:ext cx="1997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navigation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7F546C9-BFAD-D4FB-C92B-6DE92059E0E0}"/>
              </a:ext>
            </a:extLst>
          </p:cNvPr>
          <p:cNvSpPr txBox="1"/>
          <p:nvPr/>
        </p:nvSpPr>
        <p:spPr>
          <a:xfrm>
            <a:off x="3184746" y="3776963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2EB12E6-C089-38E4-B6D4-889703167266}"/>
              </a:ext>
            </a:extLst>
          </p:cNvPr>
          <p:cNvSpPr txBox="1"/>
          <p:nvPr/>
        </p:nvSpPr>
        <p:spPr>
          <a:xfrm>
            <a:off x="5014780" y="3776963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CDB8DA-0B5B-E9CC-338F-1D2A68B1B7CB}"/>
              </a:ext>
            </a:extLst>
          </p:cNvPr>
          <p:cNvSpPr txBox="1"/>
          <p:nvPr/>
        </p:nvSpPr>
        <p:spPr>
          <a:xfrm>
            <a:off x="7049545" y="3776963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967F94-0217-2D3A-6CD2-171F0D5A596E}"/>
              </a:ext>
            </a:extLst>
          </p:cNvPr>
          <p:cNvSpPr txBox="1"/>
          <p:nvPr/>
        </p:nvSpPr>
        <p:spPr>
          <a:xfrm>
            <a:off x="8764959" y="3776963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Autocorrect / chat AI</a:t>
            </a:r>
            <a:endParaRPr lang="en-US" sz="1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">
            <a:extLst>
              <a:ext uri="{FF2B5EF4-FFF2-40B4-BE49-F238E27FC236}">
                <a16:creationId xmlns:a16="http://schemas.microsoft.com/office/drawing/2014/main" id="{3F53AD85-0546-FB4F-1879-68C2B2B32CD6}"/>
              </a:ext>
            </a:extLst>
          </p:cNvPr>
          <p:cNvSpPr txBox="1"/>
          <p:nvPr/>
        </p:nvSpPr>
        <p:spPr>
          <a:xfrm>
            <a:off x="640080" y="1508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way to organize definitions of AI — along two axes: what we imitate, and what we optimize for.</a:t>
            </a:r>
            <a:endParaRPr lang="en-US" sz="16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6DDEFF45-D8EC-7311-0E1B-02FDA65FFD03}"/>
              </a:ext>
            </a:extLst>
          </p:cNvPr>
          <p:cNvSpPr/>
          <p:nvPr/>
        </p:nvSpPr>
        <p:spPr>
          <a:xfrm>
            <a:off x="640080" y="21488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EEF2F8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39EF66D1-21E8-CC9B-436C-79D3EA78714A}"/>
              </a:ext>
            </a:extLst>
          </p:cNvPr>
          <p:cNvSpPr/>
          <p:nvPr/>
        </p:nvSpPr>
        <p:spPr>
          <a:xfrm>
            <a:off x="896112" y="240487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CF86DFC7-5AA4-51C4-8AEC-C2BAC028C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536546"/>
            <a:ext cx="285293" cy="285293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CFB043E0-40BA-ABE2-FFF0-8DBB5EA2E56D}"/>
              </a:ext>
            </a:extLst>
          </p:cNvPr>
          <p:cNvSpPr txBox="1"/>
          <p:nvPr/>
        </p:nvSpPr>
        <p:spPr>
          <a:xfrm>
            <a:off x="1600200" y="23682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Humanly</a:t>
            </a:r>
            <a:endParaRPr lang="en-US" sz="20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A491BF6E-659D-9843-EDC9-B36E4230D5FF}"/>
              </a:ext>
            </a:extLst>
          </p:cNvPr>
          <p:cNvSpPr txBox="1"/>
          <p:nvPr/>
        </p:nvSpPr>
        <p:spPr>
          <a:xfrm>
            <a:off x="1600200" y="27706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human cognition (cognitive science)</a:t>
            </a:r>
            <a:endParaRPr lang="en-US" sz="20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D8E0D841-D4B8-2D12-ED48-374365302A5D}"/>
              </a:ext>
            </a:extLst>
          </p:cNvPr>
          <p:cNvSpPr/>
          <p:nvPr/>
        </p:nvSpPr>
        <p:spPr>
          <a:xfrm>
            <a:off x="6172200" y="21488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EEF2F8"/>
          </a:solidFill>
          <a:ln/>
        </p:spPr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97DC5FC-042F-25B4-68CF-782F56F5C8E6}"/>
              </a:ext>
            </a:extLst>
          </p:cNvPr>
          <p:cNvSpPr/>
          <p:nvPr/>
        </p:nvSpPr>
        <p:spPr>
          <a:xfrm>
            <a:off x="6428232" y="2404872"/>
            <a:ext cx="548640" cy="54864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4CEFC310-A3CE-A796-F700-0B7F3E2BE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06" y="2536546"/>
            <a:ext cx="285293" cy="285293"/>
          </a:xfrm>
          <a:prstGeom prst="rect">
            <a:avLst/>
          </a:prstGeom>
        </p:spPr>
      </p:pic>
      <p:sp>
        <p:nvSpPr>
          <p:cNvPr id="34" name="Text 9">
            <a:extLst>
              <a:ext uri="{FF2B5EF4-FFF2-40B4-BE49-F238E27FC236}">
                <a16:creationId xmlns:a16="http://schemas.microsoft.com/office/drawing/2014/main" id="{E9972E7E-2571-405C-31D8-E96DBBD76D11}"/>
              </a:ext>
            </a:extLst>
          </p:cNvPr>
          <p:cNvSpPr txBox="1"/>
          <p:nvPr/>
        </p:nvSpPr>
        <p:spPr>
          <a:xfrm>
            <a:off x="7132320" y="23682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Rationally</a:t>
            </a:r>
            <a:endParaRPr lang="en-US" sz="20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43B5FC02-7B83-F77B-74F0-A7DB97F8EE56}"/>
              </a:ext>
            </a:extLst>
          </p:cNvPr>
          <p:cNvSpPr txBox="1"/>
          <p:nvPr/>
        </p:nvSpPr>
        <p:spPr>
          <a:xfrm>
            <a:off x="7132320" y="27706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logic and correct inference (“laws of thought”)</a:t>
            </a:r>
            <a:endParaRPr lang="en-US" sz="20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60C6D261-06DB-D902-5616-80428C32FAA1}"/>
              </a:ext>
            </a:extLst>
          </p:cNvPr>
          <p:cNvSpPr/>
          <p:nvPr/>
        </p:nvSpPr>
        <p:spPr>
          <a:xfrm>
            <a:off x="640080" y="41605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EEF2F8"/>
          </a:solidFill>
          <a:ln/>
        </p:spPr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F6BD2D58-EBAE-8278-6C2A-973766894424}"/>
              </a:ext>
            </a:extLst>
          </p:cNvPr>
          <p:cNvSpPr/>
          <p:nvPr/>
        </p:nvSpPr>
        <p:spPr>
          <a:xfrm>
            <a:off x="896112" y="4416552"/>
            <a:ext cx="548640" cy="54864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AB5D4CD6-D74A-4EED-96EA-257E9AA4B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6" y="4548226"/>
            <a:ext cx="285293" cy="285293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678BEDE0-2F5E-C4A6-8347-57169AE29AF9}"/>
              </a:ext>
            </a:extLst>
          </p:cNvPr>
          <p:cNvSpPr txBox="1"/>
          <p:nvPr/>
        </p:nvSpPr>
        <p:spPr>
          <a:xfrm>
            <a:off x="1600200" y="437997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Acting Humanly</a:t>
            </a:r>
            <a:endParaRPr lang="en-US" sz="20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2B6A285F-EBD4-581F-BE2C-8DF04E63273C}"/>
              </a:ext>
            </a:extLst>
          </p:cNvPr>
          <p:cNvSpPr txBox="1"/>
          <p:nvPr/>
        </p:nvSpPr>
        <p:spPr>
          <a:xfrm>
            <a:off x="1600200" y="47823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indistinguishable from a person (Turing Test)</a:t>
            </a:r>
            <a:endParaRPr lang="en-US" sz="20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4F1B17B7-0645-F4B2-30DE-FBB20A36110F}"/>
              </a:ext>
            </a:extLst>
          </p:cNvPr>
          <p:cNvSpPr/>
          <p:nvPr/>
        </p:nvSpPr>
        <p:spPr>
          <a:xfrm>
            <a:off x="6172200" y="41605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EEF2F8"/>
          </a:solidFill>
          <a:ln/>
        </p:spPr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9563A27F-DFFE-90CC-C56C-7EB8863B3CFF}"/>
              </a:ext>
            </a:extLst>
          </p:cNvPr>
          <p:cNvSpPr/>
          <p:nvPr/>
        </p:nvSpPr>
        <p:spPr>
          <a:xfrm>
            <a:off x="6428232" y="441655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3136A4DB-5DED-7369-AC0C-90A9DB1E4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906" y="4548226"/>
            <a:ext cx="285293" cy="285293"/>
          </a:xfrm>
          <a:prstGeom prst="rect">
            <a:avLst/>
          </a:prstGeom>
        </p:spPr>
      </p:pic>
      <p:sp>
        <p:nvSpPr>
          <p:cNvPr id="44" name="Text 17">
            <a:extLst>
              <a:ext uri="{FF2B5EF4-FFF2-40B4-BE49-F238E27FC236}">
                <a16:creationId xmlns:a16="http://schemas.microsoft.com/office/drawing/2014/main" id="{38305DA5-F245-B557-0821-87977FFAE0B6}"/>
              </a:ext>
            </a:extLst>
          </p:cNvPr>
          <p:cNvSpPr txBox="1"/>
          <p:nvPr/>
        </p:nvSpPr>
        <p:spPr>
          <a:xfrm>
            <a:off x="7132320" y="437997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Acting Rationally</a:t>
            </a:r>
            <a:endParaRPr lang="en-US" sz="20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732F313A-B248-80E1-10E8-98DE886EE584}"/>
              </a:ext>
            </a:extLst>
          </p:cNvPr>
          <p:cNvSpPr txBox="1"/>
          <p:nvPr/>
        </p:nvSpPr>
        <p:spPr>
          <a:xfrm>
            <a:off x="7132320" y="47823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actions that best achieve goals</a:t>
            </a:r>
            <a:endParaRPr lang="en-US" sz="20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EC54584-51EE-7E1A-55BE-AA66CE12AF9A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</a:t>
            </a:r>
            <a:r>
              <a:rPr lang="en-US" sz="32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</a:t>
            </a: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by “Intelligence”?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6C7A9A1-BB37-E23A-FD5A-630A6247A6C1}"/>
              </a:ext>
            </a:extLst>
          </p:cNvPr>
          <p:cNvSpPr/>
          <p:nvPr/>
        </p:nvSpPr>
        <p:spPr>
          <a:xfrm>
            <a:off x="457199" y="1600200"/>
            <a:ext cx="1121504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5912884-F9B4-6FC8-BD68-0C3E69C4C6AD}"/>
              </a:ext>
            </a:extLst>
          </p:cNvPr>
          <p:cNvSpPr txBox="1"/>
          <p:nvPr/>
        </p:nvSpPr>
        <p:spPr>
          <a:xfrm>
            <a:off x="574624" y="1600200"/>
            <a:ext cx="1100167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perceives its environment through sensors, reasons about what it perceives, and acts upon that environment through actuators to achieve its goals — improving its behavior with experience.</a:t>
            </a:r>
            <a:endParaRPr lang="en-US" sz="2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52FBD64-AA18-D25E-2C13-7D56666D2884}"/>
              </a:ext>
            </a:extLst>
          </p:cNvPr>
          <p:cNvSpPr/>
          <p:nvPr/>
        </p:nvSpPr>
        <p:spPr>
          <a:xfrm>
            <a:off x="1316736" y="2995864"/>
            <a:ext cx="640080" cy="64008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BCD056D-548C-85EC-3390-74678A39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355" y="3149483"/>
            <a:ext cx="332842" cy="33284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A759BD98-870C-971A-BF29-F3D9CF5F8883}"/>
              </a:ext>
            </a:extLst>
          </p:cNvPr>
          <p:cNvSpPr txBox="1"/>
          <p:nvPr/>
        </p:nvSpPr>
        <p:spPr>
          <a:xfrm>
            <a:off x="640080" y="3773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F7DFAB8-43B1-7B24-6D89-0E310921D011}"/>
              </a:ext>
            </a:extLst>
          </p:cNvPr>
          <p:cNvSpPr txBox="1"/>
          <p:nvPr/>
        </p:nvSpPr>
        <p:spPr>
          <a:xfrm>
            <a:off x="640080" y="413886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raw data from the environment</a:t>
            </a:r>
            <a:endParaRPr lang="en-US"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39E6B88-E05D-C602-AEC5-EA36E291D086}"/>
              </a:ext>
            </a:extLst>
          </p:cNvPr>
          <p:cNvSpPr/>
          <p:nvPr/>
        </p:nvSpPr>
        <p:spPr>
          <a:xfrm>
            <a:off x="3538728" y="2995864"/>
            <a:ext cx="640080" cy="64008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70D4ADD5-65D0-7655-2EE8-3E84206B4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347" y="3149483"/>
            <a:ext cx="332842" cy="332842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9FA78749-92DB-5A75-EE05-27310A2C3323}"/>
              </a:ext>
            </a:extLst>
          </p:cNvPr>
          <p:cNvSpPr txBox="1"/>
          <p:nvPr/>
        </p:nvSpPr>
        <p:spPr>
          <a:xfrm>
            <a:off x="2862072" y="3773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7AF5DCA-F650-5725-22A9-F8724A3D84AA}"/>
              </a:ext>
            </a:extLst>
          </p:cNvPr>
          <p:cNvSpPr txBox="1"/>
          <p:nvPr/>
        </p:nvSpPr>
        <p:spPr>
          <a:xfrm>
            <a:off x="2862072" y="413886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percepts, weighing options</a:t>
            </a:r>
            <a:endParaRPr lang="en-US" sz="14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7998602-F784-F2F0-C4B6-87AFD7B181AD}"/>
              </a:ext>
            </a:extLst>
          </p:cNvPr>
          <p:cNvSpPr/>
          <p:nvPr/>
        </p:nvSpPr>
        <p:spPr>
          <a:xfrm>
            <a:off x="5760720" y="2995864"/>
            <a:ext cx="640080" cy="64008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963AE904-14FC-FEEA-C5A5-208AC3DE0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39" y="3149483"/>
            <a:ext cx="332842" cy="332842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428387D2-6A51-4806-401B-4421F0DAAA4B}"/>
              </a:ext>
            </a:extLst>
          </p:cNvPr>
          <p:cNvSpPr txBox="1"/>
          <p:nvPr/>
        </p:nvSpPr>
        <p:spPr>
          <a:xfrm>
            <a:off x="5084064" y="3773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F343846-AED9-1AA9-53B7-13600E6CA235}"/>
              </a:ext>
            </a:extLst>
          </p:cNvPr>
          <p:cNvSpPr txBox="1"/>
          <p:nvPr/>
        </p:nvSpPr>
        <p:spPr>
          <a:xfrm>
            <a:off x="5084064" y="413886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decisions via actuators</a:t>
            </a:r>
            <a:endParaRPr lang="en-US" sz="14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00BCD369-CF1D-83A5-444B-AF72F86D78BA}"/>
              </a:ext>
            </a:extLst>
          </p:cNvPr>
          <p:cNvSpPr/>
          <p:nvPr/>
        </p:nvSpPr>
        <p:spPr>
          <a:xfrm>
            <a:off x="7982712" y="2995864"/>
            <a:ext cx="640080" cy="64008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8F13A051-B572-2F2E-2CCB-90895A65A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6331" y="3149483"/>
            <a:ext cx="332842" cy="332842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50274895-0341-E76F-93F5-BCAA2C698381}"/>
              </a:ext>
            </a:extLst>
          </p:cNvPr>
          <p:cNvSpPr txBox="1"/>
          <p:nvPr/>
        </p:nvSpPr>
        <p:spPr>
          <a:xfrm>
            <a:off x="7306056" y="3773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D3684B08-34D6-5E73-B464-57EC8E504A99}"/>
              </a:ext>
            </a:extLst>
          </p:cNvPr>
          <p:cNvSpPr txBox="1"/>
          <p:nvPr/>
        </p:nvSpPr>
        <p:spPr>
          <a:xfrm>
            <a:off x="7306056" y="413886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feedback over time</a:t>
            </a:r>
            <a:endParaRPr lang="en-US" sz="14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DA84A123-4881-2C23-0412-CE533DA227CE}"/>
              </a:ext>
            </a:extLst>
          </p:cNvPr>
          <p:cNvSpPr/>
          <p:nvPr/>
        </p:nvSpPr>
        <p:spPr>
          <a:xfrm>
            <a:off x="10204704" y="2995864"/>
            <a:ext cx="640080" cy="64008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99C4BCA1-43D5-36D5-3EFB-8347F3343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8323" y="3149483"/>
            <a:ext cx="332842" cy="332842"/>
          </a:xfrm>
          <a:prstGeom prst="rect">
            <a:avLst/>
          </a:prstGeom>
        </p:spPr>
      </p:pic>
      <p:sp>
        <p:nvSpPr>
          <p:cNvPr id="26" name="Text 17">
            <a:extLst>
              <a:ext uri="{FF2B5EF4-FFF2-40B4-BE49-F238E27FC236}">
                <a16:creationId xmlns:a16="http://schemas.microsoft.com/office/drawing/2014/main" id="{2D6463EA-9069-947B-A469-2B7A254B29CE}"/>
              </a:ext>
            </a:extLst>
          </p:cNvPr>
          <p:cNvSpPr txBox="1"/>
          <p:nvPr/>
        </p:nvSpPr>
        <p:spPr>
          <a:xfrm>
            <a:off x="9528048" y="37731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</a:t>
            </a:r>
            <a:endParaRPr lang="en-US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86269DE9-ED8A-F6C6-EDEC-3A1EF673D20E}"/>
              </a:ext>
            </a:extLst>
          </p:cNvPr>
          <p:cNvSpPr txBox="1"/>
          <p:nvPr/>
        </p:nvSpPr>
        <p:spPr>
          <a:xfrm>
            <a:off x="9528048" y="4138864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with limited direct oversight</a:t>
            </a:r>
            <a:endParaRPr lang="en-US" sz="14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10088D83-9065-54AD-3422-CA18A47203D0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Intelligent System?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D7507321-EA54-5C8D-13D8-1F2DDB7084FC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Machine Think?</a:t>
            </a:r>
            <a:endParaRPr lang="en-US" sz="3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3D66DAA-4B6F-66A9-F2F6-AFD69C2005D3}"/>
              </a:ext>
            </a:extLst>
          </p:cNvPr>
          <p:cNvSpPr/>
          <p:nvPr/>
        </p:nvSpPr>
        <p:spPr>
          <a:xfrm>
            <a:off x="640080" y="169164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EEF2F8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0936DD6-13C0-E48F-D1CB-A2EBF02FFDF7}"/>
              </a:ext>
            </a:extLst>
          </p:cNvPr>
          <p:cNvSpPr/>
          <p:nvPr/>
        </p:nvSpPr>
        <p:spPr>
          <a:xfrm>
            <a:off x="960120" y="2011680"/>
            <a:ext cx="658368" cy="658368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B701B53-B352-4404-B25C-4A4174488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2169688"/>
            <a:ext cx="342351" cy="34235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B93CEFAA-F4D3-B9C9-048D-242A8C28DE4A}"/>
              </a:ext>
            </a:extLst>
          </p:cNvPr>
          <p:cNvSpPr txBox="1"/>
          <p:nvPr/>
        </p:nvSpPr>
        <p:spPr>
          <a:xfrm>
            <a:off x="960120" y="2834640"/>
            <a:ext cx="492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Turing Test (1950)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44A8CDD-3992-718D-31FC-76931E5F65C1}"/>
              </a:ext>
            </a:extLst>
          </p:cNvPr>
          <p:cNvSpPr txBox="1"/>
          <p:nvPr/>
        </p:nvSpPr>
        <p:spPr>
          <a:xfrm>
            <a:off x="960120" y="3474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human judge cannot reliably tell a machine's text responses from a person's, the machine may be said to “think.”</a:t>
            </a:r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97C67BC-91E9-7268-F1E8-478DADE835DC}"/>
              </a:ext>
            </a:extLst>
          </p:cNvPr>
          <p:cNvSpPr txBox="1"/>
          <p:nvPr/>
        </p:nvSpPr>
        <p:spPr>
          <a:xfrm>
            <a:off x="96012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TEST — JUDGES BY OUTPUT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9528516-D8AC-D470-B875-53EE5D7A0F47}"/>
              </a:ext>
            </a:extLst>
          </p:cNvPr>
          <p:cNvSpPr/>
          <p:nvPr/>
        </p:nvSpPr>
        <p:spPr>
          <a:xfrm>
            <a:off x="6309360" y="1691640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EEF2F8"/>
          </a:solidFill>
          <a:ln/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3FD07D8-85A3-9C36-569A-D2D072047C1B}"/>
              </a:ext>
            </a:extLst>
          </p:cNvPr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7034EA2-D502-3428-F1B4-205D5C580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2169688"/>
            <a:ext cx="342351" cy="342351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61A09DA0-1A4D-2A84-9219-ABD6CC1C8D6E}"/>
              </a:ext>
            </a:extLst>
          </p:cNvPr>
          <p:cNvSpPr txBox="1"/>
          <p:nvPr/>
        </p:nvSpPr>
        <p:spPr>
          <a:xfrm>
            <a:off x="6629400" y="2834640"/>
            <a:ext cx="492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Chinese Room (Searle, 1980)</a:t>
            </a:r>
            <a:endParaRPr lang="en-US" sz="2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DB2D176-47C0-93DF-2C28-8DFBE5FD5DC8}"/>
              </a:ext>
            </a:extLst>
          </p:cNvPr>
          <p:cNvSpPr txBox="1"/>
          <p:nvPr/>
        </p:nvSpPr>
        <p:spPr>
          <a:xfrm>
            <a:off x="6629400" y="3474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following a rulebook can produce fluent Chinese answers without understanding Chinese — so symbol manipulation ≠ understanding.</a:t>
            </a:r>
            <a:endParaRPr lang="en-US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7C8BEA3-F80C-5BBC-C1A9-AC11E0C1EB68}"/>
              </a:ext>
            </a:extLst>
          </p:cNvPr>
          <p:cNvSpPr txBox="1"/>
          <p:nvPr/>
        </p:nvSpPr>
        <p:spPr>
          <a:xfrm>
            <a:off x="662940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PHILOSOPHICAL OBJECTION — QUESTIONS MEANING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2849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E99571D4-2AD6-B33B-10B4-3B506D976061}"/>
              </a:ext>
            </a:extLst>
          </p:cNvPr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Decades of AI: A Bird's-Eye View</a:t>
            </a:r>
            <a:endParaRPr lang="en-US" sz="3000" dirty="0">
              <a:solidFill>
                <a:srgbClr val="0A1F3A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A15080F-B97A-390C-AFE1-424DBB3DFF7C}"/>
              </a:ext>
            </a:extLst>
          </p:cNvPr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i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 to today — AI has advanced in repeated waves, and is now moving toward the era of “strong AI.”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0AF9437-8D04-9FDA-579D-D7D7F9593ADB}"/>
              </a:ext>
            </a:extLst>
          </p:cNvPr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AB9C017-B87E-04C1-D77B-9FA39D5795B3}"/>
              </a:ext>
            </a:extLst>
          </p:cNvPr>
          <p:cNvSpPr/>
          <p:nvPr/>
        </p:nvSpPr>
        <p:spPr>
          <a:xfrm>
            <a:off x="47548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D8A211-9A61-199A-D098-376726BCF676}"/>
              </a:ext>
            </a:extLst>
          </p:cNvPr>
          <p:cNvSpPr txBox="1"/>
          <p:nvPr/>
        </p:nvSpPr>
        <p:spPr>
          <a:xfrm>
            <a:off x="13716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1936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3B77D16-6741-F5D7-7D42-AAA1160970EB}"/>
              </a:ext>
            </a:extLst>
          </p:cNvPr>
          <p:cNvSpPr txBox="1"/>
          <p:nvPr/>
        </p:nvSpPr>
        <p:spPr>
          <a:xfrm>
            <a:off x="13716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Machine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C040A14-BDC0-FF5A-E35B-3F08A371B179}"/>
              </a:ext>
            </a:extLst>
          </p:cNvPr>
          <p:cNvSpPr txBox="1"/>
          <p:nvPr/>
        </p:nvSpPr>
        <p:spPr>
          <a:xfrm>
            <a:off x="-45720" y="23957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model of computation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F6DEDCF-E57A-8384-CB92-709D07A8532D}"/>
              </a:ext>
            </a:extLst>
          </p:cNvPr>
          <p:cNvSpPr/>
          <p:nvPr/>
        </p:nvSpPr>
        <p:spPr>
          <a:xfrm>
            <a:off x="185851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D816200-4D12-6919-3EAD-BDFE0D0FCB88}"/>
              </a:ext>
            </a:extLst>
          </p:cNvPr>
          <p:cNvSpPr txBox="1"/>
          <p:nvPr/>
        </p:nvSpPr>
        <p:spPr>
          <a:xfrm>
            <a:off x="1085850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FBEFAB2-4395-53C1-7C78-391FEEA4D7B6}"/>
              </a:ext>
            </a:extLst>
          </p:cNvPr>
          <p:cNvSpPr txBox="1"/>
          <p:nvPr/>
        </p:nvSpPr>
        <p:spPr>
          <a:xfrm>
            <a:off x="1085850" y="4425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Turing's “Brain”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029A8CE-2D5C-5D74-0256-AEB68AF39CFB}"/>
              </a:ext>
            </a:extLst>
          </p:cNvPr>
          <p:cNvSpPr txBox="1"/>
          <p:nvPr/>
        </p:nvSpPr>
        <p:spPr>
          <a:xfrm>
            <a:off x="902970" y="47183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neuron model (McCulloch &amp; Pitts)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CD725E3-3FD3-F4FB-63FA-CCD9001399CF}"/>
              </a:ext>
            </a:extLst>
          </p:cNvPr>
          <p:cNvSpPr/>
          <p:nvPr/>
        </p:nvSpPr>
        <p:spPr>
          <a:xfrm>
            <a:off x="324154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7D2DC9F-5E07-0B8C-5FAA-7D7C110AD14E}"/>
              </a:ext>
            </a:extLst>
          </p:cNvPr>
          <p:cNvSpPr txBox="1"/>
          <p:nvPr/>
        </p:nvSpPr>
        <p:spPr>
          <a:xfrm>
            <a:off x="246888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1946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34D7429-AFD1-377F-384B-77EC2EB676AE}"/>
              </a:ext>
            </a:extLst>
          </p:cNvPr>
          <p:cNvSpPr txBox="1"/>
          <p:nvPr/>
        </p:nvSpPr>
        <p:spPr>
          <a:xfrm>
            <a:off x="246888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Computer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7B2A2EB-9509-8F9A-700F-A5478F643473}"/>
              </a:ext>
            </a:extLst>
          </p:cNvPr>
          <p:cNvSpPr txBox="1"/>
          <p:nvPr/>
        </p:nvSpPr>
        <p:spPr>
          <a:xfrm>
            <a:off x="2286000" y="23957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 — hardware catches up to theory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F9F124EA-31AF-C0F8-6C61-7E078FC98EC3}"/>
              </a:ext>
            </a:extLst>
          </p:cNvPr>
          <p:cNvSpPr/>
          <p:nvPr/>
        </p:nvSpPr>
        <p:spPr>
          <a:xfrm>
            <a:off x="462457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5CDB362-62DD-D0C1-E837-151B21BED258}"/>
              </a:ext>
            </a:extLst>
          </p:cNvPr>
          <p:cNvSpPr txBox="1"/>
          <p:nvPr/>
        </p:nvSpPr>
        <p:spPr>
          <a:xfrm>
            <a:off x="3851910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5C1A77E-5442-19C0-CC0C-337AE92A2544}"/>
              </a:ext>
            </a:extLst>
          </p:cNvPr>
          <p:cNvSpPr txBox="1"/>
          <p:nvPr/>
        </p:nvSpPr>
        <p:spPr>
          <a:xfrm>
            <a:off x="3851910" y="4425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“AI” Is Coined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2E1A739-75C1-3766-A137-51DC94C68D13}"/>
              </a:ext>
            </a:extLst>
          </p:cNvPr>
          <p:cNvSpPr txBox="1"/>
          <p:nvPr/>
        </p:nvSpPr>
        <p:spPr>
          <a:xfrm>
            <a:off x="3669030" y="47183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Conference, Phase 1 begins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A41E6A11-7AF5-3145-2C46-1DBAC68F5197}"/>
              </a:ext>
            </a:extLst>
          </p:cNvPr>
          <p:cNvSpPr/>
          <p:nvPr/>
        </p:nvSpPr>
        <p:spPr>
          <a:xfrm>
            <a:off x="600760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6DC9A09-411D-91A6-8B40-572FA366F044}"/>
              </a:ext>
            </a:extLst>
          </p:cNvPr>
          <p:cNvSpPr txBox="1"/>
          <p:nvPr/>
        </p:nvSpPr>
        <p:spPr>
          <a:xfrm>
            <a:off x="523494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1976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E774698-F3B3-0863-650C-C4446066B1DE}"/>
              </a:ext>
            </a:extLst>
          </p:cNvPr>
          <p:cNvSpPr txBox="1"/>
          <p:nvPr/>
        </p:nvSpPr>
        <p:spPr>
          <a:xfrm>
            <a:off x="523494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559BF00-18E9-47B0-3AA5-BF22DE5BBDD6}"/>
              </a:ext>
            </a:extLst>
          </p:cNvPr>
          <p:cNvSpPr txBox="1"/>
          <p:nvPr/>
        </p:nvSpPr>
        <p:spPr>
          <a:xfrm>
            <a:off x="5052060" y="23957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knowledge engineering, Phase 2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9E15171-675E-83FC-A830-ADBAD78C1D8C}"/>
              </a:ext>
            </a:extLst>
          </p:cNvPr>
          <p:cNvSpPr/>
          <p:nvPr/>
        </p:nvSpPr>
        <p:spPr>
          <a:xfrm>
            <a:off x="739063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0842667A-9A5B-DCD4-D3BF-6AEABB9358C5}"/>
              </a:ext>
            </a:extLst>
          </p:cNvPr>
          <p:cNvSpPr txBox="1"/>
          <p:nvPr/>
        </p:nvSpPr>
        <p:spPr>
          <a:xfrm>
            <a:off x="6617970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50D186A-DAE7-C7D4-D730-4DDDB84382C9}"/>
              </a:ext>
            </a:extLst>
          </p:cNvPr>
          <p:cNvSpPr txBox="1"/>
          <p:nvPr/>
        </p:nvSpPr>
        <p:spPr>
          <a:xfrm>
            <a:off x="6617970" y="4425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Web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19644F7F-7CA6-8E6D-BE69-D49F39F5B70A}"/>
              </a:ext>
            </a:extLst>
          </p:cNvPr>
          <p:cNvSpPr txBox="1"/>
          <p:nvPr/>
        </p:nvSpPr>
        <p:spPr>
          <a:xfrm>
            <a:off x="6435090" y="47183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Berners-Lee links information by meaning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A0B1AC9C-4F3D-DF20-E9B9-CD8ADEF0C15A}"/>
              </a:ext>
            </a:extLst>
          </p:cNvPr>
          <p:cNvSpPr/>
          <p:nvPr/>
        </p:nvSpPr>
        <p:spPr>
          <a:xfrm>
            <a:off x="877366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4D95334-102F-1199-8D0B-C653B7D9C5FC}"/>
              </a:ext>
            </a:extLst>
          </p:cNvPr>
          <p:cNvSpPr txBox="1"/>
          <p:nvPr/>
        </p:nvSpPr>
        <p:spPr>
          <a:xfrm>
            <a:off x="800100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727021D-1B7B-A660-BB80-AD1707F68786}"/>
              </a:ext>
            </a:extLst>
          </p:cNvPr>
          <p:cNvSpPr txBox="1"/>
          <p:nvPr/>
        </p:nvSpPr>
        <p:spPr>
          <a:xfrm>
            <a:off x="800100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60CB9BCA-CC9B-294B-B3F5-C39C2C81F669}"/>
              </a:ext>
            </a:extLst>
          </p:cNvPr>
          <p:cNvSpPr txBox="1"/>
          <p:nvPr/>
        </p:nvSpPr>
        <p:spPr>
          <a:xfrm>
            <a:off x="7818120" y="23957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Hinton's breakthrough opens Phase 3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82972D0B-606E-39E9-2688-118D7B6F3E49}"/>
              </a:ext>
            </a:extLst>
          </p:cNvPr>
          <p:cNvSpPr/>
          <p:nvPr/>
        </p:nvSpPr>
        <p:spPr>
          <a:xfrm>
            <a:off x="1015669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B1F6FBF2-51D3-6A2A-B0B1-4B5465F889DE}"/>
              </a:ext>
            </a:extLst>
          </p:cNvPr>
          <p:cNvSpPr txBox="1"/>
          <p:nvPr/>
        </p:nvSpPr>
        <p:spPr>
          <a:xfrm>
            <a:off x="9384030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B9903067-69AF-C976-CEA8-F3C9C8C4AFEB}"/>
              </a:ext>
            </a:extLst>
          </p:cNvPr>
          <p:cNvSpPr txBox="1"/>
          <p:nvPr/>
        </p:nvSpPr>
        <p:spPr>
          <a:xfrm>
            <a:off x="9384030" y="4425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9A2C87B6-FA35-15CE-D3AA-E7EF32AEEB03}"/>
              </a:ext>
            </a:extLst>
          </p:cNvPr>
          <p:cNvSpPr txBox="1"/>
          <p:nvPr/>
        </p:nvSpPr>
        <p:spPr>
          <a:xfrm>
            <a:off x="9201150" y="4718304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today's LLMs</a:t>
            </a:r>
            <a:endParaRPr lang="en-US" sz="1400" dirty="0">
              <a:solidFill>
                <a:srgbClr val="0A1F3A"/>
              </a:solidFill>
            </a:endParaRPr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9332C234-43E9-6FB0-8E0D-FF1AADD7C2E4}"/>
              </a:ext>
            </a:extLst>
          </p:cNvPr>
          <p:cNvSpPr/>
          <p:nvPr/>
        </p:nvSpPr>
        <p:spPr>
          <a:xfrm>
            <a:off x="11539728" y="3858768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89E2CB48-9FB5-5144-9E42-25AF8182D832}"/>
              </a:ext>
            </a:extLst>
          </p:cNvPr>
          <p:cNvSpPr txBox="1"/>
          <p:nvPr/>
        </p:nvSpPr>
        <p:spPr>
          <a:xfrm>
            <a:off x="10360152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2030s</a:t>
            </a:r>
            <a:endParaRPr lang="en-US" sz="2800" dirty="0">
              <a:solidFill>
                <a:srgbClr val="0A1F3A"/>
              </a:solidFill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55229B6-A4C8-0DE2-F06A-08A7025E0FB8}"/>
              </a:ext>
            </a:extLst>
          </p:cNvPr>
          <p:cNvSpPr txBox="1"/>
          <p:nvPr/>
        </p:nvSpPr>
        <p:spPr>
          <a:xfrm>
            <a:off x="10360152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Strong AI</a:t>
            </a:r>
            <a:endParaRPr lang="en-US" dirty="0">
              <a:solidFill>
                <a:srgbClr val="0A1F3A"/>
              </a:solidFill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7CA18047-B77D-B110-E154-B8053E216ECD}"/>
              </a:ext>
            </a:extLst>
          </p:cNvPr>
          <p:cNvSpPr txBox="1"/>
          <p:nvPr/>
        </p:nvSpPr>
        <p:spPr>
          <a:xfrm>
            <a:off x="10177272" y="23957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Brain-inspired, general-purpose systems</a:t>
            </a:r>
            <a:endParaRPr lang="en-US" sz="1400" dirty="0">
              <a:solidFill>
                <a:srgbClr val="0A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50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CBE44CBC-864F-4276-E64C-3B8FBD97541A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Drivers of Modern AI</a:t>
            </a:r>
            <a:endParaRPr lang="en-US" sz="3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651D19F-9119-1773-39F7-7BADDC5049AF}"/>
              </a:ext>
            </a:extLst>
          </p:cNvPr>
          <p:cNvSpPr/>
          <p:nvPr/>
        </p:nvSpPr>
        <p:spPr>
          <a:xfrm>
            <a:off x="64008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5010E86-05AD-D4DD-7BB7-1F12E07D6A27}"/>
              </a:ext>
            </a:extLst>
          </p:cNvPr>
          <p:cNvSpPr/>
          <p:nvPr/>
        </p:nvSpPr>
        <p:spPr>
          <a:xfrm>
            <a:off x="1889760" y="2468880"/>
            <a:ext cx="822960" cy="82296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587F033-440E-AE5E-F151-FDE177FD1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70" y="2666390"/>
            <a:ext cx="427939" cy="427939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878AAF21-DBCF-404E-2648-08ADD2A337CD}"/>
              </a:ext>
            </a:extLst>
          </p:cNvPr>
          <p:cNvSpPr txBox="1"/>
          <p:nvPr/>
        </p:nvSpPr>
        <p:spPr>
          <a:xfrm>
            <a:off x="868680" y="34747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3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ADD994B-C026-BB03-2BCF-3FFC4803E25D}"/>
              </a:ext>
            </a:extLst>
          </p:cNvPr>
          <p:cNvSpPr txBox="1"/>
          <p:nvPr/>
        </p:nvSpPr>
        <p:spPr>
          <a:xfrm>
            <a:off x="914400" y="3977640"/>
            <a:ext cx="277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labeled and unlabeled datasets from the web, sensors, and users</a:t>
            </a:r>
            <a:endParaRPr lang="en-US" sz="2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27AEB9C-A843-70C4-EDED-81CF6E279D4C}"/>
              </a:ext>
            </a:extLst>
          </p:cNvPr>
          <p:cNvSpPr/>
          <p:nvPr/>
        </p:nvSpPr>
        <p:spPr>
          <a:xfrm>
            <a:off x="441960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061EC32-5C7F-9E57-0C30-473E1C299B34}"/>
              </a:ext>
            </a:extLst>
          </p:cNvPr>
          <p:cNvSpPr/>
          <p:nvPr/>
        </p:nvSpPr>
        <p:spPr>
          <a:xfrm>
            <a:off x="5669280" y="2468880"/>
            <a:ext cx="822960" cy="82296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CD07423-3769-7992-E03B-E0F68E029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0" y="2666390"/>
            <a:ext cx="427939" cy="427939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CAA4E9F-F6A4-141F-CAD0-E7AB28BAC066}"/>
              </a:ext>
            </a:extLst>
          </p:cNvPr>
          <p:cNvSpPr txBox="1"/>
          <p:nvPr/>
        </p:nvSpPr>
        <p:spPr>
          <a:xfrm>
            <a:off x="4648200" y="34747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3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4A43197-A167-7D5A-2242-3CC77DAD2D85}"/>
              </a:ext>
            </a:extLst>
          </p:cNvPr>
          <p:cNvSpPr txBox="1"/>
          <p:nvPr/>
        </p:nvSpPr>
        <p:spPr>
          <a:xfrm>
            <a:off x="4693920" y="3977640"/>
            <a:ext cx="277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TPUs, and cloud-scale infrastructure enable training at scale</a:t>
            </a:r>
            <a:endParaRPr lang="en-US" sz="20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539AED12-2583-1D3B-8D19-6DA13ACD467B}"/>
              </a:ext>
            </a:extLst>
          </p:cNvPr>
          <p:cNvSpPr/>
          <p:nvPr/>
        </p:nvSpPr>
        <p:spPr>
          <a:xfrm>
            <a:off x="819912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/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D904B8AF-EFBE-F189-162D-AA3B0D4484C2}"/>
              </a:ext>
            </a:extLst>
          </p:cNvPr>
          <p:cNvSpPr/>
          <p:nvPr/>
        </p:nvSpPr>
        <p:spPr>
          <a:xfrm>
            <a:off x="9448800" y="2468880"/>
            <a:ext cx="822960" cy="822960"/>
          </a:xfrm>
          <a:prstGeom prst="ellipse">
            <a:avLst/>
          </a:prstGeom>
          <a:solidFill>
            <a:srgbClr val="2E5EAA"/>
          </a:solidFill>
          <a:ln/>
        </p:spPr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01EF8B47-6AF9-71D8-8660-5F4C4F404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310" y="2666390"/>
            <a:ext cx="427939" cy="427939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2AAFA3EC-B929-7FF5-1254-4AF937A0F011}"/>
              </a:ext>
            </a:extLst>
          </p:cNvPr>
          <p:cNvSpPr txBox="1"/>
          <p:nvPr/>
        </p:nvSpPr>
        <p:spPr>
          <a:xfrm>
            <a:off x="8427720" y="34747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3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22226B7-EB52-6811-267C-042F536E29CE}"/>
              </a:ext>
            </a:extLst>
          </p:cNvPr>
          <p:cNvSpPr txBox="1"/>
          <p:nvPr/>
        </p:nvSpPr>
        <p:spPr>
          <a:xfrm>
            <a:off x="8473440" y="3977640"/>
            <a:ext cx="277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transformer architectures unlock new capabilities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962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>
            <a:extLst>
              <a:ext uri="{FF2B5EF4-FFF2-40B4-BE49-F238E27FC236}">
                <a16:creationId xmlns:a16="http://schemas.microsoft.com/office/drawing/2014/main" id="{E540E7E1-C7B7-A533-D9F2-406141A0C58B}"/>
              </a:ext>
            </a:extLst>
          </p:cNvPr>
          <p:cNvSpPr/>
          <p:nvPr/>
        </p:nvSpPr>
        <p:spPr>
          <a:xfrm>
            <a:off x="812800" y="609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E07A4F"/>
                </a:solidFill>
                <a:ea typeface="Inter"/>
                <a:cs typeface="Inter"/>
                <a:sym typeface="Inter"/>
              </a:rPr>
              <a:t>KEY VOCABULARY</a:t>
            </a:r>
            <a:endParaRPr lang="en-US" sz="14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22A32D3-A67D-8A4F-AC94-EC349EB76A7F}"/>
              </a:ext>
            </a:extLst>
          </p:cNvPr>
          <p:cNvSpPr/>
          <p:nvPr/>
        </p:nvSpPr>
        <p:spPr>
          <a:xfrm>
            <a:off x="548640" y="1872565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0D25D67-0888-5D0F-4FA5-0D0EEAA30DB0}"/>
              </a:ext>
            </a:extLst>
          </p:cNvPr>
          <p:cNvSpPr/>
          <p:nvPr/>
        </p:nvSpPr>
        <p:spPr>
          <a:xfrm>
            <a:off x="1005840" y="1877645"/>
            <a:ext cx="4002258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28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364D67D-6A92-A8FF-1EEE-0324F962A6E6}"/>
              </a:ext>
            </a:extLst>
          </p:cNvPr>
          <p:cNvSpPr/>
          <p:nvPr/>
        </p:nvSpPr>
        <p:spPr>
          <a:xfrm>
            <a:off x="1005839" y="2225117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through if-then rules</a:t>
            </a: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EB3DF37-5A5E-D4E9-121C-6F0BACC824DE}"/>
              </a:ext>
            </a:extLst>
          </p:cNvPr>
          <p:cNvSpPr/>
          <p:nvPr/>
        </p:nvSpPr>
        <p:spPr>
          <a:xfrm>
            <a:off x="548640" y="2649805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D1EB3E3-32F5-7D86-DCF8-464F8CADB5BD}"/>
              </a:ext>
            </a:extLst>
          </p:cNvPr>
          <p:cNvSpPr/>
          <p:nvPr/>
        </p:nvSpPr>
        <p:spPr>
          <a:xfrm>
            <a:off x="1005840" y="2654885"/>
            <a:ext cx="4002258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8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16A33A9-1C51-8DC5-410B-ECD18BC7F301}"/>
              </a:ext>
            </a:extLst>
          </p:cNvPr>
          <p:cNvSpPr/>
          <p:nvPr/>
        </p:nvSpPr>
        <p:spPr>
          <a:xfrm>
            <a:off x="1005839" y="3002357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performance from data and experience</a:t>
            </a:r>
            <a:endParaRPr lang="en-US" sz="2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2AC2E52-D32E-2548-DEF0-F799D1A46551}"/>
              </a:ext>
            </a:extLst>
          </p:cNvPr>
          <p:cNvSpPr/>
          <p:nvPr/>
        </p:nvSpPr>
        <p:spPr>
          <a:xfrm>
            <a:off x="548640" y="3427045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1586334-703B-D166-90CC-3F565C2353E8}"/>
              </a:ext>
            </a:extLst>
          </p:cNvPr>
          <p:cNvSpPr/>
          <p:nvPr/>
        </p:nvSpPr>
        <p:spPr>
          <a:xfrm>
            <a:off x="1005840" y="3432125"/>
            <a:ext cx="4002258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28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5E5CA67-9758-F162-307B-9B50A9F6C1AF}"/>
              </a:ext>
            </a:extLst>
          </p:cNvPr>
          <p:cNvSpPr/>
          <p:nvPr/>
        </p:nvSpPr>
        <p:spPr>
          <a:xfrm>
            <a:off x="1005839" y="3779597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multiple layers for complex patterns</a:t>
            </a:r>
            <a:endParaRPr lang="en-US" sz="20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8074140-2BBC-64CE-C5DD-227C2522E9DE}"/>
              </a:ext>
            </a:extLst>
          </p:cNvPr>
          <p:cNvSpPr/>
          <p:nvPr/>
        </p:nvSpPr>
        <p:spPr>
          <a:xfrm>
            <a:off x="548640" y="4204285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A0BB532-4146-F053-B55D-DBE22E16FB01}"/>
              </a:ext>
            </a:extLst>
          </p:cNvPr>
          <p:cNvSpPr/>
          <p:nvPr/>
        </p:nvSpPr>
        <p:spPr>
          <a:xfrm>
            <a:off x="1005840" y="4209365"/>
            <a:ext cx="4002258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Systems</a:t>
            </a:r>
            <a:endParaRPr lang="en-US" sz="28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0C423EF7-3FF7-8B8E-1249-DE78E48920F2}"/>
              </a:ext>
            </a:extLst>
          </p:cNvPr>
          <p:cNvSpPr/>
          <p:nvPr/>
        </p:nvSpPr>
        <p:spPr>
          <a:xfrm>
            <a:off x="1005839" y="4556837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with approximate and uncertain information</a:t>
            </a:r>
            <a:endParaRPr lang="en-US" sz="20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71E7A33-EEA4-8A89-CBDE-506FAB8D86CC}"/>
              </a:ext>
            </a:extLst>
          </p:cNvPr>
          <p:cNvSpPr/>
          <p:nvPr/>
        </p:nvSpPr>
        <p:spPr>
          <a:xfrm>
            <a:off x="548640" y="4981525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C0B3C681-974C-6B32-D5F1-C76D4F3EC59A}"/>
              </a:ext>
            </a:extLst>
          </p:cNvPr>
          <p:cNvSpPr/>
          <p:nvPr/>
        </p:nvSpPr>
        <p:spPr>
          <a:xfrm>
            <a:off x="1005840" y="4986605"/>
            <a:ext cx="509016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Computation</a:t>
            </a:r>
            <a:endParaRPr lang="en-US" sz="28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194DD646-A233-70CE-A5B2-BB2DD8065E13}"/>
              </a:ext>
            </a:extLst>
          </p:cNvPr>
          <p:cNvSpPr/>
          <p:nvPr/>
        </p:nvSpPr>
        <p:spPr>
          <a:xfrm>
            <a:off x="1005839" y="5334077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methods inspired by natural evolution and selection</a:t>
            </a:r>
            <a:endParaRPr lang="en-US" sz="20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B6332BA-8F5D-F17B-C5B6-3903ECA815EA}"/>
              </a:ext>
            </a:extLst>
          </p:cNvPr>
          <p:cNvSpPr/>
          <p:nvPr/>
        </p:nvSpPr>
        <p:spPr>
          <a:xfrm>
            <a:off x="548640" y="1172541"/>
            <a:ext cx="400226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3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BC71DDF-6AA8-5A2A-97E7-AA2FAEC809F4}"/>
              </a:ext>
            </a:extLst>
          </p:cNvPr>
          <p:cNvSpPr/>
          <p:nvPr/>
        </p:nvSpPr>
        <p:spPr>
          <a:xfrm>
            <a:off x="1005840" y="1177621"/>
            <a:ext cx="4002258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Neural</a:t>
            </a:r>
            <a:r>
              <a:rPr lang="zh-CN" altLang="en-US" sz="2800" b="1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2800" b="1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Networks</a:t>
            </a:r>
            <a:endParaRPr lang="en-US" sz="28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9E386C5-9A4A-FEC2-F05D-1CF5C1690534}"/>
              </a:ext>
            </a:extLst>
          </p:cNvPr>
          <p:cNvSpPr/>
          <p:nvPr/>
        </p:nvSpPr>
        <p:spPr>
          <a:xfrm>
            <a:off x="1005839" y="1525093"/>
            <a:ext cx="10539279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neurons arranged in connected layers that learn patterns from data</a:t>
            </a:r>
          </a:p>
        </p:txBody>
      </p:sp>
    </p:spTree>
    <p:extLst>
      <p:ext uri="{BB962C8B-B14F-4D97-AF65-F5344CB8AC3E}">
        <p14:creationId xmlns:p14="http://schemas.microsoft.com/office/powerpoint/2010/main" val="48852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2362441-CE72-D0EC-67EF-087CA257AAD7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46BBC5-E441-1E8C-2827-9D22E206972E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</a:t>
            </a: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zh-CN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</a:t>
            </a:r>
            <a:endParaRPr lang="en-US" sz="4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133CA08-59C9-6526-6184-7B9E4D2B3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F60200B-E8B9-6534-52D3-EA74584D2DFB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Artificial neurons arranged in connected layers that learn patterns from data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5A6EFA9-12A6-3E6D-B6D6-AB118B326DDC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96B3751-0D20-98A0-782E-EBA5976F2AE3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073AC1B-B578-BAF9-74BB-F28E9F05C675}"/>
              </a:ext>
            </a:extLst>
          </p:cNvPr>
          <p:cNvSpPr txBox="1"/>
          <p:nvPr/>
        </p:nvSpPr>
        <p:spPr>
          <a:xfrm>
            <a:off x="822960" y="3534041"/>
            <a:ext cx="2926080" cy="1094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neurons with feedback loops.</a:t>
            </a:r>
            <a:r>
              <a:rPr lang="zh-CN" altLang="en-US" sz="2000" dirty="0">
                <a:solidFill>
                  <a:srgbClr val="5B6B85"/>
                </a:solidFill>
              </a:rPr>
              <a:t> </a:t>
            </a:r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function guides to stable states.</a:t>
            </a:r>
            <a:r>
              <a:rPr lang="zh-CN" altLang="en-US" sz="2000" dirty="0">
                <a:solidFill>
                  <a:srgbClr val="5B6B85"/>
                </a:solidFill>
              </a:rPr>
              <a:t> </a:t>
            </a:r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converge to attractors</a:t>
            </a:r>
            <a:endParaRPr lang="en-US" altLang="zh-CN" sz="2000" dirty="0">
              <a:solidFill>
                <a:srgbClr val="5B6B85"/>
              </a:solidFill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F25DCA1-94D4-EF98-215D-4AC7F38DFFD9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2CB48BF-6CFC-34B5-4386-C4651EF50592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A514AFD-3D46-5447-7CD5-B2F108C1E3CA}"/>
              </a:ext>
            </a:extLst>
          </p:cNvPr>
          <p:cNvSpPr txBox="1"/>
          <p:nvPr/>
        </p:nvSpPr>
        <p:spPr>
          <a:xfrm>
            <a:off x="4419600" y="3285402"/>
            <a:ext cx="30784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Elegant mathematical foundation (energy-based)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Completes incomplete/</a:t>
            </a:r>
            <a:r>
              <a:rPr lang="zh-CN" alt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noisy patterns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</a:t>
            </a:r>
            <a:r>
              <a:rPr lang="zh-CN" alt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Biologically inspired (mirrors neural activity)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Guaranteed convergence</a:t>
            </a: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8702EDD-D539-E3D4-7990-0EBE35F1E0DC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F6A2DE4-8992-7C15-D447-DA0422971682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84DCE80-1C81-30E3-4C38-5F57ECE87ED9}"/>
              </a:ext>
            </a:extLst>
          </p:cNvPr>
          <p:cNvSpPr txBox="1"/>
          <p:nvPr/>
        </p:nvSpPr>
        <p:spPr>
          <a:xfrm>
            <a:off x="7955280" y="328540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Limited storage capacity (0.138N patterns for N neurons)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Small network size practical limit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Impractical for large-scale problems</a:t>
            </a:r>
          </a:p>
        </p:txBody>
      </p:sp>
    </p:spTree>
    <p:extLst>
      <p:ext uri="{BB962C8B-B14F-4D97-AF65-F5344CB8AC3E}">
        <p14:creationId xmlns:p14="http://schemas.microsoft.com/office/powerpoint/2010/main" val="327045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108C-0FCB-6067-F318-A5448A88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C7C0410-CF7A-436F-CCE0-4E69BE191D04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B9C29F-1108-4CC6-65DC-BE76F9F012F3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4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791A097-9073-46FE-FFEC-009F68455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DA1E0C9-CC1B-713E-DA65-C1050E1D7A6B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Decision making through if-then rules</a:t>
            </a:r>
            <a:endParaRPr lang="en-US" sz="2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5957A59-9E8F-29E9-0BBB-6C1536DCE05A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4D3169D-5771-DF70-CC77-DFF0F60C556F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47DB2FB-368F-DE68-C533-C1972E5BC223}"/>
              </a:ext>
            </a:extLst>
          </p:cNvPr>
          <p:cNvSpPr txBox="1"/>
          <p:nvPr/>
        </p:nvSpPr>
        <p:spPr>
          <a:xfrm>
            <a:off x="822960" y="328540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Human experts encode their knowledge as rules: "IF condition THEN action"</a:t>
            </a:r>
            <a:endParaRPr lang="en-US" sz="20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114CB33-220B-9621-9048-D4AFCD520AFD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259BA2C-1004-21AF-8376-AFF0643C6E46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E2A6189-06FD-2418-9199-7D541BE69AFF}"/>
              </a:ext>
            </a:extLst>
          </p:cNvPr>
          <p:cNvSpPr txBox="1"/>
          <p:nvPr/>
        </p:nvSpPr>
        <p:spPr>
          <a:xfrm>
            <a:off x="4389120" y="328540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Explainable (you can see why it made a decision)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Reliable on familiar cases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✓ Low data requirements</a:t>
            </a:r>
            <a:endParaRPr lang="en-US" sz="2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48200538-D186-4553-5FB2-C3BCFF526D2E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DA9A297-26F8-6D86-BB4C-67B3226F62A9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EA128D5-E29E-B2DE-A71A-5C75B9243BC4}"/>
              </a:ext>
            </a:extLst>
          </p:cNvPr>
          <p:cNvSpPr txBox="1"/>
          <p:nvPr/>
        </p:nvSpPr>
        <p:spPr>
          <a:xfrm>
            <a:off x="7955280" y="328540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Does not scale — too many rules to maintain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Brittle — fails outside programmed scenarios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B6B85"/>
                </a:solidFill>
                <a:ea typeface="Calibri" pitchFamily="34" charset="-122"/>
                <a:cs typeface="Calibri" pitchFamily="34" charset="-120"/>
              </a:rPr>
              <a:t>✗ Cannot learn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9010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6FE394C-6F54-8D12-626F-15BC2CFA3222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4D72309-282B-9800-5E5C-6DA5B076F1AF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6D403F1-B20A-F8D2-1E85-E778A6772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3A68753-FC29-A3B8-A310-C35ED33910E7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performance from data and experience</a:t>
            </a:r>
            <a:endParaRPr lang="en-US" sz="2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948CF16-4B03-B242-31D3-97CA22BE3300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CCFC22F-4FF4-BC65-3B09-1DA6178F5261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E1F9F01-9148-3138-223D-415C8600ED3D}"/>
              </a:ext>
            </a:extLst>
          </p:cNvPr>
          <p:cNvSpPr txBox="1"/>
          <p:nvPr/>
        </p:nvSpPr>
        <p:spPr>
          <a:xfrm>
            <a:off x="82296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system data + examples. It learns patterns automatically, no rules needed.</a:t>
            </a:r>
            <a:endParaRPr lang="en-US" sz="20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6E6C0A9-14F2-8A1F-3594-6BE06870A348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32E65EA-1367-0439-AC86-53806E6653EC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4FF964B-DB8F-5B6B-9F24-1B5F0E078FA9}"/>
              </a:ext>
            </a:extLst>
          </p:cNvPr>
          <p:cNvSpPr txBox="1"/>
          <p:nvPr/>
        </p:nvSpPr>
        <p:spPr>
          <a:xfrm>
            <a:off x="438912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Discovers hidden patterns humans don't see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Adapts to new data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Powers modern AI (recommendations, vision, NLP)</a:t>
            </a:r>
            <a:endParaRPr lang="en-US" sz="2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BE0A253-99DC-C7F7-A0AA-F1F2721A6D7F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AB780CB-114C-A309-7DCB-8F1B1A4B0740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5F4A151-FFA7-30D6-65AB-6DEC0D15279A}"/>
              </a:ext>
            </a:extLst>
          </p:cNvPr>
          <p:cNvSpPr txBox="1"/>
          <p:nvPr/>
        </p:nvSpPr>
        <p:spPr>
          <a:xfrm>
            <a:off x="795528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Needs lots of labeled data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"Black box" — hard to explain why it decided something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learn the wrong patterns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627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D7D6-E2EE-0175-B9D1-9D7F2810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2C1F2B-B4B4-219A-7939-021A74B9F9A0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01620E-DD1D-FFCF-1FC2-0F79553BF372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rgbClr val="1F293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altLang="zh-CN" sz="4000" dirty="0">
              <a:latin typeface="Cambria" panose="020405030504060302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DD59A08-2B58-491E-9523-11B7B3B10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AA170F2F-FF02-B74A-E5D9-BB4090264598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multiple layers for learning complex patterns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1F1B190-2FA9-B73C-9E55-B476D68C8A43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C4966CA-A03E-126E-700A-18A04C4A0DB2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C75BD82-D175-A20E-A7FD-AB5DAFADD70A}"/>
              </a:ext>
            </a:extLst>
          </p:cNvPr>
          <p:cNvSpPr txBox="1"/>
          <p:nvPr/>
        </p:nvSpPr>
        <p:spPr>
          <a:xfrm>
            <a:off x="82296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layers of artificial neurons process data through learned transformations, extracting increasingly abstract features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9B61E0D-D18A-CACC-7D5C-AED156D934E5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4500365-B0C7-3C4A-04A8-BCBB4A1A98D6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E9F7864-2AA6-3618-5321-62CAF296069C}"/>
              </a:ext>
            </a:extLst>
          </p:cNvPr>
          <p:cNvSpPr txBox="1"/>
          <p:nvPr/>
        </p:nvSpPr>
        <p:spPr>
          <a:xfrm>
            <a:off x="438912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Learns from raw data (no handcrafted features)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Scales to massive datasets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Exceeds human performance on many tasks</a:t>
            </a: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EEE84BD-7CBC-6B0B-AA18-68B3A98A1C7A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053E02E-C59E-FDBF-3496-7706EFC89C06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2A19F82-C3F0-8457-6AA5-79874A5E8540}"/>
              </a:ext>
            </a:extLst>
          </p:cNvPr>
          <p:cNvSpPr txBox="1"/>
          <p:nvPr/>
        </p:nvSpPr>
        <p:spPr>
          <a:xfrm>
            <a:off x="795528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enormous labeled data</a:t>
            </a:r>
            <a:endParaRPr lang="en-US" altLang="zh-CN" sz="2000" dirty="0">
              <a:solidFill>
                <a:srgbClr val="5B6B85"/>
              </a:solidFill>
            </a:endParaRPr>
          </a:p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Black box—hard to explain decisions</a:t>
            </a:r>
            <a:endParaRPr lang="en-US" altLang="zh-CN" sz="2000" dirty="0">
              <a:solidFill>
                <a:srgbClr val="5B6B85"/>
              </a:solidFill>
            </a:endParaRPr>
          </a:p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Demands significant compute power</a:t>
            </a:r>
            <a:endParaRPr lang="en-US" altLang="zh-CN" sz="2000" dirty="0">
              <a:solidFill>
                <a:srgbClr val="5B6B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758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D99A-4A8A-9E28-1E0D-83036AD1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99C08A0-293A-FE77-4F21-A5237EC8AF3E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5780B2B-3CCB-DE50-CCF7-93C87DAB8D6D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rgbClr val="1F2937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Fuzzy Systems</a:t>
            </a:r>
            <a:endParaRPr lang="en-US" altLang="zh-CN" sz="4000" dirty="0">
              <a:latin typeface="Cambria" panose="020405030504060302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56EAD3B-862A-7FFB-2A26-80C8AC4C1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AF0EB8A2-B44B-6C95-7352-F01D80223C8F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with approximate and uncertain information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39FD24B-C0E4-36D1-FB32-FCA64E96FF8F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9A705E4-5EDF-6FB4-3411-55060471620B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FD5B161-FC06-4FD3-526F-0C2533D33550}"/>
              </a:ext>
            </a:extLst>
          </p:cNvPr>
          <p:cNvSpPr txBox="1"/>
          <p:nvPr/>
        </p:nvSpPr>
        <p:spPr>
          <a:xfrm>
            <a:off x="82296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fuzzy sets and membership functions where values range from 0 to 1 (instead of just 0 or 1), combined with if-then rules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6B6E0C5-BD14-3C95-6206-4F6B6F5CA80C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B2FB703-655E-C6D5-70F1-0C0F84A61141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8C21879-E969-C629-0694-FFACD19D628A}"/>
              </a:ext>
            </a:extLst>
          </p:cNvPr>
          <p:cNvSpPr txBox="1"/>
          <p:nvPr/>
        </p:nvSpPr>
        <p:spPr>
          <a:xfrm>
            <a:off x="438912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Handles uncertainty naturally</a:t>
            </a:r>
            <a:endParaRPr lang="en-US" altLang="zh-CN" sz="2000" dirty="0">
              <a:solidFill>
                <a:srgbClr val="5B6B85"/>
              </a:solidFill>
            </a:endParaRPr>
          </a:p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Models human-like reasoning</a:t>
            </a:r>
            <a:endParaRPr lang="en-US" altLang="zh-CN" sz="2000" dirty="0">
              <a:solidFill>
                <a:srgbClr val="5B6B85"/>
              </a:solidFill>
            </a:endParaRPr>
          </a:p>
          <a:p>
            <a:r>
              <a:rPr lang="en-US" altLang="zh-CN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Combines with expert rules easily</a:t>
            </a:r>
            <a:endParaRPr lang="en-US" altLang="zh-CN" sz="2000" dirty="0">
              <a:solidFill>
                <a:srgbClr val="5B6B85"/>
              </a:solidFill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F2CA818-E632-D10E-D032-615046A022FF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39A33F7-20B7-0381-0A27-6A164AA652AD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EA27FBC-9670-FD05-8454-EB61DE71BCF2}"/>
              </a:ext>
            </a:extLst>
          </p:cNvPr>
          <p:cNvSpPr txBox="1"/>
          <p:nvPr/>
        </p:nvSpPr>
        <p:spPr>
          <a:xfrm>
            <a:off x="7955280" y="330247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manual design of membership functions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Scales poorly with many variables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learn from data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15664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3BA27FA-46DB-7E81-1BD4-49F81C096C4D}"/>
              </a:ext>
            </a:extLst>
          </p:cNvPr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</a:t>
            </a:r>
            <a:r>
              <a:rPr lang="en-US" altLang="zh-CN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22C05C4-1822-0B00-9882-899C7E5B1C87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Computation</a:t>
            </a:r>
            <a:endParaRPr lang="en-US" sz="4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A171D1B-04D6-B877-E21C-C915901D9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DF2C0BF-B5D2-F198-CAA0-158CEA317224}"/>
              </a:ext>
            </a:extLst>
          </p:cNvPr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methods inspired by natural evolution and selection</a:t>
            </a:r>
            <a:endParaRPr lang="en-US" sz="2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209978C-5464-CAE6-4AB0-557F19F01ADB}"/>
              </a:ext>
            </a:extLst>
          </p:cNvPr>
          <p:cNvSpPr/>
          <p:nvPr/>
        </p:nvSpPr>
        <p:spPr>
          <a:xfrm>
            <a:off x="64008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555994C-C1E7-D921-1426-6C4CAF50CF88}"/>
              </a:ext>
            </a:extLst>
          </p:cNvPr>
          <p:cNvSpPr txBox="1"/>
          <p:nvPr/>
        </p:nvSpPr>
        <p:spPr>
          <a:xfrm>
            <a:off x="82296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507E047-21EF-F6C2-2ABA-EEC84B5C39FD}"/>
              </a:ext>
            </a:extLst>
          </p:cNvPr>
          <p:cNvSpPr txBox="1"/>
          <p:nvPr/>
        </p:nvSpPr>
        <p:spPr>
          <a:xfrm>
            <a:off x="822960" y="3238675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random candidates, test them, keep the best, mutate and repeat. Survival of the fittest.</a:t>
            </a:r>
            <a:endParaRPr lang="en-US" sz="20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CAF1604-55E8-5A1A-A7DD-633E0C108976}"/>
              </a:ext>
            </a:extLst>
          </p:cNvPr>
          <p:cNvSpPr/>
          <p:nvPr/>
        </p:nvSpPr>
        <p:spPr>
          <a:xfrm>
            <a:off x="420624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E32EA9E-541B-60E2-9EF5-92A060E33DC3}"/>
              </a:ext>
            </a:extLst>
          </p:cNvPr>
          <p:cNvSpPr txBox="1"/>
          <p:nvPr/>
        </p:nvSpPr>
        <p:spPr>
          <a:xfrm>
            <a:off x="43891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4707322-E3BC-71EF-C2FA-D0DA01AC8C17}"/>
              </a:ext>
            </a:extLst>
          </p:cNvPr>
          <p:cNvSpPr txBox="1"/>
          <p:nvPr/>
        </p:nvSpPr>
        <p:spPr>
          <a:xfrm>
            <a:off x="4389120" y="3238675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training data needed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Finds novel solutions humans wouldn't think of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optimization and design</a:t>
            </a:r>
            <a:endParaRPr lang="en-US" sz="2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3783E4F-EAE1-836D-C71D-4F15FE25D3C5}"/>
              </a:ext>
            </a:extLst>
          </p:cNvPr>
          <p:cNvSpPr/>
          <p:nvPr/>
        </p:nvSpPr>
        <p:spPr>
          <a:xfrm>
            <a:off x="7772400" y="22860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EF2F8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5082C7B-DBAC-DB0F-2107-0F8B8E10802D}"/>
              </a:ext>
            </a:extLst>
          </p:cNvPr>
          <p:cNvSpPr txBox="1"/>
          <p:nvPr/>
        </p:nvSpPr>
        <p:spPr>
          <a:xfrm>
            <a:off x="7955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AA8E34DA-B947-DE3E-B298-5B639352A0CB}"/>
              </a:ext>
            </a:extLst>
          </p:cNvPr>
          <p:cNvSpPr txBox="1"/>
          <p:nvPr/>
        </p:nvSpPr>
        <p:spPr>
          <a:xfrm>
            <a:off x="7955280" y="3238675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 — lots of iterations needed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get stuck in local optima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 to predict or control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2236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12">
            <a:extLst>
              <a:ext uri="{FF2B5EF4-FFF2-40B4-BE49-F238E27FC236}">
                <a16:creationId xmlns:a16="http://schemas.microsoft.com/office/drawing/2014/main" id="{5DD5FA10-20A2-91F1-1675-7DE15DFEC70E}"/>
              </a:ext>
            </a:extLst>
          </p:cNvPr>
          <p:cNvSpPr txBox="1"/>
          <p:nvPr/>
        </p:nvSpPr>
        <p:spPr>
          <a:xfrm>
            <a:off x="0" y="29391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cs typeface="Segoe UI" panose="020B0502040204020203" pitchFamily="34" charset="0"/>
              </a:rPr>
              <a:t>Intelligent Systems</a:t>
            </a:r>
          </a:p>
        </p:txBody>
      </p:sp>
      <p:sp>
        <p:nvSpPr>
          <p:cNvPr id="5" name="TextBox 313">
            <a:extLst>
              <a:ext uri="{FF2B5EF4-FFF2-40B4-BE49-F238E27FC236}">
                <a16:creationId xmlns:a16="http://schemas.microsoft.com/office/drawing/2014/main" id="{1E8FBA3B-813B-2EB4-313B-FECB6F168C26}"/>
              </a:ext>
            </a:extLst>
          </p:cNvPr>
          <p:cNvSpPr txBox="1"/>
          <p:nvPr/>
        </p:nvSpPr>
        <p:spPr>
          <a:xfrm>
            <a:off x="3826657" y="847558"/>
            <a:ext cx="4538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cs typeface="Segoe UI" panose="020B0502040204020203" pitchFamily="34" charset="0"/>
              </a:rPr>
              <a:t>Applications of Intelligent Systems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673703-17C4-902F-236E-BC7C9B19A8FA}"/>
              </a:ext>
            </a:extLst>
          </p:cNvPr>
          <p:cNvSpPr/>
          <p:nvPr/>
        </p:nvSpPr>
        <p:spPr>
          <a:xfrm>
            <a:off x="2632233" y="1303028"/>
            <a:ext cx="2271680" cy="5466389"/>
          </a:xfrm>
          <a:custGeom>
            <a:avLst/>
            <a:gdLst>
              <a:gd name="connsiteX0" fmla="*/ 523550 w 2066324"/>
              <a:gd name="connsiteY0" fmla="*/ -274 h 4972237"/>
              <a:gd name="connsiteX1" fmla="*/ 614613 w 2066324"/>
              <a:gd name="connsiteY1" fmla="*/ -274 h 4972237"/>
              <a:gd name="connsiteX2" fmla="*/ 612666 w 2066324"/>
              <a:gd name="connsiteY2" fmla="*/ 2117996 h 4972237"/>
              <a:gd name="connsiteX3" fmla="*/ 685607 w 2066324"/>
              <a:gd name="connsiteY3" fmla="*/ 2186742 h 4972237"/>
              <a:gd name="connsiteX4" fmla="*/ 1149909 w 2066324"/>
              <a:gd name="connsiteY4" fmla="*/ 2185544 h 4972237"/>
              <a:gd name="connsiteX5" fmla="*/ 1151856 w 2066324"/>
              <a:gd name="connsiteY5" fmla="*/ 2619892 h 4972237"/>
              <a:gd name="connsiteX6" fmla="*/ 615811 w 2066324"/>
              <a:gd name="connsiteY6" fmla="*/ 2619892 h 4972237"/>
              <a:gd name="connsiteX7" fmla="*/ 166486 w 2066324"/>
              <a:gd name="connsiteY7" fmla="*/ 2618394 h 4972237"/>
              <a:gd name="connsiteX8" fmla="*/ 88303 w 2066324"/>
              <a:gd name="connsiteY8" fmla="*/ 2697325 h 4972237"/>
              <a:gd name="connsiteX9" fmla="*/ 89651 w 2066324"/>
              <a:gd name="connsiteY9" fmla="*/ 4778151 h 4972237"/>
              <a:gd name="connsiteX10" fmla="*/ 89651 w 2066324"/>
              <a:gd name="connsiteY10" fmla="*/ 4868016 h 4972237"/>
              <a:gd name="connsiteX11" fmla="*/ 164539 w 2066324"/>
              <a:gd name="connsiteY11" fmla="*/ 4941855 h 4972237"/>
              <a:gd name="connsiteX12" fmla="*/ 1788251 w 2066324"/>
              <a:gd name="connsiteY12" fmla="*/ 4940657 h 4972237"/>
              <a:gd name="connsiteX13" fmla="*/ 1938026 w 2066324"/>
              <a:gd name="connsiteY13" fmla="*/ 4941705 h 4972237"/>
              <a:gd name="connsiteX14" fmla="*/ 2007671 w 2066324"/>
              <a:gd name="connsiteY14" fmla="*/ 4869814 h 4972237"/>
              <a:gd name="connsiteX15" fmla="*/ 2006473 w 2066324"/>
              <a:gd name="connsiteY15" fmla="*/ 3866320 h 4972237"/>
              <a:gd name="connsiteX16" fmla="*/ 2006473 w 2066324"/>
              <a:gd name="connsiteY16" fmla="*/ 3312153 h 4972237"/>
              <a:gd name="connsiteX17" fmla="*/ 1985204 w 2066324"/>
              <a:gd name="connsiteY17" fmla="*/ 3205662 h 4972237"/>
              <a:gd name="connsiteX18" fmla="*/ 1994790 w 2066324"/>
              <a:gd name="connsiteY18" fmla="*/ 3152792 h 4972237"/>
              <a:gd name="connsiteX19" fmla="*/ 2049608 w 2066324"/>
              <a:gd name="connsiteY19" fmla="*/ 3153690 h 4972237"/>
              <a:gd name="connsiteX20" fmla="*/ 2057246 w 2066324"/>
              <a:gd name="connsiteY20" fmla="*/ 3207010 h 4972237"/>
              <a:gd name="connsiteX21" fmla="*/ 2036877 w 2066324"/>
              <a:gd name="connsiteY21" fmla="*/ 3306311 h 4972237"/>
              <a:gd name="connsiteX22" fmla="*/ 2038075 w 2066324"/>
              <a:gd name="connsiteY22" fmla="*/ 4893927 h 4972237"/>
              <a:gd name="connsiteX23" fmla="*/ 1959293 w 2066324"/>
              <a:gd name="connsiteY23" fmla="*/ 4971960 h 4972237"/>
              <a:gd name="connsiteX24" fmla="*/ 133385 w 2066324"/>
              <a:gd name="connsiteY24" fmla="*/ 4971960 h 4972237"/>
              <a:gd name="connsiteX25" fmla="*/ 59846 w 2066324"/>
              <a:gd name="connsiteY25" fmla="*/ 4897073 h 4972237"/>
              <a:gd name="connsiteX26" fmla="*/ 59846 w 2066324"/>
              <a:gd name="connsiteY26" fmla="*/ 2704066 h 4972237"/>
              <a:gd name="connsiteX27" fmla="*/ 13416 w 2066324"/>
              <a:gd name="connsiteY27" fmla="*/ 2615698 h 4972237"/>
              <a:gd name="connsiteX28" fmla="*/ 984 w 2066324"/>
              <a:gd name="connsiteY28" fmla="*/ 2569567 h 4972237"/>
              <a:gd name="connsiteX29" fmla="*/ -214 w 2066324"/>
              <a:gd name="connsiteY29" fmla="*/ 2240062 h 4972237"/>
              <a:gd name="connsiteX30" fmla="*/ 56401 w 2066324"/>
              <a:gd name="connsiteY30" fmla="*/ 2185694 h 4972237"/>
              <a:gd name="connsiteX31" fmla="*/ 452856 w 2066324"/>
              <a:gd name="connsiteY31" fmla="*/ 2187641 h 4972237"/>
              <a:gd name="connsiteX32" fmla="*/ 525946 w 2066324"/>
              <a:gd name="connsiteY32" fmla="*/ 2118744 h 4972237"/>
              <a:gd name="connsiteX33" fmla="*/ 523550 w 2066324"/>
              <a:gd name="connsiteY33" fmla="*/ -274 h 497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66324" h="4972237">
                <a:moveTo>
                  <a:pt x="523550" y="-274"/>
                </a:moveTo>
                <a:lnTo>
                  <a:pt x="614613" y="-274"/>
                </a:lnTo>
                <a:cubicBezTo>
                  <a:pt x="614613" y="705766"/>
                  <a:pt x="613969" y="1411851"/>
                  <a:pt x="612666" y="2117996"/>
                </a:cubicBezTo>
                <a:cubicBezTo>
                  <a:pt x="612666" y="2177007"/>
                  <a:pt x="632586" y="2187791"/>
                  <a:pt x="685607" y="2186742"/>
                </a:cubicBezTo>
                <a:cubicBezTo>
                  <a:pt x="836730" y="2183447"/>
                  <a:pt x="987853" y="2185544"/>
                  <a:pt x="1149909" y="2185544"/>
                </a:cubicBezTo>
                <a:cubicBezTo>
                  <a:pt x="1079814" y="2333672"/>
                  <a:pt x="1076669" y="2473711"/>
                  <a:pt x="1151856" y="2619892"/>
                </a:cubicBezTo>
                <a:lnTo>
                  <a:pt x="615811" y="2619892"/>
                </a:lnTo>
                <a:cubicBezTo>
                  <a:pt x="466036" y="2619892"/>
                  <a:pt x="316261" y="2623037"/>
                  <a:pt x="166486" y="2618394"/>
                </a:cubicBezTo>
                <a:cubicBezTo>
                  <a:pt x="103430" y="2616447"/>
                  <a:pt x="88153" y="2635618"/>
                  <a:pt x="88303" y="2697325"/>
                </a:cubicBezTo>
                <a:cubicBezTo>
                  <a:pt x="90550" y="3390934"/>
                  <a:pt x="89651" y="4084543"/>
                  <a:pt x="89651" y="4778151"/>
                </a:cubicBezTo>
                <a:cubicBezTo>
                  <a:pt x="91688" y="4808076"/>
                  <a:pt x="91688" y="4838091"/>
                  <a:pt x="89651" y="4868016"/>
                </a:cubicBezTo>
                <a:cubicBezTo>
                  <a:pt x="81264" y="4928675"/>
                  <a:pt x="106875" y="4942904"/>
                  <a:pt x="164539" y="4941855"/>
                </a:cubicBezTo>
                <a:cubicBezTo>
                  <a:pt x="705826" y="4939908"/>
                  <a:pt x="1247113" y="4940657"/>
                  <a:pt x="1788251" y="4940657"/>
                </a:cubicBezTo>
                <a:cubicBezTo>
                  <a:pt x="1838126" y="4940657"/>
                  <a:pt x="1888450" y="4936763"/>
                  <a:pt x="1938026" y="4941705"/>
                </a:cubicBezTo>
                <a:cubicBezTo>
                  <a:pt x="1996288" y="4947547"/>
                  <a:pt x="2007970" y="4923882"/>
                  <a:pt x="2007671" y="4869814"/>
                </a:cubicBezTo>
                <a:cubicBezTo>
                  <a:pt x="2005275" y="4535515"/>
                  <a:pt x="2006473" y="4201217"/>
                  <a:pt x="2006473" y="3866320"/>
                </a:cubicBezTo>
                <a:cubicBezTo>
                  <a:pt x="2006473" y="3681797"/>
                  <a:pt x="2006473" y="3497124"/>
                  <a:pt x="2006473" y="3312153"/>
                </a:cubicBezTo>
                <a:cubicBezTo>
                  <a:pt x="2006473" y="3275757"/>
                  <a:pt x="2014710" y="3237265"/>
                  <a:pt x="1985204" y="3205662"/>
                </a:cubicBezTo>
                <a:cubicBezTo>
                  <a:pt x="1970227" y="3188887"/>
                  <a:pt x="1977117" y="3166870"/>
                  <a:pt x="1994790" y="3152792"/>
                </a:cubicBezTo>
                <a:cubicBezTo>
                  <a:pt x="2010487" y="3138698"/>
                  <a:pt x="2034390" y="3139087"/>
                  <a:pt x="2049608" y="3153690"/>
                </a:cubicBezTo>
                <a:cubicBezTo>
                  <a:pt x="2066682" y="3168668"/>
                  <a:pt x="2072523" y="3190085"/>
                  <a:pt x="2057246" y="3207010"/>
                </a:cubicBezTo>
                <a:cubicBezTo>
                  <a:pt x="2029988" y="3236965"/>
                  <a:pt x="2037027" y="3272312"/>
                  <a:pt x="2036877" y="3306311"/>
                </a:cubicBezTo>
                <a:cubicBezTo>
                  <a:pt x="2036877" y="3835317"/>
                  <a:pt x="2035529" y="4364173"/>
                  <a:pt x="2038075" y="4893927"/>
                </a:cubicBezTo>
                <a:cubicBezTo>
                  <a:pt x="2038075" y="4956683"/>
                  <a:pt x="2021001" y="4972259"/>
                  <a:pt x="1959293" y="4971960"/>
                </a:cubicBezTo>
                <a:cubicBezTo>
                  <a:pt x="1350203" y="4969758"/>
                  <a:pt x="741577" y="4969758"/>
                  <a:pt x="133385" y="4971960"/>
                </a:cubicBezTo>
                <a:cubicBezTo>
                  <a:pt x="73475" y="4971960"/>
                  <a:pt x="59696" y="4953687"/>
                  <a:pt x="59846" y="4897073"/>
                </a:cubicBezTo>
                <a:cubicBezTo>
                  <a:pt x="61643" y="4166169"/>
                  <a:pt x="61643" y="3435163"/>
                  <a:pt x="59846" y="2704066"/>
                </a:cubicBezTo>
                <a:cubicBezTo>
                  <a:pt x="59846" y="2669318"/>
                  <a:pt x="80065" y="2620940"/>
                  <a:pt x="13416" y="2615698"/>
                </a:cubicBezTo>
                <a:cubicBezTo>
                  <a:pt x="-4707" y="2614201"/>
                  <a:pt x="984" y="2585743"/>
                  <a:pt x="984" y="2569567"/>
                </a:cubicBezTo>
                <a:cubicBezTo>
                  <a:pt x="984" y="2459782"/>
                  <a:pt x="2482" y="2349997"/>
                  <a:pt x="-214" y="2240062"/>
                </a:cubicBezTo>
                <a:cubicBezTo>
                  <a:pt x="-1112" y="2196328"/>
                  <a:pt x="14764" y="2185095"/>
                  <a:pt x="56401" y="2185694"/>
                </a:cubicBezTo>
                <a:cubicBezTo>
                  <a:pt x="188503" y="2187791"/>
                  <a:pt x="320754" y="2184196"/>
                  <a:pt x="452856" y="2187641"/>
                </a:cubicBezTo>
                <a:cubicBezTo>
                  <a:pt x="506026" y="2188989"/>
                  <a:pt x="526096" y="2177906"/>
                  <a:pt x="525946" y="2118744"/>
                </a:cubicBezTo>
                <a:cubicBezTo>
                  <a:pt x="523250" y="1411806"/>
                  <a:pt x="523849" y="705766"/>
                  <a:pt x="523550" y="-27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9D7DC6A-B0F7-53B6-270D-DE7752494B33}"/>
              </a:ext>
            </a:extLst>
          </p:cNvPr>
          <p:cNvSpPr/>
          <p:nvPr/>
        </p:nvSpPr>
        <p:spPr>
          <a:xfrm>
            <a:off x="7289279" y="1303524"/>
            <a:ext cx="2269485" cy="5465234"/>
          </a:xfrm>
          <a:custGeom>
            <a:avLst/>
            <a:gdLst>
              <a:gd name="connsiteX0" fmla="*/ 522383 w 2064328"/>
              <a:gd name="connsiteY0" fmla="*/ -274 h 4971187"/>
              <a:gd name="connsiteX1" fmla="*/ 615393 w 2064328"/>
              <a:gd name="connsiteY1" fmla="*/ -274 h 4971187"/>
              <a:gd name="connsiteX2" fmla="*/ 612996 w 2064328"/>
              <a:gd name="connsiteY2" fmla="*/ 2117546 h 4971187"/>
              <a:gd name="connsiteX3" fmla="*/ 681744 w 2064328"/>
              <a:gd name="connsiteY3" fmla="*/ 2185994 h 4971187"/>
              <a:gd name="connsiteX4" fmla="*/ 1071159 w 2064328"/>
              <a:gd name="connsiteY4" fmla="*/ 2184346 h 4971187"/>
              <a:gd name="connsiteX5" fmla="*/ 1111747 w 2064328"/>
              <a:gd name="connsiteY5" fmla="*/ 2244256 h 4971187"/>
              <a:gd name="connsiteX6" fmla="*/ 1111747 w 2064328"/>
              <a:gd name="connsiteY6" fmla="*/ 2558035 h 4971187"/>
              <a:gd name="connsiteX7" fmla="*/ 1066815 w 2064328"/>
              <a:gd name="connsiteY7" fmla="*/ 2620041 h 4971187"/>
              <a:gd name="connsiteX8" fmla="*/ 176552 w 2064328"/>
              <a:gd name="connsiteY8" fmla="*/ 2617945 h 4971187"/>
              <a:gd name="connsiteX9" fmla="*/ 89532 w 2064328"/>
              <a:gd name="connsiteY9" fmla="*/ 2706761 h 4971187"/>
              <a:gd name="connsiteX10" fmla="*/ 89532 w 2064328"/>
              <a:gd name="connsiteY10" fmla="*/ 4854537 h 4971187"/>
              <a:gd name="connsiteX11" fmla="*/ 178499 w 2064328"/>
              <a:gd name="connsiteY11" fmla="*/ 4941406 h 4971187"/>
              <a:gd name="connsiteX12" fmla="*/ 1921581 w 2064328"/>
              <a:gd name="connsiteY12" fmla="*/ 4941406 h 4971187"/>
              <a:gd name="connsiteX13" fmla="*/ 2008152 w 2064328"/>
              <a:gd name="connsiteY13" fmla="*/ 4851541 h 4971187"/>
              <a:gd name="connsiteX14" fmla="*/ 2006803 w 2064328"/>
              <a:gd name="connsiteY14" fmla="*/ 3302567 h 4971187"/>
              <a:gd name="connsiteX15" fmla="*/ 1988830 w 2064328"/>
              <a:gd name="connsiteY15" fmla="*/ 3209257 h 4971187"/>
              <a:gd name="connsiteX16" fmla="*/ 1997578 w 2064328"/>
              <a:gd name="connsiteY16" fmla="*/ 3152103 h 4971187"/>
              <a:gd name="connsiteX17" fmla="*/ 2047842 w 2064328"/>
              <a:gd name="connsiteY17" fmla="*/ 3153541 h 4971187"/>
              <a:gd name="connsiteX18" fmla="*/ 2057772 w 2064328"/>
              <a:gd name="connsiteY18" fmla="*/ 3204689 h 4971187"/>
              <a:gd name="connsiteX19" fmla="*/ 2056079 w 2064328"/>
              <a:gd name="connsiteY19" fmla="*/ 3207010 h 4971187"/>
              <a:gd name="connsiteX20" fmla="*/ 2037058 w 2064328"/>
              <a:gd name="connsiteY20" fmla="*/ 3314998 h 4971187"/>
              <a:gd name="connsiteX21" fmla="*/ 2038406 w 2064328"/>
              <a:gd name="connsiteY21" fmla="*/ 4878950 h 4971187"/>
              <a:gd name="connsiteX22" fmla="*/ 1946593 w 2064328"/>
              <a:gd name="connsiteY22" fmla="*/ 4970911 h 4971187"/>
              <a:gd name="connsiteX23" fmla="*/ 151091 w 2064328"/>
              <a:gd name="connsiteY23" fmla="*/ 4970911 h 4971187"/>
              <a:gd name="connsiteX24" fmla="*/ 59577 w 2064328"/>
              <a:gd name="connsiteY24" fmla="*/ 4878650 h 4971187"/>
              <a:gd name="connsiteX25" fmla="*/ 59577 w 2064328"/>
              <a:gd name="connsiteY25" fmla="*/ 2731025 h 4971187"/>
              <a:gd name="connsiteX26" fmla="*/ 11350 w 2064328"/>
              <a:gd name="connsiteY26" fmla="*/ 2608359 h 4971187"/>
              <a:gd name="connsiteX27" fmla="*/ 1166 w 2064328"/>
              <a:gd name="connsiteY27" fmla="*/ 2560131 h 4971187"/>
              <a:gd name="connsiteX28" fmla="*/ -183 w 2064328"/>
              <a:gd name="connsiteY28" fmla="*/ 2245604 h 4971187"/>
              <a:gd name="connsiteX29" fmla="*/ 67516 w 2064328"/>
              <a:gd name="connsiteY29" fmla="*/ 2183747 h 4971187"/>
              <a:gd name="connsiteX30" fmla="*/ 456931 w 2064328"/>
              <a:gd name="connsiteY30" fmla="*/ 2185244 h 4971187"/>
              <a:gd name="connsiteX31" fmla="*/ 525677 w 2064328"/>
              <a:gd name="connsiteY31" fmla="*/ 2116798 h 4971187"/>
              <a:gd name="connsiteX32" fmla="*/ 522383 w 2064328"/>
              <a:gd name="connsiteY32" fmla="*/ -274 h 497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64328" h="4971187">
                <a:moveTo>
                  <a:pt x="522383" y="-274"/>
                </a:moveTo>
                <a:lnTo>
                  <a:pt x="615393" y="-274"/>
                </a:lnTo>
                <a:cubicBezTo>
                  <a:pt x="615393" y="705571"/>
                  <a:pt x="614599" y="1411506"/>
                  <a:pt x="612996" y="2117546"/>
                </a:cubicBezTo>
                <a:cubicBezTo>
                  <a:pt x="612996" y="2169668"/>
                  <a:pt x="629921" y="2187042"/>
                  <a:pt x="681744" y="2185994"/>
                </a:cubicBezTo>
                <a:cubicBezTo>
                  <a:pt x="811448" y="2183148"/>
                  <a:pt x="941154" y="2185994"/>
                  <a:pt x="1071159" y="2184346"/>
                </a:cubicBezTo>
                <a:cubicBezTo>
                  <a:pt x="1121633" y="2183447"/>
                  <a:pt x="1131069" y="2196328"/>
                  <a:pt x="1111747" y="2244256"/>
                </a:cubicBezTo>
                <a:cubicBezTo>
                  <a:pt x="1069511" y="2344590"/>
                  <a:pt x="1069511" y="2457700"/>
                  <a:pt x="1111747" y="2558035"/>
                </a:cubicBezTo>
                <a:cubicBezTo>
                  <a:pt x="1133915" y="2612103"/>
                  <a:pt x="1116840" y="2620341"/>
                  <a:pt x="1066815" y="2620041"/>
                </a:cubicBezTo>
                <a:cubicBezTo>
                  <a:pt x="769960" y="2618694"/>
                  <a:pt x="473256" y="2621539"/>
                  <a:pt x="176552" y="2617945"/>
                </a:cubicBezTo>
                <a:cubicBezTo>
                  <a:pt x="106457" y="2617046"/>
                  <a:pt x="89233" y="2639662"/>
                  <a:pt x="89532" y="2706761"/>
                </a:cubicBezTo>
                <a:cubicBezTo>
                  <a:pt x="91629" y="3422686"/>
                  <a:pt x="91629" y="4138611"/>
                  <a:pt x="89532" y="4854537"/>
                </a:cubicBezTo>
                <a:cubicBezTo>
                  <a:pt x="89532" y="4924781"/>
                  <a:pt x="111400" y="4941706"/>
                  <a:pt x="178499" y="4941406"/>
                </a:cubicBezTo>
                <a:cubicBezTo>
                  <a:pt x="759522" y="4939204"/>
                  <a:pt x="1340559" y="4939204"/>
                  <a:pt x="1921581" y="4941406"/>
                </a:cubicBezTo>
                <a:cubicBezTo>
                  <a:pt x="1992276" y="4941406"/>
                  <a:pt x="2008451" y="4918790"/>
                  <a:pt x="2008152" y="4851541"/>
                </a:cubicBezTo>
                <a:cubicBezTo>
                  <a:pt x="2005755" y="4335266"/>
                  <a:pt x="2006953" y="3818841"/>
                  <a:pt x="2006803" y="3302567"/>
                </a:cubicBezTo>
                <a:cubicBezTo>
                  <a:pt x="2006803" y="3270515"/>
                  <a:pt x="2010698" y="3238014"/>
                  <a:pt x="1988830" y="3209257"/>
                </a:cubicBezTo>
                <a:cubicBezTo>
                  <a:pt x="1975455" y="3191059"/>
                  <a:pt x="1979380" y="3165463"/>
                  <a:pt x="1997578" y="3152103"/>
                </a:cubicBezTo>
                <a:cubicBezTo>
                  <a:pt x="2012675" y="3141004"/>
                  <a:pt x="2033403" y="3141589"/>
                  <a:pt x="2047842" y="3153541"/>
                </a:cubicBezTo>
                <a:cubicBezTo>
                  <a:pt x="2064707" y="3164923"/>
                  <a:pt x="2069155" y="3187824"/>
                  <a:pt x="2057772" y="3204689"/>
                </a:cubicBezTo>
                <a:cubicBezTo>
                  <a:pt x="2057247" y="3205483"/>
                  <a:pt x="2056679" y="3206261"/>
                  <a:pt x="2056079" y="3207010"/>
                </a:cubicBezTo>
                <a:cubicBezTo>
                  <a:pt x="2030468" y="3240260"/>
                  <a:pt x="2037058" y="3278303"/>
                  <a:pt x="2037058" y="3314998"/>
                </a:cubicBezTo>
                <a:cubicBezTo>
                  <a:pt x="2037058" y="3836365"/>
                  <a:pt x="2035411" y="4357583"/>
                  <a:pt x="2038406" y="4878950"/>
                </a:cubicBezTo>
                <a:cubicBezTo>
                  <a:pt x="2038406" y="4951141"/>
                  <a:pt x="2018785" y="4971211"/>
                  <a:pt x="1946593" y="4970911"/>
                </a:cubicBezTo>
                <a:cubicBezTo>
                  <a:pt x="1348093" y="4968111"/>
                  <a:pt x="749591" y="4968111"/>
                  <a:pt x="151091" y="4970911"/>
                </a:cubicBezTo>
                <a:cubicBezTo>
                  <a:pt x="78449" y="4970911"/>
                  <a:pt x="59278" y="4950542"/>
                  <a:pt x="59577" y="4878650"/>
                </a:cubicBezTo>
                <a:cubicBezTo>
                  <a:pt x="62078" y="4162920"/>
                  <a:pt x="62078" y="3447055"/>
                  <a:pt x="59577" y="2731025"/>
                </a:cubicBezTo>
                <a:cubicBezTo>
                  <a:pt x="59577" y="2686092"/>
                  <a:pt x="84739" y="2628129"/>
                  <a:pt x="11350" y="2608359"/>
                </a:cubicBezTo>
                <a:cubicBezTo>
                  <a:pt x="4011" y="2606262"/>
                  <a:pt x="1316" y="2576907"/>
                  <a:pt x="1166" y="2560131"/>
                </a:cubicBezTo>
                <a:cubicBezTo>
                  <a:pt x="267" y="2455289"/>
                  <a:pt x="2813" y="2350446"/>
                  <a:pt x="-183" y="2245604"/>
                </a:cubicBezTo>
                <a:cubicBezTo>
                  <a:pt x="-1680" y="2193632"/>
                  <a:pt x="21984" y="2183148"/>
                  <a:pt x="67516" y="2183747"/>
                </a:cubicBezTo>
                <a:cubicBezTo>
                  <a:pt x="197071" y="2185694"/>
                  <a:pt x="326926" y="2182399"/>
                  <a:pt x="456931" y="2185244"/>
                </a:cubicBezTo>
                <a:cubicBezTo>
                  <a:pt x="508753" y="2186293"/>
                  <a:pt x="525827" y="2168919"/>
                  <a:pt x="525677" y="2116798"/>
                </a:cubicBezTo>
                <a:cubicBezTo>
                  <a:pt x="523281" y="1411252"/>
                  <a:pt x="522188" y="705571"/>
                  <a:pt x="522383" y="-274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ABB78AD-8FB7-DAC9-28D6-15A171114BF0}"/>
              </a:ext>
            </a:extLst>
          </p:cNvPr>
          <p:cNvSpPr/>
          <p:nvPr/>
        </p:nvSpPr>
        <p:spPr>
          <a:xfrm>
            <a:off x="9609063" y="1303028"/>
            <a:ext cx="2286965" cy="4034666"/>
          </a:xfrm>
          <a:custGeom>
            <a:avLst/>
            <a:gdLst>
              <a:gd name="connsiteX0" fmla="*/ 523533 w 2080228"/>
              <a:gd name="connsiteY0" fmla="*/ -274 h 3669940"/>
              <a:gd name="connsiteX1" fmla="*/ 630023 w 2080228"/>
              <a:gd name="connsiteY1" fmla="*/ -274 h 3669940"/>
              <a:gd name="connsiteX2" fmla="*/ 627776 w 2080228"/>
              <a:gd name="connsiteY2" fmla="*/ 815551 h 3669940"/>
              <a:gd name="connsiteX3" fmla="*/ 701465 w 2080228"/>
              <a:gd name="connsiteY3" fmla="*/ 884148 h 3669940"/>
              <a:gd name="connsiteX4" fmla="*/ 1097920 w 2080228"/>
              <a:gd name="connsiteY4" fmla="*/ 883100 h 3669940"/>
              <a:gd name="connsiteX5" fmla="*/ 1134015 w 2080228"/>
              <a:gd name="connsiteY5" fmla="*/ 921442 h 3669940"/>
              <a:gd name="connsiteX6" fmla="*/ 1143901 w 2080228"/>
              <a:gd name="connsiteY6" fmla="*/ 1304567 h 3669940"/>
              <a:gd name="connsiteX7" fmla="*/ 1062723 w 2080228"/>
              <a:gd name="connsiteY7" fmla="*/ 1316699 h 3669940"/>
              <a:gd name="connsiteX8" fmla="*/ 172310 w 2080228"/>
              <a:gd name="connsiteY8" fmla="*/ 1316699 h 3669940"/>
              <a:gd name="connsiteX9" fmla="*/ 104163 w 2080228"/>
              <a:gd name="connsiteY9" fmla="*/ 1383049 h 3669940"/>
              <a:gd name="connsiteX10" fmla="*/ 104163 w 2080228"/>
              <a:gd name="connsiteY10" fmla="*/ 3575906 h 3669940"/>
              <a:gd name="connsiteX11" fmla="*/ 167367 w 2080228"/>
              <a:gd name="connsiteY11" fmla="*/ 3639411 h 3669940"/>
              <a:gd name="connsiteX12" fmla="*/ 1955532 w 2080228"/>
              <a:gd name="connsiteY12" fmla="*/ 3639411 h 3669940"/>
              <a:gd name="connsiteX13" fmla="*/ 2022032 w 2080228"/>
              <a:gd name="connsiteY13" fmla="*/ 3571413 h 3669940"/>
              <a:gd name="connsiteX14" fmla="*/ 2020984 w 2080228"/>
              <a:gd name="connsiteY14" fmla="*/ 1984845 h 3669940"/>
              <a:gd name="connsiteX15" fmla="*/ 2001812 w 2080228"/>
              <a:gd name="connsiteY15" fmla="*/ 1907412 h 3669940"/>
              <a:gd name="connsiteX16" fmla="*/ 2012446 w 2080228"/>
              <a:gd name="connsiteY16" fmla="*/ 1849299 h 3669940"/>
              <a:gd name="connsiteX17" fmla="*/ 2060973 w 2080228"/>
              <a:gd name="connsiteY17" fmla="*/ 1850198 h 3669940"/>
              <a:gd name="connsiteX18" fmla="*/ 2069361 w 2080228"/>
              <a:gd name="connsiteY18" fmla="*/ 1909059 h 3669940"/>
              <a:gd name="connsiteX19" fmla="*/ 2051239 w 2080228"/>
              <a:gd name="connsiteY19" fmla="*/ 2009109 h 3669940"/>
              <a:gd name="connsiteX20" fmla="*/ 2052586 w 2080228"/>
              <a:gd name="connsiteY20" fmla="*/ 3588188 h 3669940"/>
              <a:gd name="connsiteX21" fmla="*/ 1968712 w 2080228"/>
              <a:gd name="connsiteY21" fmla="*/ 3669666 h 3669940"/>
              <a:gd name="connsiteX22" fmla="*/ 158081 w 2080228"/>
              <a:gd name="connsiteY22" fmla="*/ 3669666 h 3669940"/>
              <a:gd name="connsiteX23" fmla="*/ 73908 w 2080228"/>
              <a:gd name="connsiteY23" fmla="*/ 3581148 h 3669940"/>
              <a:gd name="connsiteX24" fmla="*/ 75106 w 2080228"/>
              <a:gd name="connsiteY24" fmla="*/ 1395780 h 3669940"/>
              <a:gd name="connsiteX25" fmla="*/ 22085 w 2080228"/>
              <a:gd name="connsiteY25" fmla="*/ 1314902 h 3669940"/>
              <a:gd name="connsiteX26" fmla="*/ 817 w 2080228"/>
              <a:gd name="connsiteY26" fmla="*/ 1274762 h 3669940"/>
              <a:gd name="connsiteX27" fmla="*/ -231 w 2080228"/>
              <a:gd name="connsiteY27" fmla="*/ 930279 h 3669940"/>
              <a:gd name="connsiteX28" fmla="*/ 55486 w 2080228"/>
              <a:gd name="connsiteY28" fmla="*/ 882650 h 3669940"/>
              <a:gd name="connsiteX29" fmla="*/ 451940 w 2080228"/>
              <a:gd name="connsiteY29" fmla="*/ 884148 h 3669940"/>
              <a:gd name="connsiteX30" fmla="*/ 525629 w 2080228"/>
              <a:gd name="connsiteY30" fmla="*/ 815551 h 3669940"/>
              <a:gd name="connsiteX31" fmla="*/ 523533 w 2080228"/>
              <a:gd name="connsiteY31" fmla="*/ -274 h 366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80228" h="3669940">
                <a:moveTo>
                  <a:pt x="523533" y="-274"/>
                </a:moveTo>
                <a:lnTo>
                  <a:pt x="630023" y="-274"/>
                </a:lnTo>
                <a:cubicBezTo>
                  <a:pt x="630023" y="271718"/>
                  <a:pt x="631220" y="543560"/>
                  <a:pt x="627776" y="815551"/>
                </a:cubicBezTo>
                <a:cubicBezTo>
                  <a:pt x="627776" y="875461"/>
                  <a:pt x="648894" y="885347"/>
                  <a:pt x="701465" y="884148"/>
                </a:cubicBezTo>
                <a:cubicBezTo>
                  <a:pt x="833566" y="880853"/>
                  <a:pt x="965818" y="883100"/>
                  <a:pt x="1097920" y="883100"/>
                </a:cubicBezTo>
                <a:cubicBezTo>
                  <a:pt x="1123532" y="883100"/>
                  <a:pt x="1152887" y="879655"/>
                  <a:pt x="1134015" y="921442"/>
                </a:cubicBezTo>
                <a:cubicBezTo>
                  <a:pt x="1076202" y="1050399"/>
                  <a:pt x="1086088" y="1178307"/>
                  <a:pt x="1143901" y="1304567"/>
                </a:cubicBezTo>
                <a:cubicBezTo>
                  <a:pt x="1116192" y="1325835"/>
                  <a:pt x="1088184" y="1316549"/>
                  <a:pt x="1062723" y="1316699"/>
                </a:cubicBezTo>
                <a:cubicBezTo>
                  <a:pt x="765869" y="1316699"/>
                  <a:pt x="469014" y="1318346"/>
                  <a:pt x="172310" y="1316699"/>
                </a:cubicBezTo>
                <a:cubicBezTo>
                  <a:pt x="121236" y="1316699"/>
                  <a:pt x="104013" y="1329579"/>
                  <a:pt x="104163" y="1383049"/>
                </a:cubicBezTo>
                <a:cubicBezTo>
                  <a:pt x="105765" y="2113952"/>
                  <a:pt x="105765" y="2844899"/>
                  <a:pt x="104163" y="3575906"/>
                </a:cubicBezTo>
                <a:cubicBezTo>
                  <a:pt x="104163" y="3624433"/>
                  <a:pt x="119140" y="3639411"/>
                  <a:pt x="167367" y="3639411"/>
                </a:cubicBezTo>
                <a:cubicBezTo>
                  <a:pt x="763472" y="3637913"/>
                  <a:pt x="1359532" y="3637913"/>
                  <a:pt x="1955532" y="3639411"/>
                </a:cubicBezTo>
                <a:cubicBezTo>
                  <a:pt x="2008852" y="3639411"/>
                  <a:pt x="2022182" y="3622786"/>
                  <a:pt x="2022032" y="3571413"/>
                </a:cubicBezTo>
                <a:cubicBezTo>
                  <a:pt x="2020384" y="3042557"/>
                  <a:pt x="2020984" y="2513702"/>
                  <a:pt x="2020984" y="1984845"/>
                </a:cubicBezTo>
                <a:cubicBezTo>
                  <a:pt x="2020984" y="1957437"/>
                  <a:pt x="2021882" y="1931076"/>
                  <a:pt x="2001812" y="1907412"/>
                </a:cubicBezTo>
                <a:cubicBezTo>
                  <a:pt x="1984289" y="1886743"/>
                  <a:pt x="1991478" y="1864726"/>
                  <a:pt x="2012446" y="1849299"/>
                </a:cubicBezTo>
                <a:cubicBezTo>
                  <a:pt x="2026735" y="1837901"/>
                  <a:pt x="2047119" y="1838276"/>
                  <a:pt x="2060973" y="1850198"/>
                </a:cubicBezTo>
                <a:cubicBezTo>
                  <a:pt x="2081343" y="1866523"/>
                  <a:pt x="2087184" y="1888540"/>
                  <a:pt x="2069361" y="1909059"/>
                </a:cubicBezTo>
                <a:cubicBezTo>
                  <a:pt x="2042551" y="1939014"/>
                  <a:pt x="2051388" y="1975260"/>
                  <a:pt x="2051239" y="2009109"/>
                </a:cubicBezTo>
                <a:cubicBezTo>
                  <a:pt x="2051239" y="2535419"/>
                  <a:pt x="2049590" y="3061878"/>
                  <a:pt x="2052586" y="3588188"/>
                </a:cubicBezTo>
                <a:cubicBezTo>
                  <a:pt x="2052586" y="3656185"/>
                  <a:pt x="2032666" y="3669815"/>
                  <a:pt x="1968712" y="3669666"/>
                </a:cubicBezTo>
                <a:cubicBezTo>
                  <a:pt x="1365118" y="3667269"/>
                  <a:pt x="761569" y="3667269"/>
                  <a:pt x="158081" y="3669666"/>
                </a:cubicBezTo>
                <a:cubicBezTo>
                  <a:pt x="85740" y="3669666"/>
                  <a:pt x="73758" y="3645701"/>
                  <a:pt x="73908" y="3581148"/>
                </a:cubicBezTo>
                <a:cubicBezTo>
                  <a:pt x="76005" y="2852238"/>
                  <a:pt x="76409" y="2123792"/>
                  <a:pt x="75106" y="1395780"/>
                </a:cubicBezTo>
                <a:cubicBezTo>
                  <a:pt x="75106" y="1358186"/>
                  <a:pt x="88585" y="1311906"/>
                  <a:pt x="22085" y="1314902"/>
                </a:cubicBezTo>
                <a:cubicBezTo>
                  <a:pt x="-2178" y="1315950"/>
                  <a:pt x="817" y="1291237"/>
                  <a:pt x="817" y="1274762"/>
                </a:cubicBezTo>
                <a:cubicBezTo>
                  <a:pt x="817" y="1160034"/>
                  <a:pt x="1866" y="1045156"/>
                  <a:pt x="-231" y="930279"/>
                </a:cubicBezTo>
                <a:cubicBezTo>
                  <a:pt x="-980" y="887144"/>
                  <a:pt x="21037" y="882501"/>
                  <a:pt x="55486" y="882650"/>
                </a:cubicBezTo>
                <a:cubicBezTo>
                  <a:pt x="187586" y="883699"/>
                  <a:pt x="319838" y="880853"/>
                  <a:pt x="451940" y="884148"/>
                </a:cubicBezTo>
                <a:cubicBezTo>
                  <a:pt x="504511" y="885347"/>
                  <a:pt x="526827" y="875162"/>
                  <a:pt x="525629" y="815551"/>
                </a:cubicBezTo>
                <a:cubicBezTo>
                  <a:pt x="522334" y="543560"/>
                  <a:pt x="523832" y="271718"/>
                  <a:pt x="523533" y="-274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558F4D-C38F-A5B5-FB45-96557667365F}"/>
              </a:ext>
            </a:extLst>
          </p:cNvPr>
          <p:cNvSpPr/>
          <p:nvPr/>
        </p:nvSpPr>
        <p:spPr>
          <a:xfrm>
            <a:off x="4952629" y="1303193"/>
            <a:ext cx="2287002" cy="4034011"/>
          </a:xfrm>
          <a:custGeom>
            <a:avLst/>
            <a:gdLst>
              <a:gd name="connsiteX0" fmla="*/ 537773 w 2080261"/>
              <a:gd name="connsiteY0" fmla="*/ -274 h 3669343"/>
              <a:gd name="connsiteX1" fmla="*/ 630034 w 2080261"/>
              <a:gd name="connsiteY1" fmla="*/ -274 h 3669343"/>
              <a:gd name="connsiteX2" fmla="*/ 627788 w 2080261"/>
              <a:gd name="connsiteY2" fmla="*/ 815551 h 3669343"/>
              <a:gd name="connsiteX3" fmla="*/ 695186 w 2080261"/>
              <a:gd name="connsiteY3" fmla="*/ 883849 h 3669343"/>
              <a:gd name="connsiteX4" fmla="*/ 1084602 w 2080261"/>
              <a:gd name="connsiteY4" fmla="*/ 882351 h 3669343"/>
              <a:gd name="connsiteX5" fmla="*/ 1127737 w 2080261"/>
              <a:gd name="connsiteY5" fmla="*/ 938667 h 3669343"/>
              <a:gd name="connsiteX6" fmla="*/ 1143763 w 2080261"/>
              <a:gd name="connsiteY6" fmla="*/ 1306814 h 3669343"/>
              <a:gd name="connsiteX7" fmla="*/ 1056893 w 2080261"/>
              <a:gd name="connsiteY7" fmla="*/ 1316699 h 3669343"/>
              <a:gd name="connsiteX8" fmla="*/ 181458 w 2080261"/>
              <a:gd name="connsiteY8" fmla="*/ 1315950 h 3669343"/>
              <a:gd name="connsiteX9" fmla="*/ 103874 w 2080261"/>
              <a:gd name="connsiteY9" fmla="*/ 1389490 h 3669343"/>
              <a:gd name="connsiteX10" fmla="*/ 103874 w 2080261"/>
              <a:gd name="connsiteY10" fmla="*/ 3567519 h 3669343"/>
              <a:gd name="connsiteX11" fmla="*/ 176065 w 2080261"/>
              <a:gd name="connsiteY11" fmla="*/ 3638812 h 3669343"/>
              <a:gd name="connsiteX12" fmla="*/ 1949403 w 2080261"/>
              <a:gd name="connsiteY12" fmla="*/ 3638812 h 3669343"/>
              <a:gd name="connsiteX13" fmla="*/ 2022193 w 2080261"/>
              <a:gd name="connsiteY13" fmla="*/ 3567968 h 3669343"/>
              <a:gd name="connsiteX14" fmla="*/ 2020846 w 2080261"/>
              <a:gd name="connsiteY14" fmla="*/ 1981251 h 3669343"/>
              <a:gd name="connsiteX15" fmla="*/ 2004071 w 2080261"/>
              <a:gd name="connsiteY15" fmla="*/ 1910557 h 3669343"/>
              <a:gd name="connsiteX16" fmla="*/ 2003771 w 2080261"/>
              <a:gd name="connsiteY16" fmla="*/ 1855695 h 3669343"/>
              <a:gd name="connsiteX17" fmla="*/ 2009912 w 2080261"/>
              <a:gd name="connsiteY17" fmla="*/ 1850647 h 3669343"/>
              <a:gd name="connsiteX18" fmla="*/ 2058888 w 2080261"/>
              <a:gd name="connsiteY18" fmla="*/ 1848700 h 3669343"/>
              <a:gd name="connsiteX19" fmla="*/ 2070571 w 2080261"/>
              <a:gd name="connsiteY19" fmla="*/ 1906813 h 3669343"/>
              <a:gd name="connsiteX20" fmla="*/ 2051699 w 2080261"/>
              <a:gd name="connsiteY20" fmla="*/ 2006863 h 3669343"/>
              <a:gd name="connsiteX21" fmla="*/ 2053047 w 2080261"/>
              <a:gd name="connsiteY21" fmla="*/ 3585941 h 3669343"/>
              <a:gd name="connsiteX22" fmla="*/ 1969323 w 2080261"/>
              <a:gd name="connsiteY22" fmla="*/ 3669066 h 3669343"/>
              <a:gd name="connsiteX23" fmla="*/ 158692 w 2080261"/>
              <a:gd name="connsiteY23" fmla="*/ 3669066 h 3669343"/>
              <a:gd name="connsiteX24" fmla="*/ 74668 w 2080261"/>
              <a:gd name="connsiteY24" fmla="*/ 3579201 h 3669343"/>
              <a:gd name="connsiteX25" fmla="*/ 74668 w 2080261"/>
              <a:gd name="connsiteY25" fmla="*/ 1408661 h 3669343"/>
              <a:gd name="connsiteX26" fmla="*/ 19401 w 2080261"/>
              <a:gd name="connsiteY26" fmla="*/ 1312805 h 3669343"/>
              <a:gd name="connsiteX27" fmla="*/ 829 w 2080261"/>
              <a:gd name="connsiteY27" fmla="*/ 1269969 h 3669343"/>
              <a:gd name="connsiteX28" fmla="*/ -219 w 2080261"/>
              <a:gd name="connsiteY28" fmla="*/ 933125 h 3669343"/>
              <a:gd name="connsiteX29" fmla="*/ 61188 w 2080261"/>
              <a:gd name="connsiteY29" fmla="*/ 882501 h 3669343"/>
              <a:gd name="connsiteX30" fmla="*/ 472621 w 2080261"/>
              <a:gd name="connsiteY30" fmla="*/ 883699 h 3669343"/>
              <a:gd name="connsiteX31" fmla="*/ 540169 w 2080261"/>
              <a:gd name="connsiteY31" fmla="*/ 815402 h 3669343"/>
              <a:gd name="connsiteX32" fmla="*/ 537773 w 2080261"/>
              <a:gd name="connsiteY32" fmla="*/ -274 h 366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80261" h="3669343">
                <a:moveTo>
                  <a:pt x="537773" y="-274"/>
                </a:moveTo>
                <a:lnTo>
                  <a:pt x="630034" y="-274"/>
                </a:lnTo>
                <a:cubicBezTo>
                  <a:pt x="630034" y="271718"/>
                  <a:pt x="630034" y="543560"/>
                  <a:pt x="627788" y="815551"/>
                </a:cubicBezTo>
                <a:cubicBezTo>
                  <a:pt x="627788" y="867224"/>
                  <a:pt x="642765" y="885197"/>
                  <a:pt x="695186" y="883849"/>
                </a:cubicBezTo>
                <a:cubicBezTo>
                  <a:pt x="824891" y="880704"/>
                  <a:pt x="954597" y="883849"/>
                  <a:pt x="1084602" y="882351"/>
                </a:cubicBezTo>
                <a:cubicBezTo>
                  <a:pt x="1128036" y="882351"/>
                  <a:pt x="1151551" y="884448"/>
                  <a:pt x="1127737" y="938667"/>
                </a:cubicBezTo>
                <a:cubicBezTo>
                  <a:pt x="1073368" y="1062531"/>
                  <a:pt x="1091641" y="1186844"/>
                  <a:pt x="1143763" y="1306814"/>
                </a:cubicBezTo>
                <a:cubicBezTo>
                  <a:pt x="1111411" y="1322690"/>
                  <a:pt x="1083853" y="1316699"/>
                  <a:pt x="1056893" y="1316699"/>
                </a:cubicBezTo>
                <a:cubicBezTo>
                  <a:pt x="765131" y="1316699"/>
                  <a:pt x="472770" y="1318197"/>
                  <a:pt x="181458" y="1315950"/>
                </a:cubicBezTo>
                <a:cubicBezTo>
                  <a:pt x="125741" y="1315950"/>
                  <a:pt x="103725" y="1327483"/>
                  <a:pt x="103874" y="1389490"/>
                </a:cubicBezTo>
                <a:cubicBezTo>
                  <a:pt x="105971" y="2115494"/>
                  <a:pt x="105971" y="2841514"/>
                  <a:pt x="103874" y="3567519"/>
                </a:cubicBezTo>
                <a:cubicBezTo>
                  <a:pt x="103874" y="3623835"/>
                  <a:pt x="120948" y="3638962"/>
                  <a:pt x="176065" y="3638812"/>
                </a:cubicBezTo>
                <a:cubicBezTo>
                  <a:pt x="767273" y="3637015"/>
                  <a:pt x="1358390" y="3637015"/>
                  <a:pt x="1949403" y="3638812"/>
                </a:cubicBezTo>
                <a:cubicBezTo>
                  <a:pt x="2003921" y="3638812"/>
                  <a:pt x="2022343" y="3625032"/>
                  <a:pt x="2022193" y="3567968"/>
                </a:cubicBezTo>
                <a:cubicBezTo>
                  <a:pt x="2020096" y="3039113"/>
                  <a:pt x="2020995" y="2510257"/>
                  <a:pt x="2020846" y="1981251"/>
                </a:cubicBezTo>
                <a:cubicBezTo>
                  <a:pt x="2020846" y="1956538"/>
                  <a:pt x="2022343" y="1931975"/>
                  <a:pt x="2004071" y="1910557"/>
                </a:cubicBezTo>
                <a:cubicBezTo>
                  <a:pt x="1988838" y="1895490"/>
                  <a:pt x="1988704" y="1870927"/>
                  <a:pt x="2003771" y="1855695"/>
                </a:cubicBezTo>
                <a:cubicBezTo>
                  <a:pt x="2005643" y="1853808"/>
                  <a:pt x="2007695" y="1852115"/>
                  <a:pt x="2009912" y="1850647"/>
                </a:cubicBezTo>
                <a:cubicBezTo>
                  <a:pt x="2023377" y="1837662"/>
                  <a:pt x="2044435" y="1836823"/>
                  <a:pt x="2058888" y="1848700"/>
                </a:cubicBezTo>
                <a:cubicBezTo>
                  <a:pt x="2080006" y="1863678"/>
                  <a:pt x="2087795" y="1886144"/>
                  <a:pt x="2070571" y="1906813"/>
                </a:cubicBezTo>
                <a:cubicBezTo>
                  <a:pt x="2045109" y="1937667"/>
                  <a:pt x="2051699" y="1972714"/>
                  <a:pt x="2051699" y="2006863"/>
                </a:cubicBezTo>
                <a:cubicBezTo>
                  <a:pt x="2051699" y="2533173"/>
                  <a:pt x="2050201" y="3059632"/>
                  <a:pt x="2053047" y="3585941"/>
                </a:cubicBezTo>
                <a:cubicBezTo>
                  <a:pt x="2053047" y="3652442"/>
                  <a:pt x="2034775" y="3669366"/>
                  <a:pt x="1969323" y="3669066"/>
                </a:cubicBezTo>
                <a:cubicBezTo>
                  <a:pt x="1365729" y="3666565"/>
                  <a:pt x="762180" y="3666565"/>
                  <a:pt x="158692" y="3669066"/>
                </a:cubicBezTo>
                <a:cubicBezTo>
                  <a:pt x="85003" y="3669066"/>
                  <a:pt x="74518" y="3642557"/>
                  <a:pt x="74668" y="3579201"/>
                </a:cubicBezTo>
                <a:cubicBezTo>
                  <a:pt x="76465" y="2855683"/>
                  <a:pt x="76465" y="2132180"/>
                  <a:pt x="74668" y="1408661"/>
                </a:cubicBezTo>
                <a:cubicBezTo>
                  <a:pt x="74668" y="1368222"/>
                  <a:pt x="94289" y="1314153"/>
                  <a:pt x="19401" y="1312805"/>
                </a:cubicBezTo>
                <a:cubicBezTo>
                  <a:pt x="-3515" y="1312805"/>
                  <a:pt x="978" y="1286295"/>
                  <a:pt x="829" y="1269969"/>
                </a:cubicBezTo>
                <a:cubicBezTo>
                  <a:pt x="829" y="1157638"/>
                  <a:pt x="2177" y="1045306"/>
                  <a:pt x="-219" y="933125"/>
                </a:cubicBezTo>
                <a:cubicBezTo>
                  <a:pt x="-1268" y="885197"/>
                  <a:pt x="24943" y="882202"/>
                  <a:pt x="61188" y="882501"/>
                </a:cubicBezTo>
                <a:cubicBezTo>
                  <a:pt x="198383" y="883250"/>
                  <a:pt x="335576" y="880554"/>
                  <a:pt x="472621" y="883699"/>
                </a:cubicBezTo>
                <a:cubicBezTo>
                  <a:pt x="525641" y="885047"/>
                  <a:pt x="540618" y="867074"/>
                  <a:pt x="540169" y="815402"/>
                </a:cubicBezTo>
                <a:cubicBezTo>
                  <a:pt x="537473" y="543560"/>
                  <a:pt x="538072" y="271718"/>
                  <a:pt x="537773" y="-274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F27ECA-0128-DEBF-E067-716569EDFDB9}"/>
              </a:ext>
            </a:extLst>
          </p:cNvPr>
          <p:cNvSpPr/>
          <p:nvPr/>
        </p:nvSpPr>
        <p:spPr>
          <a:xfrm>
            <a:off x="295974" y="1303524"/>
            <a:ext cx="2285431" cy="4034507"/>
          </a:xfrm>
          <a:custGeom>
            <a:avLst/>
            <a:gdLst>
              <a:gd name="connsiteX0" fmla="*/ 537236 w 2078832"/>
              <a:gd name="connsiteY0" fmla="*/ -274 h 3669795"/>
              <a:gd name="connsiteX1" fmla="*/ 630246 w 2078832"/>
              <a:gd name="connsiteY1" fmla="*/ -274 h 3669795"/>
              <a:gd name="connsiteX2" fmla="*/ 627700 w 2078832"/>
              <a:gd name="connsiteY2" fmla="*/ 815252 h 3669795"/>
              <a:gd name="connsiteX3" fmla="*/ 696447 w 2078832"/>
              <a:gd name="connsiteY3" fmla="*/ 883400 h 3669795"/>
              <a:gd name="connsiteX4" fmla="*/ 1085862 w 2078832"/>
              <a:gd name="connsiteY4" fmla="*/ 881902 h 3669795"/>
              <a:gd name="connsiteX5" fmla="*/ 1126750 w 2078832"/>
              <a:gd name="connsiteY5" fmla="*/ 940763 h 3669795"/>
              <a:gd name="connsiteX6" fmla="*/ 1125402 w 2078832"/>
              <a:gd name="connsiteY6" fmla="*/ 1254093 h 3669795"/>
              <a:gd name="connsiteX7" fmla="*/ 1075527 w 2078832"/>
              <a:gd name="connsiteY7" fmla="*/ 1317298 h 3669795"/>
              <a:gd name="connsiteX8" fmla="*/ 192753 w 2078832"/>
              <a:gd name="connsiteY8" fmla="*/ 1315351 h 3669795"/>
              <a:gd name="connsiteX9" fmla="*/ 103637 w 2078832"/>
              <a:gd name="connsiteY9" fmla="*/ 1401621 h 3669795"/>
              <a:gd name="connsiteX10" fmla="*/ 103637 w 2078832"/>
              <a:gd name="connsiteY10" fmla="*/ 3549246 h 3669795"/>
              <a:gd name="connsiteX11" fmla="*/ 189308 w 2078832"/>
              <a:gd name="connsiteY11" fmla="*/ 3639111 h 3669795"/>
              <a:gd name="connsiteX12" fmla="*/ 1939729 w 2078832"/>
              <a:gd name="connsiteY12" fmla="*/ 3639111 h 3669795"/>
              <a:gd name="connsiteX13" fmla="*/ 2022106 w 2078832"/>
              <a:gd name="connsiteY13" fmla="*/ 3553589 h 3669795"/>
              <a:gd name="connsiteX14" fmla="*/ 2020758 w 2078832"/>
              <a:gd name="connsiteY14" fmla="*/ 1997127 h 3669795"/>
              <a:gd name="connsiteX15" fmla="*/ 2000838 w 2078832"/>
              <a:gd name="connsiteY15" fmla="*/ 1904416 h 3669795"/>
              <a:gd name="connsiteX16" fmla="*/ 2006469 w 2078832"/>
              <a:gd name="connsiteY16" fmla="*/ 1853687 h 3669795"/>
              <a:gd name="connsiteX17" fmla="*/ 2009675 w 2078832"/>
              <a:gd name="connsiteY17" fmla="*/ 1851396 h 3669795"/>
              <a:gd name="connsiteX18" fmla="*/ 2058201 w 2078832"/>
              <a:gd name="connsiteY18" fmla="*/ 1849000 h 3669795"/>
              <a:gd name="connsiteX19" fmla="*/ 2068985 w 2078832"/>
              <a:gd name="connsiteY19" fmla="*/ 1907112 h 3669795"/>
              <a:gd name="connsiteX20" fmla="*/ 2050863 w 2078832"/>
              <a:gd name="connsiteY20" fmla="*/ 2007761 h 3669795"/>
              <a:gd name="connsiteX21" fmla="*/ 2052211 w 2078832"/>
              <a:gd name="connsiteY21" fmla="*/ 3571713 h 3669795"/>
              <a:gd name="connsiteX22" fmla="*/ 1959050 w 2078832"/>
              <a:gd name="connsiteY22" fmla="*/ 3669516 h 3669795"/>
              <a:gd name="connsiteX23" fmla="*/ 163697 w 2078832"/>
              <a:gd name="connsiteY23" fmla="*/ 3669516 h 3669795"/>
              <a:gd name="connsiteX24" fmla="*/ 73832 w 2078832"/>
              <a:gd name="connsiteY24" fmla="*/ 3576655 h 3669795"/>
              <a:gd name="connsiteX25" fmla="*/ 74730 w 2078832"/>
              <a:gd name="connsiteY25" fmla="*/ 1421541 h 3669795"/>
              <a:gd name="connsiteX26" fmla="*/ 16168 w 2078832"/>
              <a:gd name="connsiteY26" fmla="*/ 1310558 h 3669795"/>
              <a:gd name="connsiteX27" fmla="*/ 1191 w 2078832"/>
              <a:gd name="connsiteY27" fmla="*/ 1257987 h 3669795"/>
              <a:gd name="connsiteX28" fmla="*/ -157 w 2078832"/>
              <a:gd name="connsiteY28" fmla="*/ 951248 h 3669795"/>
              <a:gd name="connsiteX29" fmla="*/ 67840 w 2078832"/>
              <a:gd name="connsiteY29" fmla="*/ 882201 h 3669795"/>
              <a:gd name="connsiteX30" fmla="*/ 472233 w 2078832"/>
              <a:gd name="connsiteY30" fmla="*/ 883998 h 3669795"/>
              <a:gd name="connsiteX31" fmla="*/ 540980 w 2078832"/>
              <a:gd name="connsiteY31" fmla="*/ 815851 h 3669795"/>
              <a:gd name="connsiteX32" fmla="*/ 537236 w 2078832"/>
              <a:gd name="connsiteY32" fmla="*/ -274 h 366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8832" h="3669795">
                <a:moveTo>
                  <a:pt x="537236" y="-274"/>
                </a:moveTo>
                <a:lnTo>
                  <a:pt x="630246" y="-274"/>
                </a:lnTo>
                <a:cubicBezTo>
                  <a:pt x="630246" y="271568"/>
                  <a:pt x="630246" y="543410"/>
                  <a:pt x="627700" y="815252"/>
                </a:cubicBezTo>
                <a:cubicBezTo>
                  <a:pt x="627700" y="867673"/>
                  <a:pt x="644624" y="884598"/>
                  <a:pt x="696447" y="883400"/>
                </a:cubicBezTo>
                <a:cubicBezTo>
                  <a:pt x="826002" y="880554"/>
                  <a:pt x="955707" y="883400"/>
                  <a:pt x="1085862" y="881902"/>
                </a:cubicBezTo>
                <a:cubicBezTo>
                  <a:pt x="1134838" y="881003"/>
                  <a:pt x="1147419" y="891487"/>
                  <a:pt x="1126750" y="940763"/>
                </a:cubicBezTo>
                <a:cubicBezTo>
                  <a:pt x="1082672" y="1040454"/>
                  <a:pt x="1082177" y="1154028"/>
                  <a:pt x="1125402" y="1254093"/>
                </a:cubicBezTo>
                <a:cubicBezTo>
                  <a:pt x="1152512" y="1317148"/>
                  <a:pt x="1123605" y="1317447"/>
                  <a:pt x="1075527" y="1317298"/>
                </a:cubicBezTo>
                <a:cubicBezTo>
                  <a:pt x="781219" y="1316100"/>
                  <a:pt x="487061" y="1318496"/>
                  <a:pt x="192753" y="1315351"/>
                </a:cubicBezTo>
                <a:cubicBezTo>
                  <a:pt x="126552" y="1315351"/>
                  <a:pt x="102888" y="1330328"/>
                  <a:pt x="103637" y="1401621"/>
                </a:cubicBezTo>
                <a:cubicBezTo>
                  <a:pt x="106138" y="2117546"/>
                  <a:pt x="106138" y="2833426"/>
                  <a:pt x="103637" y="3549246"/>
                </a:cubicBezTo>
                <a:cubicBezTo>
                  <a:pt x="103637" y="3614398"/>
                  <a:pt x="117266" y="3639111"/>
                  <a:pt x="189308" y="3639111"/>
                </a:cubicBezTo>
                <a:cubicBezTo>
                  <a:pt x="772637" y="3636116"/>
                  <a:pt x="1356101" y="3636116"/>
                  <a:pt x="1939729" y="3639111"/>
                </a:cubicBezTo>
                <a:cubicBezTo>
                  <a:pt x="2007877" y="3639111"/>
                  <a:pt x="2022405" y="3617095"/>
                  <a:pt x="2022106" y="3553589"/>
                </a:cubicBezTo>
                <a:cubicBezTo>
                  <a:pt x="2019709" y="3034769"/>
                  <a:pt x="2020758" y="2515948"/>
                  <a:pt x="2020758" y="1997127"/>
                </a:cubicBezTo>
                <a:cubicBezTo>
                  <a:pt x="2020758" y="1964925"/>
                  <a:pt x="2023154" y="1932874"/>
                  <a:pt x="2000838" y="1904416"/>
                </a:cubicBezTo>
                <a:cubicBezTo>
                  <a:pt x="1988392" y="1888854"/>
                  <a:pt x="1990908" y="1866134"/>
                  <a:pt x="2006469" y="1853687"/>
                </a:cubicBezTo>
                <a:cubicBezTo>
                  <a:pt x="2007503" y="1852864"/>
                  <a:pt x="2008566" y="1852100"/>
                  <a:pt x="2009675" y="1851396"/>
                </a:cubicBezTo>
                <a:cubicBezTo>
                  <a:pt x="2023139" y="1838964"/>
                  <a:pt x="2043569" y="1837961"/>
                  <a:pt x="2058201" y="1849000"/>
                </a:cubicBezTo>
                <a:cubicBezTo>
                  <a:pt x="2080218" y="1863977"/>
                  <a:pt x="2085311" y="1886144"/>
                  <a:pt x="2068985" y="1907112"/>
                </a:cubicBezTo>
                <a:cubicBezTo>
                  <a:pt x="2045021" y="1938265"/>
                  <a:pt x="2051013" y="1973463"/>
                  <a:pt x="2050863" y="2007761"/>
                </a:cubicBezTo>
                <a:cubicBezTo>
                  <a:pt x="2050863" y="2528978"/>
                  <a:pt x="2049365" y="3050345"/>
                  <a:pt x="2052211" y="3571713"/>
                </a:cubicBezTo>
                <a:cubicBezTo>
                  <a:pt x="2052211" y="3643454"/>
                  <a:pt x="2038880" y="3669965"/>
                  <a:pt x="1959050" y="3669516"/>
                </a:cubicBezTo>
                <a:cubicBezTo>
                  <a:pt x="1360549" y="3665817"/>
                  <a:pt x="762093" y="3665817"/>
                  <a:pt x="163697" y="3669516"/>
                </a:cubicBezTo>
                <a:cubicBezTo>
                  <a:pt x="89558" y="3669516"/>
                  <a:pt x="73832" y="3646900"/>
                  <a:pt x="73832" y="3576655"/>
                </a:cubicBezTo>
                <a:cubicBezTo>
                  <a:pt x="76228" y="2857735"/>
                  <a:pt x="76527" y="2139369"/>
                  <a:pt x="74730" y="1421541"/>
                </a:cubicBezTo>
                <a:cubicBezTo>
                  <a:pt x="74730" y="1376609"/>
                  <a:pt x="97945" y="1317597"/>
                  <a:pt x="16168" y="1310558"/>
                </a:cubicBezTo>
                <a:cubicBezTo>
                  <a:pt x="-5100" y="1308761"/>
                  <a:pt x="1191" y="1276859"/>
                  <a:pt x="1191" y="1257987"/>
                </a:cubicBezTo>
                <a:cubicBezTo>
                  <a:pt x="1191" y="1155691"/>
                  <a:pt x="2988" y="1053394"/>
                  <a:pt x="-157" y="951248"/>
                </a:cubicBezTo>
                <a:cubicBezTo>
                  <a:pt x="-1655" y="899575"/>
                  <a:pt x="14820" y="881153"/>
                  <a:pt x="67840" y="882201"/>
                </a:cubicBezTo>
                <a:cubicBezTo>
                  <a:pt x="202638" y="885197"/>
                  <a:pt x="337436" y="881302"/>
                  <a:pt x="472233" y="883998"/>
                </a:cubicBezTo>
                <a:cubicBezTo>
                  <a:pt x="524055" y="885197"/>
                  <a:pt x="541429" y="868272"/>
                  <a:pt x="540980" y="815851"/>
                </a:cubicBezTo>
                <a:cubicBezTo>
                  <a:pt x="537236" y="543410"/>
                  <a:pt x="537835" y="271568"/>
                  <a:pt x="537236" y="-27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1" name="Freeform: Shape 11">
            <a:extLst>
              <a:ext uri="{FF2B5EF4-FFF2-40B4-BE49-F238E27FC236}">
                <a16:creationId xmlns:a16="http://schemas.microsoft.com/office/drawing/2014/main" id="{FF1FC78C-BC4D-D5EC-70BB-3F181647A17A}"/>
              </a:ext>
            </a:extLst>
          </p:cNvPr>
          <p:cNvSpPr/>
          <p:nvPr/>
        </p:nvSpPr>
        <p:spPr>
          <a:xfrm>
            <a:off x="5132620" y="3029319"/>
            <a:ext cx="1961116" cy="2176318"/>
          </a:xfrm>
          <a:custGeom>
            <a:avLst/>
            <a:gdLst>
              <a:gd name="connsiteX0" fmla="*/ 1111 w 1783834"/>
              <a:gd name="connsiteY0" fmla="*/ 991243 h 1979583"/>
              <a:gd name="connsiteX1" fmla="*/ -86 w 1783834"/>
              <a:gd name="connsiteY1" fmla="*/ 85853 h 1979583"/>
              <a:gd name="connsiteX2" fmla="*/ 80343 w 1783834"/>
              <a:gd name="connsiteY2" fmla="*/ -268 h 1979583"/>
              <a:gd name="connsiteX3" fmla="*/ 1449287 w 1783834"/>
              <a:gd name="connsiteY3" fmla="*/ 1829 h 1979583"/>
              <a:gd name="connsiteX4" fmla="*/ 1781788 w 1783834"/>
              <a:gd name="connsiteY4" fmla="*/ 333281 h 1979583"/>
              <a:gd name="connsiteX5" fmla="*/ 1783585 w 1783834"/>
              <a:gd name="connsiteY5" fmla="*/ 1904422 h 1979583"/>
              <a:gd name="connsiteX6" fmla="*/ 1706750 w 1783834"/>
              <a:gd name="connsiteY6" fmla="*/ 1979310 h 1979583"/>
              <a:gd name="connsiteX7" fmla="*/ 76149 w 1783834"/>
              <a:gd name="connsiteY7" fmla="*/ 1979310 h 1979583"/>
              <a:gd name="connsiteX8" fmla="*/ -236 w 1783834"/>
              <a:gd name="connsiteY8" fmla="*/ 1904422 h 1979583"/>
              <a:gd name="connsiteX9" fmla="*/ 1111 w 1783834"/>
              <a:gd name="connsiteY9" fmla="*/ 991243 h 1979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83834" h="1979583">
                <a:moveTo>
                  <a:pt x="1111" y="991243"/>
                </a:moveTo>
                <a:cubicBezTo>
                  <a:pt x="1111" y="689447"/>
                  <a:pt x="2610" y="387650"/>
                  <a:pt x="-86" y="85853"/>
                </a:cubicBezTo>
                <a:cubicBezTo>
                  <a:pt x="-86" y="24295"/>
                  <a:pt x="10248" y="-717"/>
                  <a:pt x="80343" y="-268"/>
                </a:cubicBezTo>
                <a:cubicBezTo>
                  <a:pt x="536707" y="3177"/>
                  <a:pt x="992922" y="930"/>
                  <a:pt x="1449287" y="1829"/>
                </a:cubicBezTo>
                <a:cubicBezTo>
                  <a:pt x="1654329" y="1829"/>
                  <a:pt x="1781488" y="128689"/>
                  <a:pt x="1781788" y="333281"/>
                </a:cubicBezTo>
                <a:cubicBezTo>
                  <a:pt x="1782836" y="857494"/>
                  <a:pt x="1781788" y="1380808"/>
                  <a:pt x="1783585" y="1904422"/>
                </a:cubicBezTo>
                <a:cubicBezTo>
                  <a:pt x="1783585" y="1965381"/>
                  <a:pt x="1763664" y="1979310"/>
                  <a:pt x="1706750" y="1979310"/>
                </a:cubicBezTo>
                <a:cubicBezTo>
                  <a:pt x="1163261" y="1977512"/>
                  <a:pt x="619728" y="1977512"/>
                  <a:pt x="76149" y="1979310"/>
                </a:cubicBezTo>
                <a:cubicBezTo>
                  <a:pt x="18336" y="1979310"/>
                  <a:pt x="-836" y="1964332"/>
                  <a:pt x="-236" y="1904422"/>
                </a:cubicBezTo>
                <a:cubicBezTo>
                  <a:pt x="2610" y="1599780"/>
                  <a:pt x="1111" y="1295437"/>
                  <a:pt x="1111" y="991243"/>
                </a:cubicBezTo>
                <a:close/>
              </a:path>
            </a:pathLst>
          </a:custGeom>
          <a:solidFill>
            <a:schemeClr val="accent3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2" name="Freeform: Shape 12">
            <a:extLst>
              <a:ext uri="{FF2B5EF4-FFF2-40B4-BE49-F238E27FC236}">
                <a16:creationId xmlns:a16="http://schemas.microsoft.com/office/drawing/2014/main" id="{2B029027-FABB-A0A0-21AD-B1E12F036915}"/>
              </a:ext>
            </a:extLst>
          </p:cNvPr>
          <p:cNvSpPr/>
          <p:nvPr/>
        </p:nvSpPr>
        <p:spPr>
          <a:xfrm>
            <a:off x="475884" y="3030477"/>
            <a:ext cx="1960606" cy="2175822"/>
          </a:xfrm>
          <a:custGeom>
            <a:avLst/>
            <a:gdLst>
              <a:gd name="connsiteX0" fmla="*/ 1098 w 1783371"/>
              <a:gd name="connsiteY0" fmla="*/ 981503 h 1979132"/>
              <a:gd name="connsiteX1" fmla="*/ -250 w 1783371"/>
              <a:gd name="connsiteY1" fmla="*/ 75813 h 1979132"/>
              <a:gd name="connsiteX2" fmla="*/ 76285 w 1783371"/>
              <a:gd name="connsiteY2" fmla="*/ -273 h 1979132"/>
              <a:gd name="connsiteX3" fmla="*/ 1453167 w 1783371"/>
              <a:gd name="connsiteY3" fmla="*/ 1375 h 1979132"/>
              <a:gd name="connsiteX4" fmla="*/ 1781624 w 1783371"/>
              <a:gd name="connsiteY4" fmla="*/ 329532 h 1979132"/>
              <a:gd name="connsiteX5" fmla="*/ 1783122 w 1783371"/>
              <a:gd name="connsiteY5" fmla="*/ 1902171 h 1979132"/>
              <a:gd name="connsiteX6" fmla="*/ 1708234 w 1783371"/>
              <a:gd name="connsiteY6" fmla="*/ 1978856 h 1979132"/>
              <a:gd name="connsiteX7" fmla="*/ 76884 w 1783371"/>
              <a:gd name="connsiteY7" fmla="*/ 1978856 h 1979132"/>
              <a:gd name="connsiteX8" fmla="*/ 349 w 1783371"/>
              <a:gd name="connsiteY8" fmla="*/ 1902919 h 1979132"/>
              <a:gd name="connsiteX9" fmla="*/ 1098 w 1783371"/>
              <a:gd name="connsiteY9" fmla="*/ 981503 h 197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83371" h="1979132">
                <a:moveTo>
                  <a:pt x="1098" y="981503"/>
                </a:moveTo>
                <a:cubicBezTo>
                  <a:pt x="1098" y="679556"/>
                  <a:pt x="2446" y="377760"/>
                  <a:pt x="-250" y="75813"/>
                </a:cubicBezTo>
                <a:cubicBezTo>
                  <a:pt x="-250" y="16652"/>
                  <a:pt x="17723" y="-422"/>
                  <a:pt x="76285" y="-273"/>
                </a:cubicBezTo>
                <a:cubicBezTo>
                  <a:pt x="535196" y="1824"/>
                  <a:pt x="994257" y="-273"/>
                  <a:pt x="1453167" y="1375"/>
                </a:cubicBezTo>
                <a:cubicBezTo>
                  <a:pt x="1653417" y="1375"/>
                  <a:pt x="1781325" y="129432"/>
                  <a:pt x="1781624" y="329532"/>
                </a:cubicBezTo>
                <a:cubicBezTo>
                  <a:pt x="1782823" y="853745"/>
                  <a:pt x="1781624" y="1377958"/>
                  <a:pt x="1783122" y="1902171"/>
                </a:cubicBezTo>
                <a:cubicBezTo>
                  <a:pt x="1783122" y="1959984"/>
                  <a:pt x="1768144" y="1979155"/>
                  <a:pt x="1708234" y="1978856"/>
                </a:cubicBezTo>
                <a:cubicBezTo>
                  <a:pt x="1164446" y="1976953"/>
                  <a:pt x="620672" y="1976953"/>
                  <a:pt x="76884" y="1978856"/>
                </a:cubicBezTo>
                <a:cubicBezTo>
                  <a:pt x="18322" y="1978856"/>
                  <a:pt x="-100" y="1962080"/>
                  <a:pt x="349" y="1902919"/>
                </a:cubicBezTo>
                <a:cubicBezTo>
                  <a:pt x="2446" y="1595581"/>
                  <a:pt x="1098" y="1287943"/>
                  <a:pt x="1098" y="981503"/>
                </a:cubicBezTo>
                <a:close/>
              </a:path>
            </a:pathLst>
          </a:custGeom>
          <a:solidFill>
            <a:schemeClr val="accent1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3" name="Freeform: Shape 13">
            <a:extLst>
              <a:ext uri="{FF2B5EF4-FFF2-40B4-BE49-F238E27FC236}">
                <a16:creationId xmlns:a16="http://schemas.microsoft.com/office/drawing/2014/main" id="{6983F103-D12A-FE4F-8C6F-C3C464D60CE7}"/>
              </a:ext>
            </a:extLst>
          </p:cNvPr>
          <p:cNvSpPr/>
          <p:nvPr/>
        </p:nvSpPr>
        <p:spPr>
          <a:xfrm>
            <a:off x="2812574" y="4461698"/>
            <a:ext cx="1943976" cy="2175327"/>
          </a:xfrm>
          <a:custGeom>
            <a:avLst/>
            <a:gdLst>
              <a:gd name="connsiteX0" fmla="*/ 949 w 1768244"/>
              <a:gd name="connsiteY0" fmla="*/ 985100 h 1978682"/>
              <a:gd name="connsiteX1" fmla="*/ -250 w 1768244"/>
              <a:gd name="connsiteY1" fmla="*/ 72221 h 1978682"/>
              <a:gd name="connsiteX2" fmla="*/ 69096 w 1768244"/>
              <a:gd name="connsiteY2" fmla="*/ -270 h 1978682"/>
              <a:gd name="connsiteX3" fmla="*/ 1445529 w 1768244"/>
              <a:gd name="connsiteY3" fmla="*/ 1677 h 1978682"/>
              <a:gd name="connsiteX4" fmla="*/ 1766498 w 1768244"/>
              <a:gd name="connsiteY4" fmla="*/ 319949 h 1978682"/>
              <a:gd name="connsiteX5" fmla="*/ 1767995 w 1768244"/>
              <a:gd name="connsiteY5" fmla="*/ 1913855 h 1978682"/>
              <a:gd name="connsiteX6" fmla="*/ 1706438 w 1768244"/>
              <a:gd name="connsiteY6" fmla="*/ 1978408 h 1978682"/>
              <a:gd name="connsiteX7" fmla="*/ 60709 w 1768244"/>
              <a:gd name="connsiteY7" fmla="*/ 1978408 h 1978682"/>
              <a:gd name="connsiteX8" fmla="*/ 799 w 1768244"/>
              <a:gd name="connsiteY8" fmla="*/ 1912807 h 1978682"/>
              <a:gd name="connsiteX9" fmla="*/ 949 w 1768244"/>
              <a:gd name="connsiteY9" fmla="*/ 985100 h 1978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8244" h="1978682">
                <a:moveTo>
                  <a:pt x="949" y="985100"/>
                </a:moveTo>
                <a:cubicBezTo>
                  <a:pt x="949" y="680758"/>
                  <a:pt x="2147" y="376564"/>
                  <a:pt x="-250" y="72221"/>
                </a:cubicBezTo>
                <a:cubicBezTo>
                  <a:pt x="-250" y="18452"/>
                  <a:pt x="10834" y="-569"/>
                  <a:pt x="69096" y="-270"/>
                </a:cubicBezTo>
                <a:cubicBezTo>
                  <a:pt x="527857" y="2276"/>
                  <a:pt x="986768" y="-270"/>
                  <a:pt x="1445529" y="1677"/>
                </a:cubicBezTo>
                <a:cubicBezTo>
                  <a:pt x="1637990" y="1677"/>
                  <a:pt x="1766048" y="128687"/>
                  <a:pt x="1766498" y="319949"/>
                </a:cubicBezTo>
                <a:cubicBezTo>
                  <a:pt x="1767995" y="851201"/>
                  <a:pt x="1766498" y="1382454"/>
                  <a:pt x="1767995" y="1913855"/>
                </a:cubicBezTo>
                <a:cubicBezTo>
                  <a:pt x="1767995" y="1960585"/>
                  <a:pt x="1757510" y="1978558"/>
                  <a:pt x="1706438" y="1978408"/>
                </a:cubicBezTo>
                <a:cubicBezTo>
                  <a:pt x="1157961" y="1976806"/>
                  <a:pt x="609380" y="1976806"/>
                  <a:pt x="60709" y="1978408"/>
                </a:cubicBezTo>
                <a:cubicBezTo>
                  <a:pt x="8587" y="1978408"/>
                  <a:pt x="-100" y="1958489"/>
                  <a:pt x="799" y="1912807"/>
                </a:cubicBezTo>
                <a:cubicBezTo>
                  <a:pt x="1697" y="1603672"/>
                  <a:pt x="949" y="1294386"/>
                  <a:pt x="949" y="985100"/>
                </a:cubicBezTo>
                <a:close/>
              </a:path>
            </a:pathLst>
          </a:custGeom>
          <a:solidFill>
            <a:schemeClr val="accent2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4" name="Freeform: Shape 14">
            <a:extLst>
              <a:ext uri="{FF2B5EF4-FFF2-40B4-BE49-F238E27FC236}">
                <a16:creationId xmlns:a16="http://schemas.microsoft.com/office/drawing/2014/main" id="{FC313127-A689-6BF8-6FE7-3CBFB812978E}"/>
              </a:ext>
            </a:extLst>
          </p:cNvPr>
          <p:cNvSpPr/>
          <p:nvPr/>
        </p:nvSpPr>
        <p:spPr>
          <a:xfrm>
            <a:off x="9789716" y="3029814"/>
            <a:ext cx="1960278" cy="2175164"/>
          </a:xfrm>
          <a:custGeom>
            <a:avLst/>
            <a:gdLst>
              <a:gd name="connsiteX0" fmla="*/ 798 w 1783072"/>
              <a:gd name="connsiteY0" fmla="*/ 985100 h 1978533"/>
              <a:gd name="connsiteX1" fmla="*/ -250 w 1783072"/>
              <a:gd name="connsiteY1" fmla="*/ 72520 h 1978533"/>
              <a:gd name="connsiteX2" fmla="*/ 68946 w 1783072"/>
              <a:gd name="connsiteY2" fmla="*/ -270 h 1978533"/>
              <a:gd name="connsiteX3" fmla="*/ 1459758 w 1783072"/>
              <a:gd name="connsiteY3" fmla="*/ 1527 h 1978533"/>
              <a:gd name="connsiteX4" fmla="*/ 1781324 w 1783072"/>
              <a:gd name="connsiteY4" fmla="*/ 320698 h 1978533"/>
              <a:gd name="connsiteX5" fmla="*/ 1782823 w 1783072"/>
              <a:gd name="connsiteY5" fmla="*/ 1913706 h 1978533"/>
              <a:gd name="connsiteX6" fmla="*/ 1720815 w 1783072"/>
              <a:gd name="connsiteY6" fmla="*/ 1978259 h 1978533"/>
              <a:gd name="connsiteX7" fmla="*/ 60858 w 1783072"/>
              <a:gd name="connsiteY7" fmla="*/ 1978259 h 1978533"/>
              <a:gd name="connsiteX8" fmla="*/ 49 w 1783072"/>
              <a:gd name="connsiteY8" fmla="*/ 1912507 h 1978533"/>
              <a:gd name="connsiteX9" fmla="*/ 798 w 1783072"/>
              <a:gd name="connsiteY9" fmla="*/ 985100 h 1978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83072" h="1978533">
                <a:moveTo>
                  <a:pt x="798" y="985100"/>
                </a:moveTo>
                <a:cubicBezTo>
                  <a:pt x="798" y="680907"/>
                  <a:pt x="1996" y="376713"/>
                  <a:pt x="-250" y="72520"/>
                </a:cubicBezTo>
                <a:cubicBezTo>
                  <a:pt x="-250" y="19200"/>
                  <a:pt x="10534" y="-570"/>
                  <a:pt x="68946" y="-270"/>
                </a:cubicBezTo>
                <a:cubicBezTo>
                  <a:pt x="533249" y="2126"/>
                  <a:pt x="996203" y="-270"/>
                  <a:pt x="1459758" y="1527"/>
                </a:cubicBezTo>
                <a:cubicBezTo>
                  <a:pt x="1650871" y="1527"/>
                  <a:pt x="1780725" y="130633"/>
                  <a:pt x="1781324" y="320698"/>
                </a:cubicBezTo>
                <a:cubicBezTo>
                  <a:pt x="1782972" y="851651"/>
                  <a:pt x="1781324" y="1382753"/>
                  <a:pt x="1782823" y="1913706"/>
                </a:cubicBezTo>
                <a:cubicBezTo>
                  <a:pt x="1782823" y="1961034"/>
                  <a:pt x="1771140" y="1978409"/>
                  <a:pt x="1720815" y="1978259"/>
                </a:cubicBezTo>
                <a:cubicBezTo>
                  <a:pt x="1167352" y="1976656"/>
                  <a:pt x="614023" y="1976656"/>
                  <a:pt x="60858" y="1978259"/>
                </a:cubicBezTo>
                <a:cubicBezTo>
                  <a:pt x="8587" y="1978259"/>
                  <a:pt x="-101" y="1958189"/>
                  <a:pt x="49" y="1912507"/>
                </a:cubicBezTo>
                <a:cubicBezTo>
                  <a:pt x="1548" y="1603372"/>
                  <a:pt x="798" y="1294236"/>
                  <a:pt x="798" y="985100"/>
                </a:cubicBezTo>
                <a:close/>
              </a:path>
            </a:pathLst>
          </a:custGeom>
          <a:solidFill>
            <a:schemeClr val="accent5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5" name="Freeform: Shape 15">
            <a:extLst>
              <a:ext uri="{FF2B5EF4-FFF2-40B4-BE49-F238E27FC236}">
                <a16:creationId xmlns:a16="http://schemas.microsoft.com/office/drawing/2014/main" id="{63D434F0-BD6D-0EE6-6BA3-BB1C51EB1957}"/>
              </a:ext>
            </a:extLst>
          </p:cNvPr>
          <p:cNvSpPr/>
          <p:nvPr/>
        </p:nvSpPr>
        <p:spPr>
          <a:xfrm>
            <a:off x="10877498" y="2109887"/>
            <a:ext cx="805505" cy="805494"/>
          </a:xfrm>
          <a:custGeom>
            <a:avLst/>
            <a:gdLst>
              <a:gd name="connsiteX0" fmla="*/ 361872 w 732689"/>
              <a:gd name="connsiteY0" fmla="*/ 732406 h 732679"/>
              <a:gd name="connsiteX1" fmla="*/ -225 w 732689"/>
              <a:gd name="connsiteY1" fmla="*/ 361862 h 732679"/>
              <a:gd name="connsiteX2" fmla="*/ 370319 w 732689"/>
              <a:gd name="connsiteY2" fmla="*/ -249 h 732679"/>
              <a:gd name="connsiteX3" fmla="*/ 732415 w 732689"/>
              <a:gd name="connsiteY3" fmla="*/ 370310 h 732679"/>
              <a:gd name="connsiteX4" fmla="*/ 732415 w 732689"/>
              <a:gd name="connsiteY4" fmla="*/ 370699 h 732679"/>
              <a:gd name="connsiteX5" fmla="*/ 361872 w 732689"/>
              <a:gd name="connsiteY5" fmla="*/ 732406 h 732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2689" h="732679">
                <a:moveTo>
                  <a:pt x="361872" y="732406"/>
                </a:moveTo>
                <a:cubicBezTo>
                  <a:pt x="159556" y="730069"/>
                  <a:pt x="-2561" y="564179"/>
                  <a:pt x="-225" y="361862"/>
                </a:cubicBezTo>
                <a:cubicBezTo>
                  <a:pt x="2097" y="159546"/>
                  <a:pt x="168003" y="-2570"/>
                  <a:pt x="370319" y="-249"/>
                </a:cubicBezTo>
                <a:cubicBezTo>
                  <a:pt x="572635" y="2088"/>
                  <a:pt x="734752" y="167993"/>
                  <a:pt x="732415" y="370310"/>
                </a:cubicBezTo>
                <a:cubicBezTo>
                  <a:pt x="732415" y="370429"/>
                  <a:pt x="732415" y="370564"/>
                  <a:pt x="732415" y="370699"/>
                </a:cubicBezTo>
                <a:cubicBezTo>
                  <a:pt x="727697" y="571922"/>
                  <a:pt x="563154" y="732541"/>
                  <a:pt x="361872" y="732406"/>
                </a:cubicBezTo>
                <a:close/>
              </a:path>
            </a:pathLst>
          </a:custGeom>
          <a:solidFill>
            <a:schemeClr val="accent5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6" name="Freeform: Shape 16">
            <a:extLst>
              <a:ext uri="{FF2B5EF4-FFF2-40B4-BE49-F238E27FC236}">
                <a16:creationId xmlns:a16="http://schemas.microsoft.com/office/drawing/2014/main" id="{E42D770E-873A-D933-0090-4C6EF3E56CDD}"/>
              </a:ext>
            </a:extLst>
          </p:cNvPr>
          <p:cNvSpPr/>
          <p:nvPr/>
        </p:nvSpPr>
        <p:spPr>
          <a:xfrm>
            <a:off x="8540768" y="3541912"/>
            <a:ext cx="805517" cy="805517"/>
          </a:xfrm>
          <a:custGeom>
            <a:avLst/>
            <a:gdLst>
              <a:gd name="connsiteX0" fmla="*/ 366250 w 732699"/>
              <a:gd name="connsiteY0" fmla="*/ 732426 h 732699"/>
              <a:gd name="connsiteX1" fmla="*/ -250 w 732699"/>
              <a:gd name="connsiteY1" fmla="*/ 366226 h 732699"/>
              <a:gd name="connsiteX2" fmla="*/ 365951 w 732699"/>
              <a:gd name="connsiteY2" fmla="*/ -273 h 732699"/>
              <a:gd name="connsiteX3" fmla="*/ 732450 w 732699"/>
              <a:gd name="connsiteY3" fmla="*/ 365926 h 732699"/>
              <a:gd name="connsiteX4" fmla="*/ 732450 w 732699"/>
              <a:gd name="connsiteY4" fmla="*/ 366526 h 732699"/>
              <a:gd name="connsiteX5" fmla="*/ 366250 w 732699"/>
              <a:gd name="connsiteY5" fmla="*/ 732426 h 73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2699" h="732699">
                <a:moveTo>
                  <a:pt x="366250" y="732426"/>
                </a:moveTo>
                <a:cubicBezTo>
                  <a:pt x="163919" y="732516"/>
                  <a:pt x="-160" y="568557"/>
                  <a:pt x="-250" y="366226"/>
                </a:cubicBezTo>
                <a:cubicBezTo>
                  <a:pt x="-325" y="163895"/>
                  <a:pt x="163619" y="-184"/>
                  <a:pt x="365951" y="-273"/>
                </a:cubicBezTo>
                <a:cubicBezTo>
                  <a:pt x="568281" y="-364"/>
                  <a:pt x="732375" y="163595"/>
                  <a:pt x="732450" y="365926"/>
                </a:cubicBezTo>
                <a:cubicBezTo>
                  <a:pt x="732450" y="366121"/>
                  <a:pt x="732450" y="366331"/>
                  <a:pt x="732450" y="366526"/>
                </a:cubicBezTo>
                <a:cubicBezTo>
                  <a:pt x="730099" y="567748"/>
                  <a:pt x="567473" y="730239"/>
                  <a:pt x="366250" y="732426"/>
                </a:cubicBezTo>
                <a:close/>
              </a:path>
            </a:pathLst>
          </a:custGeom>
          <a:solidFill>
            <a:schemeClr val="accent6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7" name="Freeform: Shape 17">
            <a:extLst>
              <a:ext uri="{FF2B5EF4-FFF2-40B4-BE49-F238E27FC236}">
                <a16:creationId xmlns:a16="http://schemas.microsoft.com/office/drawing/2014/main" id="{59605C35-6ED6-4DC7-1566-07FD85EDF1D3}"/>
              </a:ext>
            </a:extLst>
          </p:cNvPr>
          <p:cNvSpPr/>
          <p:nvPr/>
        </p:nvSpPr>
        <p:spPr>
          <a:xfrm>
            <a:off x="6220570" y="2109890"/>
            <a:ext cx="805515" cy="805491"/>
          </a:xfrm>
          <a:custGeom>
            <a:avLst/>
            <a:gdLst>
              <a:gd name="connsiteX0" fmla="*/ 362182 w 732697"/>
              <a:gd name="connsiteY0" fmla="*/ 732403 h 732676"/>
              <a:gd name="connsiteX1" fmla="*/ -228 w 732697"/>
              <a:gd name="connsiteY1" fmla="*/ 362159 h 732676"/>
              <a:gd name="connsiteX2" fmla="*/ 370031 w 732697"/>
              <a:gd name="connsiteY2" fmla="*/ -252 h 732676"/>
              <a:gd name="connsiteX3" fmla="*/ 732426 w 732697"/>
              <a:gd name="connsiteY3" fmla="*/ 369992 h 732676"/>
              <a:gd name="connsiteX4" fmla="*/ 732426 w 732697"/>
              <a:gd name="connsiteY4" fmla="*/ 370546 h 732676"/>
              <a:gd name="connsiteX5" fmla="*/ 362182 w 732697"/>
              <a:gd name="connsiteY5" fmla="*/ 732403 h 73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2697" h="732676">
                <a:moveTo>
                  <a:pt x="362182" y="732403"/>
                </a:moveTo>
                <a:cubicBezTo>
                  <a:pt x="159866" y="730231"/>
                  <a:pt x="-2385" y="564475"/>
                  <a:pt x="-228" y="362159"/>
                </a:cubicBezTo>
                <a:cubicBezTo>
                  <a:pt x="1944" y="159827"/>
                  <a:pt x="167699" y="-2424"/>
                  <a:pt x="370031" y="-252"/>
                </a:cubicBezTo>
                <a:cubicBezTo>
                  <a:pt x="572347" y="1905"/>
                  <a:pt x="734598" y="167676"/>
                  <a:pt x="732426" y="369992"/>
                </a:cubicBezTo>
                <a:cubicBezTo>
                  <a:pt x="732426" y="370172"/>
                  <a:pt x="732426" y="370366"/>
                  <a:pt x="732426" y="370546"/>
                </a:cubicBezTo>
                <a:cubicBezTo>
                  <a:pt x="727783" y="571709"/>
                  <a:pt x="563405" y="732373"/>
                  <a:pt x="362182" y="732403"/>
                </a:cubicBezTo>
                <a:close/>
              </a:path>
            </a:pathLst>
          </a:custGeom>
          <a:solidFill>
            <a:schemeClr val="accent3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8" name="Freeform: Shape 18">
            <a:extLst>
              <a:ext uri="{FF2B5EF4-FFF2-40B4-BE49-F238E27FC236}">
                <a16:creationId xmlns:a16="http://schemas.microsoft.com/office/drawing/2014/main" id="{E9B9C0D0-8F3A-7F16-5DB5-6E2F3BB57FEF}"/>
              </a:ext>
            </a:extLst>
          </p:cNvPr>
          <p:cNvSpPr/>
          <p:nvPr/>
        </p:nvSpPr>
        <p:spPr>
          <a:xfrm>
            <a:off x="1563301" y="2109716"/>
            <a:ext cx="805844" cy="805843"/>
          </a:xfrm>
          <a:custGeom>
            <a:avLst/>
            <a:gdLst>
              <a:gd name="connsiteX0" fmla="*/ 369394 w 732997"/>
              <a:gd name="connsiteY0" fmla="*/ 732709 h 732996"/>
              <a:gd name="connsiteX1" fmla="*/ -236 w 732997"/>
              <a:gd name="connsiteY1" fmla="*/ 369355 h 732996"/>
              <a:gd name="connsiteX2" fmla="*/ 363118 w 732997"/>
              <a:gd name="connsiteY2" fmla="*/ -260 h 732996"/>
              <a:gd name="connsiteX3" fmla="*/ 732748 w 732997"/>
              <a:gd name="connsiteY3" fmla="*/ 363094 h 732996"/>
              <a:gd name="connsiteX4" fmla="*/ 732748 w 732997"/>
              <a:gd name="connsiteY4" fmla="*/ 363663 h 732996"/>
              <a:gd name="connsiteX5" fmla="*/ 369394 w 732997"/>
              <a:gd name="connsiteY5" fmla="*/ 732709 h 73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2997" h="732996">
                <a:moveTo>
                  <a:pt x="369394" y="732709"/>
                </a:moveTo>
                <a:cubicBezTo>
                  <a:pt x="166988" y="734447"/>
                  <a:pt x="1501" y="571761"/>
                  <a:pt x="-236" y="369355"/>
                </a:cubicBezTo>
                <a:cubicBezTo>
                  <a:pt x="-1958" y="166949"/>
                  <a:pt x="160712" y="1463"/>
                  <a:pt x="363118" y="-260"/>
                </a:cubicBezTo>
                <a:cubicBezTo>
                  <a:pt x="565524" y="-1998"/>
                  <a:pt x="731011" y="160689"/>
                  <a:pt x="732748" y="363094"/>
                </a:cubicBezTo>
                <a:cubicBezTo>
                  <a:pt x="732748" y="363274"/>
                  <a:pt x="732748" y="363469"/>
                  <a:pt x="732748" y="363663"/>
                </a:cubicBezTo>
                <a:cubicBezTo>
                  <a:pt x="732209" y="565051"/>
                  <a:pt x="570751" y="729040"/>
                  <a:pt x="369394" y="732709"/>
                </a:cubicBezTo>
                <a:close/>
              </a:path>
            </a:pathLst>
          </a:custGeom>
          <a:solidFill>
            <a:schemeClr val="accent1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CAA2CA44-C289-9BBE-AAB9-193DE9F9F1F7}"/>
              </a:ext>
            </a:extLst>
          </p:cNvPr>
          <p:cNvSpPr/>
          <p:nvPr/>
        </p:nvSpPr>
        <p:spPr>
          <a:xfrm>
            <a:off x="3900465" y="3542227"/>
            <a:ext cx="789070" cy="805701"/>
          </a:xfrm>
          <a:custGeom>
            <a:avLst/>
            <a:gdLst>
              <a:gd name="connsiteX0" fmla="*/ 717489 w 717739"/>
              <a:gd name="connsiteY0" fmla="*/ 366238 h 732867"/>
              <a:gd name="connsiteX1" fmla="*/ 359977 w 717739"/>
              <a:gd name="connsiteY1" fmla="*/ 732588 h 732867"/>
              <a:gd name="connsiteX2" fmla="*/ -233 w 717739"/>
              <a:gd name="connsiteY2" fmla="*/ 361595 h 732867"/>
              <a:gd name="connsiteX3" fmla="*/ 360875 w 717739"/>
              <a:gd name="connsiteY3" fmla="*/ -261 h 732867"/>
              <a:gd name="connsiteX4" fmla="*/ 717489 w 717739"/>
              <a:gd name="connsiteY4" fmla="*/ 366238 h 732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739" h="732867">
                <a:moveTo>
                  <a:pt x="717489" y="366238"/>
                </a:moveTo>
                <a:cubicBezTo>
                  <a:pt x="717489" y="565290"/>
                  <a:pt x="555283" y="731390"/>
                  <a:pt x="359977" y="732588"/>
                </a:cubicBezTo>
                <a:cubicBezTo>
                  <a:pt x="162423" y="733787"/>
                  <a:pt x="-2180" y="564241"/>
                  <a:pt x="-233" y="361595"/>
                </a:cubicBezTo>
                <a:cubicBezTo>
                  <a:pt x="1565" y="162694"/>
                  <a:pt x="165868" y="-1909"/>
                  <a:pt x="360875" y="-261"/>
                </a:cubicBezTo>
                <a:cubicBezTo>
                  <a:pt x="555882" y="1386"/>
                  <a:pt x="717639" y="166438"/>
                  <a:pt x="717489" y="366238"/>
                </a:cubicBezTo>
                <a:close/>
              </a:path>
            </a:pathLst>
          </a:custGeom>
          <a:solidFill>
            <a:schemeClr val="accent2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sp>
        <p:nvSpPr>
          <p:cNvPr id="20" name="Oval 324">
            <a:extLst>
              <a:ext uri="{FF2B5EF4-FFF2-40B4-BE49-F238E27FC236}">
                <a16:creationId xmlns:a16="http://schemas.microsoft.com/office/drawing/2014/main" id="{D8DD9E0A-BE5F-85E1-77CE-4E4FBB3C5D2A}"/>
              </a:ext>
            </a:extLst>
          </p:cNvPr>
          <p:cNvSpPr/>
          <p:nvPr/>
        </p:nvSpPr>
        <p:spPr>
          <a:xfrm>
            <a:off x="768328" y="2225253"/>
            <a:ext cx="321511" cy="321511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sp>
        <p:nvSpPr>
          <p:cNvPr id="21" name="Oval 325">
            <a:extLst>
              <a:ext uri="{FF2B5EF4-FFF2-40B4-BE49-F238E27FC236}">
                <a16:creationId xmlns:a16="http://schemas.microsoft.com/office/drawing/2014/main" id="{728054B8-CEA4-514C-9B8A-656B565BC6C0}"/>
              </a:ext>
            </a:extLst>
          </p:cNvPr>
          <p:cNvSpPr/>
          <p:nvPr/>
        </p:nvSpPr>
        <p:spPr>
          <a:xfrm>
            <a:off x="5422640" y="2225253"/>
            <a:ext cx="321511" cy="321511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sp>
        <p:nvSpPr>
          <p:cNvPr id="22" name="Oval 326">
            <a:extLst>
              <a:ext uri="{FF2B5EF4-FFF2-40B4-BE49-F238E27FC236}">
                <a16:creationId xmlns:a16="http://schemas.microsoft.com/office/drawing/2014/main" id="{878665F7-F18D-CED6-8CBE-CB9552BC252C}"/>
              </a:ext>
            </a:extLst>
          </p:cNvPr>
          <p:cNvSpPr/>
          <p:nvPr/>
        </p:nvSpPr>
        <p:spPr>
          <a:xfrm>
            <a:off x="10076954" y="2225253"/>
            <a:ext cx="321511" cy="321511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sp>
        <p:nvSpPr>
          <p:cNvPr id="23" name="Oval 327">
            <a:extLst>
              <a:ext uri="{FF2B5EF4-FFF2-40B4-BE49-F238E27FC236}">
                <a16:creationId xmlns:a16="http://schemas.microsoft.com/office/drawing/2014/main" id="{DCCB8015-7366-A3B7-209C-1AD90548071A}"/>
              </a:ext>
            </a:extLst>
          </p:cNvPr>
          <p:cNvSpPr/>
          <p:nvPr/>
        </p:nvSpPr>
        <p:spPr>
          <a:xfrm>
            <a:off x="7754269" y="3665238"/>
            <a:ext cx="321511" cy="321511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sp>
        <p:nvSpPr>
          <p:cNvPr id="24" name="Oval 328">
            <a:extLst>
              <a:ext uri="{FF2B5EF4-FFF2-40B4-BE49-F238E27FC236}">
                <a16:creationId xmlns:a16="http://schemas.microsoft.com/office/drawing/2014/main" id="{9F0E9939-0005-3C13-9C4E-B507CB2EF0CA}"/>
              </a:ext>
            </a:extLst>
          </p:cNvPr>
          <p:cNvSpPr/>
          <p:nvPr/>
        </p:nvSpPr>
        <p:spPr>
          <a:xfrm>
            <a:off x="3104769" y="3665238"/>
            <a:ext cx="321511" cy="321511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pic>
        <p:nvPicPr>
          <p:cNvPr id="25" name="Picture 2" descr="Autonomous Robot icon vector image Can be used for Robotics | Premium Vector">
            <a:extLst>
              <a:ext uri="{FF2B5EF4-FFF2-40B4-BE49-F238E27FC236}">
                <a16:creationId xmlns:a16="http://schemas.microsoft.com/office/drawing/2014/main" id="{2C289A81-C9DC-3181-258D-1619B33CB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29" b="95208" l="8946" r="90735">
                        <a14:foregroundMark x1="8946" y1="77796" x2="8946" y2="77796"/>
                        <a14:foregroundMark x1="19010" y1="95527" x2="19010" y2="95527"/>
                        <a14:foregroundMark x1="59744" y1="84026" x2="59744" y2="84026"/>
                        <a14:foregroundMark x1="39776" y1="7029" x2="39776" y2="7029"/>
                        <a14:foregroundMark x1="90735" y1="42652" x2="90735" y2="42652"/>
                        <a14:foregroundMark x1="77476" y1="57508" x2="77476" y2="57508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358" y="2278240"/>
            <a:ext cx="413728" cy="41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Vision - Free computer icons">
            <a:extLst>
              <a:ext uri="{FF2B5EF4-FFF2-40B4-BE49-F238E27FC236}">
                <a16:creationId xmlns:a16="http://schemas.microsoft.com/office/drawing/2014/main" id="{854F83EA-EBA7-3A41-A9E7-17DF5D6AF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280" y="3735060"/>
            <a:ext cx="399355" cy="39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Natural language processing Special Lineal icon | Freepik">
            <a:extLst>
              <a:ext uri="{FF2B5EF4-FFF2-40B4-BE49-F238E27FC236}">
                <a16:creationId xmlns:a16="http://schemas.microsoft.com/office/drawing/2014/main" id="{0573DF45-B333-63C1-29A8-93465BBFC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493" y="2302078"/>
            <a:ext cx="446848" cy="44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Expert System Icon Style 21270330 Vector Art at Vecteezy">
            <a:extLst>
              <a:ext uri="{FF2B5EF4-FFF2-40B4-BE49-F238E27FC236}">
                <a16:creationId xmlns:a16="http://schemas.microsoft.com/office/drawing/2014/main" id="{9F4FD9DF-145F-6626-D3EF-3983C9B40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7347" r="94286">
                        <a14:foregroundMark x1="7347" y1="71224" x2="7347" y2="71224"/>
                        <a14:foregroundMark x1="94286" y1="83571" x2="94286" y2="83571"/>
                        <a14:foregroundMark x1="57551" y1="35000" x2="57551" y2="35000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435" y="3687321"/>
            <a:ext cx="494832" cy="49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 descr="Sentiment analysis - Free icons">
            <a:extLst>
              <a:ext uri="{FF2B5EF4-FFF2-40B4-BE49-F238E27FC236}">
                <a16:creationId xmlns:a16="http://schemas.microsoft.com/office/drawing/2014/main" id="{F2041CA1-C555-F646-CA96-EB4A7C496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3716" y="2310377"/>
            <a:ext cx="472775" cy="47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329">
            <a:extLst>
              <a:ext uri="{FF2B5EF4-FFF2-40B4-BE49-F238E27FC236}">
                <a16:creationId xmlns:a16="http://schemas.microsoft.com/office/drawing/2014/main" id="{0A8E8ACF-E8A1-56D3-BE90-BF709FAC3B01}"/>
              </a:ext>
            </a:extLst>
          </p:cNvPr>
          <p:cNvSpPr/>
          <p:nvPr/>
        </p:nvSpPr>
        <p:spPr>
          <a:xfrm>
            <a:off x="0" y="1303524"/>
            <a:ext cx="12104916" cy="556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cs typeface="Segoe UI" panose="020B0502040204020203" pitchFamily="34" charset="0"/>
            </a:endParaRPr>
          </a:p>
        </p:txBody>
      </p:sp>
      <p:grpSp>
        <p:nvGrpSpPr>
          <p:cNvPr id="31" name="Group 26">
            <a:extLst>
              <a:ext uri="{FF2B5EF4-FFF2-40B4-BE49-F238E27FC236}">
                <a16:creationId xmlns:a16="http://schemas.microsoft.com/office/drawing/2014/main" id="{7D881E9C-FE47-2D53-1C6A-DE369E4E99B9}"/>
              </a:ext>
            </a:extLst>
          </p:cNvPr>
          <p:cNvGrpSpPr/>
          <p:nvPr/>
        </p:nvGrpSpPr>
        <p:grpSpPr>
          <a:xfrm>
            <a:off x="481152" y="3180098"/>
            <a:ext cx="1899329" cy="1846224"/>
            <a:chOff x="498651" y="3167979"/>
            <a:chExt cx="1899329" cy="1846224"/>
          </a:xfrm>
        </p:grpSpPr>
        <p:sp>
          <p:nvSpPr>
            <p:cNvPr id="32" name="TextBox 1">
              <a:extLst>
                <a:ext uri="{FF2B5EF4-FFF2-40B4-BE49-F238E27FC236}">
                  <a16:creationId xmlns:a16="http://schemas.microsoft.com/office/drawing/2014/main" id="{CA970D93-A574-8D74-8B76-750469CE202C}"/>
                </a:ext>
              </a:extLst>
            </p:cNvPr>
            <p:cNvSpPr txBox="1"/>
            <p:nvPr/>
          </p:nvSpPr>
          <p:spPr>
            <a:xfrm>
              <a:off x="612007" y="3167979"/>
              <a:ext cx="1688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Autonomous Robots</a:t>
              </a:r>
            </a:p>
          </p:txBody>
        </p:sp>
        <p:sp>
          <p:nvSpPr>
            <p:cNvPr id="33" name="TextBox 2">
              <a:extLst>
                <a:ext uri="{FF2B5EF4-FFF2-40B4-BE49-F238E27FC236}">
                  <a16:creationId xmlns:a16="http://schemas.microsoft.com/office/drawing/2014/main" id="{E17125AD-4B71-35DE-BDC3-CC40CFE3743A}"/>
                </a:ext>
              </a:extLst>
            </p:cNvPr>
            <p:cNvSpPr txBox="1"/>
            <p:nvPr/>
          </p:nvSpPr>
          <p:spPr>
            <a:xfrm>
              <a:off x="498651" y="3813874"/>
              <a:ext cx="189932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cs typeface="Segoe UI" panose="020B0502040204020203" pitchFamily="34" charset="0"/>
                </a:rPr>
                <a:t>Robots that perform tasks on their own without human control.</a:t>
              </a:r>
              <a:endParaRPr lang="en-IN" dirty="0">
                <a:solidFill>
                  <a:schemeClr val="bg1"/>
                </a:solidFill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Group 27">
            <a:extLst>
              <a:ext uri="{FF2B5EF4-FFF2-40B4-BE49-F238E27FC236}">
                <a16:creationId xmlns:a16="http://schemas.microsoft.com/office/drawing/2014/main" id="{94683439-127D-E24F-14FA-309768141E2E}"/>
              </a:ext>
            </a:extLst>
          </p:cNvPr>
          <p:cNvGrpSpPr/>
          <p:nvPr/>
        </p:nvGrpSpPr>
        <p:grpSpPr>
          <a:xfrm>
            <a:off x="5068723" y="3078874"/>
            <a:ext cx="2134005" cy="1896214"/>
            <a:chOff x="5086222" y="3066755"/>
            <a:chExt cx="2134005" cy="1896214"/>
          </a:xfrm>
        </p:grpSpPr>
        <p:sp>
          <p:nvSpPr>
            <p:cNvPr id="35" name="TextBox 20">
              <a:extLst>
                <a:ext uri="{FF2B5EF4-FFF2-40B4-BE49-F238E27FC236}">
                  <a16:creationId xmlns:a16="http://schemas.microsoft.com/office/drawing/2014/main" id="{83F587B7-3E0A-7B5B-5209-94DA6918F864}"/>
                </a:ext>
              </a:extLst>
            </p:cNvPr>
            <p:cNvSpPr txBox="1"/>
            <p:nvPr/>
          </p:nvSpPr>
          <p:spPr>
            <a:xfrm>
              <a:off x="5086222" y="3066755"/>
              <a:ext cx="21340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Natural </a:t>
              </a:r>
            </a:p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Language Processing</a:t>
              </a:r>
            </a:p>
          </p:txBody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1C09B0A9-CCF6-0965-2879-464A19E5F66F}"/>
                </a:ext>
              </a:extLst>
            </p:cNvPr>
            <p:cNvSpPr txBox="1"/>
            <p:nvPr/>
          </p:nvSpPr>
          <p:spPr>
            <a:xfrm>
              <a:off x="5130501" y="3762640"/>
              <a:ext cx="194439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cs typeface="Segoe UI" panose="020B0502040204020203" pitchFamily="34" charset="0"/>
                </a:rPr>
                <a:t>Computers understand human language automatically.</a:t>
              </a:r>
              <a:endParaRPr lang="en-IN" dirty="0">
                <a:solidFill>
                  <a:schemeClr val="bg1"/>
                </a:solidFill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28">
            <a:extLst>
              <a:ext uri="{FF2B5EF4-FFF2-40B4-BE49-F238E27FC236}">
                <a16:creationId xmlns:a16="http://schemas.microsoft.com/office/drawing/2014/main" id="{ADD152FC-0AB3-9EB7-21D5-0F852EAECC60}"/>
              </a:ext>
            </a:extLst>
          </p:cNvPr>
          <p:cNvGrpSpPr/>
          <p:nvPr/>
        </p:nvGrpSpPr>
        <p:grpSpPr>
          <a:xfrm>
            <a:off x="9741427" y="3228169"/>
            <a:ext cx="2056855" cy="1352899"/>
            <a:chOff x="9758926" y="3216050"/>
            <a:chExt cx="2056855" cy="1352899"/>
          </a:xfrm>
        </p:grpSpPr>
        <p:sp>
          <p:nvSpPr>
            <p:cNvPr id="38" name="TextBox 24">
              <a:extLst>
                <a:ext uri="{FF2B5EF4-FFF2-40B4-BE49-F238E27FC236}">
                  <a16:creationId xmlns:a16="http://schemas.microsoft.com/office/drawing/2014/main" id="{DCDB5307-2B1E-3C15-5CCE-45CC2D141F39}"/>
                </a:ext>
              </a:extLst>
            </p:cNvPr>
            <p:cNvSpPr txBox="1"/>
            <p:nvPr/>
          </p:nvSpPr>
          <p:spPr>
            <a:xfrm>
              <a:off x="9758926" y="3216050"/>
              <a:ext cx="2056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Sentiment Analysis</a:t>
              </a:r>
            </a:p>
          </p:txBody>
        </p:sp>
        <p:sp>
          <p:nvSpPr>
            <p:cNvPr id="39" name="TextBox 25">
              <a:extLst>
                <a:ext uri="{FF2B5EF4-FFF2-40B4-BE49-F238E27FC236}">
                  <a16:creationId xmlns:a16="http://schemas.microsoft.com/office/drawing/2014/main" id="{5B68FD0A-C385-19CC-1C5B-6AD0473C0F95}"/>
                </a:ext>
              </a:extLst>
            </p:cNvPr>
            <p:cNvSpPr txBox="1"/>
            <p:nvPr/>
          </p:nvSpPr>
          <p:spPr>
            <a:xfrm>
              <a:off x="9837688" y="3922618"/>
              <a:ext cx="1899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cs typeface="Segoe UI" panose="020B0502040204020203" pitchFamily="34" charset="0"/>
                </a:rPr>
                <a:t>Detects emotions in text content.</a:t>
              </a:r>
              <a:endParaRPr lang="en-IN" dirty="0">
                <a:solidFill>
                  <a:schemeClr val="bg1"/>
                </a:solidFill>
                <a:cs typeface="Segoe UI" panose="020B0502040204020203" pitchFamily="34" charset="0"/>
              </a:endParaRPr>
            </a:p>
          </p:txBody>
        </p:sp>
      </p:grpSp>
      <p:grpSp>
        <p:nvGrpSpPr>
          <p:cNvPr id="40" name="Group 30">
            <a:extLst>
              <a:ext uri="{FF2B5EF4-FFF2-40B4-BE49-F238E27FC236}">
                <a16:creationId xmlns:a16="http://schemas.microsoft.com/office/drawing/2014/main" id="{463C9EDF-06E8-77AE-D89C-1FAE7B2E42BD}"/>
              </a:ext>
            </a:extLst>
          </p:cNvPr>
          <p:cNvGrpSpPr/>
          <p:nvPr/>
        </p:nvGrpSpPr>
        <p:grpSpPr>
          <a:xfrm>
            <a:off x="2790142" y="4592397"/>
            <a:ext cx="2018833" cy="2071309"/>
            <a:chOff x="2829965" y="4808294"/>
            <a:chExt cx="2018833" cy="2071309"/>
          </a:xfrm>
        </p:grpSpPr>
        <p:sp>
          <p:nvSpPr>
            <p:cNvPr id="41" name="TextBox 3">
              <a:extLst>
                <a:ext uri="{FF2B5EF4-FFF2-40B4-BE49-F238E27FC236}">
                  <a16:creationId xmlns:a16="http://schemas.microsoft.com/office/drawing/2014/main" id="{050096B4-6DAF-0205-7844-B278EB07DB04}"/>
                </a:ext>
              </a:extLst>
            </p:cNvPr>
            <p:cNvSpPr txBox="1"/>
            <p:nvPr/>
          </p:nvSpPr>
          <p:spPr>
            <a:xfrm>
              <a:off x="2829965" y="4808294"/>
              <a:ext cx="2018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Computer</a:t>
              </a:r>
              <a:r>
                <a:rPr lang="zh-CN" altLang="en-US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 </a:t>
              </a:r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Vision</a:t>
              </a:r>
            </a:p>
          </p:txBody>
        </p:sp>
        <p:sp>
          <p:nvSpPr>
            <p:cNvPr id="42" name="TextBox 29">
              <a:extLst>
                <a:ext uri="{FF2B5EF4-FFF2-40B4-BE49-F238E27FC236}">
                  <a16:creationId xmlns:a16="http://schemas.microsoft.com/office/drawing/2014/main" id="{4E7E6257-DFA5-D3FA-43A3-EB06145F5D14}"/>
                </a:ext>
              </a:extLst>
            </p:cNvPr>
            <p:cNvSpPr txBox="1"/>
            <p:nvPr/>
          </p:nvSpPr>
          <p:spPr>
            <a:xfrm>
              <a:off x="2850105" y="5125277"/>
              <a:ext cx="189932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cs typeface="Segoe UI" panose="020B0502040204020203" pitchFamily="34" charset="0"/>
                </a:rPr>
                <a:t>Technology that enables computers to see, interpret, and understand images or videos.</a:t>
              </a:r>
              <a:endParaRPr lang="en-IN" dirty="0">
                <a:solidFill>
                  <a:schemeClr val="bg1"/>
                </a:solidFill>
                <a:cs typeface="Segoe UI" panose="020B0502040204020203" pitchFamily="34" charset="0"/>
              </a:endParaRPr>
            </a:p>
          </p:txBody>
        </p:sp>
      </p:grpSp>
      <p:sp>
        <p:nvSpPr>
          <p:cNvPr id="43" name="Freeform: Shape 10">
            <a:extLst>
              <a:ext uri="{FF2B5EF4-FFF2-40B4-BE49-F238E27FC236}">
                <a16:creationId xmlns:a16="http://schemas.microsoft.com/office/drawing/2014/main" id="{2EF74368-54D4-4852-E4C7-235445FE7D4F}"/>
              </a:ext>
            </a:extLst>
          </p:cNvPr>
          <p:cNvSpPr/>
          <p:nvPr/>
        </p:nvSpPr>
        <p:spPr>
          <a:xfrm>
            <a:off x="7469161" y="4461366"/>
            <a:ext cx="1945293" cy="2176156"/>
          </a:xfrm>
          <a:custGeom>
            <a:avLst/>
            <a:gdLst>
              <a:gd name="connsiteX0" fmla="*/ 1249 w 1769442"/>
              <a:gd name="connsiteY0" fmla="*/ 983007 h 1979436"/>
              <a:gd name="connsiteX1" fmla="*/ -250 w 1769442"/>
              <a:gd name="connsiteY1" fmla="*/ 84357 h 1979436"/>
              <a:gd name="connsiteX2" fmla="*/ 83475 w 1769442"/>
              <a:gd name="connsiteY2" fmla="*/ -266 h 1979436"/>
              <a:gd name="connsiteX3" fmla="*/ 1438041 w 1769442"/>
              <a:gd name="connsiteY3" fmla="*/ 1531 h 1979436"/>
              <a:gd name="connsiteX4" fmla="*/ 1767546 w 1769442"/>
              <a:gd name="connsiteY4" fmla="*/ 327891 h 1979436"/>
              <a:gd name="connsiteX5" fmla="*/ 1769193 w 1769442"/>
              <a:gd name="connsiteY5" fmla="*/ 1900530 h 1979436"/>
              <a:gd name="connsiteX6" fmla="*/ 1687267 w 1769442"/>
              <a:gd name="connsiteY6" fmla="*/ 1979162 h 1979436"/>
              <a:gd name="connsiteX7" fmla="*/ 85871 w 1769442"/>
              <a:gd name="connsiteY7" fmla="*/ 1979162 h 1979436"/>
              <a:gd name="connsiteX8" fmla="*/ 649 w 1769442"/>
              <a:gd name="connsiteY8" fmla="*/ 1889297 h 1979436"/>
              <a:gd name="connsiteX9" fmla="*/ 1249 w 1769442"/>
              <a:gd name="connsiteY9" fmla="*/ 983007 h 1979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9442" h="1979436">
                <a:moveTo>
                  <a:pt x="1249" y="983007"/>
                </a:moveTo>
                <a:cubicBezTo>
                  <a:pt x="1249" y="683457"/>
                  <a:pt x="3046" y="383907"/>
                  <a:pt x="-250" y="84357"/>
                </a:cubicBezTo>
                <a:cubicBezTo>
                  <a:pt x="-250" y="19204"/>
                  <a:pt x="16975" y="-715"/>
                  <a:pt x="83475" y="-266"/>
                </a:cubicBezTo>
                <a:cubicBezTo>
                  <a:pt x="535047" y="2580"/>
                  <a:pt x="986619" y="483"/>
                  <a:pt x="1438041" y="1531"/>
                </a:cubicBezTo>
                <a:cubicBezTo>
                  <a:pt x="1640836" y="1531"/>
                  <a:pt x="1766498" y="126294"/>
                  <a:pt x="1767546" y="327891"/>
                </a:cubicBezTo>
                <a:cubicBezTo>
                  <a:pt x="1768595" y="852104"/>
                  <a:pt x="1767546" y="1376317"/>
                  <a:pt x="1769193" y="1900530"/>
                </a:cubicBezTo>
                <a:cubicBezTo>
                  <a:pt x="1769193" y="1964633"/>
                  <a:pt x="1747327" y="1979311"/>
                  <a:pt x="1687267" y="1979162"/>
                </a:cubicBezTo>
                <a:cubicBezTo>
                  <a:pt x="1153468" y="1977214"/>
                  <a:pt x="619670" y="1976466"/>
                  <a:pt x="85871" y="1979162"/>
                </a:cubicBezTo>
                <a:cubicBezTo>
                  <a:pt x="12931" y="1979162"/>
                  <a:pt x="50" y="1952951"/>
                  <a:pt x="649" y="1889297"/>
                </a:cubicBezTo>
                <a:cubicBezTo>
                  <a:pt x="2596" y="1586751"/>
                  <a:pt x="1249" y="1284804"/>
                  <a:pt x="1249" y="983007"/>
                </a:cubicBezTo>
                <a:close/>
              </a:path>
            </a:pathLst>
          </a:custGeom>
          <a:solidFill>
            <a:schemeClr val="accent6"/>
          </a:solidFill>
          <a:ln w="14970" cap="flat">
            <a:noFill/>
            <a:prstDash val="solid"/>
            <a:miter/>
          </a:ln>
        </p:spPr>
        <p:txBody>
          <a:bodyPr rtlCol="0" anchor="ctr"/>
          <a:lstStyle/>
          <a:p>
            <a:endParaRPr lang="en-IN">
              <a:cs typeface="Segoe UI" panose="020B0502040204020203" pitchFamily="34" charset="0"/>
            </a:endParaRPr>
          </a:p>
        </p:txBody>
      </p:sp>
      <p:grpSp>
        <p:nvGrpSpPr>
          <p:cNvPr id="44" name="Group 33">
            <a:extLst>
              <a:ext uri="{FF2B5EF4-FFF2-40B4-BE49-F238E27FC236}">
                <a16:creationId xmlns:a16="http://schemas.microsoft.com/office/drawing/2014/main" id="{34D1853D-5E5D-2C52-754A-BFE7DAE7CDF0}"/>
              </a:ext>
            </a:extLst>
          </p:cNvPr>
          <p:cNvGrpSpPr/>
          <p:nvPr/>
        </p:nvGrpSpPr>
        <p:grpSpPr>
          <a:xfrm>
            <a:off x="7472644" y="4626482"/>
            <a:ext cx="1854141" cy="1503423"/>
            <a:chOff x="7490143" y="4842379"/>
            <a:chExt cx="1854141" cy="1503423"/>
          </a:xfrm>
        </p:grpSpPr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F5ED5DB1-9C0A-1A55-68D9-61CCFCA8BDE5}"/>
                </a:ext>
              </a:extLst>
            </p:cNvPr>
            <p:cNvSpPr txBox="1"/>
            <p:nvPr/>
          </p:nvSpPr>
          <p:spPr>
            <a:xfrm>
              <a:off x="7621365" y="4842379"/>
              <a:ext cx="16403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0A1F3A"/>
                  </a:solidFill>
                  <a:cs typeface="Segoe UI" panose="020B0502040204020203" pitchFamily="34" charset="0"/>
                </a:rPr>
                <a:t>Expert Systems</a:t>
              </a:r>
            </a:p>
          </p:txBody>
        </p:sp>
        <p:sp>
          <p:nvSpPr>
            <p:cNvPr id="46" name="TextBox 31">
              <a:extLst>
                <a:ext uri="{FF2B5EF4-FFF2-40B4-BE49-F238E27FC236}">
                  <a16:creationId xmlns:a16="http://schemas.microsoft.com/office/drawing/2014/main" id="{AE4949EC-6C71-B305-D54D-1750D7A48341}"/>
                </a:ext>
              </a:extLst>
            </p:cNvPr>
            <p:cNvSpPr txBox="1"/>
            <p:nvPr/>
          </p:nvSpPr>
          <p:spPr>
            <a:xfrm>
              <a:off x="7490143" y="5422472"/>
              <a:ext cx="185414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  <a:cs typeface="Segoe UI" panose="020B0502040204020203" pitchFamily="34" charset="0"/>
                </a:rPr>
                <a:t>Mimic human expert decision-making.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90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C2162E4-BA6D-4DD2-DCA2-732D997EF3B5}"/>
              </a:ext>
            </a:extLst>
          </p:cNvPr>
          <p:cNvGrpSpPr/>
          <p:nvPr/>
        </p:nvGrpSpPr>
        <p:grpSpPr>
          <a:xfrm>
            <a:off x="150378" y="2278670"/>
            <a:ext cx="11891243" cy="3207654"/>
            <a:chOff x="227761" y="2042264"/>
            <a:chExt cx="11891243" cy="320765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D811917-F00E-E0FB-997B-E573D164D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761" y="2042264"/>
              <a:ext cx="9536074" cy="3207654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61CC81A-A624-8462-9137-D95DE65B3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63835" y="2042264"/>
              <a:ext cx="2355169" cy="3207654"/>
            </a:xfrm>
            <a:prstGeom prst="rect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F6E73F4-56F3-D9B4-E61E-F72975412F94}"/>
              </a:ext>
            </a:extLst>
          </p:cNvPr>
          <p:cNvSpPr txBox="1"/>
          <p:nvPr/>
        </p:nvSpPr>
        <p:spPr>
          <a:xfrm>
            <a:off x="2372420" y="980932"/>
            <a:ext cx="770828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750"/>
              </a:spcAft>
              <a:buNone/>
            </a:pPr>
            <a:r>
              <a:rPr lang="zh-CN" altLang="zh-CN" sz="3200" b="1" i="0" dirty="0">
                <a:solidFill>
                  <a:srgbClr val="0A1F3A"/>
                </a:solidFill>
                <a:effectLst/>
              </a:rPr>
              <a:t>Latest AI Technologies &amp; Applications</a:t>
            </a:r>
          </a:p>
          <a:p>
            <a:pPr marL="0" marR="0" indent="0" algn="ctr">
              <a:buNone/>
            </a:pPr>
            <a:r>
              <a:rPr lang="zh-CN" altLang="zh-CN" b="0" i="0" dirty="0">
                <a:solidFill>
                  <a:schemeClr val="tx1"/>
                </a:solidFill>
                <a:effectLst/>
              </a:rPr>
              <a:t>A comprehensive guide to cutting-edge AI systems and their real-world uses</a:t>
            </a:r>
            <a:endParaRPr lang="zh-CN" altLang="zh-CN" b="0" i="0" dirty="0"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01703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F8A2644-3C40-8F50-6764-3EB0F6B5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00"/>
          <a:stretch>
            <a:fillRect/>
          </a:stretch>
        </p:blipFill>
        <p:spPr>
          <a:xfrm>
            <a:off x="1" y="1340823"/>
            <a:ext cx="12192000" cy="417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24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BFFA69-59C0-CE8A-B185-89FA0339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95"/>
          <a:stretch>
            <a:fillRect/>
          </a:stretch>
        </p:blipFill>
        <p:spPr>
          <a:xfrm>
            <a:off x="0" y="1773936"/>
            <a:ext cx="12192000" cy="37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1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2024年诺贝尔奖获奖名单全部揭晓！AI领域成最大赢家！-翰林国际教育">
            <a:extLst>
              <a:ext uri="{FF2B5EF4-FFF2-40B4-BE49-F238E27FC236}">
                <a16:creationId xmlns:a16="http://schemas.microsoft.com/office/drawing/2014/main" id="{2DB6B0F0-A1D7-FA1D-69F0-32D36741F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97" y="4571113"/>
            <a:ext cx="1540321" cy="15471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I再度“爆冷”诺贝尔化学奖，知乎答主科普人工智能预测蛋白质结构- 动点科技">
            <a:extLst>
              <a:ext uri="{FF2B5EF4-FFF2-40B4-BE49-F238E27FC236}">
                <a16:creationId xmlns:a16="http://schemas.microsoft.com/office/drawing/2014/main" id="{1C2035F1-2261-B42C-9C55-E701B60B6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213" y="4557827"/>
            <a:ext cx="1547197" cy="15471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lphaFold 3.0: An Enhanced Version of the AI Protein Prediction Tool -  Omics tutorials">
            <a:extLst>
              <a:ext uri="{FF2B5EF4-FFF2-40B4-BE49-F238E27FC236}">
                <a16:creationId xmlns:a16="http://schemas.microsoft.com/office/drawing/2014/main" id="{0A18213A-D0EE-0ADF-EAC5-B78606520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15" y="1959237"/>
            <a:ext cx="3224000" cy="19606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D5915593-F330-E63F-AB3E-F43F14E33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117" y="1954509"/>
            <a:ext cx="1833172" cy="22013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直接连接符 22">
            <a:extLst>
              <a:ext uri="{FF2B5EF4-FFF2-40B4-BE49-F238E27FC236}">
                <a16:creationId xmlns:a16="http://schemas.microsoft.com/office/drawing/2014/main" id="{F0729CA5-BA35-4425-CBA2-8281EE9B7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0573" y="4993730"/>
            <a:ext cx="270951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9" name="直接连接符 101">
            <a:extLst>
              <a:ext uri="{FF2B5EF4-FFF2-40B4-BE49-F238E27FC236}">
                <a16:creationId xmlns:a16="http://schemas.microsoft.com/office/drawing/2014/main" id="{7E69185F-B6BE-89DB-619D-70570BAF90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5708" y="4993730"/>
            <a:ext cx="0" cy="198116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0" name="直接连接符 105">
            <a:extLst>
              <a:ext uri="{FF2B5EF4-FFF2-40B4-BE49-F238E27FC236}">
                <a16:creationId xmlns:a16="http://schemas.microsoft.com/office/drawing/2014/main" id="{D7B06C62-B061-99B1-36B8-07F22C8590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70364" y="6168764"/>
            <a:ext cx="271161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1" name="直接连接符 106">
            <a:extLst>
              <a:ext uri="{FF2B5EF4-FFF2-40B4-BE49-F238E27FC236}">
                <a16:creationId xmlns:a16="http://schemas.microsoft.com/office/drawing/2014/main" id="{BABFD777-2BD8-9377-03D3-A003D4E5E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503" y="5984877"/>
            <a:ext cx="0" cy="183887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2" name="直接连接符 108">
            <a:extLst>
              <a:ext uri="{FF2B5EF4-FFF2-40B4-BE49-F238E27FC236}">
                <a16:creationId xmlns:a16="http://schemas.microsoft.com/office/drawing/2014/main" id="{F0EF8E9F-A07E-B823-9298-559A949757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520" y="5014128"/>
            <a:ext cx="269396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3" name="直接连接符 109">
            <a:extLst>
              <a:ext uri="{FF2B5EF4-FFF2-40B4-BE49-F238E27FC236}">
                <a16:creationId xmlns:a16="http://schemas.microsoft.com/office/drawing/2014/main" id="{2F1A071D-6311-27B3-0B78-D2A14D6330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9810" y="5014128"/>
            <a:ext cx="0" cy="197892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4" name="直接连接符 111">
            <a:extLst>
              <a:ext uri="{FF2B5EF4-FFF2-40B4-BE49-F238E27FC236}">
                <a16:creationId xmlns:a16="http://schemas.microsoft.com/office/drawing/2014/main" id="{1A7C90BF-2DC3-F3BE-8465-7CE0D03ADC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519" y="6143800"/>
            <a:ext cx="269396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5" name="直接连接符 112">
            <a:extLst>
              <a:ext uri="{FF2B5EF4-FFF2-40B4-BE49-F238E27FC236}">
                <a16:creationId xmlns:a16="http://schemas.microsoft.com/office/drawing/2014/main" id="{0015D8E4-F475-8A1E-AB4A-5EFB807C01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9810" y="5959912"/>
            <a:ext cx="0" cy="183888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F3E829-FDF6-6096-597A-1C32B83A3E2E}"/>
              </a:ext>
            </a:extLst>
          </p:cNvPr>
          <p:cNvSpPr txBox="1"/>
          <p:nvPr/>
        </p:nvSpPr>
        <p:spPr>
          <a:xfrm>
            <a:off x="3832316" y="5063657"/>
            <a:ext cx="2287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1600" b="1" dirty="0">
                <a:solidFill>
                  <a:srgbClr val="002060"/>
                </a:solidFill>
              </a:rPr>
              <a:t>AI large models driving the "</a:t>
            </a:r>
            <a:r>
              <a:rPr lang="en" altLang="zh-CN" sz="1600" b="1" dirty="0">
                <a:solidFill>
                  <a:srgbClr val="FF0000"/>
                </a:solidFill>
              </a:rPr>
              <a:t>Fifth Scientific Research Paradigm</a:t>
            </a:r>
            <a:r>
              <a:rPr lang="en" altLang="zh-CN" sz="1600" b="1" dirty="0">
                <a:solidFill>
                  <a:srgbClr val="002060"/>
                </a:solidFill>
              </a:rPr>
              <a:t>" revolution</a:t>
            </a:r>
            <a:endParaRPr lang="en-US" altLang="zh-CN" sz="1600" b="1" dirty="0">
              <a:solidFill>
                <a:srgbClr val="00206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F60859-AC53-61C4-B608-883FC3DB00A2}"/>
              </a:ext>
            </a:extLst>
          </p:cNvPr>
          <p:cNvSpPr txBox="1"/>
          <p:nvPr/>
        </p:nvSpPr>
        <p:spPr>
          <a:xfrm>
            <a:off x="340081" y="4062315"/>
            <a:ext cx="3562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1" i="0" dirty="0">
                <a:effectLst/>
                <a:ea typeface="Microsoft YaHei" panose="020B0503020204020204" pitchFamily="34" charset="-122"/>
              </a:rPr>
              <a:t>• AlphaFold Breakthrough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59DA51-2059-C0C4-A9C7-01AC940B3A73}"/>
              </a:ext>
            </a:extLst>
          </p:cNvPr>
          <p:cNvSpPr txBox="1"/>
          <p:nvPr/>
        </p:nvSpPr>
        <p:spPr>
          <a:xfrm>
            <a:off x="280749" y="6095801"/>
            <a:ext cx="6055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1" i="0" dirty="0">
                <a:effectLst/>
                <a:ea typeface="Microsoft YaHei" panose="020B0503020204020204" pitchFamily="34" charset="-122"/>
              </a:rPr>
              <a:t>AI technology achieved significant breakthroughs in physics and chemistry</a:t>
            </a:r>
            <a:endParaRPr lang="en-US" altLang="zh-CN" sz="1600" b="1" i="0" dirty="0">
              <a:effectLst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A5B57E-C679-8B21-F3AA-1699EF91EB27}"/>
              </a:ext>
            </a:extLst>
          </p:cNvPr>
          <p:cNvSpPr txBox="1"/>
          <p:nvPr/>
        </p:nvSpPr>
        <p:spPr>
          <a:xfrm>
            <a:off x="3731888" y="4193654"/>
            <a:ext cx="2321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0" dirty="0">
                <a:effectLst/>
                <a:ea typeface="Microsoft YaHei" panose="020B0503020204020204" pitchFamily="34" charset="-122"/>
                <a:cs typeface="Times New Roman" panose="02020603050405020304" pitchFamily="18" charset="0"/>
              </a:rPr>
              <a:t>ChatGPT ranked among Nature's top 10 scientists of the year</a:t>
            </a:r>
            <a:endParaRPr kumimoji="1" lang="zh-CN" altLang="en-US" sz="1400" b="1" dirty="0">
              <a:ea typeface="Microsoft YaHei" panose="020B0503020204020204" pitchFamily="34" charset="-122"/>
            </a:endParaRPr>
          </a:p>
        </p:txBody>
      </p:sp>
      <p:pic>
        <p:nvPicPr>
          <p:cNvPr id="20" name="Picture 2" descr="OpenAI's New Model GPT-4o Is Here With Improved Voice, Vision &amp; More">
            <a:extLst>
              <a:ext uri="{FF2B5EF4-FFF2-40B4-BE49-F238E27FC236}">
                <a16:creationId xmlns:a16="http://schemas.microsoft.com/office/drawing/2014/main" id="{BA72D5CC-60CD-3287-786B-ACD57E8A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283" y="4693128"/>
            <a:ext cx="1547197" cy="120983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aigc在游戏领域有哪些应用-网易瑶台">
            <a:extLst>
              <a:ext uri="{FF2B5EF4-FFF2-40B4-BE49-F238E27FC236}">
                <a16:creationId xmlns:a16="http://schemas.microsoft.com/office/drawing/2014/main" id="{BFAD0642-9E25-F58D-CEA5-85257A5A6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528" y="4662118"/>
            <a:ext cx="1675461" cy="120983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丰富“智造”内涵发展新质生产力中国工业发展活力澎湃_凤凰网">
            <a:extLst>
              <a:ext uri="{FF2B5EF4-FFF2-40B4-BE49-F238E27FC236}">
                <a16:creationId xmlns:a16="http://schemas.microsoft.com/office/drawing/2014/main" id="{139EEA94-9943-96ED-AA7B-9F5ACC45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885" y="1968844"/>
            <a:ext cx="4366797" cy="22079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4531630-DAE1-ACE0-8DF3-559A92646B67}"/>
              </a:ext>
            </a:extLst>
          </p:cNvPr>
          <p:cNvSpPr/>
          <p:nvPr/>
        </p:nvSpPr>
        <p:spPr>
          <a:xfrm>
            <a:off x="283383" y="1499566"/>
            <a:ext cx="5812617" cy="5071858"/>
          </a:xfrm>
          <a:prstGeom prst="rect">
            <a:avLst/>
          </a:prstGeom>
          <a:noFill/>
          <a:ln w="158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7C21A9-9E57-A923-934F-67110CD3BD61}"/>
              </a:ext>
            </a:extLst>
          </p:cNvPr>
          <p:cNvSpPr txBox="1"/>
          <p:nvPr/>
        </p:nvSpPr>
        <p:spPr>
          <a:xfrm>
            <a:off x="1872412" y="966668"/>
            <a:ext cx="1911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AI</a:t>
            </a:r>
            <a:r>
              <a:rPr kumimoji="1" lang="zh-CN" altLang="en-US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for</a:t>
            </a:r>
            <a:r>
              <a:rPr kumimoji="1" lang="zh-CN" altLang="en-US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Science</a:t>
            </a:r>
            <a:endParaRPr kumimoji="1" lang="zh-CN" altLang="en-US" sz="2400" b="1" dirty="0">
              <a:solidFill>
                <a:srgbClr val="C00000"/>
              </a:solidFill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F03CA7-327F-1FD0-AEEB-3A0DBF7207D5}"/>
              </a:ext>
            </a:extLst>
          </p:cNvPr>
          <p:cNvSpPr/>
          <p:nvPr/>
        </p:nvSpPr>
        <p:spPr>
          <a:xfrm>
            <a:off x="6341605" y="1498966"/>
            <a:ext cx="5477824" cy="5071858"/>
          </a:xfrm>
          <a:prstGeom prst="rect">
            <a:avLst/>
          </a:prstGeom>
          <a:noFill/>
          <a:ln w="1587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0420D-AF8C-F623-85D6-34A68F504393}"/>
              </a:ext>
            </a:extLst>
          </p:cNvPr>
          <p:cNvSpPr txBox="1"/>
          <p:nvPr/>
        </p:nvSpPr>
        <p:spPr>
          <a:xfrm>
            <a:off x="8057333" y="990810"/>
            <a:ext cx="1878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AI</a:t>
            </a:r>
            <a:r>
              <a:rPr kumimoji="1" lang="zh-CN" altLang="en-US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for</a:t>
            </a:r>
            <a:r>
              <a:rPr kumimoji="1" lang="zh-CN" altLang="en-US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rgbClr val="C00000"/>
                </a:solidFill>
                <a:ea typeface="Microsoft YaHei" panose="020B0503020204020204" pitchFamily="34" charset="-122"/>
              </a:rPr>
              <a:t>Society</a:t>
            </a:r>
            <a:endParaRPr kumimoji="1" lang="zh-CN" altLang="en-US" sz="2400" b="1" dirty="0">
              <a:solidFill>
                <a:srgbClr val="C00000"/>
              </a:solidFill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93C562-EB10-ADA9-C968-A66DC4AD9522}"/>
              </a:ext>
            </a:extLst>
          </p:cNvPr>
          <p:cNvSpPr txBox="1"/>
          <p:nvPr/>
        </p:nvSpPr>
        <p:spPr>
          <a:xfrm>
            <a:off x="6541751" y="6027455"/>
            <a:ext cx="1923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MultimoGPT-4o</a:t>
            </a:r>
            <a:endParaRPr kumimoji="1" lang="zh-CN" altLang="en-US" sz="1600" b="1" dirty="0"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D786FD-3996-5043-D6C8-F8E310DB4EAA}"/>
              </a:ext>
            </a:extLst>
          </p:cNvPr>
          <p:cNvSpPr txBox="1"/>
          <p:nvPr/>
        </p:nvSpPr>
        <p:spPr>
          <a:xfrm>
            <a:off x="8179245" y="6027454"/>
            <a:ext cx="1947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0" dirty="0">
                <a:effectLst/>
                <a:ea typeface="Microsoft YaHei" panose="020B0503020204020204" pitchFamily="34" charset="-122"/>
              </a:rPr>
              <a:t>Content Creation</a:t>
            </a:r>
            <a:endParaRPr kumimoji="1" lang="zh-CN" altLang="en-US" sz="1600" b="1" dirty="0">
              <a:ea typeface="Microsoft YaHei" panose="020B0503020204020204" pitchFamily="34" charset="-122"/>
            </a:endParaRPr>
          </a:p>
        </p:txBody>
      </p:sp>
      <p:sp>
        <p:nvSpPr>
          <p:cNvPr id="29" name="加号 28">
            <a:extLst>
              <a:ext uri="{FF2B5EF4-FFF2-40B4-BE49-F238E27FC236}">
                <a16:creationId xmlns:a16="http://schemas.microsoft.com/office/drawing/2014/main" id="{E3A6AE7C-183D-782B-8735-4163365F2755}"/>
              </a:ext>
            </a:extLst>
          </p:cNvPr>
          <p:cNvSpPr/>
          <p:nvPr/>
        </p:nvSpPr>
        <p:spPr>
          <a:xfrm>
            <a:off x="5966615" y="3697984"/>
            <a:ext cx="488720" cy="457866"/>
          </a:xfrm>
          <a:prstGeom prst="mathPlu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直接连接符 22">
            <a:extLst>
              <a:ext uri="{FF2B5EF4-FFF2-40B4-BE49-F238E27FC236}">
                <a16:creationId xmlns:a16="http://schemas.microsoft.com/office/drawing/2014/main" id="{1B0F3B1E-2B65-A314-A362-3B3950754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3571" y="4692640"/>
            <a:ext cx="270951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1" name="直接连接符 101">
            <a:extLst>
              <a:ext uri="{FF2B5EF4-FFF2-40B4-BE49-F238E27FC236}">
                <a16:creationId xmlns:a16="http://schemas.microsoft.com/office/drawing/2014/main" id="{A7A49CC0-CB16-A543-55A2-91FCD0721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08706" y="4692640"/>
            <a:ext cx="0" cy="198116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2" name="直接连接符 105">
            <a:extLst>
              <a:ext uri="{FF2B5EF4-FFF2-40B4-BE49-F238E27FC236}">
                <a16:creationId xmlns:a16="http://schemas.microsoft.com/office/drawing/2014/main" id="{2546B097-5D05-9177-8551-577DCAE149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03362" y="6465844"/>
            <a:ext cx="271161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3" name="直接连接符 106">
            <a:extLst>
              <a:ext uri="{FF2B5EF4-FFF2-40B4-BE49-F238E27FC236}">
                <a16:creationId xmlns:a16="http://schemas.microsoft.com/office/drawing/2014/main" id="{895DAB8A-6FE0-8C7C-0335-3F914DD59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8501" y="6281957"/>
            <a:ext cx="0" cy="183887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4" name="直接连接符 108">
            <a:extLst>
              <a:ext uri="{FF2B5EF4-FFF2-40B4-BE49-F238E27FC236}">
                <a16:creationId xmlns:a16="http://schemas.microsoft.com/office/drawing/2014/main" id="{51C5E878-C654-FB50-270A-282B8205A7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27548" y="4713038"/>
            <a:ext cx="269396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5" name="直接连接符 109">
            <a:extLst>
              <a:ext uri="{FF2B5EF4-FFF2-40B4-BE49-F238E27FC236}">
                <a16:creationId xmlns:a16="http://schemas.microsoft.com/office/drawing/2014/main" id="{0DC3951C-369C-F976-B818-535AF11967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691838" y="4713038"/>
            <a:ext cx="0" cy="197892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6" name="直接连接符 111">
            <a:extLst>
              <a:ext uri="{FF2B5EF4-FFF2-40B4-BE49-F238E27FC236}">
                <a16:creationId xmlns:a16="http://schemas.microsoft.com/office/drawing/2014/main" id="{A933DA67-DA10-D6F5-9116-E6BCCDE9EE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27547" y="6440880"/>
            <a:ext cx="269396" cy="0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7" name="直接连接符 112">
            <a:extLst>
              <a:ext uri="{FF2B5EF4-FFF2-40B4-BE49-F238E27FC236}">
                <a16:creationId xmlns:a16="http://schemas.microsoft.com/office/drawing/2014/main" id="{1718A241-7299-ED76-07FE-2DB5ABDD1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691838" y="6256992"/>
            <a:ext cx="0" cy="183888"/>
          </a:xfrm>
          <a:prstGeom prst="line">
            <a:avLst/>
          </a:prstGeom>
          <a:noFill/>
          <a:ln w="57150" cap="flat" cmpd="sng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50">
              <a:ea typeface="微软雅黑" panose="020B050302020402020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38B936-735D-3002-19CE-059F9C13264E}"/>
              </a:ext>
            </a:extLst>
          </p:cNvPr>
          <p:cNvSpPr txBox="1"/>
          <p:nvPr/>
        </p:nvSpPr>
        <p:spPr>
          <a:xfrm>
            <a:off x="10186087" y="4774458"/>
            <a:ext cx="15922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extLst>
                <a:ext uri="{35155182-B16C-46BC-9424-99874614C6A1}">
                  <wpsdc:indentchars xmlns:wpsdc="http://www.wps.cn/officeDocument/2017/drawingmlCustomData" xmlns="" xmlns:lc="http://schemas.openxmlformats.org/drawingml/2006/lockedCanvas" val="200" checksum="4158780845"/>
                </a:ext>
              </a:extLst>
            </a:pPr>
            <a:r>
              <a:rPr lang="en-US" altLang="zh-CN" sz="1600" b="1" i="0" dirty="0">
                <a:solidFill>
                  <a:srgbClr val="002060"/>
                </a:solidFill>
                <a:effectLst/>
                <a:ea typeface="微软雅黑" panose="020B0503020204020204" charset="-122"/>
              </a:rPr>
              <a:t>AI large models becoming the engine of the 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ea typeface="微软雅黑" panose="020B0503020204020204" charset="-122"/>
              </a:rPr>
              <a:t>Fourth Industrial Revolution</a:t>
            </a:r>
            <a:endParaRPr lang="zh-CN" altLang="zh-CN" sz="1600" b="1" i="0" dirty="0">
              <a:solidFill>
                <a:srgbClr val="FF0000"/>
              </a:solidFill>
              <a:effectLst/>
              <a:ea typeface="微软雅黑" panose="020B050302020402020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6DB5543-C27A-1907-8298-67ED17E84C0A}"/>
              </a:ext>
            </a:extLst>
          </p:cNvPr>
          <p:cNvSpPr txBox="1"/>
          <p:nvPr/>
        </p:nvSpPr>
        <p:spPr>
          <a:xfrm>
            <a:off x="8222146" y="4222706"/>
            <a:ext cx="175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Manufacturing 4.0</a:t>
            </a:r>
            <a:endParaRPr kumimoji="1" lang="zh-CN" altLang="en-US" sz="1600" b="1" dirty="0"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772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8B7763E-EF48-E7FF-9AEB-0170FC8D8E45}"/>
              </a:ext>
            </a:extLst>
          </p:cNvPr>
          <p:cNvSpPr txBox="1"/>
          <p:nvPr/>
        </p:nvSpPr>
        <p:spPr>
          <a:xfrm>
            <a:off x="1738860" y="2563318"/>
            <a:ext cx="41522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Thank</a:t>
            </a:r>
            <a:r>
              <a:rPr kumimoji="1" lang="zh-CN" altLang="en-US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You</a:t>
            </a:r>
            <a:endParaRPr kumimoji="1" lang="zh-CN" altLang="en-US" sz="6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1090</Words>
  <Application>Microsoft Macintosh PowerPoint</Application>
  <PresentationFormat>宽屏</PresentationFormat>
  <Paragraphs>221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微软雅黑</vt:lpstr>
      <vt:lpstr>微软雅黑</vt:lpstr>
      <vt:lpstr>Inter</vt:lpstr>
      <vt:lpstr>Arial</vt:lpstr>
      <vt:lpstr>Calibri</vt:lpstr>
      <vt:lpstr>Cambria</vt:lpstr>
      <vt:lpstr>Segoe UI</vt:lpstr>
      <vt:lpstr>Times New Roman</vt:lpstr>
      <vt:lpstr>Custom Design</vt:lpstr>
      <vt:lpstr>PowerPoint 演示文稿</vt:lpstr>
      <vt:lpstr>Contact</vt:lpstr>
      <vt:lpstr>Question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Myolie TAM</dc:creator>
  <cp:lastModifiedBy>Dan Su</cp:lastModifiedBy>
  <cp:revision>165</cp:revision>
  <dcterms:created xsi:type="dcterms:W3CDTF">2026-09-03T11:23:43Z</dcterms:created>
  <dcterms:modified xsi:type="dcterms:W3CDTF">2026-09-08T07:13:12Z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2F205C7E6A65826ABE58996A810E04BE_43</vt:lpwstr>
  </property>
</Properties>
</file>