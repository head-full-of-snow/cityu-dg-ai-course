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65" r:id="rId4"/>
    <p:sldId id="267" r:id="rId5"/>
    <p:sldId id="268" r:id="rId6"/>
    <p:sldId id="269" r:id="rId7"/>
    <p:sldId id="270" r:id="rId8"/>
    <p:sldId id="271" r:id="rId9"/>
    <p:sldId id="281" r:id="rId10"/>
    <p:sldId id="272" r:id="rId11"/>
    <p:sldId id="276" r:id="rId12"/>
    <p:sldId id="275" r:id="rId13"/>
    <p:sldId id="273" r:id="rId14"/>
    <p:sldId id="274" r:id="rId15"/>
    <p:sldId id="278" r:id="rId16"/>
    <p:sldId id="279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B85"/>
    <a:srgbClr val="0A1F3A"/>
    <a:srgbClr val="B11117"/>
    <a:srgbClr val="B1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76616"/>
  </p:normalViewPr>
  <p:slideViewPr>
    <p:cSldViewPr snapToGrid="0">
      <p:cViewPr varScale="1">
        <p:scale>
          <a:sx n="48" d="100"/>
          <a:sy n="48" d="100"/>
        </p:scale>
        <p:origin x="604" y="5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7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16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62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665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46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753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313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55CB-48EE-77B8-32FB-EF0B8958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FF5F5E-C499-ED17-E284-E8BE84F37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5A1BA8-5F37-09F8-3C97-54C29B932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5B0599-68D0-8340-C3E0-D6A09DAE9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2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784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F158-B8E6-9546-2875-E1E15434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5D22C9-0A3E-BC55-322E-15B070360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2EDB36-E239-466A-91D0-EC19E530A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EC164-D8B8-74DC-221F-D20C7ECAE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944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6A68-A35B-C078-B0DA-6C392696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D230C2-8AF8-F4A4-EB9F-5E5ED1BAD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BBFF75-0158-F649-6117-24FB23996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ADB5D1-9F05-DF48-6713-E9E5AE80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004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496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179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069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555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950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1584" y="3593554"/>
            <a:ext cx="6773244" cy="1019775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sz="6000" b="0" cap="none" spc="0">
                <a:ln w="0"/>
                <a:solidFill>
                  <a:srgbClr val="B11117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9225" y="2784529"/>
            <a:ext cx="5770563" cy="25986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b="1" dirty="0"/>
              <a:t>Presentation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378630" y="1738423"/>
            <a:ext cx="7975169" cy="45848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513667" y="387458"/>
            <a:ext cx="9840132" cy="93506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462" y="1866820"/>
            <a:ext cx="10367075" cy="43944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912462" y="418455"/>
            <a:ext cx="10367075" cy="90923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92257" y="697424"/>
            <a:ext cx="7284204" cy="495945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38087" y="2887851"/>
            <a:ext cx="2941449" cy="27690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14766" y="1575660"/>
            <a:ext cx="11065790" cy="485355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6"/>
          <p:cNvSpPr>
            <a:spLocks noGrp="1"/>
          </p:cNvSpPr>
          <p:nvPr>
            <p:ph type="title" hasCustomPrompt="1"/>
          </p:nvPr>
        </p:nvSpPr>
        <p:spPr>
          <a:xfrm>
            <a:off x="614766" y="428786"/>
            <a:ext cx="9366142" cy="935064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6576446" y="1560162"/>
            <a:ext cx="5104109" cy="38487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-67159" y="2665708"/>
            <a:ext cx="4546169" cy="1911457"/>
          </a:xfrm>
          <a:prstGeom prst="rect">
            <a:avLst/>
          </a:prstGeom>
        </p:spPr>
        <p:txBody>
          <a:bodyPr/>
          <a:lstStyle>
            <a:lvl1pPr algn="ctr">
              <a:defRPr sz="5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 hasCustomPrompt="1"/>
          </p:nvPr>
        </p:nvSpPr>
        <p:spPr>
          <a:xfrm>
            <a:off x="526754" y="2782403"/>
            <a:ext cx="6462982" cy="1293193"/>
          </a:xfrm>
          <a:prstGeom prst="rect">
            <a:avLst/>
          </a:prstGeom>
        </p:spPr>
        <p:txBody>
          <a:bodyPr/>
          <a:lstStyle>
            <a:lvl1pPr algn="ctr">
              <a:defRPr sz="7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You!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2636052" y="3613785"/>
            <a:ext cx="9471025" cy="1655445"/>
          </a:xfrm>
          <a:prstGeom prst="rect">
            <a:avLst/>
          </a:prstGeom>
        </p:spPr>
        <p:txBody>
          <a:bodyPr/>
          <a:lstStyle/>
          <a:p>
            <a:r>
              <a:rPr lang="en-US" altLang="zh-CN" sz="4400" b="1" dirty="0"/>
              <a:t>Perceptron &amp; ADALINE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75195" y="407670"/>
            <a:ext cx="5080000" cy="37728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E07A4F"/>
                </a:solidFill>
                <a:latin typeface="Inter"/>
                <a:ea typeface="Inter"/>
              </a:rPr>
              <a:t>INTELLIGENT SYSTEMS · Tutorial 2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09995" y="5269230"/>
            <a:ext cx="1508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A1F3A"/>
                </a:solidFill>
                <a:cs typeface="Times New Roman" panose="02020503050405090304" charset="0"/>
              </a:rPr>
              <a:t>Dan Su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1">
            <a:extLst>
              <a:ext uri="{FF2B5EF4-FFF2-40B4-BE49-F238E27FC236}">
                <a16:creationId xmlns:a16="http://schemas.microsoft.com/office/drawing/2014/main" id="{BEC54584-51EE-7E1A-55BE-AA66CE12AF9A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artificial neuron (McCulloch–Pitts → Rosenblatt)</a:t>
            </a: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7519363D-CE67-2C9E-BC1D-20CC15DAD47B}"/>
              </a:ext>
            </a:extLst>
          </p:cNvPr>
          <p:cNvSpPr txBox="1"/>
          <p:nvPr/>
        </p:nvSpPr>
        <p:spPr>
          <a:xfrm>
            <a:off x="472440" y="15727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→ threshold → binary decision</a:t>
            </a:r>
            <a:endParaRPr lang="en-US" sz="1500" dirty="0"/>
          </a:p>
        </p:txBody>
      </p:sp>
      <p:pic>
        <p:nvPicPr>
          <p:cNvPr id="3" name="Image 0" descr="/home/claude/deck/assets/fig_perceptron.png">
            <a:extLst>
              <a:ext uri="{FF2B5EF4-FFF2-40B4-BE49-F238E27FC236}">
                <a16:creationId xmlns:a16="http://schemas.microsoft.com/office/drawing/2014/main" id="{40E48689-C1D9-2796-368B-E5CB12784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2075688"/>
            <a:ext cx="6035040" cy="3304253"/>
          </a:xfrm>
          <a:prstGeom prst="rect">
            <a:avLst/>
          </a:prstGeom>
        </p:spPr>
      </p:pic>
      <p:pic>
        <p:nvPicPr>
          <p:cNvPr id="4" name="Image 1" descr="/home/claude/deck/assets/eq_mp.png">
            <a:extLst>
              <a:ext uri="{FF2B5EF4-FFF2-40B4-BE49-F238E27FC236}">
                <a16:creationId xmlns:a16="http://schemas.microsoft.com/office/drawing/2014/main" id="{E02B7F4C-9D58-DDB8-4DD4-73A01CB71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835" y="2231136"/>
            <a:ext cx="4969691" cy="841888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213EB247-C0AE-1563-EA5D-E18DD0F6392B}"/>
              </a:ext>
            </a:extLst>
          </p:cNvPr>
          <p:cNvSpPr/>
          <p:nvPr/>
        </p:nvSpPr>
        <p:spPr>
          <a:xfrm>
            <a:off x="6690360" y="3465576"/>
            <a:ext cx="5120640" cy="2642616"/>
          </a:xfrm>
          <a:prstGeom prst="roundRect">
            <a:avLst>
              <a:gd name="adj" fmla="val 48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8FA8BA9-38AB-A38F-B1EA-46845CFD10B2}"/>
              </a:ext>
            </a:extLst>
          </p:cNvPr>
          <p:cNvSpPr txBox="1"/>
          <p:nvPr/>
        </p:nvSpPr>
        <p:spPr>
          <a:xfrm>
            <a:off x="6804660" y="3616132"/>
            <a:ext cx="489204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lnSpc>
                <a:spcPts val="236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x₁…xₙ are real numbers (features); each has a weight wᵢ that says how much it matters and in which direction.</a:t>
            </a:r>
            <a:endParaRPr lang="en-US" dirty="0"/>
          </a:p>
          <a:p>
            <a:pPr marL="177800" indent="-177800" algn="just">
              <a:lnSpc>
                <a:spcPts val="236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b shifts the decision point; without it every boundary must pass through the origin.</a:t>
            </a:r>
            <a:endParaRPr lang="en-US" dirty="0"/>
          </a:p>
          <a:p>
            <a:pPr marL="177800" indent="-177800" algn="just">
              <a:lnSpc>
                <a:spcPts val="236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activation φ is a hard limiter: the neuron either fires (1 / +1) or not (0 / −1).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67A4702B-202E-11C5-2686-CE07510AE4D9}"/>
              </a:ext>
            </a:extLst>
          </p:cNvPr>
          <p:cNvSpPr txBox="1"/>
          <p:nvPr/>
        </p:nvSpPr>
        <p:spPr>
          <a:xfrm>
            <a:off x="1386840" y="59155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= choosing w and b from labelled examples (x, t).</a:t>
            </a:r>
            <a:endParaRPr 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2DA458-3D52-946D-500F-85E0CE59DE7F}"/>
              </a:ext>
            </a:extLst>
          </p:cNvPr>
          <p:cNvSpPr/>
          <p:nvPr/>
        </p:nvSpPr>
        <p:spPr>
          <a:xfrm>
            <a:off x="8643678" y="2508393"/>
            <a:ext cx="312998" cy="287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CN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kumimoji="1" lang="zh-CN" alt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1">
            <a:extLst>
              <a:ext uri="{FF2B5EF4-FFF2-40B4-BE49-F238E27FC236}">
                <a16:creationId xmlns:a16="http://schemas.microsoft.com/office/drawing/2014/main" id="{10088D83-9065-54AD-3422-CA18A47203D0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Perceptron: definition and the augmented-vector trick</a:t>
            </a:r>
            <a:endParaRPr lang="en-US" altLang="zh-CN" sz="2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F831BF1-1AB0-6BF1-F6DE-75584A1B254F}"/>
              </a:ext>
            </a:extLst>
          </p:cNvPr>
          <p:cNvSpPr txBox="1"/>
          <p:nvPr/>
        </p:nvSpPr>
        <p:spPr>
          <a:xfrm>
            <a:off x="457200" y="141209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bipolar convention t, y ∈ {−1, +1} for the theory; the AND example later uses {0, 1}</a:t>
            </a:r>
            <a:endParaRPr lang="en-US" sz="1600" dirty="0"/>
          </a:p>
        </p:txBody>
      </p:sp>
      <p:pic>
        <p:nvPicPr>
          <p:cNvPr id="3" name="Image 0" descr="/home/claude/deck/assets/eq_perc.png">
            <a:extLst>
              <a:ext uri="{FF2B5EF4-FFF2-40B4-BE49-F238E27FC236}">
                <a16:creationId xmlns:a16="http://schemas.microsoft.com/office/drawing/2014/main" id="{66082B59-0243-EA42-D8AC-F7A0B6A56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081" y="1933306"/>
            <a:ext cx="6523357" cy="841888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A4A184C8-9A53-8CE3-EEE6-A24EDAFE7AEB}"/>
              </a:ext>
            </a:extLst>
          </p:cNvPr>
          <p:cNvSpPr/>
          <p:nvPr/>
        </p:nvSpPr>
        <p:spPr>
          <a:xfrm>
            <a:off x="457200" y="3259186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721E26D-CD81-A7AA-9349-85A02B0F90B8}"/>
              </a:ext>
            </a:extLst>
          </p:cNvPr>
          <p:cNvSpPr txBox="1"/>
          <p:nvPr/>
        </p:nvSpPr>
        <p:spPr>
          <a:xfrm>
            <a:off x="685800" y="3350626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the bias into the weights</a:t>
            </a:r>
            <a:endParaRPr lang="en-US" sz="2000" dirty="0"/>
          </a:p>
        </p:txBody>
      </p:sp>
      <p:pic>
        <p:nvPicPr>
          <p:cNvPr id="29" name="Image 1" descr="/home/claude/deck/assets/eq_aug.png">
            <a:extLst>
              <a:ext uri="{FF2B5EF4-FFF2-40B4-BE49-F238E27FC236}">
                <a16:creationId xmlns:a16="http://schemas.microsoft.com/office/drawing/2014/main" id="{0E933F50-C845-F444-5256-F8D5912F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07826"/>
            <a:ext cx="5120640" cy="298004"/>
          </a:xfrm>
          <a:prstGeom prst="rect">
            <a:avLst/>
          </a:prstGeom>
        </p:spPr>
      </p:pic>
      <p:sp>
        <p:nvSpPr>
          <p:cNvPr id="30" name="Text 6">
            <a:extLst>
              <a:ext uri="{FF2B5EF4-FFF2-40B4-BE49-F238E27FC236}">
                <a16:creationId xmlns:a16="http://schemas.microsoft.com/office/drawing/2014/main" id="{6DA61B74-B384-9B6C-82F4-7E77144644AC}"/>
              </a:ext>
            </a:extLst>
          </p:cNvPr>
          <p:cNvSpPr txBox="1"/>
          <p:nvPr/>
        </p:nvSpPr>
        <p:spPr>
          <a:xfrm>
            <a:off x="640080" y="4589822"/>
            <a:ext cx="51206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a constant input x₀ = 1 whose weight is b.</a:t>
            </a:r>
            <a:endParaRPr lang="en-US" dirty="0"/>
          </a:p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every formula has only w and x — the bias is updated by the same rule as any weight.</a:t>
            </a:r>
            <a:endParaRPr lang="en-US" dirty="0"/>
          </a:p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some textbooks never mention b at all.</a:t>
            </a:r>
            <a:endParaRPr lang="en-US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48DD2879-8F69-8BC8-B737-C7096E993A8C}"/>
              </a:ext>
            </a:extLst>
          </p:cNvPr>
          <p:cNvSpPr/>
          <p:nvPr/>
        </p:nvSpPr>
        <p:spPr>
          <a:xfrm>
            <a:off x="6263640" y="3259186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30FACC9A-D3CC-2577-8F5B-135286BC0725}"/>
              </a:ext>
            </a:extLst>
          </p:cNvPr>
          <p:cNvSpPr txBox="1"/>
          <p:nvPr/>
        </p:nvSpPr>
        <p:spPr>
          <a:xfrm>
            <a:off x="6492240" y="3350626"/>
            <a:ext cx="5029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you must be fluent in</a:t>
            </a:r>
            <a:endParaRPr lang="en-US" sz="20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4496C4A-A135-45F1-708A-F0E3D1EE10EB}"/>
              </a:ext>
            </a:extLst>
          </p:cNvPr>
          <p:cNvSpPr txBox="1"/>
          <p:nvPr/>
        </p:nvSpPr>
        <p:spPr>
          <a:xfrm>
            <a:off x="6492240" y="3990706"/>
            <a:ext cx="52120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induced local field / net input / pre-activation</a:t>
            </a:r>
            <a:endParaRPr lang="en-US" dirty="0"/>
          </a:p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actual output;  t (or d) — target / desired output</a:t>
            </a:r>
            <a:endParaRPr lang="en-US" dirty="0"/>
          </a:p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t − y — error signal</a:t>
            </a:r>
            <a:endParaRPr lang="en-US" dirty="0"/>
          </a:p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(eta) — learning rate, a small positive constant</a:t>
            </a:r>
            <a:endParaRPr lang="en-US" dirty="0"/>
          </a:p>
          <a:p>
            <a:pPr marL="177800" indent="-1778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— one full pass over all training samples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10709A82-1EAA-CD60-B4EE-46C5F3C4D256}"/>
              </a:ext>
            </a:extLst>
          </p:cNvPr>
          <p:cNvSpPr txBox="1"/>
          <p:nvPr/>
        </p:nvSpPr>
        <p:spPr>
          <a:xfrm>
            <a:off x="640080" y="16131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is the normal vector; b sets the offset; the sign tells which side you are on</a:t>
            </a:r>
            <a:endParaRPr lang="en-US" dirty="0"/>
          </a:p>
        </p:txBody>
      </p:sp>
      <p:pic>
        <p:nvPicPr>
          <p:cNvPr id="17" name="Image 0" descr="/home/claude/deck/assets/fig_hyperplane.png">
            <a:extLst>
              <a:ext uri="{FF2B5EF4-FFF2-40B4-BE49-F238E27FC236}">
                <a16:creationId xmlns:a16="http://schemas.microsoft.com/office/drawing/2014/main" id="{72355550-6440-FA6F-610F-3867FC5DD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75963"/>
            <a:ext cx="4846320" cy="4090984"/>
          </a:xfrm>
          <a:prstGeom prst="rect">
            <a:avLst/>
          </a:prstGeom>
        </p:spPr>
      </p:pic>
      <p:pic>
        <p:nvPicPr>
          <p:cNvPr id="18" name="Image 1" descr="/home/claude/deck/assets/eq_hyper.png">
            <a:extLst>
              <a:ext uri="{FF2B5EF4-FFF2-40B4-BE49-F238E27FC236}">
                <a16:creationId xmlns:a16="http://schemas.microsoft.com/office/drawing/2014/main" id="{9916983C-F615-628D-4E77-1E5B63512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553" y="2313123"/>
            <a:ext cx="5408493" cy="696471"/>
          </a:xfrm>
          <a:prstGeom prst="rect">
            <a:avLst/>
          </a:prstGeom>
        </p:spPr>
      </p:pic>
      <p:sp>
        <p:nvSpPr>
          <p:cNvPr id="19" name="Shape 4">
            <a:extLst>
              <a:ext uri="{FF2B5EF4-FFF2-40B4-BE49-F238E27FC236}">
                <a16:creationId xmlns:a16="http://schemas.microsoft.com/office/drawing/2014/main" id="{2619F077-7236-042F-8E88-77D40706F7AE}"/>
              </a:ext>
            </a:extLst>
          </p:cNvPr>
          <p:cNvSpPr/>
          <p:nvPr/>
        </p:nvSpPr>
        <p:spPr>
          <a:xfrm>
            <a:off x="5669280" y="3456123"/>
            <a:ext cx="6035040" cy="292608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C62FCC6-2923-0484-5488-EB80A225DD70}"/>
              </a:ext>
            </a:extLst>
          </p:cNvPr>
          <p:cNvSpPr txBox="1"/>
          <p:nvPr/>
        </p:nvSpPr>
        <p:spPr>
          <a:xfrm>
            <a:off x="5852160" y="3547563"/>
            <a:ext cx="571500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ea typeface="Calibri" pitchFamily="34" charset="-122"/>
                <a:cs typeface="Calibri" pitchFamily="34" charset="-120"/>
              </a:rPr>
              <a:t>In 2-D the boundary wᵀx + b = 0 is a line; in 3-D a plane; in n-D an (n−1)-dimensional hyperplane.</a:t>
            </a:r>
            <a:endParaRPr lang="en-US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ea typeface="Calibri" pitchFamily="34" charset="-122"/>
                <a:cs typeface="Calibri" pitchFamily="34" charset="-120"/>
              </a:rPr>
              <a:t>w is perpendicular to the boundary and points toward the +1 side (because moving along w increases wᵀx).</a:t>
            </a:r>
            <a:endParaRPr lang="en-US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ea typeface="Calibri" pitchFamily="34" charset="-122"/>
                <a:cs typeface="Calibri" pitchFamily="34" charset="-120"/>
              </a:rPr>
              <a:t>The signed distance of a point to the boundary is (wᵀx + b)/‖w‖ — so |v| measures how confidently a point is classified.</a:t>
            </a:r>
            <a:endParaRPr lang="en-US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ea typeface="Calibri" pitchFamily="34" charset="-122"/>
                <a:cs typeface="Calibri" pitchFamily="34" charset="-120"/>
              </a:rPr>
              <a:t>Scaling w and b by the same positive constant does NOT change the boundary — only the direction of w̃ matters.</a:t>
            </a:r>
            <a:endParaRPr lang="en-US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8657AEE5-BA2F-BD14-1653-A878D5E7BE5F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Geometry: the perceptron is a hyperplane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46284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E99571D4-2AD6-B33B-10B4-3B506D976061}"/>
              </a:ext>
            </a:extLst>
          </p:cNvPr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perceptron learning rule (Rosenblatt)</a:t>
            </a:r>
            <a:endParaRPr lang="en-US" altLang="zh-CN" sz="2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DE12D6F4-A00C-388C-0116-0C09B5E8632B}"/>
              </a:ext>
            </a:extLst>
          </p:cNvPr>
          <p:cNvSpPr txBox="1"/>
          <p:nvPr/>
        </p:nvSpPr>
        <p:spPr>
          <a:xfrm>
            <a:off x="457200" y="1483495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Error-correction: change nothing when right; when wrong, move w toward (or away from) x</a:t>
            </a:r>
            <a:endParaRPr lang="en-US" sz="1600" dirty="0"/>
          </a:p>
        </p:txBody>
      </p:sp>
      <p:pic>
        <p:nvPicPr>
          <p:cNvPr id="3" name="Image 0" descr="/home/claude/deck/assets/eq_prule.png">
            <a:extLst>
              <a:ext uri="{FF2B5EF4-FFF2-40B4-BE49-F238E27FC236}">
                <a16:creationId xmlns:a16="http://schemas.microsoft.com/office/drawing/2014/main" id="{51FE08A4-047F-0986-BA7B-AC3E4C5D2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25" y="1958983"/>
            <a:ext cx="4709471" cy="326551"/>
          </a:xfrm>
          <a:prstGeom prst="rect">
            <a:avLst/>
          </a:prstGeom>
        </p:spPr>
      </p:pic>
      <p:pic>
        <p:nvPicPr>
          <p:cNvPr id="4" name="Image 1" descr="/home/claude/deck/assets/eq_prule2.png">
            <a:extLst>
              <a:ext uri="{FF2B5EF4-FFF2-40B4-BE49-F238E27FC236}">
                <a16:creationId xmlns:a16="http://schemas.microsoft.com/office/drawing/2014/main" id="{D429BC3B-28EC-D39D-B6F1-AB61CF6E1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48" y="2736223"/>
            <a:ext cx="5150824" cy="326551"/>
          </a:xfrm>
          <a:prstGeom prst="rect">
            <a:avLst/>
          </a:prstGeom>
        </p:spPr>
      </p:pic>
      <p:pic>
        <p:nvPicPr>
          <p:cNvPr id="44" name="Image 2" descr="/home/claude/deck/assets/fig_update.png">
            <a:extLst>
              <a:ext uri="{FF2B5EF4-FFF2-40B4-BE49-F238E27FC236}">
                <a16:creationId xmlns:a16="http://schemas.microsoft.com/office/drawing/2014/main" id="{E1CF90B7-8956-B6C4-E60A-CACEE315A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4903"/>
            <a:ext cx="5852160" cy="2679302"/>
          </a:xfrm>
          <a:prstGeom prst="rect">
            <a:avLst/>
          </a:prstGeom>
        </p:spPr>
      </p:pic>
      <p:sp>
        <p:nvSpPr>
          <p:cNvPr id="45" name="Shape 4">
            <a:extLst>
              <a:ext uri="{FF2B5EF4-FFF2-40B4-BE49-F238E27FC236}">
                <a16:creationId xmlns:a16="http://schemas.microsoft.com/office/drawing/2014/main" id="{D02DB082-E51D-0318-E679-04233EC80E2E}"/>
              </a:ext>
            </a:extLst>
          </p:cNvPr>
          <p:cNvSpPr/>
          <p:nvPr/>
        </p:nvSpPr>
        <p:spPr>
          <a:xfrm>
            <a:off x="6492240" y="1958983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161B783-CA1E-9493-5327-10B50FEAB5C0}"/>
              </a:ext>
            </a:extLst>
          </p:cNvPr>
          <p:cNvSpPr txBox="1"/>
          <p:nvPr/>
        </p:nvSpPr>
        <p:spPr>
          <a:xfrm>
            <a:off x="6675120" y="2050423"/>
            <a:ext cx="4937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work? (bipolar case, t − y ∈ {0, ±2})</a:t>
            </a:r>
            <a:endParaRPr lang="en-US" sz="15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9D5D9926-0314-E679-F68A-D0B788D783E1}"/>
              </a:ext>
            </a:extLst>
          </p:cNvPr>
          <p:cNvSpPr txBox="1"/>
          <p:nvPr/>
        </p:nvSpPr>
        <p:spPr>
          <a:xfrm>
            <a:off x="6675120" y="2461903"/>
            <a:ext cx="49377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sample: t = y ⇒ (t − y) = 0 ⇒ no change. The rule only reacts to mistakes.</a:t>
            </a:r>
            <a:endParaRPr lang="en-US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positive (t = +1, y = −1): w ← w + 2ηx.  New field: (w + 2ηx)ᵀx = wᵀx + 2η‖x‖² — strictly larger, i.e. pushed toward the correct (+) side.</a:t>
            </a:r>
            <a:endParaRPr lang="en-US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(t = −1, y = +1): w ← w − 2ηx. The field decreases by 2η‖x‖².</a:t>
            </a:r>
            <a:endParaRPr lang="en-US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Geometrically: w rotates toward a misclassified positive x and away from a misclassified negative x (figure, left).</a:t>
            </a:r>
            <a:endParaRPr lang="en-US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only scales the step; for the perceptron η = 1 is fine because only the direction of w̃ matters.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50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CBE44CBC-864F-4276-E64C-3B8FBD97541A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algorithm, step by step</a:t>
            </a:r>
            <a:endParaRPr lang="en-US" altLang="zh-CN" sz="32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B8EB449A-22A2-1C5A-1800-1E527A6D38BA}"/>
              </a:ext>
            </a:extLst>
          </p:cNvPr>
          <p:cNvSpPr txBox="1"/>
          <p:nvPr/>
        </p:nvSpPr>
        <p:spPr>
          <a:xfrm>
            <a:off x="457200" y="145249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sample-by-sample training with a stopping test</a:t>
            </a:r>
            <a:endParaRPr lang="en-US" sz="16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105F765-54A7-5C81-A3CE-697FEF89B877}"/>
              </a:ext>
            </a:extLst>
          </p:cNvPr>
          <p:cNvSpPr/>
          <p:nvPr/>
        </p:nvSpPr>
        <p:spPr>
          <a:xfrm>
            <a:off x="548640" y="2037715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A3FB5F43-9031-53B0-41BD-C6F360FAA3C1}"/>
              </a:ext>
            </a:extLst>
          </p:cNvPr>
          <p:cNvSpPr txBox="1"/>
          <p:nvPr/>
        </p:nvSpPr>
        <p:spPr>
          <a:xfrm>
            <a:off x="548640" y="20377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8825091D-E69F-D458-80D2-448EAA4B4670}"/>
              </a:ext>
            </a:extLst>
          </p:cNvPr>
          <p:cNvSpPr txBox="1"/>
          <p:nvPr/>
        </p:nvSpPr>
        <p:spPr>
          <a:xfrm>
            <a:off x="1051560" y="2019427"/>
            <a:ext cx="6080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 (or small random values), b = 0; choose η &gt; 0.</a:t>
            </a:r>
            <a:endParaRPr lang="en-US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906C2953-5878-71F7-5C95-35776BE0A591}"/>
              </a:ext>
            </a:extLst>
          </p:cNvPr>
          <p:cNvSpPr/>
          <p:nvPr/>
        </p:nvSpPr>
        <p:spPr>
          <a:xfrm>
            <a:off x="548640" y="2933827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E5D84B3C-9A26-1160-81D4-CB68825967B3}"/>
              </a:ext>
            </a:extLst>
          </p:cNvPr>
          <p:cNvSpPr txBox="1"/>
          <p:nvPr/>
        </p:nvSpPr>
        <p:spPr>
          <a:xfrm>
            <a:off x="548640" y="29338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89B22D7-E366-73A8-4A28-ADCFBF375B27}"/>
              </a:ext>
            </a:extLst>
          </p:cNvPr>
          <p:cNvSpPr txBox="1"/>
          <p:nvPr/>
        </p:nvSpPr>
        <p:spPr>
          <a:xfrm>
            <a:off x="1051560" y="2915539"/>
            <a:ext cx="6080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sample (xₖ, tₖ)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 = wᵀxₖ + b and y = φ(v).</a:t>
            </a:r>
            <a:endParaRPr lang="en-US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38F01C63-7CD8-E327-9753-77B10F561A2C}"/>
              </a:ext>
            </a:extLst>
          </p:cNvPr>
          <p:cNvSpPr/>
          <p:nvPr/>
        </p:nvSpPr>
        <p:spPr>
          <a:xfrm>
            <a:off x="548640" y="3829939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8690923-58A7-ABB1-BAE8-C30F03162214}"/>
              </a:ext>
            </a:extLst>
          </p:cNvPr>
          <p:cNvSpPr txBox="1"/>
          <p:nvPr/>
        </p:nvSpPr>
        <p:spPr>
          <a:xfrm>
            <a:off x="548640" y="38299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08202A5-2E70-DE73-7F01-7FB93360E204}"/>
              </a:ext>
            </a:extLst>
          </p:cNvPr>
          <p:cNvSpPr txBox="1"/>
          <p:nvPr/>
        </p:nvSpPr>
        <p:spPr>
          <a:xfrm>
            <a:off x="1051560" y="3811651"/>
            <a:ext cx="6080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= tₖ: do nothing.  Else: w ← w + η(tₖ − y)xₖ,  b ← b + η(tₖ − y).</a:t>
            </a:r>
            <a:endParaRPr lang="en-US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7DEDF14A-C1E3-5341-16BF-E3942468F429}"/>
              </a:ext>
            </a:extLst>
          </p:cNvPr>
          <p:cNvSpPr/>
          <p:nvPr/>
        </p:nvSpPr>
        <p:spPr>
          <a:xfrm>
            <a:off x="548640" y="4726051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24FF8739-9983-038C-48A7-843BBB464DD7}"/>
              </a:ext>
            </a:extLst>
          </p:cNvPr>
          <p:cNvSpPr txBox="1"/>
          <p:nvPr/>
        </p:nvSpPr>
        <p:spPr>
          <a:xfrm>
            <a:off x="548640" y="47260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3BBD3D26-F0A9-36F1-0DDF-350FBBE9C49B}"/>
              </a:ext>
            </a:extLst>
          </p:cNvPr>
          <p:cNvSpPr txBox="1"/>
          <p:nvPr/>
        </p:nvSpPr>
        <p:spPr>
          <a:xfrm>
            <a:off x="1051560" y="4707763"/>
            <a:ext cx="6080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samples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over the training set = one epoch.</a:t>
            </a:r>
            <a:endParaRPr lang="en-US" dirty="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8F9E9266-ABD0-DFD0-56B3-CFBDF833F293}"/>
              </a:ext>
            </a:extLst>
          </p:cNvPr>
          <p:cNvSpPr/>
          <p:nvPr/>
        </p:nvSpPr>
        <p:spPr>
          <a:xfrm>
            <a:off x="548640" y="5622163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DEE453D4-9C3C-B94D-193F-04C6676E5ED2}"/>
              </a:ext>
            </a:extLst>
          </p:cNvPr>
          <p:cNvSpPr txBox="1"/>
          <p:nvPr/>
        </p:nvSpPr>
        <p:spPr>
          <a:xfrm>
            <a:off x="548640" y="562216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4C41041B-B9E9-5EA8-67C7-260AD478C6FB}"/>
              </a:ext>
            </a:extLst>
          </p:cNvPr>
          <p:cNvSpPr txBox="1"/>
          <p:nvPr/>
        </p:nvSpPr>
        <p:spPr>
          <a:xfrm>
            <a:off x="1051560" y="5603875"/>
            <a:ext cx="60807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entire epoch produces no update (all samples correct) — or after a maximum number of epochs if the data are not separable.</a:t>
            </a:r>
            <a:endParaRPr lang="en-US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E4FD7696-7151-D04A-1826-05F33715139B}"/>
              </a:ext>
            </a:extLst>
          </p:cNvPr>
          <p:cNvSpPr/>
          <p:nvPr/>
        </p:nvSpPr>
        <p:spPr>
          <a:xfrm>
            <a:off x="7498080" y="2019427"/>
            <a:ext cx="4206240" cy="4389120"/>
          </a:xfrm>
          <a:prstGeom prst="roundRect">
            <a:avLst>
              <a:gd name="adj" fmla="val 2609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9F00A489-9FB1-3EE5-D525-6C1DD980FD0E}"/>
              </a:ext>
            </a:extLst>
          </p:cNvPr>
          <p:cNvSpPr txBox="1"/>
          <p:nvPr/>
        </p:nvSpPr>
        <p:spPr>
          <a:xfrm>
            <a:off x="7680960" y="2110867"/>
            <a:ext cx="3840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Pseudo-code</a:t>
            </a:r>
            <a:endParaRPr lang="en-US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D2AF6370-5201-51B8-0B42-B1C644336546}"/>
              </a:ext>
            </a:extLst>
          </p:cNvPr>
          <p:cNvSpPr txBox="1"/>
          <p:nvPr/>
        </p:nvSpPr>
        <p:spPr>
          <a:xfrm>
            <a:off x="7680960" y="2522347"/>
            <a:ext cx="393192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errors ←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k = 1 … N: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← w·x[k] + b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← 1 if v ≥ 0 else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y ≠ t[k]: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 ← w + η (t[k] − y) x[k]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 ← b + η (t[k] − y)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errors ← errors + 1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errors = 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69628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B996B172-97A5-2BF4-068A-CF116A66B7C2}"/>
              </a:ext>
            </a:extLst>
          </p:cNvPr>
          <p:cNvSpPr txBox="1"/>
          <p:nvPr/>
        </p:nvSpPr>
        <p:spPr>
          <a:xfrm>
            <a:off x="426203" y="1554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Unipolar targets t ∈ {0,1};  φ(v) = 1 if v ≥ 0 else 0;  w = (0,0), b = 0, η = 1</a:t>
            </a:r>
            <a:endParaRPr lang="en-US" sz="16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061BF21E-AE33-A889-8109-9AD80719C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74072"/>
              </p:ext>
            </p:extLst>
          </p:nvPr>
        </p:nvGraphicFramePr>
        <p:xfrm>
          <a:off x="426203" y="2029968"/>
          <a:ext cx="6903720" cy="2798064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(before)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− 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(after)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(after)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Image 0" descr="/home/claude/deck/assets/fig_and.png">
            <a:extLst>
              <a:ext uri="{FF2B5EF4-FFF2-40B4-BE49-F238E27FC236}">
                <a16:creationId xmlns:a16="http://schemas.microsoft.com/office/drawing/2014/main" id="{927C2ED7-FACC-9F54-B800-2C2FCDF5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483" y="2029968"/>
            <a:ext cx="3291840" cy="3015750"/>
          </a:xfrm>
          <a:prstGeom prst="rect">
            <a:avLst/>
          </a:prstGeom>
        </p:spPr>
      </p:pic>
      <p:sp>
        <p:nvSpPr>
          <p:cNvPr id="8" name="Shape 4">
            <a:extLst>
              <a:ext uri="{FF2B5EF4-FFF2-40B4-BE49-F238E27FC236}">
                <a16:creationId xmlns:a16="http://schemas.microsoft.com/office/drawing/2014/main" id="{48634B0C-AE2F-00FD-F354-39153F22D745}"/>
              </a:ext>
            </a:extLst>
          </p:cNvPr>
          <p:cNvSpPr/>
          <p:nvPr/>
        </p:nvSpPr>
        <p:spPr>
          <a:xfrm>
            <a:off x="426203" y="4910328"/>
            <a:ext cx="7589520" cy="1737360"/>
          </a:xfrm>
          <a:prstGeom prst="roundRect">
            <a:avLst>
              <a:gd name="adj" fmla="val 6316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C1342A2-DE45-DA52-D412-F893B3F8F16E}"/>
              </a:ext>
            </a:extLst>
          </p:cNvPr>
          <p:cNvSpPr txBox="1"/>
          <p:nvPr/>
        </p:nvSpPr>
        <p:spPr>
          <a:xfrm>
            <a:off x="609083" y="5001768"/>
            <a:ext cx="72694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shaded amber are the mistakes — the only rows where w or b change (v = 0 counts as y = 1, so (0,0) is initially misclassified).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the same procedure, the first error-free epoch is epoch 6, ending with w = (2, 1), b = -3: the line 2x₁ + 1x₂ − 3 = 0 (figure, right).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(1,1) → v = 0 → y = 1 ✓;  (1,0) → v = −1 → 0 ✓;  (0,1) → v = −2 → 0 ✓;  (0,0) → v = −3 → 0 ✓.</a:t>
            </a:r>
            <a:endParaRPr lang="en-US" sz="1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24FEF8F-8C6C-5E38-8C8D-21201D6E69D6}"/>
              </a:ext>
            </a:extLst>
          </p:cNvPr>
          <p:cNvSpPr txBox="1"/>
          <p:nvPr/>
        </p:nvSpPr>
        <p:spPr>
          <a:xfrm>
            <a:off x="64008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learning the AND function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488528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0746BBC5-E441-1E8C-2827-9D22E206972E}"/>
              </a:ext>
            </a:extLst>
          </p:cNvPr>
          <p:cNvSpPr txBox="1"/>
          <p:nvPr/>
        </p:nvSpPr>
        <p:spPr>
          <a:xfrm>
            <a:off x="64008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4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 convergence theorem</a:t>
            </a: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133CA08-59C9-6526-6184-7B9E4D2B3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548640"/>
            <a:ext cx="1097280" cy="1097280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F3D5BF22-CEC7-8B73-9A6E-B149A61C6768}"/>
              </a:ext>
            </a:extLst>
          </p:cNvPr>
          <p:cNvSpPr txBox="1"/>
          <p:nvPr/>
        </p:nvSpPr>
        <p:spPr>
          <a:xfrm>
            <a:off x="457200" y="131301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separating hyperplane exists, the algorithm finds one after finitely many updates</a:t>
            </a:r>
            <a:endParaRPr lang="en-US" sz="1600" dirty="0"/>
          </a:p>
        </p:txBody>
      </p:sp>
      <p:pic>
        <p:nvPicPr>
          <p:cNvPr id="3" name="Image 0" descr="/home/claude/deck/assets/eq_conv.png">
            <a:extLst>
              <a:ext uri="{FF2B5EF4-FFF2-40B4-BE49-F238E27FC236}">
                <a16:creationId xmlns:a16="http://schemas.microsoft.com/office/drawing/2014/main" id="{81CB8F3C-0FA6-4344-E165-A4EFE5ADD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541" y="1742784"/>
            <a:ext cx="9194438" cy="673510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EEB4DC9F-1F80-1A11-DC17-217605754A04}"/>
              </a:ext>
            </a:extLst>
          </p:cNvPr>
          <p:cNvSpPr/>
          <p:nvPr/>
        </p:nvSpPr>
        <p:spPr>
          <a:xfrm>
            <a:off x="457200" y="2702904"/>
            <a:ext cx="11247120" cy="3611880"/>
          </a:xfrm>
          <a:prstGeom prst="roundRect">
            <a:avLst>
              <a:gd name="adj" fmla="val 303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CCAC396-EE1D-D0AA-F5E3-A94A44A7062C}"/>
              </a:ext>
            </a:extLst>
          </p:cNvPr>
          <p:cNvSpPr txBox="1"/>
          <p:nvPr/>
        </p:nvSpPr>
        <p:spPr>
          <a:xfrm>
            <a:off x="640080" y="2748624"/>
            <a:ext cx="10881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(η = 1, w₀ = 0, bipolar targets, bias absorbed; count only the k updates, i.e. samples with tₖ wₖᵀxₖ ≤ 0)</a:t>
            </a:r>
            <a:endParaRPr lang="en-US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DA7A7354-8FE3-BB03-2E03-07A55A149691}"/>
              </a:ext>
            </a:extLst>
          </p:cNvPr>
          <p:cNvSpPr/>
          <p:nvPr/>
        </p:nvSpPr>
        <p:spPr>
          <a:xfrm>
            <a:off x="685800" y="3205824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CA3186DD-7863-9389-F733-A700893E85E8}"/>
              </a:ext>
            </a:extLst>
          </p:cNvPr>
          <p:cNvSpPr txBox="1"/>
          <p:nvPr/>
        </p:nvSpPr>
        <p:spPr>
          <a:xfrm>
            <a:off x="685800" y="3205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EC1E0309-9177-FA6A-4B84-1A7939D1122A}"/>
              </a:ext>
            </a:extLst>
          </p:cNvPr>
          <p:cNvSpPr txBox="1"/>
          <p:nvPr/>
        </p:nvSpPr>
        <p:spPr>
          <a:xfrm>
            <a:off x="1188720" y="3205824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w* grows at least linearly (uses the margin γ):</a:t>
            </a:r>
            <a:endParaRPr lang="en-US" dirty="0"/>
          </a:p>
        </p:txBody>
      </p:sp>
      <p:pic>
        <p:nvPicPr>
          <p:cNvPr id="22" name="Image 1" descr="/home/claude/deck/assets/eq_conv1.png">
            <a:extLst>
              <a:ext uri="{FF2B5EF4-FFF2-40B4-BE49-F238E27FC236}">
                <a16:creationId xmlns:a16="http://schemas.microsoft.com/office/drawing/2014/main" id="{DA5F895B-4ADA-0369-11A7-8AD43021B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525864"/>
            <a:ext cx="6696837" cy="377574"/>
          </a:xfrm>
          <a:prstGeom prst="rect">
            <a:avLst/>
          </a:prstGeom>
        </p:spPr>
      </p:pic>
      <p:sp>
        <p:nvSpPr>
          <p:cNvPr id="23" name="Shape 9">
            <a:extLst>
              <a:ext uri="{FF2B5EF4-FFF2-40B4-BE49-F238E27FC236}">
                <a16:creationId xmlns:a16="http://schemas.microsoft.com/office/drawing/2014/main" id="{9F9E4903-59C7-92CD-348B-04B2203E163D}"/>
              </a:ext>
            </a:extLst>
          </p:cNvPr>
          <p:cNvSpPr/>
          <p:nvPr/>
        </p:nvSpPr>
        <p:spPr>
          <a:xfrm>
            <a:off x="685800" y="4165944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3AEF64E-0DBF-2523-F349-57BAC1E5D655}"/>
              </a:ext>
            </a:extLst>
          </p:cNvPr>
          <p:cNvSpPr txBox="1"/>
          <p:nvPr/>
        </p:nvSpPr>
        <p:spPr>
          <a:xfrm>
            <a:off x="685800" y="4165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FB52E1A-BD6B-2764-439B-DD6C0D2599B3}"/>
              </a:ext>
            </a:extLst>
          </p:cNvPr>
          <p:cNvSpPr txBox="1"/>
          <p:nvPr/>
        </p:nvSpPr>
        <p:spPr>
          <a:xfrm>
            <a:off x="1188720" y="4165944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 grows at most like √k (uses tₖwₖᵀxₖ ≤ 0 on an update and ‖xₖ‖ ≤ R):</a:t>
            </a:r>
            <a:endParaRPr lang="en-US" dirty="0"/>
          </a:p>
        </p:txBody>
      </p:sp>
      <p:pic>
        <p:nvPicPr>
          <p:cNvPr id="26" name="Image 2" descr="/home/claude/deck/assets/eq_conv2.png">
            <a:extLst>
              <a:ext uri="{FF2B5EF4-FFF2-40B4-BE49-F238E27FC236}">
                <a16:creationId xmlns:a16="http://schemas.microsoft.com/office/drawing/2014/main" id="{8AD9E7DE-40F0-DC6A-055C-7EE72D584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485984"/>
            <a:ext cx="8079574" cy="362267"/>
          </a:xfrm>
          <a:prstGeom prst="rect">
            <a:avLst/>
          </a:prstGeom>
        </p:spPr>
      </p:pic>
      <p:sp>
        <p:nvSpPr>
          <p:cNvPr id="27" name="Shape 12">
            <a:extLst>
              <a:ext uri="{FF2B5EF4-FFF2-40B4-BE49-F238E27FC236}">
                <a16:creationId xmlns:a16="http://schemas.microsoft.com/office/drawing/2014/main" id="{E70DBC40-A061-4C78-B462-95C111F63EC6}"/>
              </a:ext>
            </a:extLst>
          </p:cNvPr>
          <p:cNvSpPr/>
          <p:nvPr/>
        </p:nvSpPr>
        <p:spPr>
          <a:xfrm>
            <a:off x="685800" y="512606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8C7C03BE-E8ED-5901-53BB-7E8EE0C29BE1}"/>
              </a:ext>
            </a:extLst>
          </p:cNvPr>
          <p:cNvSpPr txBox="1"/>
          <p:nvPr/>
        </p:nvSpPr>
        <p:spPr>
          <a:xfrm>
            <a:off x="685800" y="5126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A0A4028B-783A-113C-14FE-721A30B0B84B}"/>
              </a:ext>
            </a:extLst>
          </p:cNvPr>
          <p:cNvSpPr txBox="1"/>
          <p:nvPr/>
        </p:nvSpPr>
        <p:spPr>
          <a:xfrm>
            <a:off x="1188720" y="5126064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Cauchy–Schwarz:</a:t>
            </a:r>
            <a:endParaRPr lang="en-US" dirty="0"/>
          </a:p>
        </p:txBody>
      </p:sp>
      <p:pic>
        <p:nvPicPr>
          <p:cNvPr id="30" name="Image 3" descr="/home/claude/deck/assets/eq_conv3.png">
            <a:extLst>
              <a:ext uri="{FF2B5EF4-FFF2-40B4-BE49-F238E27FC236}">
                <a16:creationId xmlns:a16="http://schemas.microsoft.com/office/drawing/2014/main" id="{351019F7-691A-B84E-0DCA-0E40B1780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5446104"/>
            <a:ext cx="4900491" cy="566928"/>
          </a:xfrm>
          <a:prstGeom prst="rect">
            <a:avLst/>
          </a:prstGeom>
        </p:spPr>
      </p:pic>
      <p:sp>
        <p:nvSpPr>
          <p:cNvPr id="31" name="Text 15">
            <a:extLst>
              <a:ext uri="{FF2B5EF4-FFF2-40B4-BE49-F238E27FC236}">
                <a16:creationId xmlns:a16="http://schemas.microsoft.com/office/drawing/2014/main" id="{B8834B12-5969-C149-47FC-D36ED4873A15}"/>
              </a:ext>
            </a:extLst>
          </p:cNvPr>
          <p:cNvSpPr txBox="1"/>
          <p:nvPr/>
        </p:nvSpPr>
        <p:spPr>
          <a:xfrm>
            <a:off x="457200" y="636050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the bound does not depend on n or on N; a small margin γ (points close to the boundary) means slow learning; if the data are NOT separable the algorithm never stops — you must cap the epochs.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045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108C-0FCB-6067-F318-A5448A88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B2B9C29F-1108-4CC6-65DC-BE76F9F012F3}"/>
              </a:ext>
            </a:extLst>
          </p:cNvPr>
          <p:cNvSpPr txBox="1"/>
          <p:nvPr/>
        </p:nvSpPr>
        <p:spPr>
          <a:xfrm>
            <a:off x="640080" y="685800"/>
            <a:ext cx="117850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limitation: only linearly separable problems</a:t>
            </a:r>
            <a:endParaRPr lang="en-US" altLang="zh-CN" sz="32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074FEE0B-8B5D-A046-138F-0AC96CC9C15B}"/>
              </a:ext>
            </a:extLst>
          </p:cNvPr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Minsky &amp; Papert (1969) — the XOR function has no separating line</a:t>
            </a:r>
            <a:endParaRPr lang="en-US" sz="1600" dirty="0"/>
          </a:p>
        </p:txBody>
      </p:sp>
      <p:pic>
        <p:nvPicPr>
          <p:cNvPr id="3" name="Image 0" descr="/home/claude/deck/assets/fig_xor.png">
            <a:extLst>
              <a:ext uri="{FF2B5EF4-FFF2-40B4-BE49-F238E27FC236}">
                <a16:creationId xmlns:a16="http://schemas.microsoft.com/office/drawing/2014/main" id="{631884D6-8D91-BBB3-DF7B-EEB2B519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24" y="2387767"/>
            <a:ext cx="3566160" cy="3280867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ACD0BA17-3248-9BE1-D2E0-5F690C74DBD2}"/>
              </a:ext>
            </a:extLst>
          </p:cNvPr>
          <p:cNvSpPr/>
          <p:nvPr/>
        </p:nvSpPr>
        <p:spPr>
          <a:xfrm>
            <a:off x="4297680" y="1892808"/>
            <a:ext cx="7406640" cy="2194560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2A874AFD-8044-661C-DFEF-0912545302FD}"/>
              </a:ext>
            </a:extLst>
          </p:cNvPr>
          <p:cNvSpPr txBox="1"/>
          <p:nvPr/>
        </p:nvSpPr>
        <p:spPr>
          <a:xfrm>
            <a:off x="4372984" y="1970801"/>
            <a:ext cx="725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XOR is not separable</a:t>
            </a:r>
            <a:endParaRPr lang="en-US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B5157774-A425-6766-5235-037FB634D74B}"/>
              </a:ext>
            </a:extLst>
          </p:cNvPr>
          <p:cNvSpPr txBox="1"/>
          <p:nvPr/>
        </p:nvSpPr>
        <p:spPr>
          <a:xfrm>
            <a:off x="4372984" y="2382281"/>
            <a:ext cx="72542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w₁x₁ + w₂x₂ + b ≥ 0 exactly for the points with t = 1, i.e. (0,1) and (1,0), and &lt; 0 for (0,0) and (1,1).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w₂ + b ≥ 0 and w₁ + b ≥ 0 ⇒ w₁ + w₂ + 2b ≥ 0.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 &lt; 0 and w₁ + w₂ + b &lt; 0 ⇒ w₁ + w₂ + 2b &lt; 0.  Contradiction.</a:t>
            </a:r>
            <a:endParaRPr lang="en-US" sz="16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CC2E830C-0E93-33E4-36B4-F42E7B595F53}"/>
              </a:ext>
            </a:extLst>
          </p:cNvPr>
          <p:cNvSpPr/>
          <p:nvPr/>
        </p:nvSpPr>
        <p:spPr>
          <a:xfrm>
            <a:off x="4297680" y="4270248"/>
            <a:ext cx="7406640" cy="219456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1B59313-9CD0-6DC2-7055-43AD72F8BDD3}"/>
              </a:ext>
            </a:extLst>
          </p:cNvPr>
          <p:cNvSpPr txBox="1"/>
          <p:nvPr/>
        </p:nvSpPr>
        <p:spPr>
          <a:xfrm>
            <a:off x="4372984" y="4348241"/>
            <a:ext cx="725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70D1F4D-6653-A2D9-5BB5-D5F377084B1A}"/>
              </a:ext>
            </a:extLst>
          </p:cNvPr>
          <p:cNvSpPr txBox="1"/>
          <p:nvPr/>
        </p:nvSpPr>
        <p:spPr>
          <a:xfrm>
            <a:off x="4372984" y="4759721"/>
            <a:ext cx="725424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16 Boolean functions of two inputs, 14 are separable; XOR and XNOR are not.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 dimensions (images, text) real classes are almost never linearly separable in the raw features.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out: (a) hand-craft nonlinear features (e.g. x₁x₂), or (b) let the network learn its own features with hidden layers → Part 2.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1969 critique froze neural-network research for ≈15 years (the first 'AI winter').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90102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14D72309-282B-9800-5E5C-6DA5B076F1AF}"/>
              </a:ext>
            </a:extLst>
          </p:cNvPr>
          <p:cNvSpPr txBox="1"/>
          <p:nvPr/>
        </p:nvSpPr>
        <p:spPr>
          <a:xfrm>
            <a:off x="640080" y="685800"/>
            <a:ext cx="97007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4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ADALINE : learn from the linear output</a:t>
            </a:r>
            <a:endParaRPr lang="en-US" altLang="zh-CN" sz="40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35896DD6-EFF1-B8C7-CAC1-0BA10D52D895}"/>
              </a:ext>
            </a:extLst>
          </p:cNvPr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 err="1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Linear Element — same neuron, different learning signal</a:t>
            </a:r>
            <a:endParaRPr lang="en-US" sz="1600" dirty="0"/>
          </a:p>
        </p:txBody>
      </p:sp>
      <p:pic>
        <p:nvPicPr>
          <p:cNvPr id="3" name="Image 0" descr="/home/claude/deck/assets/fig_adaline.png">
            <a:extLst>
              <a:ext uri="{FF2B5EF4-FFF2-40B4-BE49-F238E27FC236}">
                <a16:creationId xmlns:a16="http://schemas.microsoft.com/office/drawing/2014/main" id="{EFED8642-6CC6-C0B4-05C7-2C0B73C1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2808"/>
            <a:ext cx="5943600" cy="2781035"/>
          </a:xfrm>
          <a:prstGeom prst="rect">
            <a:avLst/>
          </a:prstGeom>
        </p:spPr>
      </p:pic>
      <p:pic>
        <p:nvPicPr>
          <p:cNvPr id="17" name="Image 1" descr="/home/claude/deck/assets/eq_ada.png">
            <a:extLst>
              <a:ext uri="{FF2B5EF4-FFF2-40B4-BE49-F238E27FC236}">
                <a16:creationId xmlns:a16="http://schemas.microsoft.com/office/drawing/2014/main" id="{522DF1CC-A3E3-F643-751E-4934BC546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13248"/>
            <a:ext cx="5943600" cy="256766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4EBE721B-9C41-C7FE-C3D6-7F48ED93F862}"/>
              </a:ext>
            </a:extLst>
          </p:cNvPr>
          <p:cNvSpPr/>
          <p:nvPr/>
        </p:nvSpPr>
        <p:spPr>
          <a:xfrm>
            <a:off x="6675120" y="1892808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3954694-05D4-FFBB-E485-7DF4AE09CED9}"/>
              </a:ext>
            </a:extLst>
          </p:cNvPr>
          <p:cNvSpPr txBox="1"/>
          <p:nvPr/>
        </p:nvSpPr>
        <p:spPr>
          <a:xfrm>
            <a:off x="6858000" y="1984248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compared with the perceptron</a:t>
            </a:r>
            <a:endParaRPr lang="en-US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0A20782-B025-6D22-6B09-D0067A9A93BC}"/>
              </a:ext>
            </a:extLst>
          </p:cNvPr>
          <p:cNvSpPr txBox="1"/>
          <p:nvPr/>
        </p:nvSpPr>
        <p:spPr>
          <a:xfrm>
            <a:off x="6858000" y="2395728"/>
            <a:ext cx="475488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perceptron's error t − y is quantised (0 or ±2): it knows THAT it was wrong, not by HOW MUCH.</a:t>
            </a:r>
            <a:endParaRPr lang="en-US" sz="1600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ADALINE uses the continuous error e = t − v measured before the threshold, so a sample that is 'barely wrong' and one that is 'badly wrong' produce different corrections.</a:t>
            </a:r>
            <a:endParaRPr lang="en-US" sz="1600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error a smooth, differentiable function of w — and we can use calculus (gradient descent).</a:t>
            </a:r>
            <a:endParaRPr lang="en-US" sz="1600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function is still applied at the end to get a ±1 decision.</a:t>
            </a:r>
            <a:endParaRPr lang="en-US" sz="1600" dirty="0"/>
          </a:p>
          <a:p>
            <a:pPr marL="177800" indent="-177800" algn="just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it was implemented in hardware (memistors) and used in adaptive filters / echo cancellation — the LMS algorithm is everywhere in signal processing.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627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FD7D6-E2EE-0175-B9D1-9D7F2810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A701620E-DD1D-FFCF-1FC2-0F79553BF372}"/>
              </a:ext>
            </a:extLst>
          </p:cNvPr>
          <p:cNvSpPr txBox="1"/>
          <p:nvPr/>
        </p:nvSpPr>
        <p:spPr>
          <a:xfrm>
            <a:off x="640079" y="685800"/>
            <a:ext cx="1069579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function and its gradient — full derivation</a:t>
            </a:r>
            <a:endParaRPr lang="en-US" altLang="zh-CN" sz="32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94B3F4BB-BD97-03C3-0A2F-AD3181C7B4A3}"/>
              </a:ext>
            </a:extLst>
          </p:cNvPr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the sum of squared errors over the training set</a:t>
            </a:r>
            <a:endParaRPr lang="en-US" sz="16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789A7764-031A-3217-98AD-0F672438E4DB}"/>
              </a:ext>
            </a:extLst>
          </p:cNvPr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DC3D153-264A-FFA8-B235-736007D65F5B}"/>
              </a:ext>
            </a:extLst>
          </p:cNvPr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D24EB4C-B38A-6C20-FF04-AA2CBD3B0AE5}"/>
              </a:ext>
            </a:extLst>
          </p:cNvPr>
          <p:cNvSpPr txBox="1"/>
          <p:nvPr/>
        </p:nvSpPr>
        <p:spPr>
          <a:xfrm>
            <a:off x="1051560" y="1938528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cost (the ½ is there only to cancel the 2 from differentiation):</a:t>
            </a:r>
            <a:endParaRPr lang="en-US" dirty="0"/>
          </a:p>
        </p:txBody>
      </p:sp>
      <p:pic>
        <p:nvPicPr>
          <p:cNvPr id="19" name="Image 0" descr="/home/claude/deck/assets/eq_cost.png">
            <a:extLst>
              <a:ext uri="{FF2B5EF4-FFF2-40B4-BE49-F238E27FC236}">
                <a16:creationId xmlns:a16="http://schemas.microsoft.com/office/drawing/2014/main" id="{F4AD2027-CDBC-733C-D811-5C0662093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04288"/>
            <a:ext cx="5087598" cy="777240"/>
          </a:xfrm>
          <a:prstGeom prst="rect">
            <a:avLst/>
          </a:prstGeom>
        </p:spPr>
      </p:pic>
      <p:sp>
        <p:nvSpPr>
          <p:cNvPr id="20" name="Shape 7">
            <a:extLst>
              <a:ext uri="{FF2B5EF4-FFF2-40B4-BE49-F238E27FC236}">
                <a16:creationId xmlns:a16="http://schemas.microsoft.com/office/drawing/2014/main" id="{3E5C9036-ABC4-8D72-850B-5A0AEA66A9C7}"/>
              </a:ext>
            </a:extLst>
          </p:cNvPr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5D65C636-93AD-2B19-43F4-5D38F0814CA2}"/>
              </a:ext>
            </a:extLst>
          </p:cNvPr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6E3DA15-E05F-328E-56EC-A09AC85BFD39}"/>
              </a:ext>
            </a:extLst>
          </p:cNvPr>
          <p:cNvSpPr txBox="1"/>
          <p:nvPr/>
        </p:nvSpPr>
        <p:spPr>
          <a:xfrm>
            <a:off x="1051560" y="3218688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with respect to one weight wᵢ (chain rule: outer square, inner linear term):</a:t>
            </a:r>
            <a:endParaRPr lang="en-US" dirty="0"/>
          </a:p>
        </p:txBody>
      </p:sp>
      <p:pic>
        <p:nvPicPr>
          <p:cNvPr id="23" name="Image 1" descr="/home/claude/deck/assets/eq_grad1.png">
            <a:extLst>
              <a:ext uri="{FF2B5EF4-FFF2-40B4-BE49-F238E27FC236}">
                <a16:creationId xmlns:a16="http://schemas.microsoft.com/office/drawing/2014/main" id="{39EB870A-D7D7-BAA7-618C-729E78D2B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584448"/>
            <a:ext cx="7263994" cy="731520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4327DDA2-3274-C783-139C-371EC2B188DC}"/>
              </a:ext>
            </a:extLst>
          </p:cNvPr>
          <p:cNvSpPr/>
          <p:nvPr/>
        </p:nvSpPr>
        <p:spPr>
          <a:xfrm>
            <a:off x="548640" y="4453128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CCD0D7D-5AC9-1D17-38D9-37FFA4276188}"/>
              </a:ext>
            </a:extLst>
          </p:cNvPr>
          <p:cNvSpPr txBox="1"/>
          <p:nvPr/>
        </p:nvSpPr>
        <p:spPr>
          <a:xfrm>
            <a:off x="54864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A6FDEFC1-1F0F-ED86-3CDC-8AD61A909BAA}"/>
              </a:ext>
            </a:extLst>
          </p:cNvPr>
          <p:cNvSpPr txBox="1"/>
          <p:nvPr/>
        </p:nvSpPr>
        <p:spPr>
          <a:xfrm>
            <a:off x="1051560" y="4453128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components into a vector (the bias behaves like a weight with input 1):</a:t>
            </a:r>
            <a:endParaRPr lang="en-US" dirty="0"/>
          </a:p>
        </p:txBody>
      </p:sp>
      <p:pic>
        <p:nvPicPr>
          <p:cNvPr id="27" name="Image 2" descr="/home/claude/deck/assets/eq_grad2.png">
            <a:extLst>
              <a:ext uri="{FF2B5EF4-FFF2-40B4-BE49-F238E27FC236}">
                <a16:creationId xmlns:a16="http://schemas.microsoft.com/office/drawing/2014/main" id="{5729A976-5809-700C-3A1E-0FB6C8B5D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18888"/>
            <a:ext cx="3907194" cy="685800"/>
          </a:xfrm>
          <a:prstGeom prst="rect">
            <a:avLst/>
          </a:prstGeom>
        </p:spPr>
      </p:pic>
      <p:sp>
        <p:nvSpPr>
          <p:cNvPr id="28" name="Shape 13">
            <a:extLst>
              <a:ext uri="{FF2B5EF4-FFF2-40B4-BE49-F238E27FC236}">
                <a16:creationId xmlns:a16="http://schemas.microsoft.com/office/drawing/2014/main" id="{2A214192-F02A-F17F-FFDA-F258D699EDAE}"/>
              </a:ext>
            </a:extLst>
          </p:cNvPr>
          <p:cNvSpPr/>
          <p:nvPr/>
        </p:nvSpPr>
        <p:spPr>
          <a:xfrm>
            <a:off x="457200" y="5641848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D4172C80-6E75-3E9B-A99B-A0660BF49163}"/>
              </a:ext>
            </a:extLst>
          </p:cNvPr>
          <p:cNvSpPr txBox="1"/>
          <p:nvPr/>
        </p:nvSpPr>
        <p:spPr>
          <a:xfrm>
            <a:off x="640080" y="5687568"/>
            <a:ext cx="108813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is minus the error-weighted sum of the inputs. Where the error is positive (output too small), the gradient points to smaller w, so stepping AGAINST the gradient increases w in the direction of x — exactly what raises v.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2758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D99A-4A8A-9E28-1E0D-83036AD1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D5780B2B-3CCB-DE50-CCF7-93C87DAB8D6D}"/>
              </a:ext>
            </a:extLst>
          </p:cNvPr>
          <p:cNvSpPr txBox="1"/>
          <p:nvPr/>
        </p:nvSpPr>
        <p:spPr>
          <a:xfrm>
            <a:off x="64008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4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</a:t>
            </a:r>
            <a:endParaRPr lang="en-US" altLang="zh-CN" sz="40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AA1C2D75-69FC-0AF8-BB0F-C9EB67C73DEC}"/>
              </a:ext>
            </a:extLst>
          </p:cNvPr>
          <p:cNvSpPr txBox="1"/>
          <p:nvPr/>
        </p:nvSpPr>
        <p:spPr>
          <a:xfrm>
            <a:off x="47244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downhill; batch uses all samples, LMS uses one sample at a time</a:t>
            </a:r>
            <a:endParaRPr lang="en-US" sz="1600" dirty="0"/>
          </a:p>
        </p:txBody>
      </p:sp>
      <p:pic>
        <p:nvPicPr>
          <p:cNvPr id="3" name="Image 0" descr="/home/claude/deck/assets/eq_gd.png">
            <a:extLst>
              <a:ext uri="{FF2B5EF4-FFF2-40B4-BE49-F238E27FC236}">
                <a16:creationId xmlns:a16="http://schemas.microsoft.com/office/drawing/2014/main" id="{363231FC-F7B5-F11E-7009-71849856F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960" y="1892808"/>
            <a:ext cx="7008080" cy="668408"/>
          </a:xfrm>
          <a:prstGeom prst="rect">
            <a:avLst/>
          </a:prstGeom>
        </p:spPr>
      </p:pic>
      <p:pic>
        <p:nvPicPr>
          <p:cNvPr id="17" name="Image 1" descr="/home/claude/deck/assets/eq_lms.png">
            <a:extLst>
              <a:ext uri="{FF2B5EF4-FFF2-40B4-BE49-F238E27FC236}">
                <a16:creationId xmlns:a16="http://schemas.microsoft.com/office/drawing/2014/main" id="{5E13A1CC-CFF0-2F77-E6B8-73B5D4DEB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92" y="2715768"/>
            <a:ext cx="10554215" cy="326551"/>
          </a:xfrm>
          <a:prstGeom prst="rect">
            <a:avLst/>
          </a:prstGeom>
        </p:spPr>
      </p:pic>
      <p:pic>
        <p:nvPicPr>
          <p:cNvPr id="18" name="Image 2" descr="/home/claude/deck/assets/fig_surface.png">
            <a:extLst>
              <a:ext uri="{FF2B5EF4-FFF2-40B4-BE49-F238E27FC236}">
                <a16:creationId xmlns:a16="http://schemas.microsoft.com/office/drawing/2014/main" id="{0BDF1FB4-38A8-B2DF-7D7E-7302E18B4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84448"/>
            <a:ext cx="5217489" cy="2926080"/>
          </a:xfrm>
          <a:prstGeom prst="rect">
            <a:avLst/>
          </a:prstGeom>
        </p:spPr>
      </p:pic>
      <p:sp>
        <p:nvSpPr>
          <p:cNvPr id="19" name="Shape 4">
            <a:extLst>
              <a:ext uri="{FF2B5EF4-FFF2-40B4-BE49-F238E27FC236}">
                <a16:creationId xmlns:a16="http://schemas.microsoft.com/office/drawing/2014/main" id="{5DDEC0D0-AD4D-B07F-6335-EA895FEDFF57}"/>
              </a:ext>
            </a:extLst>
          </p:cNvPr>
          <p:cNvSpPr/>
          <p:nvPr/>
        </p:nvSpPr>
        <p:spPr>
          <a:xfrm>
            <a:off x="7330440" y="3584448"/>
            <a:ext cx="4389120" cy="2926080"/>
          </a:xfrm>
          <a:prstGeom prst="roundRect">
            <a:avLst>
              <a:gd name="adj" fmla="val 375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C57A00C7-4187-3623-9162-FD194D3ACCF5}"/>
              </a:ext>
            </a:extLst>
          </p:cNvPr>
          <p:cNvSpPr txBox="1"/>
          <p:nvPr/>
        </p:nvSpPr>
        <p:spPr>
          <a:xfrm>
            <a:off x="7467600" y="3635547"/>
            <a:ext cx="416052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GD: exact gradient, one update per epoch, smooth descent.</a:t>
            </a:r>
            <a:endParaRPr lang="en-US" sz="160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LMS: uses the single-sample error as a noisy estimate of the gradient — cheaper, updates immediately, and is the ancestor of SGD.</a:t>
            </a:r>
            <a:endParaRPr lang="en-US" sz="160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perceptron rule Δw = η·(error)·x, but the error is now continuous — and the update happens even when the sign is already right.</a:t>
            </a:r>
            <a:endParaRPr lang="en-US" sz="160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η matters here: too large ⇒ oscillation / divergence (teal path).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6641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722C05C4-1822-0B00-9882-899C7E5B1C87}"/>
              </a:ext>
            </a:extLst>
          </p:cNvPr>
          <p:cNvSpPr txBox="1"/>
          <p:nvPr/>
        </p:nvSpPr>
        <p:spPr>
          <a:xfrm>
            <a:off x="640079" y="685800"/>
            <a:ext cx="106823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</a:t>
            </a:r>
            <a:r>
              <a:rPr lang="en-US" altLang="zh-CN" sz="3600" b="1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</a:t>
            </a:r>
            <a:r>
              <a:rPr lang="en-US" altLang="zh-CN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and the closed-form alternative</a:t>
            </a:r>
            <a:endParaRPr lang="en-US" altLang="zh-CN" sz="36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14A140E6-B5A2-CFA0-DE2E-57AC45EB6759}"/>
              </a:ext>
            </a:extLst>
          </p:cNvPr>
          <p:cNvSpPr txBox="1"/>
          <p:nvPr/>
        </p:nvSpPr>
        <p:spPr>
          <a:xfrm>
            <a:off x="470647" y="1645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LMS still matters when the exact solution is one matrix inversion away</a:t>
            </a:r>
            <a:endParaRPr lang="en-US" sz="1600" dirty="0"/>
          </a:p>
        </p:txBody>
      </p:sp>
      <p:pic>
        <p:nvPicPr>
          <p:cNvPr id="3" name="Image 0" descr="/home/claude/deck/assets/fig_lr.png">
            <a:extLst>
              <a:ext uri="{FF2B5EF4-FFF2-40B4-BE49-F238E27FC236}">
                <a16:creationId xmlns:a16="http://schemas.microsoft.com/office/drawing/2014/main" id="{D7C1A964-145A-34E1-2BD7-4F70C6710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7" y="2212848"/>
            <a:ext cx="4683236" cy="3291840"/>
          </a:xfrm>
          <a:prstGeom prst="rect">
            <a:avLst/>
          </a:prstGeom>
        </p:spPr>
      </p:pic>
      <p:pic>
        <p:nvPicPr>
          <p:cNvPr id="17" name="Image 1" descr="/home/claude/deck/assets/eq_lrbound.png">
            <a:extLst>
              <a:ext uri="{FF2B5EF4-FFF2-40B4-BE49-F238E27FC236}">
                <a16:creationId xmlns:a16="http://schemas.microsoft.com/office/drawing/2014/main" id="{EF93B3E3-B2B4-D3A9-8208-AE5B1F3FE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27" y="5504688"/>
            <a:ext cx="5303520" cy="551536"/>
          </a:xfrm>
          <a:prstGeom prst="rect">
            <a:avLst/>
          </a:prstGeom>
        </p:spPr>
      </p:pic>
      <p:sp>
        <p:nvSpPr>
          <p:cNvPr id="18" name="Shape 4">
            <a:extLst>
              <a:ext uri="{FF2B5EF4-FFF2-40B4-BE49-F238E27FC236}">
                <a16:creationId xmlns:a16="http://schemas.microsoft.com/office/drawing/2014/main" id="{1E7EEC21-86EB-052C-86E2-20B25410ACBE}"/>
              </a:ext>
            </a:extLst>
          </p:cNvPr>
          <p:cNvSpPr/>
          <p:nvPr/>
        </p:nvSpPr>
        <p:spPr>
          <a:xfrm>
            <a:off x="6231367" y="2121408"/>
            <a:ext cx="5486400" cy="2240280"/>
          </a:xfrm>
          <a:prstGeom prst="roundRect">
            <a:avLst>
              <a:gd name="adj" fmla="val 4898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E289DA2-390E-8135-A2DB-6F2191CDD232}"/>
              </a:ext>
            </a:extLst>
          </p:cNvPr>
          <p:cNvSpPr txBox="1"/>
          <p:nvPr/>
        </p:nvSpPr>
        <p:spPr>
          <a:xfrm>
            <a:off x="6414247" y="2212848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2738922-B1F1-67A1-AFB1-3567F48155F9}"/>
              </a:ext>
            </a:extLst>
          </p:cNvPr>
          <p:cNvSpPr txBox="1"/>
          <p:nvPr/>
        </p:nvSpPr>
        <p:spPr>
          <a:xfrm>
            <a:off x="6322807" y="2601468"/>
            <a:ext cx="530352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in the mean requires η below 2/λₘₐₓ, where λₘₐₓ is the largest eigenvalue of the input correlation matrix R.</a:t>
            </a:r>
            <a:endParaRPr lang="en-US" sz="160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recipe: normalise inputs, start with η ≈ 0.01–0.1, halve it if J oscillates.</a:t>
            </a:r>
            <a:endParaRPr lang="en-US" sz="1600" dirty="0"/>
          </a:p>
          <a:p>
            <a:pPr marL="177800" indent="-177800" algn="just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η = 0.05 slow, 0.2 good, 0.6 still converges, 1.05 diverges.</a:t>
            </a:r>
            <a:endParaRPr lang="en-US" sz="16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FC71A05E-02EF-5536-C479-82FB5E43E1C5}"/>
              </a:ext>
            </a:extLst>
          </p:cNvPr>
          <p:cNvSpPr/>
          <p:nvPr/>
        </p:nvSpPr>
        <p:spPr>
          <a:xfrm>
            <a:off x="6231367" y="4498848"/>
            <a:ext cx="5486400" cy="2240280"/>
          </a:xfrm>
          <a:prstGeom prst="roundRect">
            <a:avLst>
              <a:gd name="adj" fmla="val 4898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DAFBD702-8242-5988-F3DF-25556584543E}"/>
              </a:ext>
            </a:extLst>
          </p:cNvPr>
          <p:cNvSpPr txBox="1"/>
          <p:nvPr/>
        </p:nvSpPr>
        <p:spPr>
          <a:xfrm>
            <a:off x="6414247" y="4590288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equations (linear least squares)</a:t>
            </a:r>
            <a:endParaRPr lang="en-US" dirty="0"/>
          </a:p>
        </p:txBody>
      </p:sp>
      <p:pic>
        <p:nvPicPr>
          <p:cNvPr id="23" name="Image 2" descr="/home/claude/deck/assets/eq_normal.png">
            <a:extLst>
              <a:ext uri="{FF2B5EF4-FFF2-40B4-BE49-F238E27FC236}">
                <a16:creationId xmlns:a16="http://schemas.microsoft.com/office/drawing/2014/main" id="{946C1EF4-0DF4-6624-F8A2-190CE9E2A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247" y="5001768"/>
            <a:ext cx="5120640" cy="360486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72A7005C-A061-483B-0335-17653B22305A}"/>
              </a:ext>
            </a:extLst>
          </p:cNvPr>
          <p:cNvSpPr txBox="1"/>
          <p:nvPr/>
        </p:nvSpPr>
        <p:spPr>
          <a:xfrm>
            <a:off x="6306671" y="5519212"/>
            <a:ext cx="53035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minimiser of J — but requires storing all data and inverting an (n+1)×(n+1) matrix.</a:t>
            </a:r>
            <a:endParaRPr lang="en-US" sz="1600" dirty="0"/>
          </a:p>
          <a:p>
            <a:pPr marL="177800" indent="-177800" algn="just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is O(n) per sample, works online, tracks slowly changing data — that is why it is used in adaptive filters.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2236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70C806A-55A4-C4B7-C2B0-1BC12F2646B6}"/>
              </a:ext>
            </a:extLst>
          </p:cNvPr>
          <p:cNvSpPr txBox="1"/>
          <p:nvPr/>
        </p:nvSpPr>
        <p:spPr>
          <a:xfrm>
            <a:off x="640079" y="685800"/>
            <a:ext cx="106823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LMS on the AND data (bipolar targets)</a:t>
            </a:r>
            <a:endParaRPr lang="en-US" altLang="zh-CN" sz="32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10C7EB6-D0BD-F73D-71A4-6A735FB8490B}"/>
              </a:ext>
            </a:extLst>
          </p:cNvPr>
          <p:cNvSpPr txBox="1"/>
          <p:nvPr/>
        </p:nvSpPr>
        <p:spPr>
          <a:xfrm>
            <a:off x="640079" y="1472184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∈ {−1,+1};  w = (0,0), b = 0, η = 0.2;  update on every sample: w ← w + η e x, b ← b + η e</a:t>
            </a:r>
            <a:endParaRPr lang="en-US" sz="1600" dirty="0"/>
          </a:p>
        </p:txBody>
      </p:sp>
      <p:graphicFrame>
        <p:nvGraphicFramePr>
          <p:cNvPr id="47" name="Table 0">
            <a:extLst>
              <a:ext uri="{FF2B5EF4-FFF2-40B4-BE49-F238E27FC236}">
                <a16:creationId xmlns:a16="http://schemas.microsoft.com/office/drawing/2014/main" id="{A6A3110E-EC99-6CAA-432E-810BE2665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38252"/>
              </p:ext>
            </p:extLst>
          </p:nvPr>
        </p:nvGraphicFramePr>
        <p:xfrm>
          <a:off x="640079" y="1947672"/>
          <a:ext cx="10332720" cy="296265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(before)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wᵀx+b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= t −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(after)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(after)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-0.16)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-0.16)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(-0.128, -0.16)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(-0.128, -0.16)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(0.227, 0.195)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(0.227, 0.195)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(0.227, 0.195)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(0.227, 0.195)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(0.227, 0.017)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(0.227, 0.017)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(0.079, 0.017)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(0.079, 0.017)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(0.386, 0.325)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8" name="Shape 4">
            <a:extLst>
              <a:ext uri="{FF2B5EF4-FFF2-40B4-BE49-F238E27FC236}">
                <a16:creationId xmlns:a16="http://schemas.microsoft.com/office/drawing/2014/main" id="{18DB7376-D736-96B9-491B-C367BC55F227}"/>
              </a:ext>
            </a:extLst>
          </p:cNvPr>
          <p:cNvSpPr/>
          <p:nvPr/>
        </p:nvSpPr>
        <p:spPr>
          <a:xfrm>
            <a:off x="640079" y="5056632"/>
            <a:ext cx="11247120" cy="1508760"/>
          </a:xfrm>
          <a:prstGeom prst="roundRect">
            <a:avLst>
              <a:gd name="adj" fmla="val 7273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92DA50C0-18C2-8CED-9B3B-DC70372707CD}"/>
              </a:ext>
            </a:extLst>
          </p:cNvPr>
          <p:cNvSpPr txBox="1"/>
          <p:nvPr/>
        </p:nvSpPr>
        <p:spPr>
          <a:xfrm>
            <a:off x="822959" y="5129784"/>
            <a:ext cx="108813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2: v = −0.2 (already the right sign) yet e = −0.8 ≠ 0 — ADALINE keeps pulling v toward the target value −1, not merely to the right side. The perceptron would have done nothing here.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many epochs the weights approach the least-squares solution w = (1, 1), b = -1.5, whose boundary x₁ + x₂ = 1.5 sits centrally between the classes (compare the perceptron's arbitrary 2x₁ + x₂ = 3).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tip: always show v, e and the update on the same line — most marks are for the arithmetic being traceable.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907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AC8D561-24BF-A3AB-069C-132ABD1B3A38}"/>
              </a:ext>
            </a:extLst>
          </p:cNvPr>
          <p:cNvSpPr txBox="1"/>
          <p:nvPr/>
        </p:nvSpPr>
        <p:spPr>
          <a:xfrm>
            <a:off x="640079" y="685800"/>
            <a:ext cx="106823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 vs ADALINE — side by side</a:t>
            </a:r>
            <a:endParaRPr lang="en-US" altLang="zh-CN" sz="28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0F17DFF-9540-1761-7F0E-820CA712ECB3}"/>
              </a:ext>
            </a:extLst>
          </p:cNvPr>
          <p:cNvSpPr txBox="1"/>
          <p:nvPr/>
        </p:nvSpPr>
        <p:spPr>
          <a:xfrm>
            <a:off x="472440" y="155232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neuron, same update template Δw = η · error · input; different error</a:t>
            </a:r>
            <a:endParaRPr lang="en-US" sz="16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645365C2-342E-139D-62FB-9BC9EFB37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525903"/>
              </p:ext>
            </p:extLst>
          </p:nvPr>
        </p:nvGraphicFramePr>
        <p:xfrm>
          <a:off x="472440" y="2027816"/>
          <a:ext cx="11247120" cy="429158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Perceptron (1958)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ADALINE (1960)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− y, after the threshold (quantised)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− v, before the threshold (continuous)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minimised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misclassifications (implicitly)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squared errors J(w) — explicit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when correct?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if v ≠ t (pulls v toward ±1)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converges in finite steps iff separable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 on a convex bowl; converges for small η even if NOT separable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irrelevant (only direction of w̃ matters)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critical: 0 &lt; η &lt; 2/λₘₐₓ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separating hyperplane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least-squares hyperplane (unique)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Non-separable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terminates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gives the best linear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(maximum-margin perceptron), online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regression, adaptive filters, SGD, back-propagation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703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>
            <a:extLst>
              <a:ext uri="{FF2B5EF4-FFF2-40B4-BE49-F238E27FC236}">
                <a16:creationId xmlns:a16="http://schemas.microsoft.com/office/drawing/2014/main" id="{8526152C-3921-D483-DEAF-2A0F3814AA39}"/>
              </a:ext>
            </a:extLst>
          </p:cNvPr>
          <p:cNvSpPr txBox="1"/>
          <p:nvPr/>
        </p:nvSpPr>
        <p:spPr>
          <a:xfrm>
            <a:off x="472440" y="1579223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before the break — answers in the speaker notes</a:t>
            </a:r>
            <a:endParaRPr lang="en-US" sz="16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4E3C807A-5502-0200-BFA6-5021DEA26EBC}"/>
              </a:ext>
            </a:extLst>
          </p:cNvPr>
          <p:cNvSpPr/>
          <p:nvPr/>
        </p:nvSpPr>
        <p:spPr>
          <a:xfrm>
            <a:off x="563880" y="2191871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DDEB0456-9181-7D4E-3475-0CB980EE324E}"/>
              </a:ext>
            </a:extLst>
          </p:cNvPr>
          <p:cNvSpPr txBox="1"/>
          <p:nvPr/>
        </p:nvSpPr>
        <p:spPr>
          <a:xfrm>
            <a:off x="563880" y="219187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DB5E1F1-E7E5-3554-98AF-134802BF4B84}"/>
              </a:ext>
            </a:extLst>
          </p:cNvPr>
          <p:cNvSpPr txBox="1"/>
          <p:nvPr/>
        </p:nvSpPr>
        <p:spPr>
          <a:xfrm>
            <a:off x="1066800" y="2164439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perceptron has w = (2, −1), b = −1. Classify x = (1, 2) and x = (2, 1). Sketch the boundary and mark the positive side.</a:t>
            </a:r>
            <a:endParaRPr lang="en-US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867D45B-4B88-A891-02E9-E4494E7F8FEE}"/>
              </a:ext>
            </a:extLst>
          </p:cNvPr>
          <p:cNvSpPr/>
          <p:nvPr/>
        </p:nvSpPr>
        <p:spPr>
          <a:xfrm>
            <a:off x="563880" y="3060551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DA46F52-3E9F-9D41-8DA9-397D6ACCB843}"/>
              </a:ext>
            </a:extLst>
          </p:cNvPr>
          <p:cNvSpPr txBox="1"/>
          <p:nvPr/>
        </p:nvSpPr>
        <p:spPr>
          <a:xfrm>
            <a:off x="563880" y="30605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514C757-B960-C8AA-837B-D0568B48AC56}"/>
              </a:ext>
            </a:extLst>
          </p:cNvPr>
          <p:cNvSpPr txBox="1"/>
          <p:nvPr/>
        </p:nvSpPr>
        <p:spPr>
          <a:xfrm>
            <a:off x="1066800" y="3060013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bipolar perceptron rule with η = 1, the sample x = (1, −1), t = +1 is misclassified by w = (0, 1), b = 0. Give the new w and b, and verify the induced field on x has increased.</a:t>
            </a:r>
            <a:endParaRPr lang="en-US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F49D87E-60B1-A4D4-FADE-CAF24F8ED12F}"/>
              </a:ext>
            </a:extLst>
          </p:cNvPr>
          <p:cNvSpPr/>
          <p:nvPr/>
        </p:nvSpPr>
        <p:spPr>
          <a:xfrm>
            <a:off x="563880" y="3929231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D908453-65B4-3F35-E23D-BBC9F65DCBA7}"/>
              </a:ext>
            </a:extLst>
          </p:cNvPr>
          <p:cNvSpPr txBox="1"/>
          <p:nvPr/>
        </p:nvSpPr>
        <p:spPr>
          <a:xfrm>
            <a:off x="563880" y="392923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B7F075A-C0EA-58D3-642B-8370D6CC995C}"/>
              </a:ext>
            </a:extLst>
          </p:cNvPr>
          <p:cNvSpPr txBox="1"/>
          <p:nvPr/>
        </p:nvSpPr>
        <p:spPr>
          <a:xfrm>
            <a:off x="1066800" y="3982481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perceptron convergence theorem not apply to XOR? What does the algorithm do on XOR data?</a:t>
            </a:r>
            <a:endParaRPr lang="en-US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8B7596C-2C02-4E57-1892-D45466A5DDC1}"/>
              </a:ext>
            </a:extLst>
          </p:cNvPr>
          <p:cNvSpPr/>
          <p:nvPr/>
        </p:nvSpPr>
        <p:spPr>
          <a:xfrm>
            <a:off x="563880" y="4797911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5BD2CD4-4154-12BF-CFFC-CB35309EECCD}"/>
              </a:ext>
            </a:extLst>
          </p:cNvPr>
          <p:cNvSpPr txBox="1"/>
          <p:nvPr/>
        </p:nvSpPr>
        <p:spPr>
          <a:xfrm>
            <a:off x="563880" y="47979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B743FC81-6AAE-8AF9-FB61-068AC6987B30}"/>
              </a:ext>
            </a:extLst>
          </p:cNvPr>
          <p:cNvSpPr txBox="1"/>
          <p:nvPr/>
        </p:nvSpPr>
        <p:spPr>
          <a:xfrm>
            <a:off x="1066800" y="4851161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ADALINE with w = (0.5, 0.5), b = 0, η = 0.1, sample x = (1, 1), t = −1: compute v, e and the updated parameters.</a:t>
            </a:r>
            <a:endParaRPr lang="en-US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C328300E-8E67-FD8C-D4F3-163C2EA88777}"/>
              </a:ext>
            </a:extLst>
          </p:cNvPr>
          <p:cNvSpPr/>
          <p:nvPr/>
        </p:nvSpPr>
        <p:spPr>
          <a:xfrm>
            <a:off x="563880" y="5666591"/>
            <a:ext cx="384048" cy="384048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12F96992-391C-1AEF-6C7F-377043ACD5D8}"/>
              </a:ext>
            </a:extLst>
          </p:cNvPr>
          <p:cNvSpPr txBox="1"/>
          <p:nvPr/>
        </p:nvSpPr>
        <p:spPr>
          <a:xfrm>
            <a:off x="563880" y="56665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A77B2705-FD69-BA79-BD27-6DD1AEA434DC}"/>
              </a:ext>
            </a:extLst>
          </p:cNvPr>
          <p:cNvSpPr txBox="1"/>
          <p:nvPr/>
        </p:nvSpPr>
        <p:spPr>
          <a:xfrm>
            <a:off x="1066800" y="5719841"/>
            <a:ext cx="10607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situation where you would prefer ADALINE/LMS over the exact least-squares solution.</a:t>
            </a:r>
            <a:endParaRPr lang="en-US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DBE234F9-1A2E-C8E6-1BA7-BF5BF1C7DF22}"/>
              </a:ext>
            </a:extLst>
          </p:cNvPr>
          <p:cNvSpPr txBox="1"/>
          <p:nvPr/>
        </p:nvSpPr>
        <p:spPr>
          <a:xfrm>
            <a:off x="640079" y="685800"/>
            <a:ext cx="1068234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2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 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465224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8B7763E-EF48-E7FF-9AEB-0170FC8D8E45}"/>
              </a:ext>
            </a:extLst>
          </p:cNvPr>
          <p:cNvSpPr txBox="1"/>
          <p:nvPr/>
        </p:nvSpPr>
        <p:spPr>
          <a:xfrm>
            <a:off x="1738860" y="2563318"/>
            <a:ext cx="41522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0" b="1" dirty="0">
                <a:solidFill>
                  <a:schemeClr val="bg1"/>
                </a:solidFill>
                <a:latin typeface="Cambria" panose="02040503050406030204" pitchFamily="18" charset="0"/>
              </a:rPr>
              <a:t>Thank</a:t>
            </a:r>
            <a:r>
              <a:rPr kumimoji="1" lang="zh-CN" altLang="en-US" sz="6000" b="1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r>
              <a:rPr kumimoji="1" lang="en-US" altLang="zh-CN" sz="6000" b="1" dirty="0">
                <a:solidFill>
                  <a:schemeClr val="bg1"/>
                </a:solidFill>
                <a:latin typeface="Cambria" panose="02040503050406030204" pitchFamily="18" charset="0"/>
              </a:rPr>
              <a:t>You</a:t>
            </a:r>
            <a:endParaRPr kumimoji="1" lang="zh-CN" altLang="en-US" sz="6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2861</Words>
  <Application>Microsoft Office PowerPoint</Application>
  <PresentationFormat>Widescreen</PresentationFormat>
  <Paragraphs>355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Inter</vt:lpstr>
      <vt:lpstr>Arial</vt:lpstr>
      <vt:lpstr>Calibri</vt:lpstr>
      <vt:lpstr>Cambria</vt:lpstr>
      <vt:lpstr>Courier New</vt:lpstr>
      <vt:lpstr>Times New Roman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Myolie TAM</dc:creator>
  <cp:lastModifiedBy>WANG Jun 王钧</cp:lastModifiedBy>
  <cp:revision>265</cp:revision>
  <dcterms:created xsi:type="dcterms:W3CDTF">2026-09-03T11:23:43Z</dcterms:created>
  <dcterms:modified xsi:type="dcterms:W3CDTF">2026-09-18T07:57:28Z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2F205C7E6A65826ABE58996A810E04BE_43</vt:lpwstr>
  </property>
</Properties>
</file>